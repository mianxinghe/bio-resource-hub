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0"/>
  </p:notesMasterIdLst>
  <p:handoutMasterIdLst>
    <p:handoutMasterId r:id="rId221"/>
  </p:handoutMasterIdLst>
  <p:sldIdLst>
    <p:sldId id="256" r:id="rId2"/>
    <p:sldId id="464" r:id="rId3"/>
    <p:sldId id="257" r:id="rId4"/>
    <p:sldId id="258" r:id="rId5"/>
    <p:sldId id="259" r:id="rId6"/>
    <p:sldId id="260" r:id="rId7"/>
    <p:sldId id="261" r:id="rId8"/>
    <p:sldId id="262" r:id="rId9"/>
    <p:sldId id="263" r:id="rId10"/>
    <p:sldId id="264" r:id="rId11"/>
    <p:sldId id="265" r:id="rId12"/>
    <p:sldId id="266" r:id="rId13"/>
    <p:sldId id="465"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2" r:id="rId28"/>
    <p:sldId id="283" r:id="rId29"/>
    <p:sldId id="281" r:id="rId30"/>
    <p:sldId id="284" r:id="rId31"/>
    <p:sldId id="285" r:id="rId32"/>
    <p:sldId id="287" r:id="rId33"/>
    <p:sldId id="288" r:id="rId34"/>
    <p:sldId id="289" r:id="rId35"/>
    <p:sldId id="290" r:id="rId36"/>
    <p:sldId id="291" r:id="rId37"/>
    <p:sldId id="293" r:id="rId38"/>
    <p:sldId id="1014" r:id="rId39"/>
    <p:sldId id="1015" r:id="rId40"/>
    <p:sldId id="317" r:id="rId41"/>
    <p:sldId id="292"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677" r:id="rId57"/>
    <p:sldId id="1016" r:id="rId58"/>
    <p:sldId id="308" r:id="rId59"/>
    <p:sldId id="309" r:id="rId60"/>
    <p:sldId id="311" r:id="rId61"/>
    <p:sldId id="310" r:id="rId62"/>
    <p:sldId id="312" r:id="rId63"/>
    <p:sldId id="313" r:id="rId64"/>
    <p:sldId id="314" r:id="rId65"/>
    <p:sldId id="318" r:id="rId66"/>
    <p:sldId id="319" r:id="rId67"/>
    <p:sldId id="320" r:id="rId68"/>
    <p:sldId id="321" r:id="rId69"/>
    <p:sldId id="322" r:id="rId70"/>
    <p:sldId id="323" r:id="rId71"/>
    <p:sldId id="324" r:id="rId72"/>
    <p:sldId id="326" r:id="rId73"/>
    <p:sldId id="327" r:id="rId74"/>
    <p:sldId id="328" r:id="rId75"/>
    <p:sldId id="329" r:id="rId76"/>
    <p:sldId id="330" r:id="rId77"/>
    <p:sldId id="331" r:id="rId78"/>
    <p:sldId id="332" r:id="rId79"/>
    <p:sldId id="333" r:id="rId80"/>
    <p:sldId id="467" r:id="rId81"/>
    <p:sldId id="334" r:id="rId82"/>
    <p:sldId id="335" r:id="rId83"/>
    <p:sldId id="336" r:id="rId84"/>
    <p:sldId id="337" r:id="rId85"/>
    <p:sldId id="338" r:id="rId86"/>
    <p:sldId id="339" r:id="rId87"/>
    <p:sldId id="341" r:id="rId88"/>
    <p:sldId id="342" r:id="rId89"/>
    <p:sldId id="343" r:id="rId90"/>
    <p:sldId id="344" r:id="rId91"/>
    <p:sldId id="345" r:id="rId92"/>
    <p:sldId id="346" r:id="rId93"/>
    <p:sldId id="347" r:id="rId94"/>
    <p:sldId id="348" r:id="rId95"/>
    <p:sldId id="349" r:id="rId96"/>
    <p:sldId id="351" r:id="rId97"/>
    <p:sldId id="352" r:id="rId98"/>
    <p:sldId id="354" r:id="rId99"/>
    <p:sldId id="356" r:id="rId100"/>
    <p:sldId id="1011" r:id="rId101"/>
    <p:sldId id="1012" r:id="rId102"/>
    <p:sldId id="350" r:id="rId103"/>
    <p:sldId id="1007" r:id="rId104"/>
    <p:sldId id="358" r:id="rId105"/>
    <p:sldId id="361" r:id="rId106"/>
    <p:sldId id="362" r:id="rId107"/>
    <p:sldId id="363" r:id="rId108"/>
    <p:sldId id="364" r:id="rId109"/>
    <p:sldId id="365" r:id="rId110"/>
    <p:sldId id="366" r:id="rId111"/>
    <p:sldId id="367" r:id="rId112"/>
    <p:sldId id="368" r:id="rId113"/>
    <p:sldId id="369" r:id="rId114"/>
    <p:sldId id="370" r:id="rId115"/>
    <p:sldId id="371" r:id="rId116"/>
    <p:sldId id="1013"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7" r:id="rId132"/>
    <p:sldId id="386" r:id="rId133"/>
    <p:sldId id="395" r:id="rId134"/>
    <p:sldId id="396" r:id="rId135"/>
    <p:sldId id="388" r:id="rId136"/>
    <p:sldId id="389" r:id="rId137"/>
    <p:sldId id="390" r:id="rId138"/>
    <p:sldId id="391" r:id="rId139"/>
    <p:sldId id="392" r:id="rId140"/>
    <p:sldId id="394" r:id="rId141"/>
    <p:sldId id="393" r:id="rId142"/>
    <p:sldId id="397" r:id="rId143"/>
    <p:sldId id="399" r:id="rId144"/>
    <p:sldId id="398" r:id="rId145"/>
    <p:sldId id="400" r:id="rId146"/>
    <p:sldId id="403" r:id="rId147"/>
    <p:sldId id="402" r:id="rId148"/>
    <p:sldId id="404" r:id="rId149"/>
    <p:sldId id="405" r:id="rId150"/>
    <p:sldId id="406" r:id="rId151"/>
    <p:sldId id="407" r:id="rId152"/>
    <p:sldId id="408" r:id="rId153"/>
    <p:sldId id="409" r:id="rId154"/>
    <p:sldId id="410" r:id="rId155"/>
    <p:sldId id="411" r:id="rId156"/>
    <p:sldId id="470" r:id="rId157"/>
    <p:sldId id="412" r:id="rId158"/>
    <p:sldId id="413" r:id="rId159"/>
    <p:sldId id="472" r:id="rId160"/>
    <p:sldId id="473" r:id="rId161"/>
    <p:sldId id="47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8" r:id="rId175"/>
    <p:sldId id="427" r:id="rId176"/>
    <p:sldId id="429" r:id="rId177"/>
    <p:sldId id="430" r:id="rId178"/>
    <p:sldId id="545" r:id="rId179"/>
    <p:sldId id="432" r:id="rId180"/>
    <p:sldId id="548" r:id="rId181"/>
    <p:sldId id="435" r:id="rId182"/>
    <p:sldId id="431" r:id="rId183"/>
    <p:sldId id="547" r:id="rId184"/>
    <p:sldId id="436" r:id="rId185"/>
    <p:sldId id="437" r:id="rId186"/>
    <p:sldId id="438" r:id="rId187"/>
    <p:sldId id="439" r:id="rId188"/>
    <p:sldId id="1017" r:id="rId189"/>
    <p:sldId id="440" r:id="rId190"/>
    <p:sldId id="441" r:id="rId191"/>
    <p:sldId id="442" r:id="rId192"/>
    <p:sldId id="443" r:id="rId193"/>
    <p:sldId id="444" r:id="rId194"/>
    <p:sldId id="647" r:id="rId195"/>
    <p:sldId id="445" r:id="rId196"/>
    <p:sldId id="446" r:id="rId197"/>
    <p:sldId id="448" r:id="rId198"/>
    <p:sldId id="449" r:id="rId199"/>
    <p:sldId id="447" r:id="rId200"/>
    <p:sldId id="450" r:id="rId201"/>
    <p:sldId id="451" r:id="rId202"/>
    <p:sldId id="453" r:id="rId203"/>
    <p:sldId id="454" r:id="rId204"/>
    <p:sldId id="455" r:id="rId205"/>
    <p:sldId id="456" r:id="rId206"/>
    <p:sldId id="457" r:id="rId207"/>
    <p:sldId id="552" r:id="rId208"/>
    <p:sldId id="550" r:id="rId209"/>
    <p:sldId id="549" r:id="rId210"/>
    <p:sldId id="551" r:id="rId211"/>
    <p:sldId id="458" r:id="rId212"/>
    <p:sldId id="459" r:id="rId213"/>
    <p:sldId id="460" r:id="rId214"/>
    <p:sldId id="461" r:id="rId215"/>
    <p:sldId id="462" r:id="rId216"/>
    <p:sldId id="466" r:id="rId217"/>
    <p:sldId id="463" r:id="rId218"/>
    <p:sldId id="471" r:id="rId219"/>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008000"/>
    <a:srgbClr val="000099"/>
    <a:srgbClr val="F8F8F8"/>
    <a:srgbClr val="99CCFF"/>
    <a:srgbClr val="3399FF"/>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671" autoAdjust="0"/>
  </p:normalViewPr>
  <p:slideViewPr>
    <p:cSldViewPr>
      <p:cViewPr varScale="1">
        <p:scale>
          <a:sx n="65" d="100"/>
          <a:sy n="65" d="100"/>
        </p:scale>
        <p:origin x="1066" y="77"/>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notesMaster" Target="notesMasters/notesMaster1.xml"/><Relationship Id="rId225"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handoutMaster" Target="handoutMasters/handoutMaster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viewProps" Target="view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theme" Target="theme/theme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5A4EC9AE-754B-49FD-BA16-B62493B54AAE}" type="datetimeFigureOut">
              <a:rPr lang="zh-CN" altLang="en-US"/>
              <a:pPr>
                <a:defRPr/>
              </a:pPr>
              <a:t>2023/10/15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D4895103-49AF-4E9F-8FAA-AC2C9A984A0F}"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A8BD7D17-9F94-433F-85A9-A167373EBE7A}" type="datetimeFigureOut">
              <a:rPr lang="zh-CN" altLang="en-US"/>
              <a:pPr>
                <a:defRPr/>
              </a:pPr>
              <a:t>2023/10/15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37F5F534-2C7B-4B3E-AB7E-5181B223989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noFill/>
          <a:ln>
            <a:solidFill>
              <a:srgbClr val="000000"/>
            </a:solidFill>
            <a:miter lim="800000"/>
            <a:headEnd/>
            <a:tailEnd/>
          </a:ln>
        </p:spPr>
      </p:sp>
      <p:sp>
        <p:nvSpPr>
          <p:cNvPr id="33795"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a:p>
        </p:txBody>
      </p:sp>
      <p:sp>
        <p:nvSpPr>
          <p:cNvPr id="4" name="灯片编号占位符 3"/>
          <p:cNvSpPr>
            <a:spLocks noGrp="1"/>
          </p:cNvSpPr>
          <p:nvPr>
            <p:ph type="sldNum" sz="quarter" idx="5"/>
          </p:nvPr>
        </p:nvSpPr>
        <p:spPr/>
        <p:txBody>
          <a:bodyPr/>
          <a:lstStyle/>
          <a:p>
            <a:pPr>
              <a:defRPr/>
            </a:pPr>
            <a:fld id="{0A6A8501-8938-4B94-BC5C-55C939656245}" type="slidenum">
              <a:rPr lang="zh-CN" altLang="en-US" smtClean="0"/>
              <a:pPr>
                <a:defRPr/>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a:t>
            </a:fld>
            <a:endParaRPr lang="zh-CN" altLang="en-US"/>
          </a:p>
        </p:txBody>
      </p:sp>
    </p:spTree>
    <p:extLst>
      <p:ext uri="{BB962C8B-B14F-4D97-AF65-F5344CB8AC3E}">
        <p14:creationId xmlns:p14="http://schemas.microsoft.com/office/powerpoint/2010/main" val="1456298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a:t>
            </a:fld>
            <a:endParaRPr lang="zh-CN" altLang="en-US"/>
          </a:p>
        </p:txBody>
      </p:sp>
    </p:spTree>
    <p:extLst>
      <p:ext uri="{BB962C8B-B14F-4D97-AF65-F5344CB8AC3E}">
        <p14:creationId xmlns:p14="http://schemas.microsoft.com/office/powerpoint/2010/main" val="2064684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a:t>
            </a:fld>
            <a:endParaRPr lang="zh-CN" altLang="en-US"/>
          </a:p>
        </p:txBody>
      </p:sp>
    </p:spTree>
    <p:extLst>
      <p:ext uri="{BB962C8B-B14F-4D97-AF65-F5344CB8AC3E}">
        <p14:creationId xmlns:p14="http://schemas.microsoft.com/office/powerpoint/2010/main" val="3192752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a:extLst>
              <a:ext uri="{FF2B5EF4-FFF2-40B4-BE49-F238E27FC236}">
                <a16:creationId xmlns:a16="http://schemas.microsoft.com/office/drawing/2014/main" id="{65D3D3E6-BE52-4D31-AA86-D355AC1C4A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AF0CEA2-129B-4692-A163-AD36B5DC9117}" type="slidenum">
              <a:rPr lang="en-US" altLang="zh-CN"/>
              <a:pPr eaLnBrk="1" hangingPunct="1"/>
              <a:t>7</a:t>
            </a:fld>
            <a:endParaRPr lang="en-US" altLang="zh-CN"/>
          </a:p>
        </p:txBody>
      </p:sp>
      <p:sp>
        <p:nvSpPr>
          <p:cNvPr id="214019" name="Rectangle 2">
            <a:extLst>
              <a:ext uri="{FF2B5EF4-FFF2-40B4-BE49-F238E27FC236}">
                <a16:creationId xmlns:a16="http://schemas.microsoft.com/office/drawing/2014/main" id="{3575AAF9-A6DB-470C-80CC-FFEFFAD5C836}"/>
              </a:ext>
            </a:extLst>
          </p:cNvPr>
          <p:cNvSpPr>
            <a:spLocks noGrp="1" noRot="1" noChangeAspect="1" noChangeArrowheads="1" noTextEdit="1"/>
          </p:cNvSpPr>
          <p:nvPr>
            <p:ph type="sldImg"/>
          </p:nvPr>
        </p:nvSpPr>
        <p:spPr>
          <a:ln/>
        </p:spPr>
      </p:sp>
      <p:sp>
        <p:nvSpPr>
          <p:cNvPr id="214020" name="Rectangle 3">
            <a:extLst>
              <a:ext uri="{FF2B5EF4-FFF2-40B4-BE49-F238E27FC236}">
                <a16:creationId xmlns:a16="http://schemas.microsoft.com/office/drawing/2014/main" id="{3E85BF9D-55F8-48E7-8907-DD97E12BC31A}"/>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8</a:t>
            </a:fld>
            <a:endParaRPr lang="zh-CN" altLang="en-US"/>
          </a:p>
        </p:txBody>
      </p:sp>
    </p:spTree>
    <p:extLst>
      <p:ext uri="{BB962C8B-B14F-4D97-AF65-F5344CB8AC3E}">
        <p14:creationId xmlns:p14="http://schemas.microsoft.com/office/powerpoint/2010/main" val="2355930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9</a:t>
            </a:fld>
            <a:endParaRPr lang="zh-CN" altLang="en-US"/>
          </a:p>
        </p:txBody>
      </p:sp>
    </p:spTree>
    <p:extLst>
      <p:ext uri="{BB962C8B-B14F-4D97-AF65-F5344CB8AC3E}">
        <p14:creationId xmlns:p14="http://schemas.microsoft.com/office/powerpoint/2010/main" val="2462508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11</a:t>
            </a:fld>
            <a:endParaRPr lang="zh-CN" altLang="en-US"/>
          </a:p>
        </p:txBody>
      </p:sp>
    </p:spTree>
    <p:extLst>
      <p:ext uri="{BB962C8B-B14F-4D97-AF65-F5344CB8AC3E}">
        <p14:creationId xmlns:p14="http://schemas.microsoft.com/office/powerpoint/2010/main" val="2200084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12</a:t>
            </a:fld>
            <a:endParaRPr lang="zh-CN" altLang="en-US"/>
          </a:p>
        </p:txBody>
      </p:sp>
    </p:spTree>
    <p:extLst>
      <p:ext uri="{BB962C8B-B14F-4D97-AF65-F5344CB8AC3E}">
        <p14:creationId xmlns:p14="http://schemas.microsoft.com/office/powerpoint/2010/main" val="33057223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13</a:t>
            </a:fld>
            <a:endParaRPr lang="zh-CN" altLang="en-US"/>
          </a:p>
        </p:txBody>
      </p:sp>
    </p:spTree>
    <p:extLst>
      <p:ext uri="{BB962C8B-B14F-4D97-AF65-F5344CB8AC3E}">
        <p14:creationId xmlns:p14="http://schemas.microsoft.com/office/powerpoint/2010/main" val="4217076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18</a:t>
            </a:fld>
            <a:endParaRPr lang="zh-CN" altLang="en-US"/>
          </a:p>
        </p:txBody>
      </p:sp>
    </p:spTree>
    <p:extLst>
      <p:ext uri="{BB962C8B-B14F-4D97-AF65-F5344CB8AC3E}">
        <p14:creationId xmlns:p14="http://schemas.microsoft.com/office/powerpoint/2010/main" val="18688563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22</a:t>
            </a:fld>
            <a:endParaRPr lang="zh-CN" altLang="en-US"/>
          </a:p>
        </p:txBody>
      </p:sp>
    </p:spTree>
    <p:extLst>
      <p:ext uri="{BB962C8B-B14F-4D97-AF65-F5344CB8AC3E}">
        <p14:creationId xmlns:p14="http://schemas.microsoft.com/office/powerpoint/2010/main" val="13681392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23</a:t>
            </a:fld>
            <a:endParaRPr lang="zh-CN" altLang="en-US"/>
          </a:p>
        </p:txBody>
      </p:sp>
    </p:spTree>
    <p:extLst>
      <p:ext uri="{BB962C8B-B14F-4D97-AF65-F5344CB8AC3E}">
        <p14:creationId xmlns:p14="http://schemas.microsoft.com/office/powerpoint/2010/main" val="17416960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28</a:t>
            </a:fld>
            <a:endParaRPr lang="zh-CN" altLang="en-US"/>
          </a:p>
        </p:txBody>
      </p:sp>
    </p:spTree>
    <p:extLst>
      <p:ext uri="{BB962C8B-B14F-4D97-AF65-F5344CB8AC3E}">
        <p14:creationId xmlns:p14="http://schemas.microsoft.com/office/powerpoint/2010/main" val="26281018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29</a:t>
            </a:fld>
            <a:endParaRPr lang="zh-CN" altLang="en-US"/>
          </a:p>
        </p:txBody>
      </p:sp>
    </p:spTree>
    <p:extLst>
      <p:ext uri="{BB962C8B-B14F-4D97-AF65-F5344CB8AC3E}">
        <p14:creationId xmlns:p14="http://schemas.microsoft.com/office/powerpoint/2010/main" val="33449821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30</a:t>
            </a:fld>
            <a:endParaRPr lang="zh-CN" altLang="en-US"/>
          </a:p>
        </p:txBody>
      </p:sp>
    </p:spTree>
    <p:extLst>
      <p:ext uri="{BB962C8B-B14F-4D97-AF65-F5344CB8AC3E}">
        <p14:creationId xmlns:p14="http://schemas.microsoft.com/office/powerpoint/2010/main" val="19757529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32</a:t>
            </a:fld>
            <a:endParaRPr lang="zh-CN" altLang="en-US"/>
          </a:p>
        </p:txBody>
      </p:sp>
    </p:spTree>
    <p:extLst>
      <p:ext uri="{BB962C8B-B14F-4D97-AF65-F5344CB8AC3E}">
        <p14:creationId xmlns:p14="http://schemas.microsoft.com/office/powerpoint/2010/main" val="40840925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a:extLst>
              <a:ext uri="{FF2B5EF4-FFF2-40B4-BE49-F238E27FC236}">
                <a16:creationId xmlns:a16="http://schemas.microsoft.com/office/drawing/2014/main" id="{5FD74F66-4E6A-4988-A1D9-EF80EFF11F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BD734E1-0E9A-4CE6-AAC0-08E8D7DB0AA8}" type="slidenum">
              <a:rPr lang="en-US" altLang="zh-CN"/>
              <a:pPr eaLnBrk="1" hangingPunct="1"/>
              <a:t>33</a:t>
            </a:fld>
            <a:endParaRPr lang="en-US" altLang="zh-CN"/>
          </a:p>
        </p:txBody>
      </p:sp>
      <p:sp>
        <p:nvSpPr>
          <p:cNvPr id="215043" name="Rectangle 2">
            <a:extLst>
              <a:ext uri="{FF2B5EF4-FFF2-40B4-BE49-F238E27FC236}">
                <a16:creationId xmlns:a16="http://schemas.microsoft.com/office/drawing/2014/main" id="{748BB91B-3FFE-4EBA-8B49-6A8E8A8A4441}"/>
              </a:ext>
            </a:extLst>
          </p:cNvPr>
          <p:cNvSpPr>
            <a:spLocks noGrp="1" noRot="1" noChangeAspect="1" noChangeArrowheads="1" noTextEdit="1"/>
          </p:cNvSpPr>
          <p:nvPr>
            <p:ph type="sldImg"/>
          </p:nvPr>
        </p:nvSpPr>
        <p:spPr>
          <a:ln/>
        </p:spPr>
      </p:sp>
      <p:sp>
        <p:nvSpPr>
          <p:cNvPr id="215044" name="Rectangle 3">
            <a:extLst>
              <a:ext uri="{FF2B5EF4-FFF2-40B4-BE49-F238E27FC236}">
                <a16:creationId xmlns:a16="http://schemas.microsoft.com/office/drawing/2014/main" id="{6C661F19-0AF9-4CA5-B1F9-43C9CCD0D377}"/>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a:extLst>
              <a:ext uri="{FF2B5EF4-FFF2-40B4-BE49-F238E27FC236}">
                <a16:creationId xmlns:a16="http://schemas.microsoft.com/office/drawing/2014/main" id="{579C463F-12BB-4F56-AD2F-0BF07145A7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0EA6DD1-8B5A-4738-8038-8E65EDA7E0E5}" type="slidenum">
              <a:rPr lang="en-US" altLang="zh-CN"/>
              <a:pPr eaLnBrk="1" hangingPunct="1"/>
              <a:t>34</a:t>
            </a:fld>
            <a:endParaRPr lang="en-US" altLang="zh-CN"/>
          </a:p>
        </p:txBody>
      </p:sp>
      <p:sp>
        <p:nvSpPr>
          <p:cNvPr id="216067" name="Rectangle 2">
            <a:extLst>
              <a:ext uri="{FF2B5EF4-FFF2-40B4-BE49-F238E27FC236}">
                <a16:creationId xmlns:a16="http://schemas.microsoft.com/office/drawing/2014/main" id="{5CDEE03C-1CD7-4C1D-8FEB-A71068F184E5}"/>
              </a:ext>
            </a:extLst>
          </p:cNvPr>
          <p:cNvSpPr>
            <a:spLocks noGrp="1" noRot="1" noChangeAspect="1" noChangeArrowheads="1" noTextEdit="1"/>
          </p:cNvSpPr>
          <p:nvPr>
            <p:ph type="sldImg"/>
          </p:nvPr>
        </p:nvSpPr>
        <p:spPr>
          <a:ln/>
        </p:spPr>
      </p:sp>
      <p:sp>
        <p:nvSpPr>
          <p:cNvPr id="216068" name="Rectangle 3">
            <a:extLst>
              <a:ext uri="{FF2B5EF4-FFF2-40B4-BE49-F238E27FC236}">
                <a16:creationId xmlns:a16="http://schemas.microsoft.com/office/drawing/2014/main" id="{A5FEF21B-85B8-4B50-8D36-86679B3250C2}"/>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35</a:t>
            </a:fld>
            <a:endParaRPr lang="zh-CN" altLang="en-US"/>
          </a:p>
        </p:txBody>
      </p:sp>
    </p:spTree>
    <p:extLst>
      <p:ext uri="{BB962C8B-B14F-4D97-AF65-F5344CB8AC3E}">
        <p14:creationId xmlns:p14="http://schemas.microsoft.com/office/powerpoint/2010/main" val="1699591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36</a:t>
            </a:fld>
            <a:endParaRPr lang="zh-CN" altLang="en-US"/>
          </a:p>
        </p:txBody>
      </p:sp>
    </p:spTree>
    <p:extLst>
      <p:ext uri="{BB962C8B-B14F-4D97-AF65-F5344CB8AC3E}">
        <p14:creationId xmlns:p14="http://schemas.microsoft.com/office/powerpoint/2010/main" val="3705823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a:extLst>
              <a:ext uri="{FF2B5EF4-FFF2-40B4-BE49-F238E27FC236}">
                <a16:creationId xmlns:a16="http://schemas.microsoft.com/office/drawing/2014/main" id="{FD939472-8BB2-46E0-A494-2E38A40935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D2D9A2F-122D-48CB-880E-88C5FFFDEE99}" type="slidenum">
              <a:rPr lang="en-US" altLang="zh-CN"/>
              <a:pPr eaLnBrk="1" hangingPunct="1"/>
              <a:t>41</a:t>
            </a:fld>
            <a:endParaRPr lang="en-US" altLang="zh-CN"/>
          </a:p>
        </p:txBody>
      </p:sp>
      <p:sp>
        <p:nvSpPr>
          <p:cNvPr id="217091" name="Rectangle 2">
            <a:extLst>
              <a:ext uri="{FF2B5EF4-FFF2-40B4-BE49-F238E27FC236}">
                <a16:creationId xmlns:a16="http://schemas.microsoft.com/office/drawing/2014/main" id="{C3556903-091B-454A-8241-9D902A74C31F}"/>
              </a:ext>
            </a:extLst>
          </p:cNvPr>
          <p:cNvSpPr>
            <a:spLocks noGrp="1" noRot="1" noChangeAspect="1" noChangeArrowheads="1" noTextEdit="1"/>
          </p:cNvSpPr>
          <p:nvPr>
            <p:ph type="sldImg"/>
          </p:nvPr>
        </p:nvSpPr>
        <p:spPr>
          <a:ln/>
        </p:spPr>
      </p:sp>
      <p:sp>
        <p:nvSpPr>
          <p:cNvPr id="217092" name="Rectangle 3">
            <a:extLst>
              <a:ext uri="{FF2B5EF4-FFF2-40B4-BE49-F238E27FC236}">
                <a16:creationId xmlns:a16="http://schemas.microsoft.com/office/drawing/2014/main" id="{94169DF0-B71C-4B93-802A-E6158B90C1C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42</a:t>
            </a:fld>
            <a:endParaRPr lang="zh-CN" altLang="en-US"/>
          </a:p>
        </p:txBody>
      </p:sp>
    </p:spTree>
    <p:extLst>
      <p:ext uri="{BB962C8B-B14F-4D97-AF65-F5344CB8AC3E}">
        <p14:creationId xmlns:p14="http://schemas.microsoft.com/office/powerpoint/2010/main" val="9729440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44</a:t>
            </a:fld>
            <a:endParaRPr lang="zh-CN" altLang="en-US"/>
          </a:p>
        </p:txBody>
      </p:sp>
    </p:spTree>
    <p:extLst>
      <p:ext uri="{BB962C8B-B14F-4D97-AF65-F5344CB8AC3E}">
        <p14:creationId xmlns:p14="http://schemas.microsoft.com/office/powerpoint/2010/main" val="10797817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46</a:t>
            </a:fld>
            <a:endParaRPr lang="zh-CN" altLang="en-US"/>
          </a:p>
        </p:txBody>
      </p:sp>
    </p:spTree>
    <p:extLst>
      <p:ext uri="{BB962C8B-B14F-4D97-AF65-F5344CB8AC3E}">
        <p14:creationId xmlns:p14="http://schemas.microsoft.com/office/powerpoint/2010/main" val="6081450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a:extLst>
              <a:ext uri="{FF2B5EF4-FFF2-40B4-BE49-F238E27FC236}">
                <a16:creationId xmlns:a16="http://schemas.microsoft.com/office/drawing/2014/main" id="{F883BDA2-E745-46F1-ADA5-9DFC803B4D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0495F64-63DD-4966-9C80-DA6DF372DCCE}" type="slidenum">
              <a:rPr lang="en-US" altLang="zh-CN"/>
              <a:pPr eaLnBrk="1" hangingPunct="1"/>
              <a:t>49</a:t>
            </a:fld>
            <a:endParaRPr lang="en-US" altLang="zh-CN"/>
          </a:p>
        </p:txBody>
      </p:sp>
      <p:sp>
        <p:nvSpPr>
          <p:cNvPr id="218115" name="Rectangle 2">
            <a:extLst>
              <a:ext uri="{FF2B5EF4-FFF2-40B4-BE49-F238E27FC236}">
                <a16:creationId xmlns:a16="http://schemas.microsoft.com/office/drawing/2014/main" id="{41EBAB94-97D2-4EF7-9DB9-D90B66485F34}"/>
              </a:ext>
            </a:extLst>
          </p:cNvPr>
          <p:cNvSpPr>
            <a:spLocks noGrp="1" noRot="1" noChangeAspect="1" noChangeArrowheads="1" noTextEdit="1"/>
          </p:cNvSpPr>
          <p:nvPr>
            <p:ph type="sldImg"/>
          </p:nvPr>
        </p:nvSpPr>
        <p:spPr>
          <a:ln/>
        </p:spPr>
      </p:sp>
      <p:sp>
        <p:nvSpPr>
          <p:cNvPr id="218116" name="Rectangle 3">
            <a:extLst>
              <a:ext uri="{FF2B5EF4-FFF2-40B4-BE49-F238E27FC236}">
                <a16:creationId xmlns:a16="http://schemas.microsoft.com/office/drawing/2014/main" id="{78101F47-12E9-4B86-A517-6806986B9DBD}"/>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50</a:t>
            </a:fld>
            <a:endParaRPr lang="zh-CN" altLang="en-US"/>
          </a:p>
        </p:txBody>
      </p:sp>
    </p:spTree>
    <p:extLst>
      <p:ext uri="{BB962C8B-B14F-4D97-AF65-F5344CB8AC3E}">
        <p14:creationId xmlns:p14="http://schemas.microsoft.com/office/powerpoint/2010/main" val="26885413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52</a:t>
            </a:fld>
            <a:endParaRPr lang="zh-CN" altLang="en-US"/>
          </a:p>
        </p:txBody>
      </p:sp>
    </p:spTree>
    <p:extLst>
      <p:ext uri="{BB962C8B-B14F-4D97-AF65-F5344CB8AC3E}">
        <p14:creationId xmlns:p14="http://schemas.microsoft.com/office/powerpoint/2010/main" val="26630139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54</a:t>
            </a:fld>
            <a:endParaRPr lang="zh-CN" altLang="en-US"/>
          </a:p>
        </p:txBody>
      </p:sp>
    </p:spTree>
    <p:extLst>
      <p:ext uri="{BB962C8B-B14F-4D97-AF65-F5344CB8AC3E}">
        <p14:creationId xmlns:p14="http://schemas.microsoft.com/office/powerpoint/2010/main" val="5595850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55</a:t>
            </a:fld>
            <a:endParaRPr lang="zh-CN" altLang="en-US"/>
          </a:p>
        </p:txBody>
      </p:sp>
    </p:spTree>
    <p:extLst>
      <p:ext uri="{BB962C8B-B14F-4D97-AF65-F5344CB8AC3E}">
        <p14:creationId xmlns:p14="http://schemas.microsoft.com/office/powerpoint/2010/main" val="12875350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56</a:t>
            </a:fld>
            <a:endParaRPr lang="zh-CN" altLang="en-US"/>
          </a:p>
        </p:txBody>
      </p:sp>
    </p:spTree>
    <p:extLst>
      <p:ext uri="{BB962C8B-B14F-4D97-AF65-F5344CB8AC3E}">
        <p14:creationId xmlns:p14="http://schemas.microsoft.com/office/powerpoint/2010/main" val="26385840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57</a:t>
            </a:fld>
            <a:endParaRPr lang="zh-CN" altLang="en-US"/>
          </a:p>
        </p:txBody>
      </p:sp>
    </p:spTree>
    <p:extLst>
      <p:ext uri="{BB962C8B-B14F-4D97-AF65-F5344CB8AC3E}">
        <p14:creationId xmlns:p14="http://schemas.microsoft.com/office/powerpoint/2010/main" val="33030799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58</a:t>
            </a:fld>
            <a:endParaRPr lang="zh-CN" altLang="en-US"/>
          </a:p>
        </p:txBody>
      </p:sp>
    </p:spTree>
    <p:extLst>
      <p:ext uri="{BB962C8B-B14F-4D97-AF65-F5344CB8AC3E}">
        <p14:creationId xmlns:p14="http://schemas.microsoft.com/office/powerpoint/2010/main" val="38344836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59</a:t>
            </a:fld>
            <a:endParaRPr lang="zh-CN" altLang="en-US"/>
          </a:p>
        </p:txBody>
      </p:sp>
    </p:spTree>
    <p:extLst>
      <p:ext uri="{BB962C8B-B14F-4D97-AF65-F5344CB8AC3E}">
        <p14:creationId xmlns:p14="http://schemas.microsoft.com/office/powerpoint/2010/main" val="15883948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61</a:t>
            </a:fld>
            <a:endParaRPr lang="zh-CN" altLang="en-US"/>
          </a:p>
        </p:txBody>
      </p:sp>
    </p:spTree>
    <p:extLst>
      <p:ext uri="{BB962C8B-B14F-4D97-AF65-F5344CB8AC3E}">
        <p14:creationId xmlns:p14="http://schemas.microsoft.com/office/powerpoint/2010/main" val="32527873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62</a:t>
            </a:fld>
            <a:endParaRPr lang="zh-CN" altLang="en-US"/>
          </a:p>
        </p:txBody>
      </p:sp>
    </p:spTree>
    <p:extLst>
      <p:ext uri="{BB962C8B-B14F-4D97-AF65-F5344CB8AC3E}">
        <p14:creationId xmlns:p14="http://schemas.microsoft.com/office/powerpoint/2010/main" val="14414928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a:extLst>
              <a:ext uri="{FF2B5EF4-FFF2-40B4-BE49-F238E27FC236}">
                <a16:creationId xmlns:a16="http://schemas.microsoft.com/office/drawing/2014/main" id="{41B0946A-7C10-438E-8BA5-40EEF7533F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1CDC835-E310-4161-B1CA-AB30C9659D1B}" type="slidenum">
              <a:rPr lang="en-US" altLang="zh-CN"/>
              <a:pPr eaLnBrk="1" hangingPunct="1"/>
              <a:t>63</a:t>
            </a:fld>
            <a:endParaRPr lang="en-US" altLang="zh-CN"/>
          </a:p>
        </p:txBody>
      </p:sp>
      <p:sp>
        <p:nvSpPr>
          <p:cNvPr id="219139" name="Rectangle 2">
            <a:extLst>
              <a:ext uri="{FF2B5EF4-FFF2-40B4-BE49-F238E27FC236}">
                <a16:creationId xmlns:a16="http://schemas.microsoft.com/office/drawing/2014/main" id="{94B11CF8-08E0-4C09-856B-C0AC315DA455}"/>
              </a:ext>
            </a:extLst>
          </p:cNvPr>
          <p:cNvSpPr>
            <a:spLocks noGrp="1" noRot="1" noChangeAspect="1" noChangeArrowheads="1" noTextEdit="1"/>
          </p:cNvSpPr>
          <p:nvPr>
            <p:ph type="sldImg"/>
          </p:nvPr>
        </p:nvSpPr>
        <p:spPr>
          <a:ln/>
        </p:spPr>
      </p:sp>
      <p:sp>
        <p:nvSpPr>
          <p:cNvPr id="219140" name="Rectangle 3">
            <a:extLst>
              <a:ext uri="{FF2B5EF4-FFF2-40B4-BE49-F238E27FC236}">
                <a16:creationId xmlns:a16="http://schemas.microsoft.com/office/drawing/2014/main" id="{4CBD18F8-AD48-4C10-B64B-78B7DB9AB161}"/>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64</a:t>
            </a:fld>
            <a:endParaRPr lang="zh-CN" altLang="en-US"/>
          </a:p>
        </p:txBody>
      </p:sp>
    </p:spTree>
    <p:extLst>
      <p:ext uri="{BB962C8B-B14F-4D97-AF65-F5344CB8AC3E}">
        <p14:creationId xmlns:p14="http://schemas.microsoft.com/office/powerpoint/2010/main" val="36605972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67</a:t>
            </a:fld>
            <a:endParaRPr lang="zh-CN" altLang="en-US"/>
          </a:p>
        </p:txBody>
      </p:sp>
    </p:spTree>
    <p:extLst>
      <p:ext uri="{BB962C8B-B14F-4D97-AF65-F5344CB8AC3E}">
        <p14:creationId xmlns:p14="http://schemas.microsoft.com/office/powerpoint/2010/main" val="36754228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a:extLst>
              <a:ext uri="{FF2B5EF4-FFF2-40B4-BE49-F238E27FC236}">
                <a16:creationId xmlns:a16="http://schemas.microsoft.com/office/drawing/2014/main" id="{531C975C-B7D0-48A2-B705-43D7A5B1EC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4A6635E-D871-47DE-BD05-F7A3E403EFA7}" type="slidenum">
              <a:rPr lang="en-US" altLang="zh-CN"/>
              <a:pPr eaLnBrk="1" hangingPunct="1"/>
              <a:t>68</a:t>
            </a:fld>
            <a:endParaRPr lang="en-US" altLang="zh-CN"/>
          </a:p>
        </p:txBody>
      </p:sp>
      <p:sp>
        <p:nvSpPr>
          <p:cNvPr id="221187" name="Rectangle 2">
            <a:extLst>
              <a:ext uri="{FF2B5EF4-FFF2-40B4-BE49-F238E27FC236}">
                <a16:creationId xmlns:a16="http://schemas.microsoft.com/office/drawing/2014/main" id="{6C4C128E-4015-4B1E-9E62-BB3BA5A4509F}"/>
              </a:ext>
            </a:extLst>
          </p:cNvPr>
          <p:cNvSpPr>
            <a:spLocks noGrp="1" noRot="1" noChangeAspect="1" noChangeArrowheads="1" noTextEdit="1"/>
          </p:cNvSpPr>
          <p:nvPr>
            <p:ph type="sldImg"/>
          </p:nvPr>
        </p:nvSpPr>
        <p:spPr>
          <a:ln/>
        </p:spPr>
      </p:sp>
      <p:sp>
        <p:nvSpPr>
          <p:cNvPr id="221188" name="Rectangle 3">
            <a:extLst>
              <a:ext uri="{FF2B5EF4-FFF2-40B4-BE49-F238E27FC236}">
                <a16:creationId xmlns:a16="http://schemas.microsoft.com/office/drawing/2014/main" id="{E4E623D9-95E9-4323-B38A-98E7C980371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a:extLst>
              <a:ext uri="{FF2B5EF4-FFF2-40B4-BE49-F238E27FC236}">
                <a16:creationId xmlns:a16="http://schemas.microsoft.com/office/drawing/2014/main" id="{2990DF31-2107-412C-BB61-E749315E0A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1F3D0D0-9A23-43A6-8C6B-6F5031E7AE9C}" type="slidenum">
              <a:rPr lang="en-US" altLang="zh-CN"/>
              <a:pPr eaLnBrk="1" hangingPunct="1"/>
              <a:t>70</a:t>
            </a:fld>
            <a:endParaRPr lang="en-US" altLang="zh-CN"/>
          </a:p>
        </p:txBody>
      </p:sp>
      <p:sp>
        <p:nvSpPr>
          <p:cNvPr id="222211" name="Rectangle 2">
            <a:extLst>
              <a:ext uri="{FF2B5EF4-FFF2-40B4-BE49-F238E27FC236}">
                <a16:creationId xmlns:a16="http://schemas.microsoft.com/office/drawing/2014/main" id="{91662A99-054A-4315-9EEA-5FC36CCD0AB1}"/>
              </a:ext>
            </a:extLst>
          </p:cNvPr>
          <p:cNvSpPr>
            <a:spLocks noGrp="1" noRot="1" noChangeAspect="1" noChangeArrowheads="1" noTextEdit="1"/>
          </p:cNvSpPr>
          <p:nvPr>
            <p:ph type="sldImg"/>
          </p:nvPr>
        </p:nvSpPr>
        <p:spPr>
          <a:ln/>
        </p:spPr>
      </p:sp>
      <p:sp>
        <p:nvSpPr>
          <p:cNvPr id="222212" name="Rectangle 3">
            <a:extLst>
              <a:ext uri="{FF2B5EF4-FFF2-40B4-BE49-F238E27FC236}">
                <a16:creationId xmlns:a16="http://schemas.microsoft.com/office/drawing/2014/main" id="{885A91DA-FE10-4880-84B0-A1AF147EB46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71</a:t>
            </a:fld>
            <a:endParaRPr lang="zh-CN" altLang="en-US"/>
          </a:p>
        </p:txBody>
      </p:sp>
    </p:spTree>
    <p:extLst>
      <p:ext uri="{BB962C8B-B14F-4D97-AF65-F5344CB8AC3E}">
        <p14:creationId xmlns:p14="http://schemas.microsoft.com/office/powerpoint/2010/main" val="34103562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a:extLst>
              <a:ext uri="{FF2B5EF4-FFF2-40B4-BE49-F238E27FC236}">
                <a16:creationId xmlns:a16="http://schemas.microsoft.com/office/drawing/2014/main" id="{9DB19966-92B5-4F5B-9E8A-FC1BFF308E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D02B85-8F0B-480E-AEDC-9C43BADC6F02}" type="slidenum">
              <a:rPr lang="en-US" altLang="zh-CN"/>
              <a:pPr eaLnBrk="1" hangingPunct="1"/>
              <a:t>73</a:t>
            </a:fld>
            <a:endParaRPr lang="en-US" altLang="zh-CN"/>
          </a:p>
        </p:txBody>
      </p:sp>
      <p:sp>
        <p:nvSpPr>
          <p:cNvPr id="223235" name="Rectangle 2">
            <a:extLst>
              <a:ext uri="{FF2B5EF4-FFF2-40B4-BE49-F238E27FC236}">
                <a16:creationId xmlns:a16="http://schemas.microsoft.com/office/drawing/2014/main" id="{E1F2B798-98C1-4752-A4DB-D843138334E1}"/>
              </a:ext>
            </a:extLst>
          </p:cNvPr>
          <p:cNvSpPr>
            <a:spLocks noGrp="1" noRot="1" noChangeAspect="1" noChangeArrowheads="1" noTextEdit="1"/>
          </p:cNvSpPr>
          <p:nvPr>
            <p:ph type="sldImg"/>
          </p:nvPr>
        </p:nvSpPr>
        <p:spPr>
          <a:ln/>
        </p:spPr>
      </p:sp>
      <p:sp>
        <p:nvSpPr>
          <p:cNvPr id="223236" name="Rectangle 3">
            <a:extLst>
              <a:ext uri="{FF2B5EF4-FFF2-40B4-BE49-F238E27FC236}">
                <a16:creationId xmlns:a16="http://schemas.microsoft.com/office/drawing/2014/main" id="{07D6F403-A746-4490-91C1-270791D970B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74</a:t>
            </a:fld>
            <a:endParaRPr lang="zh-CN" altLang="en-US"/>
          </a:p>
        </p:txBody>
      </p:sp>
    </p:spTree>
    <p:extLst>
      <p:ext uri="{BB962C8B-B14F-4D97-AF65-F5344CB8AC3E}">
        <p14:creationId xmlns:p14="http://schemas.microsoft.com/office/powerpoint/2010/main" val="17830734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75</a:t>
            </a:fld>
            <a:endParaRPr lang="zh-CN" altLang="en-US"/>
          </a:p>
        </p:txBody>
      </p:sp>
    </p:spTree>
    <p:extLst>
      <p:ext uri="{BB962C8B-B14F-4D97-AF65-F5344CB8AC3E}">
        <p14:creationId xmlns:p14="http://schemas.microsoft.com/office/powerpoint/2010/main" val="14610116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79</a:t>
            </a:fld>
            <a:endParaRPr lang="zh-CN" altLang="en-US"/>
          </a:p>
        </p:txBody>
      </p:sp>
    </p:spTree>
    <p:extLst>
      <p:ext uri="{BB962C8B-B14F-4D97-AF65-F5344CB8AC3E}">
        <p14:creationId xmlns:p14="http://schemas.microsoft.com/office/powerpoint/2010/main" val="111878711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83</a:t>
            </a:fld>
            <a:endParaRPr lang="zh-CN" altLang="en-US"/>
          </a:p>
        </p:txBody>
      </p:sp>
    </p:spTree>
    <p:extLst>
      <p:ext uri="{BB962C8B-B14F-4D97-AF65-F5344CB8AC3E}">
        <p14:creationId xmlns:p14="http://schemas.microsoft.com/office/powerpoint/2010/main" val="29977484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84</a:t>
            </a:fld>
            <a:endParaRPr lang="zh-CN" altLang="en-US"/>
          </a:p>
        </p:txBody>
      </p:sp>
    </p:spTree>
    <p:extLst>
      <p:ext uri="{BB962C8B-B14F-4D97-AF65-F5344CB8AC3E}">
        <p14:creationId xmlns:p14="http://schemas.microsoft.com/office/powerpoint/2010/main" val="30504491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85</a:t>
            </a:fld>
            <a:endParaRPr lang="zh-CN" altLang="en-US"/>
          </a:p>
        </p:txBody>
      </p:sp>
    </p:spTree>
    <p:extLst>
      <p:ext uri="{BB962C8B-B14F-4D97-AF65-F5344CB8AC3E}">
        <p14:creationId xmlns:p14="http://schemas.microsoft.com/office/powerpoint/2010/main" val="29484957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87</a:t>
            </a:fld>
            <a:endParaRPr lang="zh-CN" altLang="en-US"/>
          </a:p>
        </p:txBody>
      </p:sp>
    </p:spTree>
    <p:extLst>
      <p:ext uri="{BB962C8B-B14F-4D97-AF65-F5344CB8AC3E}">
        <p14:creationId xmlns:p14="http://schemas.microsoft.com/office/powerpoint/2010/main" val="10951092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89</a:t>
            </a:fld>
            <a:endParaRPr lang="zh-CN" altLang="en-US"/>
          </a:p>
        </p:txBody>
      </p:sp>
    </p:spTree>
    <p:extLst>
      <p:ext uri="{BB962C8B-B14F-4D97-AF65-F5344CB8AC3E}">
        <p14:creationId xmlns:p14="http://schemas.microsoft.com/office/powerpoint/2010/main" val="3341280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90</a:t>
            </a:fld>
            <a:endParaRPr lang="zh-CN" altLang="en-US"/>
          </a:p>
        </p:txBody>
      </p:sp>
    </p:spTree>
    <p:extLst>
      <p:ext uri="{BB962C8B-B14F-4D97-AF65-F5344CB8AC3E}">
        <p14:creationId xmlns:p14="http://schemas.microsoft.com/office/powerpoint/2010/main" val="31044646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91</a:t>
            </a:fld>
            <a:endParaRPr lang="zh-CN" altLang="en-US"/>
          </a:p>
        </p:txBody>
      </p:sp>
    </p:spTree>
    <p:extLst>
      <p:ext uri="{BB962C8B-B14F-4D97-AF65-F5344CB8AC3E}">
        <p14:creationId xmlns:p14="http://schemas.microsoft.com/office/powerpoint/2010/main" val="32905309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92</a:t>
            </a:fld>
            <a:endParaRPr lang="zh-CN" altLang="en-US"/>
          </a:p>
        </p:txBody>
      </p:sp>
    </p:spTree>
    <p:extLst>
      <p:ext uri="{BB962C8B-B14F-4D97-AF65-F5344CB8AC3E}">
        <p14:creationId xmlns:p14="http://schemas.microsoft.com/office/powerpoint/2010/main" val="4472814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93</a:t>
            </a:fld>
            <a:endParaRPr lang="zh-CN" altLang="en-US"/>
          </a:p>
        </p:txBody>
      </p:sp>
    </p:spTree>
    <p:extLst>
      <p:ext uri="{BB962C8B-B14F-4D97-AF65-F5344CB8AC3E}">
        <p14:creationId xmlns:p14="http://schemas.microsoft.com/office/powerpoint/2010/main" val="64239594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a:extLst>
              <a:ext uri="{FF2B5EF4-FFF2-40B4-BE49-F238E27FC236}">
                <a16:creationId xmlns:a16="http://schemas.microsoft.com/office/drawing/2014/main" id="{E3A5C94A-E8CD-4CBD-AD0B-EE79BA28B4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1BC0A76-BB48-4A89-9B7E-5271D9C8F8E6}" type="slidenum">
              <a:rPr lang="en-US" altLang="zh-CN"/>
              <a:pPr eaLnBrk="1" hangingPunct="1"/>
              <a:t>94</a:t>
            </a:fld>
            <a:endParaRPr lang="en-US" altLang="zh-CN"/>
          </a:p>
        </p:txBody>
      </p:sp>
      <p:sp>
        <p:nvSpPr>
          <p:cNvPr id="224259" name="Rectangle 2">
            <a:extLst>
              <a:ext uri="{FF2B5EF4-FFF2-40B4-BE49-F238E27FC236}">
                <a16:creationId xmlns:a16="http://schemas.microsoft.com/office/drawing/2014/main" id="{3F902234-75DC-461D-A45F-FBF0CFA5463E}"/>
              </a:ext>
            </a:extLst>
          </p:cNvPr>
          <p:cNvSpPr>
            <a:spLocks noGrp="1" noRot="1" noChangeAspect="1" noChangeArrowheads="1" noTextEdit="1"/>
          </p:cNvSpPr>
          <p:nvPr>
            <p:ph type="sldImg"/>
          </p:nvPr>
        </p:nvSpPr>
        <p:spPr>
          <a:ln/>
        </p:spPr>
      </p:sp>
      <p:sp>
        <p:nvSpPr>
          <p:cNvPr id="224260" name="Rectangle 3">
            <a:extLst>
              <a:ext uri="{FF2B5EF4-FFF2-40B4-BE49-F238E27FC236}">
                <a16:creationId xmlns:a16="http://schemas.microsoft.com/office/drawing/2014/main" id="{C0085EAD-0066-456F-A0D0-E146B809D74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a:extLst>
              <a:ext uri="{FF2B5EF4-FFF2-40B4-BE49-F238E27FC236}">
                <a16:creationId xmlns:a16="http://schemas.microsoft.com/office/drawing/2014/main" id="{123590C9-92F3-4CCB-96C0-32D231C018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237B7B9-A6E5-4885-A3E8-DEC620524D63}" type="slidenum">
              <a:rPr lang="en-US" altLang="zh-CN"/>
              <a:pPr eaLnBrk="1" hangingPunct="1"/>
              <a:t>95</a:t>
            </a:fld>
            <a:endParaRPr lang="en-US" altLang="zh-CN"/>
          </a:p>
        </p:txBody>
      </p:sp>
      <p:sp>
        <p:nvSpPr>
          <p:cNvPr id="225283" name="Rectangle 2">
            <a:extLst>
              <a:ext uri="{FF2B5EF4-FFF2-40B4-BE49-F238E27FC236}">
                <a16:creationId xmlns:a16="http://schemas.microsoft.com/office/drawing/2014/main" id="{A8FE4075-B299-4F16-92D3-B3853ACA887D}"/>
              </a:ext>
            </a:extLst>
          </p:cNvPr>
          <p:cNvSpPr>
            <a:spLocks noGrp="1" noRot="1" noChangeAspect="1" noChangeArrowheads="1" noTextEdit="1"/>
          </p:cNvSpPr>
          <p:nvPr>
            <p:ph type="sldImg"/>
          </p:nvPr>
        </p:nvSpPr>
        <p:spPr>
          <a:ln/>
        </p:spPr>
      </p:sp>
      <p:sp>
        <p:nvSpPr>
          <p:cNvPr id="225284" name="Rectangle 3">
            <a:extLst>
              <a:ext uri="{FF2B5EF4-FFF2-40B4-BE49-F238E27FC236}">
                <a16:creationId xmlns:a16="http://schemas.microsoft.com/office/drawing/2014/main" id="{ABD38259-DCB3-404F-8C36-7EEA3284DBF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97</a:t>
            </a:fld>
            <a:endParaRPr lang="zh-CN" altLang="en-US"/>
          </a:p>
        </p:txBody>
      </p:sp>
    </p:spTree>
    <p:extLst>
      <p:ext uri="{BB962C8B-B14F-4D97-AF65-F5344CB8AC3E}">
        <p14:creationId xmlns:p14="http://schemas.microsoft.com/office/powerpoint/2010/main" val="425932611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a:extLst>
              <a:ext uri="{FF2B5EF4-FFF2-40B4-BE49-F238E27FC236}">
                <a16:creationId xmlns:a16="http://schemas.microsoft.com/office/drawing/2014/main" id="{7A6D1CA7-E32D-47EF-9644-E0DEC905DE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ED86BBE-12C8-4C89-BD58-129D513DF178}" type="slidenum">
              <a:rPr lang="en-US" altLang="zh-CN"/>
              <a:pPr eaLnBrk="1" hangingPunct="1"/>
              <a:t>102</a:t>
            </a:fld>
            <a:endParaRPr lang="en-US" altLang="zh-CN"/>
          </a:p>
        </p:txBody>
      </p:sp>
      <p:sp>
        <p:nvSpPr>
          <p:cNvPr id="226307" name="Rectangle 2">
            <a:extLst>
              <a:ext uri="{FF2B5EF4-FFF2-40B4-BE49-F238E27FC236}">
                <a16:creationId xmlns:a16="http://schemas.microsoft.com/office/drawing/2014/main" id="{25413ED3-8B60-4E31-9BFC-B7A89A076018}"/>
              </a:ext>
            </a:extLst>
          </p:cNvPr>
          <p:cNvSpPr>
            <a:spLocks noGrp="1" noRot="1" noChangeAspect="1" noChangeArrowheads="1" noTextEdit="1"/>
          </p:cNvSpPr>
          <p:nvPr>
            <p:ph type="sldImg"/>
          </p:nvPr>
        </p:nvSpPr>
        <p:spPr>
          <a:ln/>
        </p:spPr>
      </p:sp>
      <p:sp>
        <p:nvSpPr>
          <p:cNvPr id="226308" name="Rectangle 3">
            <a:extLst>
              <a:ext uri="{FF2B5EF4-FFF2-40B4-BE49-F238E27FC236}">
                <a16:creationId xmlns:a16="http://schemas.microsoft.com/office/drawing/2014/main" id="{2E92E0B3-D5A0-4852-AB84-A436292B606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85134493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103</a:t>
            </a:fld>
            <a:endParaRPr lang="zh-CN" altLang="en-US"/>
          </a:p>
        </p:txBody>
      </p:sp>
    </p:spTree>
    <p:extLst>
      <p:ext uri="{BB962C8B-B14F-4D97-AF65-F5344CB8AC3E}">
        <p14:creationId xmlns:p14="http://schemas.microsoft.com/office/powerpoint/2010/main" val="26134673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104</a:t>
            </a:fld>
            <a:endParaRPr lang="zh-CN" altLang="en-US"/>
          </a:p>
        </p:txBody>
      </p:sp>
    </p:spTree>
    <p:extLst>
      <p:ext uri="{BB962C8B-B14F-4D97-AF65-F5344CB8AC3E}">
        <p14:creationId xmlns:p14="http://schemas.microsoft.com/office/powerpoint/2010/main" val="40375790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a:extLst>
              <a:ext uri="{FF2B5EF4-FFF2-40B4-BE49-F238E27FC236}">
                <a16:creationId xmlns:a16="http://schemas.microsoft.com/office/drawing/2014/main" id="{199EB168-33E9-4291-825B-31B5CF01E6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4709441-45AA-4845-B3C7-FEBB6FA6A6F8}" type="slidenum">
              <a:rPr lang="en-US" altLang="zh-CN"/>
              <a:pPr eaLnBrk="1" hangingPunct="1"/>
              <a:t>105</a:t>
            </a:fld>
            <a:endParaRPr lang="en-US" altLang="zh-CN"/>
          </a:p>
        </p:txBody>
      </p:sp>
      <p:sp>
        <p:nvSpPr>
          <p:cNvPr id="228355" name="Rectangle 2">
            <a:extLst>
              <a:ext uri="{FF2B5EF4-FFF2-40B4-BE49-F238E27FC236}">
                <a16:creationId xmlns:a16="http://schemas.microsoft.com/office/drawing/2014/main" id="{30FCB569-20B9-4CCD-A80E-13830681647C}"/>
              </a:ext>
            </a:extLst>
          </p:cNvPr>
          <p:cNvSpPr>
            <a:spLocks noGrp="1" noRot="1" noChangeAspect="1" noChangeArrowheads="1" noTextEdit="1"/>
          </p:cNvSpPr>
          <p:nvPr>
            <p:ph type="sldImg"/>
          </p:nvPr>
        </p:nvSpPr>
        <p:spPr>
          <a:ln/>
        </p:spPr>
      </p:sp>
      <p:sp>
        <p:nvSpPr>
          <p:cNvPr id="228356" name="Rectangle 3">
            <a:extLst>
              <a:ext uri="{FF2B5EF4-FFF2-40B4-BE49-F238E27FC236}">
                <a16:creationId xmlns:a16="http://schemas.microsoft.com/office/drawing/2014/main" id="{8C88A269-4AAF-426B-B0CE-44B1CDF70F4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a:extLst>
              <a:ext uri="{FF2B5EF4-FFF2-40B4-BE49-F238E27FC236}">
                <a16:creationId xmlns:a16="http://schemas.microsoft.com/office/drawing/2014/main" id="{3AC374C9-FE5F-4A3C-AAAC-63CEBB9D30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185E407-F725-4403-8C5F-D8F71CDB2C78}" type="slidenum">
              <a:rPr lang="en-US" altLang="zh-CN"/>
              <a:pPr eaLnBrk="1" hangingPunct="1"/>
              <a:t>108</a:t>
            </a:fld>
            <a:endParaRPr lang="en-US" altLang="zh-CN"/>
          </a:p>
        </p:txBody>
      </p:sp>
      <p:sp>
        <p:nvSpPr>
          <p:cNvPr id="229379" name="Rectangle 2">
            <a:extLst>
              <a:ext uri="{FF2B5EF4-FFF2-40B4-BE49-F238E27FC236}">
                <a16:creationId xmlns:a16="http://schemas.microsoft.com/office/drawing/2014/main" id="{B8917FC9-D763-4CB1-B981-B49D3BE43F4B}"/>
              </a:ext>
            </a:extLst>
          </p:cNvPr>
          <p:cNvSpPr>
            <a:spLocks noGrp="1" noRot="1" noChangeAspect="1" noChangeArrowheads="1" noTextEdit="1"/>
          </p:cNvSpPr>
          <p:nvPr>
            <p:ph type="sldImg"/>
          </p:nvPr>
        </p:nvSpPr>
        <p:spPr>
          <a:ln/>
        </p:spPr>
      </p:sp>
      <p:sp>
        <p:nvSpPr>
          <p:cNvPr id="229380" name="Rectangle 3">
            <a:extLst>
              <a:ext uri="{FF2B5EF4-FFF2-40B4-BE49-F238E27FC236}">
                <a16:creationId xmlns:a16="http://schemas.microsoft.com/office/drawing/2014/main" id="{FC4A582E-44AF-4DA4-8334-6C7EDC11D29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a:extLst>
              <a:ext uri="{FF2B5EF4-FFF2-40B4-BE49-F238E27FC236}">
                <a16:creationId xmlns:a16="http://schemas.microsoft.com/office/drawing/2014/main" id="{FBD23248-8117-4248-ABB3-5456FFAEE9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4DC31A4-687C-4A4D-9F95-28FF30B78A8A}" type="slidenum">
              <a:rPr lang="en-US" altLang="zh-CN"/>
              <a:pPr eaLnBrk="1" hangingPunct="1"/>
              <a:t>109</a:t>
            </a:fld>
            <a:endParaRPr lang="en-US" altLang="zh-CN"/>
          </a:p>
        </p:txBody>
      </p:sp>
      <p:sp>
        <p:nvSpPr>
          <p:cNvPr id="230403" name="Rectangle 2">
            <a:extLst>
              <a:ext uri="{FF2B5EF4-FFF2-40B4-BE49-F238E27FC236}">
                <a16:creationId xmlns:a16="http://schemas.microsoft.com/office/drawing/2014/main" id="{18527B3B-3230-4452-A679-41A52EC79B3A}"/>
              </a:ext>
            </a:extLst>
          </p:cNvPr>
          <p:cNvSpPr>
            <a:spLocks noGrp="1" noRot="1" noChangeAspect="1" noChangeArrowheads="1" noTextEdit="1"/>
          </p:cNvSpPr>
          <p:nvPr>
            <p:ph type="sldImg"/>
          </p:nvPr>
        </p:nvSpPr>
        <p:spPr>
          <a:ln/>
        </p:spPr>
      </p:sp>
      <p:sp>
        <p:nvSpPr>
          <p:cNvPr id="230404" name="Rectangle 3">
            <a:extLst>
              <a:ext uri="{FF2B5EF4-FFF2-40B4-BE49-F238E27FC236}">
                <a16:creationId xmlns:a16="http://schemas.microsoft.com/office/drawing/2014/main" id="{ABE070FF-89C9-49CE-8F2D-5855D9F6EAE9}"/>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111</a:t>
            </a:fld>
            <a:endParaRPr lang="zh-CN" altLang="en-US"/>
          </a:p>
        </p:txBody>
      </p:sp>
    </p:spTree>
    <p:extLst>
      <p:ext uri="{BB962C8B-B14F-4D97-AF65-F5344CB8AC3E}">
        <p14:creationId xmlns:p14="http://schemas.microsoft.com/office/powerpoint/2010/main" val="165027026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112</a:t>
            </a:fld>
            <a:endParaRPr lang="zh-CN" altLang="en-US"/>
          </a:p>
        </p:txBody>
      </p:sp>
    </p:spTree>
    <p:extLst>
      <p:ext uri="{BB962C8B-B14F-4D97-AF65-F5344CB8AC3E}">
        <p14:creationId xmlns:p14="http://schemas.microsoft.com/office/powerpoint/2010/main" val="23557023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a:extLst>
              <a:ext uri="{FF2B5EF4-FFF2-40B4-BE49-F238E27FC236}">
                <a16:creationId xmlns:a16="http://schemas.microsoft.com/office/drawing/2014/main" id="{19D9675D-BD70-431C-B867-41640038A0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CDB6F09-9F9A-4D3A-B0DE-4C6B31C74457}" type="slidenum">
              <a:rPr lang="en-US" altLang="zh-CN"/>
              <a:pPr eaLnBrk="1" hangingPunct="1"/>
              <a:t>113</a:t>
            </a:fld>
            <a:endParaRPr lang="en-US" altLang="zh-CN"/>
          </a:p>
        </p:txBody>
      </p:sp>
      <p:sp>
        <p:nvSpPr>
          <p:cNvPr id="231427" name="Rectangle 2">
            <a:extLst>
              <a:ext uri="{FF2B5EF4-FFF2-40B4-BE49-F238E27FC236}">
                <a16:creationId xmlns:a16="http://schemas.microsoft.com/office/drawing/2014/main" id="{86953A6C-5F85-4D60-BBEB-328901D64CF5}"/>
              </a:ext>
            </a:extLst>
          </p:cNvPr>
          <p:cNvSpPr>
            <a:spLocks noGrp="1" noRot="1" noChangeAspect="1" noChangeArrowheads="1" noTextEdit="1"/>
          </p:cNvSpPr>
          <p:nvPr>
            <p:ph type="sldImg"/>
          </p:nvPr>
        </p:nvSpPr>
        <p:spPr>
          <a:ln/>
        </p:spPr>
      </p:sp>
      <p:sp>
        <p:nvSpPr>
          <p:cNvPr id="231428" name="Rectangle 3">
            <a:extLst>
              <a:ext uri="{FF2B5EF4-FFF2-40B4-BE49-F238E27FC236}">
                <a16:creationId xmlns:a16="http://schemas.microsoft.com/office/drawing/2014/main" id="{952C4DCB-B307-4511-BE3F-6B522C1D703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114</a:t>
            </a:fld>
            <a:endParaRPr lang="zh-CN" altLang="en-US"/>
          </a:p>
        </p:txBody>
      </p:sp>
    </p:spTree>
    <p:extLst>
      <p:ext uri="{BB962C8B-B14F-4D97-AF65-F5344CB8AC3E}">
        <p14:creationId xmlns:p14="http://schemas.microsoft.com/office/powerpoint/2010/main" val="148379266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115</a:t>
            </a:fld>
            <a:endParaRPr lang="zh-CN" altLang="en-US"/>
          </a:p>
        </p:txBody>
      </p:sp>
    </p:spTree>
    <p:extLst>
      <p:ext uri="{BB962C8B-B14F-4D97-AF65-F5344CB8AC3E}">
        <p14:creationId xmlns:p14="http://schemas.microsoft.com/office/powerpoint/2010/main" val="175360123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116</a:t>
            </a:fld>
            <a:endParaRPr lang="zh-CN" altLang="en-US"/>
          </a:p>
        </p:txBody>
      </p:sp>
    </p:spTree>
    <p:extLst>
      <p:ext uri="{BB962C8B-B14F-4D97-AF65-F5344CB8AC3E}">
        <p14:creationId xmlns:p14="http://schemas.microsoft.com/office/powerpoint/2010/main" val="156386358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118</a:t>
            </a:fld>
            <a:endParaRPr lang="zh-CN" altLang="en-US"/>
          </a:p>
        </p:txBody>
      </p:sp>
    </p:spTree>
    <p:extLst>
      <p:ext uri="{BB962C8B-B14F-4D97-AF65-F5344CB8AC3E}">
        <p14:creationId xmlns:p14="http://schemas.microsoft.com/office/powerpoint/2010/main" val="69124462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119</a:t>
            </a:fld>
            <a:endParaRPr lang="zh-CN" altLang="en-US"/>
          </a:p>
        </p:txBody>
      </p:sp>
    </p:spTree>
    <p:extLst>
      <p:ext uri="{BB962C8B-B14F-4D97-AF65-F5344CB8AC3E}">
        <p14:creationId xmlns:p14="http://schemas.microsoft.com/office/powerpoint/2010/main" val="265153408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121</a:t>
            </a:fld>
            <a:endParaRPr lang="zh-CN" altLang="en-US"/>
          </a:p>
        </p:txBody>
      </p:sp>
    </p:spTree>
    <p:extLst>
      <p:ext uri="{BB962C8B-B14F-4D97-AF65-F5344CB8AC3E}">
        <p14:creationId xmlns:p14="http://schemas.microsoft.com/office/powerpoint/2010/main" val="96234122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122</a:t>
            </a:fld>
            <a:endParaRPr lang="zh-CN" altLang="en-US"/>
          </a:p>
        </p:txBody>
      </p:sp>
    </p:spTree>
    <p:extLst>
      <p:ext uri="{BB962C8B-B14F-4D97-AF65-F5344CB8AC3E}">
        <p14:creationId xmlns:p14="http://schemas.microsoft.com/office/powerpoint/2010/main" val="40706442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130</a:t>
            </a:fld>
            <a:endParaRPr lang="zh-CN" altLang="en-US"/>
          </a:p>
        </p:txBody>
      </p:sp>
    </p:spTree>
    <p:extLst>
      <p:ext uri="{BB962C8B-B14F-4D97-AF65-F5344CB8AC3E}">
        <p14:creationId xmlns:p14="http://schemas.microsoft.com/office/powerpoint/2010/main" val="3348523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7">
            <a:extLst>
              <a:ext uri="{FF2B5EF4-FFF2-40B4-BE49-F238E27FC236}">
                <a16:creationId xmlns:a16="http://schemas.microsoft.com/office/drawing/2014/main" id="{C8F1B079-D32D-4A2A-B078-D010517B93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A4E436B-E380-47AB-A6ED-9C2A63D790DA}" type="slidenum">
              <a:rPr lang="en-US" altLang="zh-CN"/>
              <a:pPr eaLnBrk="1" hangingPunct="1"/>
              <a:t>132</a:t>
            </a:fld>
            <a:endParaRPr lang="en-US" altLang="zh-CN"/>
          </a:p>
        </p:txBody>
      </p:sp>
      <p:sp>
        <p:nvSpPr>
          <p:cNvPr id="232451" name="Rectangle 2">
            <a:extLst>
              <a:ext uri="{FF2B5EF4-FFF2-40B4-BE49-F238E27FC236}">
                <a16:creationId xmlns:a16="http://schemas.microsoft.com/office/drawing/2014/main" id="{48EE2850-8966-4613-923A-2E726F8181DC}"/>
              </a:ext>
            </a:extLst>
          </p:cNvPr>
          <p:cNvSpPr>
            <a:spLocks noGrp="1" noRot="1" noChangeAspect="1" noChangeArrowheads="1" noTextEdit="1"/>
          </p:cNvSpPr>
          <p:nvPr>
            <p:ph type="sldImg"/>
          </p:nvPr>
        </p:nvSpPr>
        <p:spPr>
          <a:ln/>
        </p:spPr>
      </p:sp>
      <p:sp>
        <p:nvSpPr>
          <p:cNvPr id="232452" name="Rectangle 3">
            <a:extLst>
              <a:ext uri="{FF2B5EF4-FFF2-40B4-BE49-F238E27FC236}">
                <a16:creationId xmlns:a16="http://schemas.microsoft.com/office/drawing/2014/main" id="{75FA11C5-C51C-4809-9D57-911FB4D7E87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135</a:t>
            </a:fld>
            <a:endParaRPr lang="zh-CN" altLang="en-US"/>
          </a:p>
        </p:txBody>
      </p:sp>
    </p:spTree>
    <p:extLst>
      <p:ext uri="{BB962C8B-B14F-4D97-AF65-F5344CB8AC3E}">
        <p14:creationId xmlns:p14="http://schemas.microsoft.com/office/powerpoint/2010/main" val="350480807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a:extLst>
              <a:ext uri="{FF2B5EF4-FFF2-40B4-BE49-F238E27FC236}">
                <a16:creationId xmlns:a16="http://schemas.microsoft.com/office/drawing/2014/main" id="{9E5C2D13-A5D1-4C75-B099-B68A6A8E43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1ED0B41-2525-48FF-AC75-4EF024601C36}" type="slidenum">
              <a:rPr lang="en-US" altLang="zh-CN"/>
              <a:pPr eaLnBrk="1" hangingPunct="1"/>
              <a:t>136</a:t>
            </a:fld>
            <a:endParaRPr lang="en-US" altLang="zh-CN"/>
          </a:p>
        </p:txBody>
      </p:sp>
      <p:sp>
        <p:nvSpPr>
          <p:cNvPr id="233475" name="Rectangle 2">
            <a:extLst>
              <a:ext uri="{FF2B5EF4-FFF2-40B4-BE49-F238E27FC236}">
                <a16:creationId xmlns:a16="http://schemas.microsoft.com/office/drawing/2014/main" id="{1EF22CF3-921D-46D1-9D88-7BC38C92360D}"/>
              </a:ext>
            </a:extLst>
          </p:cNvPr>
          <p:cNvSpPr>
            <a:spLocks noGrp="1" noRot="1" noChangeAspect="1" noChangeArrowheads="1" noTextEdit="1"/>
          </p:cNvSpPr>
          <p:nvPr>
            <p:ph type="sldImg"/>
          </p:nvPr>
        </p:nvSpPr>
        <p:spPr>
          <a:ln/>
        </p:spPr>
      </p:sp>
      <p:sp>
        <p:nvSpPr>
          <p:cNvPr id="233476" name="Rectangle 3">
            <a:extLst>
              <a:ext uri="{FF2B5EF4-FFF2-40B4-BE49-F238E27FC236}">
                <a16:creationId xmlns:a16="http://schemas.microsoft.com/office/drawing/2014/main" id="{8321438E-2015-46DE-82B5-F529F7637282}"/>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137</a:t>
            </a:fld>
            <a:endParaRPr lang="zh-CN" altLang="en-US"/>
          </a:p>
        </p:txBody>
      </p:sp>
    </p:spTree>
    <p:extLst>
      <p:ext uri="{BB962C8B-B14F-4D97-AF65-F5344CB8AC3E}">
        <p14:creationId xmlns:p14="http://schemas.microsoft.com/office/powerpoint/2010/main" val="121740920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141</a:t>
            </a:fld>
            <a:endParaRPr lang="zh-CN" altLang="en-US"/>
          </a:p>
        </p:txBody>
      </p:sp>
    </p:spTree>
    <p:extLst>
      <p:ext uri="{BB962C8B-B14F-4D97-AF65-F5344CB8AC3E}">
        <p14:creationId xmlns:p14="http://schemas.microsoft.com/office/powerpoint/2010/main" val="304555307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7">
            <a:extLst>
              <a:ext uri="{FF2B5EF4-FFF2-40B4-BE49-F238E27FC236}">
                <a16:creationId xmlns:a16="http://schemas.microsoft.com/office/drawing/2014/main" id="{BDD618A0-563E-4D75-8904-6C2A2D4561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83F9AC2-A146-4AE7-9C5C-AF293B3E3D57}" type="slidenum">
              <a:rPr lang="en-US" altLang="zh-CN"/>
              <a:pPr eaLnBrk="1" hangingPunct="1"/>
              <a:t>144</a:t>
            </a:fld>
            <a:endParaRPr lang="en-US" altLang="zh-CN"/>
          </a:p>
        </p:txBody>
      </p:sp>
      <p:sp>
        <p:nvSpPr>
          <p:cNvPr id="234499" name="Rectangle 2">
            <a:extLst>
              <a:ext uri="{FF2B5EF4-FFF2-40B4-BE49-F238E27FC236}">
                <a16:creationId xmlns:a16="http://schemas.microsoft.com/office/drawing/2014/main" id="{6FC7BE4E-3B40-4ACF-A614-09BF06E87C32}"/>
              </a:ext>
            </a:extLst>
          </p:cNvPr>
          <p:cNvSpPr>
            <a:spLocks noGrp="1" noRot="1" noChangeAspect="1" noChangeArrowheads="1" noTextEdit="1"/>
          </p:cNvSpPr>
          <p:nvPr>
            <p:ph type="sldImg"/>
          </p:nvPr>
        </p:nvSpPr>
        <p:spPr>
          <a:ln/>
        </p:spPr>
      </p:sp>
      <p:sp>
        <p:nvSpPr>
          <p:cNvPr id="234500" name="Rectangle 3">
            <a:extLst>
              <a:ext uri="{FF2B5EF4-FFF2-40B4-BE49-F238E27FC236}">
                <a16:creationId xmlns:a16="http://schemas.microsoft.com/office/drawing/2014/main" id="{0E75F8A1-1C3C-46B7-94E0-687DD0884627}"/>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7">
            <a:extLst>
              <a:ext uri="{FF2B5EF4-FFF2-40B4-BE49-F238E27FC236}">
                <a16:creationId xmlns:a16="http://schemas.microsoft.com/office/drawing/2014/main" id="{22C81940-C53E-4015-A324-69DCBBC082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00BC27B-2951-44B9-8151-884DFCC933F4}" type="slidenum">
              <a:rPr lang="en-US" altLang="zh-CN"/>
              <a:pPr eaLnBrk="1" hangingPunct="1"/>
              <a:t>146</a:t>
            </a:fld>
            <a:endParaRPr lang="en-US" altLang="zh-CN"/>
          </a:p>
        </p:txBody>
      </p:sp>
      <p:sp>
        <p:nvSpPr>
          <p:cNvPr id="235523" name="Rectangle 2">
            <a:extLst>
              <a:ext uri="{FF2B5EF4-FFF2-40B4-BE49-F238E27FC236}">
                <a16:creationId xmlns:a16="http://schemas.microsoft.com/office/drawing/2014/main" id="{CD92B55D-164C-4F78-8E60-AFB1B170CA25}"/>
              </a:ext>
            </a:extLst>
          </p:cNvPr>
          <p:cNvSpPr>
            <a:spLocks noGrp="1" noRot="1" noChangeAspect="1" noChangeArrowheads="1" noTextEdit="1"/>
          </p:cNvSpPr>
          <p:nvPr>
            <p:ph type="sldImg"/>
          </p:nvPr>
        </p:nvSpPr>
        <p:spPr>
          <a:ln/>
        </p:spPr>
      </p:sp>
      <p:sp>
        <p:nvSpPr>
          <p:cNvPr id="235524" name="Rectangle 3">
            <a:extLst>
              <a:ext uri="{FF2B5EF4-FFF2-40B4-BE49-F238E27FC236}">
                <a16:creationId xmlns:a16="http://schemas.microsoft.com/office/drawing/2014/main" id="{2BD61444-B159-4A86-BED5-8BC81D00A3A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149</a:t>
            </a:fld>
            <a:endParaRPr lang="zh-CN" altLang="en-US"/>
          </a:p>
        </p:txBody>
      </p:sp>
    </p:spTree>
    <p:extLst>
      <p:ext uri="{BB962C8B-B14F-4D97-AF65-F5344CB8AC3E}">
        <p14:creationId xmlns:p14="http://schemas.microsoft.com/office/powerpoint/2010/main" val="122692240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a:extLst>
              <a:ext uri="{FF2B5EF4-FFF2-40B4-BE49-F238E27FC236}">
                <a16:creationId xmlns:a16="http://schemas.microsoft.com/office/drawing/2014/main" id="{579B1244-C06D-4EEB-ACDB-16E52EED64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CE93C9D-0BA2-469B-84D6-D5A16E162899}" type="slidenum">
              <a:rPr lang="en-US" altLang="zh-CN"/>
              <a:pPr eaLnBrk="1" hangingPunct="1"/>
              <a:t>151</a:t>
            </a:fld>
            <a:endParaRPr lang="en-US" altLang="zh-CN"/>
          </a:p>
        </p:txBody>
      </p:sp>
      <p:sp>
        <p:nvSpPr>
          <p:cNvPr id="236547" name="Rectangle 2">
            <a:extLst>
              <a:ext uri="{FF2B5EF4-FFF2-40B4-BE49-F238E27FC236}">
                <a16:creationId xmlns:a16="http://schemas.microsoft.com/office/drawing/2014/main" id="{AA80DDA4-B5ED-4036-AF19-55D562CED0B9}"/>
              </a:ext>
            </a:extLst>
          </p:cNvPr>
          <p:cNvSpPr>
            <a:spLocks noGrp="1" noRot="1" noChangeAspect="1" noChangeArrowheads="1" noTextEdit="1"/>
          </p:cNvSpPr>
          <p:nvPr>
            <p:ph type="sldImg"/>
          </p:nvPr>
        </p:nvSpPr>
        <p:spPr>
          <a:ln/>
        </p:spPr>
      </p:sp>
      <p:sp>
        <p:nvSpPr>
          <p:cNvPr id="236548" name="Rectangle 3">
            <a:extLst>
              <a:ext uri="{FF2B5EF4-FFF2-40B4-BE49-F238E27FC236}">
                <a16:creationId xmlns:a16="http://schemas.microsoft.com/office/drawing/2014/main" id="{9BC3CC17-46F2-4C9C-961E-B533E2007A6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extLst>
      <p:ext uri="{BB962C8B-B14F-4D97-AF65-F5344CB8AC3E}">
        <p14:creationId xmlns:p14="http://schemas.microsoft.com/office/powerpoint/2010/main" val="240494989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156</a:t>
            </a:fld>
            <a:endParaRPr lang="zh-CN" altLang="en-US"/>
          </a:p>
        </p:txBody>
      </p:sp>
    </p:spTree>
    <p:extLst>
      <p:ext uri="{BB962C8B-B14F-4D97-AF65-F5344CB8AC3E}">
        <p14:creationId xmlns:p14="http://schemas.microsoft.com/office/powerpoint/2010/main" val="371350519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157</a:t>
            </a:fld>
            <a:endParaRPr lang="zh-CN" altLang="en-US"/>
          </a:p>
        </p:txBody>
      </p:sp>
    </p:spTree>
    <p:extLst>
      <p:ext uri="{BB962C8B-B14F-4D97-AF65-F5344CB8AC3E}">
        <p14:creationId xmlns:p14="http://schemas.microsoft.com/office/powerpoint/2010/main" val="292178466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a:extLst>
              <a:ext uri="{FF2B5EF4-FFF2-40B4-BE49-F238E27FC236}">
                <a16:creationId xmlns:a16="http://schemas.microsoft.com/office/drawing/2014/main" id="{0B98AFC6-2DB3-41DA-8650-81A5B04336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25F0AF5-6824-4492-9A8C-76BD2930189B}" type="slidenum">
              <a:rPr lang="en-US" altLang="zh-CN"/>
              <a:pPr eaLnBrk="1" hangingPunct="1"/>
              <a:t>158</a:t>
            </a:fld>
            <a:endParaRPr lang="en-US" altLang="zh-CN"/>
          </a:p>
        </p:txBody>
      </p:sp>
      <p:sp>
        <p:nvSpPr>
          <p:cNvPr id="237571" name="Rectangle 2">
            <a:extLst>
              <a:ext uri="{FF2B5EF4-FFF2-40B4-BE49-F238E27FC236}">
                <a16:creationId xmlns:a16="http://schemas.microsoft.com/office/drawing/2014/main" id="{5A6604BF-6E5A-4A76-8CA0-E56D300320BD}"/>
              </a:ext>
            </a:extLst>
          </p:cNvPr>
          <p:cNvSpPr>
            <a:spLocks noGrp="1" noRot="1" noChangeAspect="1" noChangeArrowheads="1" noTextEdit="1"/>
          </p:cNvSpPr>
          <p:nvPr>
            <p:ph type="sldImg"/>
          </p:nvPr>
        </p:nvSpPr>
        <p:spPr>
          <a:ln/>
        </p:spPr>
      </p:sp>
      <p:sp>
        <p:nvSpPr>
          <p:cNvPr id="237572" name="Rectangle 3">
            <a:extLst>
              <a:ext uri="{FF2B5EF4-FFF2-40B4-BE49-F238E27FC236}">
                <a16:creationId xmlns:a16="http://schemas.microsoft.com/office/drawing/2014/main" id="{F157E844-3A54-4367-B45A-60E7D5416E3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159</a:t>
            </a:fld>
            <a:endParaRPr lang="zh-CN" altLang="en-US"/>
          </a:p>
        </p:txBody>
      </p:sp>
    </p:spTree>
    <p:extLst>
      <p:ext uri="{BB962C8B-B14F-4D97-AF65-F5344CB8AC3E}">
        <p14:creationId xmlns:p14="http://schemas.microsoft.com/office/powerpoint/2010/main" val="90869150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160</a:t>
            </a:fld>
            <a:endParaRPr lang="zh-CN" altLang="en-US"/>
          </a:p>
        </p:txBody>
      </p:sp>
    </p:spTree>
    <p:extLst>
      <p:ext uri="{BB962C8B-B14F-4D97-AF65-F5344CB8AC3E}">
        <p14:creationId xmlns:p14="http://schemas.microsoft.com/office/powerpoint/2010/main" val="376252125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162</a:t>
            </a:fld>
            <a:endParaRPr lang="zh-CN" altLang="en-US"/>
          </a:p>
        </p:txBody>
      </p:sp>
    </p:spTree>
    <p:extLst>
      <p:ext uri="{BB962C8B-B14F-4D97-AF65-F5344CB8AC3E}">
        <p14:creationId xmlns:p14="http://schemas.microsoft.com/office/powerpoint/2010/main" val="164580401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pPr>
                <a:defRPr/>
              </a:pPr>
              <a:t>163</a:t>
            </a:fld>
            <a:endParaRPr lang="zh-CN" altLang="en-US"/>
          </a:p>
        </p:txBody>
      </p:sp>
    </p:spTree>
    <p:extLst>
      <p:ext uri="{BB962C8B-B14F-4D97-AF65-F5344CB8AC3E}">
        <p14:creationId xmlns:p14="http://schemas.microsoft.com/office/powerpoint/2010/main" val="184114330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165</a:t>
            </a:fld>
            <a:endParaRPr lang="zh-CN" altLang="en-US"/>
          </a:p>
        </p:txBody>
      </p:sp>
    </p:spTree>
    <p:extLst>
      <p:ext uri="{BB962C8B-B14F-4D97-AF65-F5344CB8AC3E}">
        <p14:creationId xmlns:p14="http://schemas.microsoft.com/office/powerpoint/2010/main" val="291782259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166</a:t>
            </a:fld>
            <a:endParaRPr lang="zh-CN" altLang="en-US"/>
          </a:p>
        </p:txBody>
      </p:sp>
    </p:spTree>
    <p:extLst>
      <p:ext uri="{BB962C8B-B14F-4D97-AF65-F5344CB8AC3E}">
        <p14:creationId xmlns:p14="http://schemas.microsoft.com/office/powerpoint/2010/main" val="192473490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7">
            <a:extLst>
              <a:ext uri="{FF2B5EF4-FFF2-40B4-BE49-F238E27FC236}">
                <a16:creationId xmlns:a16="http://schemas.microsoft.com/office/drawing/2014/main" id="{BE11EBC8-E6BE-4614-BDC9-04B400F9A4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9DC0E58-BCB5-482B-8C6C-98078E111347}" type="slidenum">
              <a:rPr lang="en-US" altLang="zh-CN"/>
              <a:pPr eaLnBrk="1" hangingPunct="1"/>
              <a:t>167</a:t>
            </a:fld>
            <a:endParaRPr lang="en-US" altLang="zh-CN"/>
          </a:p>
        </p:txBody>
      </p:sp>
      <p:sp>
        <p:nvSpPr>
          <p:cNvPr id="238595" name="Rectangle 2">
            <a:extLst>
              <a:ext uri="{FF2B5EF4-FFF2-40B4-BE49-F238E27FC236}">
                <a16:creationId xmlns:a16="http://schemas.microsoft.com/office/drawing/2014/main" id="{C874976E-4EFA-4B62-9A8A-140A9549866D}"/>
              </a:ext>
            </a:extLst>
          </p:cNvPr>
          <p:cNvSpPr>
            <a:spLocks noGrp="1" noRot="1" noChangeAspect="1" noChangeArrowheads="1" noTextEdit="1"/>
          </p:cNvSpPr>
          <p:nvPr>
            <p:ph type="sldImg"/>
          </p:nvPr>
        </p:nvSpPr>
        <p:spPr>
          <a:ln/>
        </p:spPr>
      </p:sp>
      <p:sp>
        <p:nvSpPr>
          <p:cNvPr id="238596" name="Rectangle 3">
            <a:extLst>
              <a:ext uri="{FF2B5EF4-FFF2-40B4-BE49-F238E27FC236}">
                <a16:creationId xmlns:a16="http://schemas.microsoft.com/office/drawing/2014/main" id="{96D577B4-D973-4854-B4C6-6825C5F63D0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170</a:t>
            </a:fld>
            <a:endParaRPr lang="zh-CN" altLang="en-US"/>
          </a:p>
        </p:txBody>
      </p:sp>
    </p:spTree>
    <p:extLst>
      <p:ext uri="{BB962C8B-B14F-4D97-AF65-F5344CB8AC3E}">
        <p14:creationId xmlns:p14="http://schemas.microsoft.com/office/powerpoint/2010/main" val="144044759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173</a:t>
            </a:fld>
            <a:endParaRPr lang="zh-CN" altLang="en-US"/>
          </a:p>
        </p:txBody>
      </p:sp>
    </p:spTree>
    <p:extLst>
      <p:ext uri="{BB962C8B-B14F-4D97-AF65-F5344CB8AC3E}">
        <p14:creationId xmlns:p14="http://schemas.microsoft.com/office/powerpoint/2010/main" val="400922841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174</a:t>
            </a:fld>
            <a:endParaRPr lang="zh-CN" altLang="en-US"/>
          </a:p>
        </p:txBody>
      </p:sp>
    </p:spTree>
    <p:extLst>
      <p:ext uri="{BB962C8B-B14F-4D97-AF65-F5344CB8AC3E}">
        <p14:creationId xmlns:p14="http://schemas.microsoft.com/office/powerpoint/2010/main" val="270090549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179</a:t>
            </a:fld>
            <a:endParaRPr lang="zh-CN" altLang="en-US"/>
          </a:p>
        </p:txBody>
      </p:sp>
    </p:spTree>
    <p:extLst>
      <p:ext uri="{BB962C8B-B14F-4D97-AF65-F5344CB8AC3E}">
        <p14:creationId xmlns:p14="http://schemas.microsoft.com/office/powerpoint/2010/main" val="30028481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183</a:t>
            </a:fld>
            <a:endParaRPr lang="zh-CN" altLang="en-US"/>
          </a:p>
        </p:txBody>
      </p:sp>
    </p:spTree>
    <p:extLst>
      <p:ext uri="{BB962C8B-B14F-4D97-AF65-F5344CB8AC3E}">
        <p14:creationId xmlns:p14="http://schemas.microsoft.com/office/powerpoint/2010/main" val="338938122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185</a:t>
            </a:fld>
            <a:endParaRPr lang="zh-CN" altLang="en-US"/>
          </a:p>
        </p:txBody>
      </p:sp>
    </p:spTree>
    <p:extLst>
      <p:ext uri="{BB962C8B-B14F-4D97-AF65-F5344CB8AC3E}">
        <p14:creationId xmlns:p14="http://schemas.microsoft.com/office/powerpoint/2010/main" val="63080642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187</a:t>
            </a:fld>
            <a:endParaRPr lang="zh-CN" altLang="en-US"/>
          </a:p>
        </p:txBody>
      </p:sp>
    </p:spTree>
    <p:extLst>
      <p:ext uri="{BB962C8B-B14F-4D97-AF65-F5344CB8AC3E}">
        <p14:creationId xmlns:p14="http://schemas.microsoft.com/office/powerpoint/2010/main" val="370087316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188</a:t>
            </a:fld>
            <a:endParaRPr lang="zh-CN" altLang="en-US"/>
          </a:p>
        </p:txBody>
      </p:sp>
    </p:spTree>
    <p:extLst>
      <p:ext uri="{BB962C8B-B14F-4D97-AF65-F5344CB8AC3E}">
        <p14:creationId xmlns:p14="http://schemas.microsoft.com/office/powerpoint/2010/main" val="411980624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189</a:t>
            </a:fld>
            <a:endParaRPr lang="zh-CN" altLang="en-US"/>
          </a:p>
        </p:txBody>
      </p:sp>
    </p:spTree>
    <p:extLst>
      <p:ext uri="{BB962C8B-B14F-4D97-AF65-F5344CB8AC3E}">
        <p14:creationId xmlns:p14="http://schemas.microsoft.com/office/powerpoint/2010/main" val="35155038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192</a:t>
            </a:fld>
            <a:endParaRPr lang="zh-CN" altLang="en-US"/>
          </a:p>
        </p:txBody>
      </p:sp>
    </p:spTree>
    <p:extLst>
      <p:ext uri="{BB962C8B-B14F-4D97-AF65-F5344CB8AC3E}">
        <p14:creationId xmlns:p14="http://schemas.microsoft.com/office/powerpoint/2010/main" val="237497875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193</a:t>
            </a:fld>
            <a:endParaRPr lang="zh-CN" altLang="en-US"/>
          </a:p>
        </p:txBody>
      </p:sp>
    </p:spTree>
    <p:extLst>
      <p:ext uri="{BB962C8B-B14F-4D97-AF65-F5344CB8AC3E}">
        <p14:creationId xmlns:p14="http://schemas.microsoft.com/office/powerpoint/2010/main" val="253633647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7">
            <a:extLst>
              <a:ext uri="{FF2B5EF4-FFF2-40B4-BE49-F238E27FC236}">
                <a16:creationId xmlns:a16="http://schemas.microsoft.com/office/drawing/2014/main" id="{B5A96622-4BFB-4C3A-9DF9-E5B107824E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6BEB7B4-9912-4FA3-9302-2F94C9D44A92}" type="slidenum">
              <a:rPr lang="en-US" altLang="zh-CN"/>
              <a:pPr eaLnBrk="1" hangingPunct="1"/>
              <a:t>195</a:t>
            </a:fld>
            <a:endParaRPr lang="en-US" altLang="zh-CN"/>
          </a:p>
        </p:txBody>
      </p:sp>
      <p:sp>
        <p:nvSpPr>
          <p:cNvPr id="240643" name="Rectangle 2">
            <a:extLst>
              <a:ext uri="{FF2B5EF4-FFF2-40B4-BE49-F238E27FC236}">
                <a16:creationId xmlns:a16="http://schemas.microsoft.com/office/drawing/2014/main" id="{5F5523A2-343A-4062-A06A-5B8A93673D51}"/>
              </a:ext>
            </a:extLst>
          </p:cNvPr>
          <p:cNvSpPr>
            <a:spLocks noGrp="1" noRot="1" noChangeAspect="1" noChangeArrowheads="1" noTextEdit="1"/>
          </p:cNvSpPr>
          <p:nvPr>
            <p:ph type="sldImg"/>
          </p:nvPr>
        </p:nvSpPr>
        <p:spPr>
          <a:ln/>
        </p:spPr>
      </p:sp>
      <p:sp>
        <p:nvSpPr>
          <p:cNvPr id="240644" name="Rectangle 3">
            <a:extLst>
              <a:ext uri="{FF2B5EF4-FFF2-40B4-BE49-F238E27FC236}">
                <a16:creationId xmlns:a16="http://schemas.microsoft.com/office/drawing/2014/main" id="{AE242C9A-0494-460E-B503-3A8B42759E6B}"/>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a:extLst>
              <a:ext uri="{FF2B5EF4-FFF2-40B4-BE49-F238E27FC236}">
                <a16:creationId xmlns:a16="http://schemas.microsoft.com/office/drawing/2014/main" id="{7D063968-0F8F-415B-8E05-F02E365FEF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E05904E-E612-4B0B-BD44-292195FC5A39}" type="slidenum">
              <a:rPr lang="en-US" altLang="zh-CN"/>
              <a:pPr eaLnBrk="1" hangingPunct="1"/>
              <a:t>196</a:t>
            </a:fld>
            <a:endParaRPr lang="en-US" altLang="zh-CN"/>
          </a:p>
        </p:txBody>
      </p:sp>
      <p:sp>
        <p:nvSpPr>
          <p:cNvPr id="241667" name="Rectangle 2">
            <a:extLst>
              <a:ext uri="{FF2B5EF4-FFF2-40B4-BE49-F238E27FC236}">
                <a16:creationId xmlns:a16="http://schemas.microsoft.com/office/drawing/2014/main" id="{2765AEFC-6A7B-43E2-A9B7-56FA8A562EC5}"/>
              </a:ext>
            </a:extLst>
          </p:cNvPr>
          <p:cNvSpPr>
            <a:spLocks noGrp="1" noRot="1" noChangeAspect="1" noChangeArrowheads="1" noTextEdit="1"/>
          </p:cNvSpPr>
          <p:nvPr>
            <p:ph type="sldImg"/>
          </p:nvPr>
        </p:nvSpPr>
        <p:spPr>
          <a:ln/>
        </p:spPr>
      </p:sp>
      <p:sp>
        <p:nvSpPr>
          <p:cNvPr id="241668" name="Rectangle 3">
            <a:extLst>
              <a:ext uri="{FF2B5EF4-FFF2-40B4-BE49-F238E27FC236}">
                <a16:creationId xmlns:a16="http://schemas.microsoft.com/office/drawing/2014/main" id="{3B52E035-8370-47B1-9ACA-7091CDD92BB1}"/>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endParaRPr lang="zh-CN" alt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a:extLst>
              <a:ext uri="{FF2B5EF4-FFF2-40B4-BE49-F238E27FC236}">
                <a16:creationId xmlns:a16="http://schemas.microsoft.com/office/drawing/2014/main" id="{969A9EFE-0CEA-4BF4-9C4A-761886FD48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F4552E-DEDE-4444-85B6-8EB9AA8501A9}" type="slidenum">
              <a:rPr lang="en-US" altLang="zh-CN"/>
              <a:pPr eaLnBrk="1" hangingPunct="1"/>
              <a:t>197</a:t>
            </a:fld>
            <a:endParaRPr lang="en-US" altLang="zh-CN"/>
          </a:p>
        </p:txBody>
      </p:sp>
      <p:sp>
        <p:nvSpPr>
          <p:cNvPr id="243715" name="Rectangle 2">
            <a:extLst>
              <a:ext uri="{FF2B5EF4-FFF2-40B4-BE49-F238E27FC236}">
                <a16:creationId xmlns:a16="http://schemas.microsoft.com/office/drawing/2014/main" id="{B0FB1BA3-0CE4-4FFF-9D58-CB50D6F32A58}"/>
              </a:ext>
            </a:extLst>
          </p:cNvPr>
          <p:cNvSpPr>
            <a:spLocks noGrp="1" noRot="1" noChangeAspect="1" noChangeArrowheads="1" noTextEdit="1"/>
          </p:cNvSpPr>
          <p:nvPr>
            <p:ph type="sldImg"/>
          </p:nvPr>
        </p:nvSpPr>
        <p:spPr>
          <a:ln/>
        </p:spPr>
      </p:sp>
      <p:sp>
        <p:nvSpPr>
          <p:cNvPr id="243716" name="Rectangle 3">
            <a:extLst>
              <a:ext uri="{FF2B5EF4-FFF2-40B4-BE49-F238E27FC236}">
                <a16:creationId xmlns:a16="http://schemas.microsoft.com/office/drawing/2014/main" id="{19B937D5-10B4-456B-AA89-A7905EABDD72}"/>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endParaRPr lang="zh-CN" altLang="zh-CN"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198</a:t>
            </a:fld>
            <a:endParaRPr lang="zh-CN" altLang="en-US"/>
          </a:p>
        </p:txBody>
      </p:sp>
    </p:spTree>
    <p:extLst>
      <p:ext uri="{BB962C8B-B14F-4D97-AF65-F5344CB8AC3E}">
        <p14:creationId xmlns:p14="http://schemas.microsoft.com/office/powerpoint/2010/main" val="262542537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7">
            <a:extLst>
              <a:ext uri="{FF2B5EF4-FFF2-40B4-BE49-F238E27FC236}">
                <a16:creationId xmlns:a16="http://schemas.microsoft.com/office/drawing/2014/main" id="{42477823-C461-499C-93CD-F7658ED03C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3816A27-D06B-449B-BCF9-E08696408F39}" type="slidenum">
              <a:rPr lang="en-US" altLang="zh-CN"/>
              <a:pPr eaLnBrk="1" hangingPunct="1"/>
              <a:t>199</a:t>
            </a:fld>
            <a:endParaRPr lang="en-US" altLang="zh-CN"/>
          </a:p>
        </p:txBody>
      </p:sp>
      <p:sp>
        <p:nvSpPr>
          <p:cNvPr id="242691" name="Rectangle 2">
            <a:extLst>
              <a:ext uri="{FF2B5EF4-FFF2-40B4-BE49-F238E27FC236}">
                <a16:creationId xmlns:a16="http://schemas.microsoft.com/office/drawing/2014/main" id="{D471EE64-D1B1-4F89-9704-8BAB867E6C51}"/>
              </a:ext>
            </a:extLst>
          </p:cNvPr>
          <p:cNvSpPr>
            <a:spLocks noGrp="1" noRot="1" noChangeAspect="1" noChangeArrowheads="1" noTextEdit="1"/>
          </p:cNvSpPr>
          <p:nvPr>
            <p:ph type="sldImg"/>
          </p:nvPr>
        </p:nvSpPr>
        <p:spPr>
          <a:ln/>
        </p:spPr>
      </p:sp>
      <p:sp>
        <p:nvSpPr>
          <p:cNvPr id="242692" name="Rectangle 3">
            <a:extLst>
              <a:ext uri="{FF2B5EF4-FFF2-40B4-BE49-F238E27FC236}">
                <a16:creationId xmlns:a16="http://schemas.microsoft.com/office/drawing/2014/main" id="{1C3248B8-4ACD-43A0-AB76-8AF9B47B0865}"/>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200</a:t>
            </a:fld>
            <a:endParaRPr lang="zh-CN" altLang="en-US"/>
          </a:p>
        </p:txBody>
      </p:sp>
    </p:spTree>
    <p:extLst>
      <p:ext uri="{BB962C8B-B14F-4D97-AF65-F5344CB8AC3E}">
        <p14:creationId xmlns:p14="http://schemas.microsoft.com/office/powerpoint/2010/main" val="370762588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201</a:t>
            </a:fld>
            <a:endParaRPr lang="zh-CN" altLang="en-US"/>
          </a:p>
        </p:txBody>
      </p:sp>
    </p:spTree>
    <p:extLst>
      <p:ext uri="{BB962C8B-B14F-4D97-AF65-F5344CB8AC3E}">
        <p14:creationId xmlns:p14="http://schemas.microsoft.com/office/powerpoint/2010/main" val="89053346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204</a:t>
            </a:fld>
            <a:endParaRPr lang="zh-CN" altLang="en-US"/>
          </a:p>
        </p:txBody>
      </p:sp>
    </p:spTree>
    <p:extLst>
      <p:ext uri="{BB962C8B-B14F-4D97-AF65-F5344CB8AC3E}">
        <p14:creationId xmlns:p14="http://schemas.microsoft.com/office/powerpoint/2010/main" val="90512427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205</a:t>
            </a:fld>
            <a:endParaRPr lang="zh-CN" altLang="en-US"/>
          </a:p>
        </p:txBody>
      </p:sp>
    </p:spTree>
    <p:extLst>
      <p:ext uri="{BB962C8B-B14F-4D97-AF65-F5344CB8AC3E}">
        <p14:creationId xmlns:p14="http://schemas.microsoft.com/office/powerpoint/2010/main" val="317189089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206</a:t>
            </a:fld>
            <a:endParaRPr lang="zh-CN" altLang="en-US"/>
          </a:p>
        </p:txBody>
      </p:sp>
    </p:spTree>
    <p:extLst>
      <p:ext uri="{BB962C8B-B14F-4D97-AF65-F5344CB8AC3E}">
        <p14:creationId xmlns:p14="http://schemas.microsoft.com/office/powerpoint/2010/main" val="2842632012"/>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207</a:t>
            </a:fld>
            <a:endParaRPr lang="zh-CN" altLang="en-US"/>
          </a:p>
        </p:txBody>
      </p:sp>
    </p:spTree>
    <p:extLst>
      <p:ext uri="{BB962C8B-B14F-4D97-AF65-F5344CB8AC3E}">
        <p14:creationId xmlns:p14="http://schemas.microsoft.com/office/powerpoint/2010/main" val="987311777"/>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211</a:t>
            </a:fld>
            <a:endParaRPr lang="zh-CN" altLang="en-US"/>
          </a:p>
        </p:txBody>
      </p:sp>
    </p:spTree>
    <p:extLst>
      <p:ext uri="{BB962C8B-B14F-4D97-AF65-F5344CB8AC3E}">
        <p14:creationId xmlns:p14="http://schemas.microsoft.com/office/powerpoint/2010/main" val="106703592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pPr>
                <a:defRPr/>
              </a:pPr>
              <a:t>214</a:t>
            </a:fld>
            <a:endParaRPr lang="zh-CN" altLang="en-US"/>
          </a:p>
        </p:txBody>
      </p:sp>
    </p:spTree>
    <p:extLst>
      <p:ext uri="{BB962C8B-B14F-4D97-AF65-F5344CB8AC3E}">
        <p14:creationId xmlns:p14="http://schemas.microsoft.com/office/powerpoint/2010/main" val="40000905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 descr="C:\Users\Administrator\AppData\Roaming\Tencent\Users\85060380\QQ\WinTemp\RichOle\3{JSB(G2RI2O{CFOGZRGH23.jpg"/>
          <p:cNvPicPr>
            <a:picLocks noChangeAspect="1" noChangeArrowheads="1"/>
          </p:cNvPicPr>
          <p:nvPr/>
        </p:nvPicPr>
        <p:blipFill rotWithShape="1">
          <a:blip r:embed="rId2" cstate="print"/>
          <a:srcRect r="78850"/>
          <a:stretch/>
        </p:blipFill>
        <p:spPr bwMode="auto">
          <a:xfrm>
            <a:off x="1" y="44624"/>
            <a:ext cx="899591" cy="792088"/>
          </a:xfrm>
          <a:prstGeom prst="rect">
            <a:avLst/>
          </a:prstGeom>
          <a:noFill/>
          <a:ln w="9525">
            <a:noFill/>
            <a:miter lim="800000"/>
            <a:headEnd/>
            <a:tailEnd/>
          </a:ln>
        </p:spPr>
      </p:pic>
      <p:pic>
        <p:nvPicPr>
          <p:cNvPr id="6" name="Picture 2" descr="C:\Users\Administrator\AppData\Roaming\Tencent\Users\85060380\QQ\WinTemp\RichOle\J6JYNSSQRTOD2X}K2W`MNJ7.jpg"/>
          <p:cNvPicPr>
            <a:picLocks noChangeAspect="1" noChangeArrowheads="1"/>
          </p:cNvPicPr>
          <p:nvPr/>
        </p:nvPicPr>
        <p:blipFill>
          <a:blip r:embed="rId3" cstate="print"/>
          <a:srcRect/>
          <a:stretch>
            <a:fillRect/>
          </a:stretch>
        </p:blipFill>
        <p:spPr bwMode="auto">
          <a:xfrm>
            <a:off x="6764751" y="1"/>
            <a:ext cx="1191625" cy="740094"/>
          </a:xfrm>
          <a:prstGeom prst="rect">
            <a:avLst/>
          </a:prstGeom>
          <a:noFill/>
          <a:ln w="9525">
            <a:noFill/>
            <a:miter lim="800000"/>
            <a:headEnd/>
            <a:tailEnd/>
          </a:ln>
        </p:spPr>
      </p:pic>
      <p:pic>
        <p:nvPicPr>
          <p:cNvPr id="7" name="Picture 3" descr="C:\Users\Administrator\AppData\Roaming\Tencent\Users\85060380\QQ\WinTemp\RichOle\GD$GN72[756M7J@}Q112F3M.jpg"/>
          <p:cNvPicPr>
            <a:picLocks noChangeAspect="1" noChangeArrowheads="1"/>
          </p:cNvPicPr>
          <p:nvPr/>
        </p:nvPicPr>
        <p:blipFill>
          <a:blip r:embed="rId4" cstate="print"/>
          <a:srcRect/>
          <a:stretch>
            <a:fillRect/>
          </a:stretch>
        </p:blipFill>
        <p:spPr bwMode="auto">
          <a:xfrm>
            <a:off x="7956376" y="1"/>
            <a:ext cx="1191625" cy="740094"/>
          </a:xfrm>
          <a:prstGeom prst="rect">
            <a:avLst/>
          </a:prstGeom>
          <a:noFill/>
          <a:ln w="9525">
            <a:noFill/>
            <a:miter lim="800000"/>
            <a:headEnd/>
            <a:tailEnd/>
          </a:ln>
        </p:spPr>
      </p:pic>
      <p:pic>
        <p:nvPicPr>
          <p:cNvPr id="8" name="Picture 4" descr="C:\Users\Administrator\AppData\Roaming\Tencent\Users\85060380\QQ\WinTemp\RichOle\{SL304[_K`X~M@`NNZQS~XD.jpg"/>
          <p:cNvPicPr>
            <a:picLocks noChangeAspect="1" noChangeArrowheads="1"/>
          </p:cNvPicPr>
          <p:nvPr/>
        </p:nvPicPr>
        <p:blipFill>
          <a:blip r:embed="rId5" cstate="print"/>
          <a:srcRect/>
          <a:stretch>
            <a:fillRect/>
          </a:stretch>
        </p:blipFill>
        <p:spPr bwMode="auto">
          <a:xfrm>
            <a:off x="4427984" y="0"/>
            <a:ext cx="2350885" cy="740094"/>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lvl1pPr>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9" name="日期占位符 3"/>
          <p:cNvSpPr>
            <a:spLocks noGrp="1"/>
          </p:cNvSpPr>
          <p:nvPr>
            <p:ph type="dt" sz="half" idx="10"/>
          </p:nvPr>
        </p:nvSpPr>
        <p:spPr/>
        <p:txBody>
          <a:bodyPr/>
          <a:lstStyle>
            <a:lvl1pPr>
              <a:defRPr/>
            </a:lvl1pPr>
          </a:lstStyle>
          <a:p>
            <a:pPr>
              <a:defRPr/>
            </a:pPr>
            <a:fld id="{3169F77C-FFE2-4793-9207-02588634C718}" type="datetimeFigureOut">
              <a:rPr lang="zh-CN" altLang="en-US"/>
              <a:pPr>
                <a:defRPr/>
              </a:pPr>
              <a:t>2023/10/15</a:t>
            </a:fld>
            <a:endParaRPr lang="zh-CN" altLang="en-US"/>
          </a:p>
        </p:txBody>
      </p:sp>
      <p:sp>
        <p:nvSpPr>
          <p:cNvPr id="10" name="页脚占位符 4"/>
          <p:cNvSpPr>
            <a:spLocks noGrp="1"/>
          </p:cNvSpPr>
          <p:nvPr>
            <p:ph type="ftr" sz="quarter" idx="11"/>
          </p:nvPr>
        </p:nvSpPr>
        <p:spPr/>
        <p:txBody>
          <a:bodyPr/>
          <a:lstStyle>
            <a:lvl1pPr>
              <a:defRPr/>
            </a:lvl1pPr>
          </a:lstStyle>
          <a:p>
            <a:pPr>
              <a:defRPr/>
            </a:pPr>
            <a:endParaRPr lang="zh-CN" altLang="en-US"/>
          </a:p>
        </p:txBody>
      </p:sp>
      <p:sp>
        <p:nvSpPr>
          <p:cNvPr id="11" name="灯片编号占位符 5"/>
          <p:cNvSpPr>
            <a:spLocks noGrp="1"/>
          </p:cNvSpPr>
          <p:nvPr>
            <p:ph type="sldNum" sz="quarter" idx="12"/>
          </p:nvPr>
        </p:nvSpPr>
        <p:spPr/>
        <p:txBody>
          <a:bodyPr/>
          <a:lstStyle>
            <a:lvl1pPr>
              <a:defRPr/>
            </a:lvl1pPr>
          </a:lstStyle>
          <a:p>
            <a:pPr>
              <a:defRPr/>
            </a:pPr>
            <a:fld id="{CDC8E333-6AB3-4FDA-8E97-ACA84AEA881D}" type="slidenum">
              <a:rPr lang="zh-CN" altLang="en-US"/>
              <a:pPr>
                <a:defRPr/>
              </a:pPr>
              <a:t>‹#›</a:t>
            </a:fld>
            <a:endParaRPr lang="zh-CN" altLang="en-US"/>
          </a:p>
        </p:txBody>
      </p:sp>
      <p:pic>
        <p:nvPicPr>
          <p:cNvPr id="13" name="图片 12">
            <a:extLst>
              <a:ext uri="{FF2B5EF4-FFF2-40B4-BE49-F238E27FC236}">
                <a16:creationId xmlns:a16="http://schemas.microsoft.com/office/drawing/2014/main" id="{B93D3275-083F-47FB-8AE6-915D3BE6F623}"/>
              </a:ext>
            </a:extLst>
          </p:cNvPr>
          <p:cNvPicPr>
            <a:picLocks noChangeAspect="1"/>
          </p:cNvPicPr>
          <p:nvPr userDrawn="1"/>
        </p:nvPicPr>
        <p:blipFill rotWithShape="1">
          <a:blip r:embed="rId6"/>
          <a:srcRect l="32675" t="11636" r="34167" b="75247"/>
          <a:stretch/>
        </p:blipFill>
        <p:spPr>
          <a:xfrm>
            <a:off x="971600" y="259870"/>
            <a:ext cx="2592288" cy="57684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6" name="Picture 2" descr="C:\Users\Administrator\Desktop\44.jpg"/>
          <p:cNvPicPr>
            <a:picLocks noChangeAspect="1" noChangeArrowheads="1"/>
          </p:cNvPicPr>
          <p:nvPr/>
        </p:nvPicPr>
        <p:blipFill>
          <a:blip r:embed="rId2" cstate="print"/>
          <a:srcRect/>
          <a:stretch>
            <a:fillRect/>
          </a:stretch>
        </p:blipFill>
        <p:spPr bwMode="auto">
          <a:xfrm>
            <a:off x="7429500" y="5948363"/>
            <a:ext cx="1714500" cy="909637"/>
          </a:xfrm>
          <a:prstGeom prst="rect">
            <a:avLst/>
          </a:prstGeom>
          <a:noFill/>
          <a:ln w="9525">
            <a:noFill/>
            <a:miter lim="800000"/>
            <a:headEnd/>
            <a:tailEnd/>
          </a:ln>
        </p:spPr>
      </p:pic>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B91F3533-4646-4892-B1D3-08067A86ACDD}" type="datetimeFigureOut">
              <a:rPr lang="zh-CN" altLang="en-US"/>
              <a:pPr>
                <a:defRPr/>
              </a:pPr>
              <a:t>2023/10/15</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F36D17FC-20E3-4805-979B-A7677B8B4C05}" type="slidenum">
              <a:rPr lang="zh-CN" altLang="en-US"/>
              <a:pPr>
                <a:defRPr/>
              </a:pPr>
              <a:t>‹#›</a:t>
            </a:fld>
            <a:endParaRPr lang="zh-CN" altLang="en-US"/>
          </a:p>
        </p:txBody>
      </p:sp>
      <p:pic>
        <p:nvPicPr>
          <p:cNvPr id="10" name="Picture 1" descr="C:\Users\Administrator\AppData\Roaming\Tencent\Users\85060380\QQ\WinTemp\RichOle\3{JSB(G2RI2O{CFOGZRGH23.jpg">
            <a:extLst>
              <a:ext uri="{FF2B5EF4-FFF2-40B4-BE49-F238E27FC236}">
                <a16:creationId xmlns:a16="http://schemas.microsoft.com/office/drawing/2014/main" id="{3270E545-7934-4BFA-B40E-1C355AF290BD}"/>
              </a:ext>
            </a:extLst>
          </p:cNvPr>
          <p:cNvPicPr>
            <a:picLocks noChangeAspect="1" noChangeArrowheads="1"/>
          </p:cNvPicPr>
          <p:nvPr userDrawn="1"/>
        </p:nvPicPr>
        <p:blipFill rotWithShape="1">
          <a:blip r:embed="rId3" cstate="print"/>
          <a:srcRect r="78850"/>
          <a:stretch/>
        </p:blipFill>
        <p:spPr bwMode="auto">
          <a:xfrm>
            <a:off x="1" y="6126164"/>
            <a:ext cx="862263" cy="759220"/>
          </a:xfrm>
          <a:prstGeom prst="rect">
            <a:avLst/>
          </a:prstGeom>
          <a:noFill/>
          <a:ln w="9525">
            <a:noFill/>
            <a:miter lim="800000"/>
            <a:headEnd/>
            <a:tailEnd/>
          </a:ln>
        </p:spPr>
      </p:pic>
      <p:pic>
        <p:nvPicPr>
          <p:cNvPr id="11" name="图片 10">
            <a:extLst>
              <a:ext uri="{FF2B5EF4-FFF2-40B4-BE49-F238E27FC236}">
                <a16:creationId xmlns:a16="http://schemas.microsoft.com/office/drawing/2014/main" id="{9D899D2D-93AD-4325-9F12-9039E226AB1A}"/>
              </a:ext>
            </a:extLst>
          </p:cNvPr>
          <p:cNvPicPr>
            <a:picLocks noChangeAspect="1"/>
          </p:cNvPicPr>
          <p:nvPr userDrawn="1"/>
        </p:nvPicPr>
        <p:blipFill rotWithShape="1">
          <a:blip r:embed="rId4"/>
          <a:srcRect l="32675" t="11636" r="34167" b="75247"/>
          <a:stretch/>
        </p:blipFill>
        <p:spPr>
          <a:xfrm>
            <a:off x="810072" y="6309320"/>
            <a:ext cx="1872208" cy="4166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2AD29482-33CF-481B-96A0-139B86FAC950}" type="datetimeFigureOut">
              <a:rPr lang="zh-CN" altLang="en-US"/>
              <a:pPr>
                <a:defRPr/>
              </a:pPr>
              <a:t>2023/10/15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85CAA0F-046B-4F95-895B-81CD4A6F9754}"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739708D0-9777-46E5-8CD2-243B8DBC2E7E}" type="datetimeFigureOut">
              <a:rPr lang="zh-CN" altLang="en-US"/>
              <a:pPr>
                <a:defRPr/>
              </a:pPr>
              <a:t>2023/10/15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88200FF-9D1B-4EDF-84DB-F86000551396}"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A3895C0A-1844-48A2-990B-042EBB1C5E5D}" type="datetimeFigureOut">
              <a:rPr lang="zh-CN" altLang="en-US"/>
              <a:pPr>
                <a:defRPr/>
              </a:pPr>
              <a:t>2023/10/15</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631865BB-9052-4115-90F0-13EE3E4ED9A2}"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22A4F1A8-960E-4ED9-9A4F-401EFE12B95D}" type="datetimeFigureOut">
              <a:rPr lang="zh-CN" altLang="en-US"/>
              <a:pPr>
                <a:defRPr/>
              </a:pPr>
              <a:t>2023/10/15</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5FA7321-CB36-4EF0-87BA-C64E2A84FAED}"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309E1E0-9E63-41E0-8CDD-DF0C8EF81975}" type="datetimeFigureOut">
              <a:rPr lang="zh-CN" altLang="en-US"/>
              <a:pPr>
                <a:defRPr/>
              </a:pPr>
              <a:t>2023/10/15</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61E5839-3D4F-4698-B864-F37BC54DB928}"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8BE0510E-738A-4BCF-A997-3F9844EB6F00}" type="datetimeFigureOut">
              <a:rPr lang="zh-CN" altLang="en-US"/>
              <a:pPr>
                <a:defRPr/>
              </a:pPr>
              <a:t>2023/10/15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D0BBB1ED-864B-4BBB-A169-7623F6B49B6C}"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E4B2317B-E539-4449-A4E4-953D83123880}" type="datetimeFigureOut">
              <a:rPr lang="zh-CN" altLang="en-US"/>
              <a:pPr>
                <a:defRPr/>
              </a:pPr>
              <a:t>2023/10/15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473C950-90C1-4BA5-A0E0-DE52BA876111}"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5D1DBE6-D526-4889-9558-7CE646AEAB4F}" type="datetimeFigureOut">
              <a:rPr lang="zh-CN" altLang="en-US"/>
              <a:pPr>
                <a:defRPr/>
              </a:pPr>
              <a:t>2023/10/15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052D626-89B4-4965-9172-80E6946FF058}"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8125ED1-746E-4220-8D3F-8230166A076B}" type="datetimeFigureOut">
              <a:rPr lang="zh-CN" altLang="en-US"/>
              <a:pPr>
                <a:defRPr/>
              </a:pPr>
              <a:t>2023/10/15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481450B-1AE2-4423-BCAB-59BF187F138D}"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ACE43978-BB7D-4BBB-BE23-12A7738BF31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56F50D39-F127-4532-AE1D-6AF24F13A14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A4EFF164-4DEB-41A6-A9B3-A6136AC7B32D}"/>
              </a:ext>
            </a:extLst>
          </p:cNvPr>
          <p:cNvSpPr>
            <a:spLocks noGrp="1" noChangeArrowheads="1"/>
          </p:cNvSpPr>
          <p:nvPr>
            <p:ph type="sldNum" sz="quarter" idx="12"/>
          </p:nvPr>
        </p:nvSpPr>
        <p:spPr>
          <a:ln/>
        </p:spPr>
        <p:txBody>
          <a:bodyPr/>
          <a:lstStyle>
            <a:lvl1pPr>
              <a:defRPr/>
            </a:lvl1pPr>
          </a:lstStyle>
          <a:p>
            <a:fld id="{4DB2ACFB-5967-49F5-8B68-607349121360}" type="slidenum">
              <a:rPr lang="en-US" altLang="zh-CN"/>
              <a:pPr/>
              <a:t>‹#›</a:t>
            </a:fld>
            <a:endParaRPr lang="en-US" altLang="zh-CN"/>
          </a:p>
        </p:txBody>
      </p:sp>
    </p:spTree>
    <p:extLst>
      <p:ext uri="{BB962C8B-B14F-4D97-AF65-F5344CB8AC3E}">
        <p14:creationId xmlns:p14="http://schemas.microsoft.com/office/powerpoint/2010/main" val="18254630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6" name="Picture 2" descr="C:\Users\Administrator\Desktop\44.jpg"/>
          <p:cNvPicPr>
            <a:picLocks noChangeAspect="1" noChangeArrowheads="1"/>
          </p:cNvPicPr>
          <p:nvPr/>
        </p:nvPicPr>
        <p:blipFill>
          <a:blip r:embed="rId2" cstate="print"/>
          <a:srcRect/>
          <a:stretch>
            <a:fillRect/>
          </a:stretch>
        </p:blipFill>
        <p:spPr bwMode="auto">
          <a:xfrm>
            <a:off x="7429500" y="5948363"/>
            <a:ext cx="1714500" cy="909637"/>
          </a:xfrm>
          <a:prstGeom prst="rect">
            <a:avLst/>
          </a:prstGeom>
          <a:noFill/>
          <a:ln w="9525">
            <a:noFill/>
            <a:miter lim="800000"/>
            <a:headEnd/>
            <a:tailEnd/>
          </a:ln>
        </p:spPr>
      </p:pic>
      <p:sp>
        <p:nvSpPr>
          <p:cNvPr id="7" name="日期占位符 3"/>
          <p:cNvSpPr>
            <a:spLocks noGrp="1"/>
          </p:cNvSpPr>
          <p:nvPr>
            <p:ph type="dt" sz="half" idx="10"/>
          </p:nvPr>
        </p:nvSpPr>
        <p:spPr/>
        <p:txBody>
          <a:bodyPr/>
          <a:lstStyle>
            <a:lvl1pPr>
              <a:defRPr/>
            </a:lvl1pPr>
          </a:lstStyle>
          <a:p>
            <a:pPr>
              <a:defRPr/>
            </a:pPr>
            <a:fld id="{B91F3533-4646-4892-B1D3-08067A86ACDD}" type="datetimeFigureOut">
              <a:rPr lang="zh-CN" altLang="en-US"/>
              <a:pPr>
                <a:defRPr/>
              </a:pPr>
              <a:t>2023/10/15</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F36D17FC-20E3-4805-979B-A7677B8B4C05}" type="slidenum">
              <a:rPr lang="zh-CN" altLang="en-US"/>
              <a:pPr>
                <a:defRPr/>
              </a:pPr>
              <a:t>‹#›</a:t>
            </a:fld>
            <a:endParaRPr lang="zh-CN" altLang="en-US"/>
          </a:p>
        </p:txBody>
      </p:sp>
      <p:pic>
        <p:nvPicPr>
          <p:cNvPr id="10" name="Picture 1" descr="C:\Users\Administrator\AppData\Roaming\Tencent\Users\85060380\QQ\WinTemp\RichOle\3{JSB(G2RI2O{CFOGZRGH23.jpg">
            <a:extLst>
              <a:ext uri="{FF2B5EF4-FFF2-40B4-BE49-F238E27FC236}">
                <a16:creationId xmlns:a16="http://schemas.microsoft.com/office/drawing/2014/main" id="{3270E545-7934-4BFA-B40E-1C355AF290BD}"/>
              </a:ext>
            </a:extLst>
          </p:cNvPr>
          <p:cNvPicPr>
            <a:picLocks noChangeAspect="1" noChangeArrowheads="1"/>
          </p:cNvPicPr>
          <p:nvPr userDrawn="1"/>
        </p:nvPicPr>
        <p:blipFill rotWithShape="1">
          <a:blip r:embed="rId3" cstate="print"/>
          <a:srcRect r="78850"/>
          <a:stretch/>
        </p:blipFill>
        <p:spPr bwMode="auto">
          <a:xfrm>
            <a:off x="1" y="6126164"/>
            <a:ext cx="862263" cy="759220"/>
          </a:xfrm>
          <a:prstGeom prst="rect">
            <a:avLst/>
          </a:prstGeom>
          <a:noFill/>
          <a:ln w="9525">
            <a:noFill/>
            <a:miter lim="800000"/>
            <a:headEnd/>
            <a:tailEnd/>
          </a:ln>
        </p:spPr>
      </p:pic>
      <p:pic>
        <p:nvPicPr>
          <p:cNvPr id="11" name="图片 10">
            <a:extLst>
              <a:ext uri="{FF2B5EF4-FFF2-40B4-BE49-F238E27FC236}">
                <a16:creationId xmlns:a16="http://schemas.microsoft.com/office/drawing/2014/main" id="{9D899D2D-93AD-4325-9F12-9039E226AB1A}"/>
              </a:ext>
            </a:extLst>
          </p:cNvPr>
          <p:cNvPicPr>
            <a:picLocks noChangeAspect="1"/>
          </p:cNvPicPr>
          <p:nvPr userDrawn="1"/>
        </p:nvPicPr>
        <p:blipFill rotWithShape="1">
          <a:blip r:embed="rId4" cstate="print"/>
          <a:srcRect l="32675" t="11636" r="34167" b="75247"/>
          <a:stretch/>
        </p:blipFill>
        <p:spPr>
          <a:xfrm>
            <a:off x="810072" y="6309320"/>
            <a:ext cx="1872208" cy="416609"/>
          </a:xfrm>
          <a:prstGeom prst="rect">
            <a:avLst/>
          </a:prstGeom>
        </p:spPr>
      </p:pic>
    </p:spTree>
    <p:extLst>
      <p:ext uri="{BB962C8B-B14F-4D97-AF65-F5344CB8AC3E}">
        <p14:creationId xmlns:p14="http://schemas.microsoft.com/office/powerpoint/2010/main" val="3484116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B11D7156-5C3F-4BEA-93EC-FF328D866D27}" type="datetimeFigureOut">
              <a:rPr lang="zh-CN" altLang="en-US"/>
              <a:pPr>
                <a:defRPr/>
              </a:pPr>
              <a:t>2023/10/15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9C709816-5D03-481C-A7CB-52B98C3CDEFE}"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5" r:id="rId12"/>
    <p:sldLayoutId id="2147483856" r:id="rId13"/>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gdyang@sdau.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C3-kinetics.ppt" TargetMode="External"/><Relationship Id="rId2" Type="http://schemas.openxmlformats.org/officeDocument/2006/relationships/slide" Target="slide3.xml"/><Relationship Id="rId1" Type="http://schemas.openxmlformats.org/officeDocument/2006/relationships/slideLayout" Target="../slideLayouts/slideLayout7.xml"/><Relationship Id="rId5" Type="http://schemas.openxmlformats.org/officeDocument/2006/relationships/hyperlink" Target="C5-control%20of%20enzyme%20activity.ppt" TargetMode="External"/><Relationship Id="rId4" Type="http://schemas.openxmlformats.org/officeDocument/2006/relationships/hyperlink" Target="C4-Enzyme%20inhibition.pp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44.png"/><Relationship Id="rId4" Type="http://schemas.openxmlformats.org/officeDocument/2006/relationships/image" Target="../media/image43.wmf"/></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7.xml"/><Relationship Id="rId4" Type="http://schemas.openxmlformats.org/officeDocument/2006/relationships/image" Target="../media/image50.jpeg"/></Relationships>
</file>

<file path=ppt/slides/_rels/slide5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52.jpeg"/></Relationships>
</file>

<file path=ppt/slides/_rels/slide55.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54.jpeg"/></Relationships>
</file>

<file path=ppt/slides/_rels/slide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61.jpe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 Id="rId4" Type="http://schemas.openxmlformats.org/officeDocument/2006/relationships/image" Target="../media/image75.png"/></Relationships>
</file>

<file path=ppt/slides/_rels/slide8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90.wmf"/></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91.wmf"/><Relationship Id="rId7" Type="http://schemas.openxmlformats.org/officeDocument/2006/relationships/image" Target="../media/image93.wmf"/><Relationship Id="rId2" Type="http://schemas.openxmlformats.org/officeDocument/2006/relationships/oleObject" Target="../embeddings/oleObject2.bin"/><Relationship Id="rId1" Type="http://schemas.openxmlformats.org/officeDocument/2006/relationships/slideLayout" Target="../slideLayouts/slideLayout7.xml"/><Relationship Id="rId6" Type="http://schemas.openxmlformats.org/officeDocument/2006/relationships/oleObject" Target="../embeddings/oleObject4.bin"/><Relationship Id="rId5" Type="http://schemas.openxmlformats.org/officeDocument/2006/relationships/image" Target="../media/image92.wmf"/><Relationship Id="rId4" Type="http://schemas.openxmlformats.org/officeDocument/2006/relationships/oleObject" Target="../embeddings/oleObject3.bin"/><Relationship Id="rId9" Type="http://schemas.openxmlformats.org/officeDocument/2006/relationships/image" Target="../media/image94.wmf"/></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9.xml"/><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96.pn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98.wmf"/><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99.wmf"/><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63.xml"/><Relationship Id="rId1" Type="http://schemas.openxmlformats.org/officeDocument/2006/relationships/slideLayout" Target="../slideLayouts/slideLayout7.xml"/><Relationship Id="rId4" Type="http://schemas.openxmlformats.org/officeDocument/2006/relationships/image" Target="../media/image97.png"/></Relationships>
</file>

<file path=ppt/slides/_rels/slide10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hyperlink" Target="../2006%20Enzymology/E1/&#23567;&#40614;&#32966;&#33394;&#32032;&#21407;&#33073;&#27688;&#37238;&#30340;&#32852;&#21512;&#37238;&#27963;&#27861;&#27979;&#23450;.CAJ" TargetMode="Externa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notesSlide" Target="../notesSlides/notesSlide79.xml"/><Relationship Id="rId1" Type="http://schemas.openxmlformats.org/officeDocument/2006/relationships/slideLayout" Target="../slideLayouts/slideLayout7.xml"/><Relationship Id="rId4" Type="http://schemas.openxmlformats.org/officeDocument/2006/relationships/image" Target="../media/image112.wmf"/></Relationships>
</file>

<file path=ppt/slides/_rels/slide138.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118.jpe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120.jpe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image" Target="../media/image121.jpe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image" Target="../media/image123.jpe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84.xml"/><Relationship Id="rId1" Type="http://schemas.openxmlformats.org/officeDocument/2006/relationships/slideLayout" Target="../slideLayouts/slideLayout7.xml"/><Relationship Id="rId4" Type="http://schemas.openxmlformats.org/officeDocument/2006/relationships/image" Target="../media/image125.png"/></Relationships>
</file>

<file path=ppt/slides/_rels/slide152.x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image" Target="../media/image126.pn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128.wmf"/><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image" Target="../media/image128.wmf"/><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image" Target="../media/image129.jpeg"/><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88.xml"/><Relationship Id="rId1" Type="http://schemas.openxmlformats.org/officeDocument/2006/relationships/slideLayout" Target="../slideLayouts/slideLayout7.xml"/><Relationship Id="rId4" Type="http://schemas.openxmlformats.org/officeDocument/2006/relationships/image" Target="../media/image133.png"/></Relationships>
</file>

<file path=ppt/slides/_rels/slide160.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image" Target="../media/image136.jpe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image" Target="../media/image142.jpeg"/><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image" Target="../media/image143.jpeg"/><Relationship Id="rId1" Type="http://schemas.openxmlformats.org/officeDocument/2006/relationships/slideLayout" Target="../slideLayouts/slideLayout6.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2" Type="http://schemas.openxmlformats.org/officeDocument/2006/relationships/image" Target="../media/image146.jpeg"/><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2" Type="http://schemas.openxmlformats.org/officeDocument/2006/relationships/image" Target="../media/image151.jpeg"/><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06.xml"/><Relationship Id="rId1" Type="http://schemas.openxmlformats.org/officeDocument/2006/relationships/slideLayout" Target="../slideLayouts/slideLayout7.xml"/><Relationship Id="rId4" Type="http://schemas.openxmlformats.org/officeDocument/2006/relationships/image" Target="../media/image153.png"/></Relationships>
</file>

<file path=ppt/slides/_rels/slide196.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2" Type="http://schemas.openxmlformats.org/officeDocument/2006/relationships/image" Target="../media/image159.jpeg"/><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3" Type="http://schemas.openxmlformats.org/officeDocument/2006/relationships/image" Target="../media/image164.png"/><Relationship Id="rId7" Type="http://schemas.openxmlformats.org/officeDocument/2006/relationships/hyperlink" Target="https://en.wikipedia.org/wiki/Serine_protease" TargetMode="External"/><Relationship Id="rId2" Type="http://schemas.openxmlformats.org/officeDocument/2006/relationships/notesSlide" Target="../notesSlides/notesSlide116.xml"/><Relationship Id="rId1" Type="http://schemas.openxmlformats.org/officeDocument/2006/relationships/slideLayout" Target="../slideLayouts/slideLayout7.xml"/><Relationship Id="rId6" Type="http://schemas.openxmlformats.org/officeDocument/2006/relationships/hyperlink" Target="https://en.wikipedia.org/wiki/Valine" TargetMode="External"/><Relationship Id="rId5" Type="http://schemas.openxmlformats.org/officeDocument/2006/relationships/hyperlink" Target="https://en.wikipedia.org/wiki/Alanine" TargetMode="External"/><Relationship Id="rId4" Type="http://schemas.openxmlformats.org/officeDocument/2006/relationships/hyperlink" Target="https://en.wikipedia.org/wiki/Glycine" TargetMode="Externa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hyperlink" Target="https://baike.baidu.com/item/%E8%A1%80%E6%B6%B2%E5%87%9D%E5%9B%BA/4784911" TargetMode="External"/><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6.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ctrTitle"/>
          </p:nvPr>
        </p:nvSpPr>
        <p:spPr>
          <a:xfrm>
            <a:off x="772066" y="1484784"/>
            <a:ext cx="6127358" cy="1470025"/>
          </a:xfrm>
        </p:spPr>
        <p:txBody>
          <a:bodyPr/>
          <a:lstStyle/>
          <a:p>
            <a:pPr eaLnBrk="1" hangingPunct="1">
              <a:spcBef>
                <a:spcPct val="50000"/>
              </a:spcBef>
              <a:buClrTx/>
              <a:buSzTx/>
              <a:buFontTx/>
              <a:buNone/>
            </a:pPr>
            <a:r>
              <a:rPr lang="en-US" altLang="zh-CN" dirty="0"/>
              <a:t>Section C       </a:t>
            </a:r>
            <a:r>
              <a:rPr lang="en-US" altLang="zh-CN" b="1" i="1" dirty="0">
                <a:effectLst>
                  <a:outerShdw blurRad="38100" dist="38100" dir="2700000" algn="tl">
                    <a:srgbClr val="000000">
                      <a:alpha val="43137"/>
                    </a:srgbClr>
                  </a:outerShdw>
                </a:effectLst>
              </a:rPr>
              <a:t>Enzyme</a:t>
            </a:r>
          </a:p>
        </p:txBody>
      </p:sp>
      <p:sp>
        <p:nvSpPr>
          <p:cNvPr id="4099" name="副标题 2"/>
          <p:cNvSpPr>
            <a:spLocks noGrp="1"/>
          </p:cNvSpPr>
          <p:nvPr>
            <p:ph type="subTitle" idx="1"/>
          </p:nvPr>
        </p:nvSpPr>
        <p:spPr>
          <a:xfrm>
            <a:off x="5292080" y="3429000"/>
            <a:ext cx="3214688" cy="1471613"/>
          </a:xfrm>
        </p:spPr>
        <p:txBody>
          <a:bodyPr/>
          <a:lstStyle/>
          <a:p>
            <a:pPr eaLnBrk="1" hangingPunct="1"/>
            <a:r>
              <a:rPr lang="zh-CN" altLang="en-US" sz="3600" b="1" dirty="0">
                <a:solidFill>
                  <a:schemeClr val="tx1"/>
                </a:solidFill>
              </a:rPr>
              <a:t>杨国栋</a:t>
            </a:r>
            <a:endParaRPr lang="en-US" altLang="zh-CN" sz="3600" b="1" dirty="0">
              <a:solidFill>
                <a:schemeClr val="tx1"/>
              </a:solidFill>
            </a:endParaRPr>
          </a:p>
          <a:p>
            <a:pPr eaLnBrk="1" hangingPunct="1"/>
            <a:r>
              <a:rPr lang="en-US" altLang="zh-CN" sz="2400" b="1" dirty="0">
                <a:solidFill>
                  <a:schemeClr val="tx1"/>
                </a:solidFill>
              </a:rPr>
              <a:t>Biochemistry and Molecular Biology, College of Life Sciences</a:t>
            </a:r>
            <a:br>
              <a:rPr lang="en-US" altLang="zh-CN" sz="2400" b="1" dirty="0">
                <a:solidFill>
                  <a:schemeClr val="tx1"/>
                </a:solidFill>
              </a:rPr>
            </a:br>
            <a:endParaRPr lang="en-US" altLang="zh-CN" sz="2400" b="1" dirty="0">
              <a:solidFill>
                <a:schemeClr val="tx1"/>
              </a:solidFill>
            </a:endParaRPr>
          </a:p>
          <a:p>
            <a:pPr eaLnBrk="1" hangingPunct="1"/>
            <a:r>
              <a:rPr lang="en-US" altLang="zh-CN" sz="2400" b="1" dirty="0">
                <a:solidFill>
                  <a:schemeClr val="tx1"/>
                </a:solidFill>
                <a:hlinkClick r:id="rId3"/>
              </a:rPr>
              <a:t>gdyang@sdau.edu.cn</a:t>
            </a:r>
            <a:endParaRPr lang="en-US" altLang="zh-CN" sz="2400" b="1" dirty="0">
              <a:solidFill>
                <a:schemeClr val="tx1"/>
              </a:solidFill>
            </a:endParaRPr>
          </a:p>
          <a:p>
            <a:pPr eaLnBrk="1" hangingPunct="1"/>
            <a:r>
              <a:rPr lang="en-US" altLang="zh-CN" sz="2400" b="1" dirty="0">
                <a:solidFill>
                  <a:schemeClr val="tx1"/>
                </a:solidFill>
              </a:rPr>
              <a:t>13854808762</a:t>
            </a:r>
            <a:endParaRPr lang="en-US" altLang="zh-CN" sz="24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9FC16CB7-6174-4612-83F4-F5A4FE708417}"/>
              </a:ext>
            </a:extLst>
          </p:cNvPr>
          <p:cNvSpPr txBox="1">
            <a:spLocks noChangeArrowheads="1"/>
          </p:cNvSpPr>
          <p:nvPr/>
        </p:nvSpPr>
        <p:spPr bwMode="auto">
          <a:xfrm>
            <a:off x="1447800" y="533400"/>
            <a:ext cx="6705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6000" b="1" dirty="0">
                <a:solidFill>
                  <a:srgbClr val="FF0066"/>
                </a:solidFill>
                <a:latin typeface="Times New Roman" panose="02020603050405020304" pitchFamily="18" charset="0"/>
              </a:rPr>
              <a:t>Section C - Enzyme</a:t>
            </a:r>
            <a:endParaRPr kumimoji="1" lang="en-US" altLang="zh-CN" sz="6000" dirty="0">
              <a:latin typeface="Times New Roman" panose="02020603050405020304" pitchFamily="18" charset="0"/>
            </a:endParaRPr>
          </a:p>
        </p:txBody>
      </p:sp>
      <p:sp>
        <p:nvSpPr>
          <p:cNvPr id="6147" name="Text Box 3">
            <a:extLst>
              <a:ext uri="{FF2B5EF4-FFF2-40B4-BE49-F238E27FC236}">
                <a16:creationId xmlns:a16="http://schemas.microsoft.com/office/drawing/2014/main" id="{37400BB5-F45E-42B0-970C-6725C9B26F29}"/>
              </a:ext>
            </a:extLst>
          </p:cNvPr>
          <p:cNvSpPr txBox="1">
            <a:spLocks noChangeArrowheads="1"/>
          </p:cNvSpPr>
          <p:nvPr/>
        </p:nvSpPr>
        <p:spPr bwMode="auto">
          <a:xfrm>
            <a:off x="914400" y="2438400"/>
            <a:ext cx="7772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4000">
                <a:hlinkClick r:id="rId2" action="ppaction://hlinksldjump"/>
              </a:rPr>
              <a:t>C1C2   Introduction to Enzymes</a:t>
            </a:r>
            <a:endParaRPr kumimoji="1" lang="en-US" altLang="zh-CN" sz="4000"/>
          </a:p>
        </p:txBody>
      </p:sp>
      <p:sp>
        <p:nvSpPr>
          <p:cNvPr id="6148" name="Text Box 4">
            <a:extLst>
              <a:ext uri="{FF2B5EF4-FFF2-40B4-BE49-F238E27FC236}">
                <a16:creationId xmlns:a16="http://schemas.microsoft.com/office/drawing/2014/main" id="{FE1CDC7A-F57A-4EE4-A42C-497E11C198FF}"/>
              </a:ext>
            </a:extLst>
          </p:cNvPr>
          <p:cNvSpPr txBox="1">
            <a:spLocks noChangeArrowheads="1"/>
          </p:cNvSpPr>
          <p:nvPr/>
        </p:nvSpPr>
        <p:spPr bwMode="auto">
          <a:xfrm>
            <a:off x="914400" y="3200400"/>
            <a:ext cx="5791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4000" dirty="0" err="1">
                <a:hlinkClick r:id="rId3"/>
              </a:rPr>
              <a:t>C3</a:t>
            </a:r>
            <a:r>
              <a:rPr kumimoji="1" lang="en-US" altLang="zh-CN" sz="4000" dirty="0">
                <a:hlinkClick r:id="rId3"/>
              </a:rPr>
              <a:t>  Enzyme Kinetics</a:t>
            </a:r>
            <a:r>
              <a:rPr kumimoji="1" lang="en-US" altLang="zh-CN" sz="4000" dirty="0"/>
              <a:t> </a:t>
            </a:r>
          </a:p>
        </p:txBody>
      </p:sp>
      <p:sp>
        <p:nvSpPr>
          <p:cNvPr id="6149" name="Text Box 5">
            <a:extLst>
              <a:ext uri="{FF2B5EF4-FFF2-40B4-BE49-F238E27FC236}">
                <a16:creationId xmlns:a16="http://schemas.microsoft.com/office/drawing/2014/main" id="{9BEC85A1-7FB2-44EE-9CFE-A4273F6677F7}"/>
              </a:ext>
            </a:extLst>
          </p:cNvPr>
          <p:cNvSpPr txBox="1">
            <a:spLocks noChangeArrowheads="1"/>
          </p:cNvSpPr>
          <p:nvPr/>
        </p:nvSpPr>
        <p:spPr bwMode="auto">
          <a:xfrm>
            <a:off x="944563" y="4038600"/>
            <a:ext cx="6172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4000">
                <a:hlinkClick r:id="rId4"/>
              </a:rPr>
              <a:t>C4  Enzyme inhibition</a:t>
            </a:r>
            <a:endParaRPr kumimoji="1" lang="en-US" altLang="zh-CN" sz="4000"/>
          </a:p>
        </p:txBody>
      </p:sp>
      <p:sp>
        <p:nvSpPr>
          <p:cNvPr id="6150" name="Text Box 6">
            <a:extLst>
              <a:ext uri="{FF2B5EF4-FFF2-40B4-BE49-F238E27FC236}">
                <a16:creationId xmlns:a16="http://schemas.microsoft.com/office/drawing/2014/main" id="{714A44A4-EF3F-4F02-94CE-DA31A2622A9A}"/>
              </a:ext>
            </a:extLst>
          </p:cNvPr>
          <p:cNvSpPr txBox="1">
            <a:spLocks noChangeArrowheads="1"/>
          </p:cNvSpPr>
          <p:nvPr/>
        </p:nvSpPr>
        <p:spPr bwMode="auto">
          <a:xfrm>
            <a:off x="990600" y="4800600"/>
            <a:ext cx="7848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4000">
                <a:hlinkClick r:id="rId5"/>
              </a:rPr>
              <a:t>C5  Regulation of Enzyme activity</a:t>
            </a:r>
            <a:endParaRPr kumimoji="1" lang="en-US" altLang="zh-CN" sz="4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a:extLst>
              <a:ext uri="{FF2B5EF4-FFF2-40B4-BE49-F238E27FC236}">
                <a16:creationId xmlns:a16="http://schemas.microsoft.com/office/drawing/2014/main" id="{42FB0988-3AF6-4900-8909-AEBB78EC0695}"/>
              </a:ext>
            </a:extLst>
          </p:cNvPr>
          <p:cNvSpPr txBox="1">
            <a:spLocks noChangeArrowheads="1"/>
          </p:cNvSpPr>
          <p:nvPr/>
        </p:nvSpPr>
        <p:spPr bwMode="auto">
          <a:xfrm>
            <a:off x="685800" y="762000"/>
            <a:ext cx="7772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600" b="1">
                <a:solidFill>
                  <a:srgbClr val="FF0066"/>
                </a:solidFill>
                <a:latin typeface="Times New Roman" panose="02020603050405020304" pitchFamily="18" charset="0"/>
              </a:rPr>
              <a:t>C1C2     Introduction to Enzymes</a:t>
            </a:r>
          </a:p>
        </p:txBody>
      </p:sp>
      <p:sp>
        <p:nvSpPr>
          <p:cNvPr id="7171" name="Text Box 3">
            <a:extLst>
              <a:ext uri="{FF2B5EF4-FFF2-40B4-BE49-F238E27FC236}">
                <a16:creationId xmlns:a16="http://schemas.microsoft.com/office/drawing/2014/main" id="{4C7AB4F8-C6AC-4FE9-882C-FB1C0B17200E}"/>
              </a:ext>
            </a:extLst>
          </p:cNvPr>
          <p:cNvSpPr txBox="1">
            <a:spLocks noChangeArrowheads="1"/>
          </p:cNvSpPr>
          <p:nvPr/>
        </p:nvSpPr>
        <p:spPr bwMode="auto">
          <a:xfrm>
            <a:off x="457200" y="2057400"/>
            <a:ext cx="7696200" cy="256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AutoNum type="arabicPeriod"/>
            </a:pPr>
            <a:r>
              <a:rPr kumimoji="1" lang="en-US" altLang="zh-CN" sz="2800" b="1" dirty="0">
                <a:latin typeface="Times New Roman" panose="02020603050405020304" pitchFamily="18" charset="0"/>
              </a:rPr>
              <a:t>Enzymes were among the first biological macromolecules to be studied chemically.</a:t>
            </a:r>
          </a:p>
          <a:p>
            <a:pPr eaLnBrk="1" hangingPunct="1">
              <a:spcBef>
                <a:spcPct val="50000"/>
              </a:spcBef>
            </a:pPr>
            <a:r>
              <a:rPr kumimoji="1" lang="en-US" altLang="zh-CN" sz="2800" b="1" dirty="0">
                <a:latin typeface="Times New Roman" panose="02020603050405020304" pitchFamily="18" charset="0"/>
              </a:rPr>
              <a:t>   1.1 Much of the early history of biochemistry is the history of enzyme research.</a:t>
            </a:r>
          </a:p>
          <a:p>
            <a:pPr eaLnBrk="1" hangingPunct="1">
              <a:spcBef>
                <a:spcPct val="50000"/>
              </a:spcBef>
              <a:buFontTx/>
              <a:buAutoNum type="arabicPeriod"/>
            </a:pPr>
            <a:endParaRPr kumimoji="1" lang="en-US" altLang="zh-CN" sz="2400" dirty="0">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BD0B337C-CD1B-4EC0-817F-F71CA34A1056}"/>
              </a:ext>
            </a:extLst>
          </p:cNvPr>
          <p:cNvSpPr txBox="1">
            <a:spLocks noChangeArrowheads="1"/>
          </p:cNvSpPr>
          <p:nvPr/>
        </p:nvSpPr>
        <p:spPr bwMode="auto">
          <a:xfrm>
            <a:off x="609600" y="457200"/>
            <a:ext cx="7620000" cy="6107113"/>
          </a:xfrm>
          <a:prstGeom prst="rect">
            <a:avLst/>
          </a:prstGeom>
          <a:solidFill>
            <a:srgbClr val="FEFDD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rPr>
              <a:t>	1.1.1 Biological catalysts were first recognized in studying animal food digestion and sugar fermentation with yeast (</a:t>
            </a:r>
            <a:r>
              <a:rPr kumimoji="1" lang="en-US" altLang="zh-CN" sz="2800" b="1" dirty="0">
                <a:solidFill>
                  <a:srgbClr val="FF0000"/>
                </a:solidFill>
                <a:latin typeface="Times New Roman" panose="02020603050405020304" pitchFamily="18" charset="0"/>
              </a:rPr>
              <a:t>brewing and wine making</a:t>
            </a:r>
            <a:r>
              <a:rPr kumimoji="1" lang="en-US" altLang="zh-CN" sz="2800" b="1" dirty="0">
                <a:latin typeface="Times New Roman" panose="02020603050405020304" pitchFamily="18" charset="0"/>
              </a:rPr>
              <a:t>).</a:t>
            </a:r>
          </a:p>
          <a:p>
            <a:pPr eaLnBrk="1" hangingPunct="1">
              <a:spcBef>
                <a:spcPct val="50000"/>
              </a:spcBef>
            </a:pPr>
            <a:r>
              <a:rPr kumimoji="1" lang="en-US" altLang="zh-CN" sz="2800" b="1" dirty="0">
                <a:latin typeface="Times New Roman" panose="02020603050405020304" pitchFamily="18" charset="0"/>
              </a:rPr>
              <a:t>	1.1.2 </a:t>
            </a:r>
            <a:r>
              <a:rPr kumimoji="1" lang="en-US" altLang="zh-CN" sz="2800" b="1" dirty="0">
                <a:solidFill>
                  <a:srgbClr val="FF0000"/>
                </a:solidFill>
                <a:latin typeface="Times New Roman" panose="02020603050405020304" pitchFamily="18" charset="0"/>
              </a:rPr>
              <a:t>Ferments</a:t>
            </a:r>
            <a:r>
              <a:rPr kumimoji="1" lang="en-US" altLang="zh-CN" sz="2800" b="1" dirty="0">
                <a:latin typeface="Times New Roman" panose="02020603050405020304" pitchFamily="18" charset="0"/>
              </a:rPr>
              <a:t> (i.e., enzymes, meaning in “in yeast”) were thought (wrongly) to be inseparable from living yeast cells for quite some time (Louis Pasteur)</a:t>
            </a:r>
          </a:p>
          <a:p>
            <a:pPr eaLnBrk="1" hangingPunct="1">
              <a:spcBef>
                <a:spcPct val="30000"/>
              </a:spcBef>
            </a:pPr>
            <a:r>
              <a:rPr kumimoji="1" lang="en-US" altLang="zh-CN" sz="2800" b="1" dirty="0">
                <a:latin typeface="Times New Roman" panose="02020603050405020304" pitchFamily="18" charset="0"/>
              </a:rPr>
              <a:t>          1.1.3 </a:t>
            </a:r>
            <a:r>
              <a:rPr kumimoji="1" lang="en-US" altLang="zh-CN" sz="2800" b="1" dirty="0">
                <a:solidFill>
                  <a:srgbClr val="FF0000"/>
                </a:solidFill>
                <a:latin typeface="Times New Roman" panose="02020603050405020304" pitchFamily="18" charset="0"/>
              </a:rPr>
              <a:t>Yeast extracts </a:t>
            </a:r>
            <a:r>
              <a:rPr kumimoji="1" lang="en-US" altLang="zh-CN" sz="2800" b="1" dirty="0">
                <a:latin typeface="Times New Roman" panose="02020603050405020304" pitchFamily="18" charset="0"/>
              </a:rPr>
              <a:t>were found to be able to ferment sugar to alcohol (Eduard Buchner, 1897, who won the Nobel Prize in Chemistry in 1907 for this discovery).</a:t>
            </a:r>
          </a:p>
          <a:p>
            <a:pPr eaLnBrk="1" hangingPunct="1">
              <a:spcBef>
                <a:spcPct val="50000"/>
              </a:spcBef>
            </a:pPr>
            <a:endParaRPr kumimoji="1" lang="en-US" altLang="zh-CN" sz="2400" dirty="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a:extLst>
              <a:ext uri="{FF2B5EF4-FFF2-40B4-BE49-F238E27FC236}">
                <a16:creationId xmlns:a16="http://schemas.microsoft.com/office/drawing/2014/main" id="{979E2360-3B06-4FDD-B9AC-88E2F4F2477C}"/>
              </a:ext>
            </a:extLst>
          </p:cNvPr>
          <p:cNvSpPr txBox="1">
            <a:spLocks noChangeArrowheads="1"/>
          </p:cNvSpPr>
          <p:nvPr/>
        </p:nvSpPr>
        <p:spPr bwMode="auto">
          <a:xfrm>
            <a:off x="228600" y="685800"/>
            <a:ext cx="8686800" cy="5048250"/>
          </a:xfrm>
          <a:prstGeom prst="rect">
            <a:avLst/>
          </a:prstGeom>
          <a:solidFill>
            <a:srgbClr val="FEFDD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30000"/>
              </a:spcBef>
            </a:pPr>
            <a:r>
              <a:rPr kumimoji="1" lang="en-US" altLang="zh-CN" sz="2400" dirty="0">
                <a:latin typeface="Times New Roman" panose="02020603050405020304" pitchFamily="18" charset="0"/>
              </a:rPr>
              <a:t>	</a:t>
            </a:r>
            <a:r>
              <a:rPr kumimoji="1" lang="en-US" altLang="zh-CN" sz="2800" b="1" dirty="0">
                <a:latin typeface="Times New Roman" panose="02020603050405020304" pitchFamily="18" charset="0"/>
              </a:rPr>
              <a:t>1.1.4 </a:t>
            </a:r>
            <a:r>
              <a:rPr kumimoji="1" lang="en-US" altLang="zh-CN" sz="2800" b="1" dirty="0">
                <a:solidFill>
                  <a:srgbClr val="FF0000"/>
                </a:solidFill>
                <a:latin typeface="Times New Roman" panose="02020603050405020304" pitchFamily="18" charset="0"/>
              </a:rPr>
              <a:t>Enzymes were found to be proteins </a:t>
            </a:r>
            <a:r>
              <a:rPr kumimoji="1" lang="en-US" altLang="zh-CN" sz="2800" b="1" dirty="0">
                <a:latin typeface="Times New Roman" panose="02020603050405020304" pitchFamily="18" charset="0"/>
              </a:rPr>
              <a:t>(1920s to 1930s, James Sumner on urease, “all enzymes are proteins”, John Northrop on </a:t>
            </a:r>
            <a:r>
              <a:rPr kumimoji="1" lang="en-US" altLang="zh-CN" sz="2800" b="1" dirty="0">
                <a:solidFill>
                  <a:srgbClr val="FF0000"/>
                </a:solidFill>
                <a:latin typeface="Times New Roman" panose="02020603050405020304" pitchFamily="18" charset="0"/>
              </a:rPr>
              <a:t>pepsin</a:t>
            </a:r>
            <a:r>
              <a:rPr kumimoji="1" lang="en-US" altLang="zh-CN" sz="2800" b="1" dirty="0">
                <a:latin typeface="Times New Roman" panose="02020603050405020304" pitchFamily="18" charset="0"/>
              </a:rPr>
              <a:t>, </a:t>
            </a:r>
            <a:r>
              <a:rPr kumimoji="1" lang="en-US" altLang="zh-CN" sz="2800" b="1" dirty="0">
                <a:solidFill>
                  <a:srgbClr val="FF0000"/>
                </a:solidFill>
                <a:latin typeface="Times New Roman" panose="02020603050405020304" pitchFamily="18" charset="0"/>
              </a:rPr>
              <a:t>chymotrypsin</a:t>
            </a:r>
            <a:r>
              <a:rPr kumimoji="1" lang="en-US" altLang="zh-CN" sz="2800" b="1" dirty="0">
                <a:latin typeface="Times New Roman" panose="02020603050405020304" pitchFamily="18" charset="0"/>
              </a:rPr>
              <a:t> and</a:t>
            </a:r>
            <a:r>
              <a:rPr kumimoji="1" lang="en-US" altLang="zh-CN" sz="2800" b="1" dirty="0">
                <a:solidFill>
                  <a:schemeClr val="hlink"/>
                </a:solidFill>
                <a:latin typeface="Times New Roman" panose="02020603050405020304" pitchFamily="18" charset="0"/>
              </a:rPr>
              <a:t> trypsin</a:t>
            </a:r>
            <a:r>
              <a:rPr kumimoji="1" lang="en-US" altLang="zh-CN" sz="2800" b="1" dirty="0">
                <a:latin typeface="Times New Roman" panose="02020603050405020304" pitchFamily="18" charset="0"/>
              </a:rPr>
              <a:t>, both shared the 1946 Nobel Prize in Chemistry).</a:t>
            </a:r>
          </a:p>
          <a:p>
            <a:pPr eaLnBrk="1" hangingPunct="1">
              <a:lnSpc>
                <a:spcPct val="110000"/>
              </a:lnSpc>
              <a:spcBef>
                <a:spcPct val="30000"/>
              </a:spcBef>
            </a:pPr>
            <a:r>
              <a:rPr kumimoji="1" lang="en-US" altLang="zh-CN" sz="2800" b="1" dirty="0">
                <a:latin typeface="Times New Roman" panose="02020603050405020304" pitchFamily="18" charset="0"/>
              </a:rPr>
              <a:t>	1.1.5 Almost every chemical reaction in a cell is catalyzed by an enzyme (thousands have been purified and studied, many more are still to be discovered!)</a:t>
            </a:r>
          </a:p>
          <a:p>
            <a:pPr eaLnBrk="1" hangingPunct="1">
              <a:lnSpc>
                <a:spcPct val="110000"/>
              </a:lnSpc>
              <a:spcBef>
                <a:spcPct val="30000"/>
              </a:spcBef>
            </a:pPr>
            <a:r>
              <a:rPr kumimoji="1" lang="en-US" altLang="zh-CN" sz="2800" b="1" dirty="0">
                <a:latin typeface="Times New Roman" panose="02020603050405020304" pitchFamily="18" charset="0"/>
              </a:rPr>
              <a:t>	1.1.6 Proteins do not have the absolute </a:t>
            </a:r>
            <a:r>
              <a:rPr kumimoji="1" lang="en-US" altLang="zh-CN" sz="2800" b="1" dirty="0">
                <a:solidFill>
                  <a:srgbClr val="FF0000"/>
                </a:solidFill>
                <a:latin typeface="Times New Roman" panose="02020603050405020304" pitchFamily="18" charset="0"/>
              </a:rPr>
              <a:t>monopoly </a:t>
            </a:r>
            <a:r>
              <a:rPr kumimoji="1" lang="en-US" altLang="zh-CN" sz="2800" b="1" dirty="0">
                <a:latin typeface="Times New Roman" panose="02020603050405020304" pitchFamily="18" charset="0"/>
              </a:rPr>
              <a:t>on catalysis in cells. </a:t>
            </a:r>
            <a:r>
              <a:rPr kumimoji="1" lang="en-US" altLang="zh-CN" sz="2800" b="1" dirty="0">
                <a:solidFill>
                  <a:srgbClr val="FF0000"/>
                </a:solidFill>
                <a:latin typeface="Times New Roman" panose="02020603050405020304" pitchFamily="18" charset="0"/>
              </a:rPr>
              <a:t>Catalytic RNA </a:t>
            </a:r>
            <a:r>
              <a:rPr kumimoji="1" lang="en-US" altLang="zh-CN" sz="2800" b="1" dirty="0">
                <a:latin typeface="Times New Roman" panose="02020603050405020304" pitchFamily="18" charset="0"/>
              </a:rPr>
              <a:t>were found in the 1980s (Thomas Cech, Nobel Prize in Chemistry in 1989).</a:t>
            </a:r>
            <a:endParaRPr kumimoji="1" lang="en-US" altLang="zh-CN" sz="2400" dirty="0">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98B9F331-6209-4029-A093-DCA0D8F84800}"/>
              </a:ext>
            </a:extLst>
          </p:cNvPr>
          <p:cNvSpPr txBox="1">
            <a:spLocks noChangeArrowheads="1"/>
          </p:cNvSpPr>
          <p:nvPr/>
        </p:nvSpPr>
        <p:spPr bwMode="auto">
          <a:xfrm>
            <a:off x="304800" y="228600"/>
            <a:ext cx="8001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solidFill>
                  <a:srgbClr val="FF0066"/>
                </a:solidFill>
                <a:latin typeface="Times New Roman" panose="02020603050405020304" pitchFamily="18" charset="0"/>
              </a:rPr>
              <a:t>2. The most striking characteristics of enzymes are their immense catalytic power and high specificity.</a:t>
            </a:r>
            <a:endParaRPr kumimoji="1" lang="en-US" altLang="zh-CN" sz="2400" dirty="0">
              <a:latin typeface="Times New Roman" panose="02020603050405020304" pitchFamily="18" charset="0"/>
            </a:endParaRPr>
          </a:p>
        </p:txBody>
      </p:sp>
      <p:sp>
        <p:nvSpPr>
          <p:cNvPr id="10243" name="Text Box 3">
            <a:extLst>
              <a:ext uri="{FF2B5EF4-FFF2-40B4-BE49-F238E27FC236}">
                <a16:creationId xmlns:a16="http://schemas.microsoft.com/office/drawing/2014/main" id="{895AE1B7-F772-4457-94AC-E1EA3AE25ACC}"/>
              </a:ext>
            </a:extLst>
          </p:cNvPr>
          <p:cNvSpPr txBox="1">
            <a:spLocks noChangeArrowheads="1"/>
          </p:cNvSpPr>
          <p:nvPr/>
        </p:nvSpPr>
        <p:spPr bwMode="auto">
          <a:xfrm>
            <a:off x="381000" y="1295400"/>
            <a:ext cx="8534400" cy="4830763"/>
          </a:xfrm>
          <a:prstGeom prst="rect">
            <a:avLst/>
          </a:prstGeom>
          <a:solidFill>
            <a:srgbClr val="FEFDD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50000"/>
              </a:spcBef>
            </a:pPr>
            <a:r>
              <a:rPr kumimoji="1" lang="en-US" altLang="zh-CN" sz="2800" b="1" dirty="0">
                <a:latin typeface="Times New Roman" panose="02020603050405020304" pitchFamily="18" charset="0"/>
              </a:rPr>
              <a:t>2.1 Enzymes </a:t>
            </a:r>
            <a:r>
              <a:rPr kumimoji="1" lang="en-US" altLang="zh-CN" sz="2800" b="1" dirty="0">
                <a:solidFill>
                  <a:srgbClr val="FF0066"/>
                </a:solidFill>
                <a:latin typeface="Times New Roman" panose="02020603050405020304" pitchFamily="18" charset="0"/>
              </a:rPr>
              <a:t>accelerate</a:t>
            </a:r>
            <a:r>
              <a:rPr kumimoji="1" lang="en-US" altLang="zh-CN" sz="2800" b="1" dirty="0">
                <a:latin typeface="Times New Roman" panose="02020603050405020304" pitchFamily="18" charset="0"/>
              </a:rPr>
              <a:t> reactions by factors of at least a million.</a:t>
            </a:r>
          </a:p>
          <a:p>
            <a:pPr eaLnBrk="1" hangingPunct="1">
              <a:lnSpc>
                <a:spcPct val="80000"/>
              </a:lnSpc>
              <a:spcBef>
                <a:spcPct val="50000"/>
              </a:spcBef>
            </a:pPr>
            <a:r>
              <a:rPr kumimoji="1" lang="en-US" altLang="zh-CN" sz="2800" b="1" dirty="0">
                <a:latin typeface="Times New Roman" panose="02020603050405020304" pitchFamily="18" charset="0"/>
              </a:rPr>
              <a:t>	2.1.1 Most reactions in biological systems do not occur at </a:t>
            </a:r>
            <a:r>
              <a:rPr kumimoji="1" lang="en-US" altLang="zh-CN" sz="2800" b="1" dirty="0">
                <a:solidFill>
                  <a:srgbClr val="FF0000"/>
                </a:solidFill>
                <a:latin typeface="Times New Roman" panose="02020603050405020304" pitchFamily="18" charset="0"/>
              </a:rPr>
              <a:t>perceptible</a:t>
            </a:r>
            <a:r>
              <a:rPr kumimoji="1" lang="en-US" altLang="zh-CN" sz="2800" b="1" dirty="0">
                <a:latin typeface="Times New Roman" panose="02020603050405020304" pitchFamily="18" charset="0"/>
              </a:rPr>
              <a:t> rates in the absence of enzymes.</a:t>
            </a:r>
          </a:p>
          <a:p>
            <a:pPr eaLnBrk="1" hangingPunct="1">
              <a:lnSpc>
                <a:spcPct val="80000"/>
              </a:lnSpc>
              <a:spcBef>
                <a:spcPct val="50000"/>
              </a:spcBef>
            </a:pPr>
            <a:r>
              <a:rPr kumimoji="1" lang="en-US" altLang="zh-CN" sz="2800" b="1" dirty="0">
                <a:latin typeface="Times New Roman" panose="02020603050405020304" pitchFamily="18" charset="0"/>
              </a:rPr>
              <a:t>	2.1.2 The rate enhancements (rate with enzyme catalysis divided by rate without enzyme catalysis) brought about by enzymes are often in the range of </a:t>
            </a:r>
            <a:r>
              <a:rPr kumimoji="1" lang="en-US" altLang="zh-CN" sz="2800" b="1" dirty="0">
                <a:solidFill>
                  <a:srgbClr val="FF0000"/>
                </a:solidFill>
                <a:latin typeface="Times New Roman" panose="02020603050405020304" pitchFamily="18" charset="0"/>
              </a:rPr>
              <a:t>10</a:t>
            </a:r>
            <a:r>
              <a:rPr kumimoji="1" lang="en-US" altLang="zh-CN" sz="2800" b="1" baseline="30000" dirty="0">
                <a:solidFill>
                  <a:srgbClr val="FF0000"/>
                </a:solidFill>
                <a:latin typeface="Times New Roman" panose="02020603050405020304" pitchFamily="18" charset="0"/>
              </a:rPr>
              <a:t>8</a:t>
            </a:r>
            <a:r>
              <a:rPr kumimoji="1" lang="en-US" altLang="zh-CN" sz="2800" b="1" dirty="0">
                <a:solidFill>
                  <a:srgbClr val="FF0000"/>
                </a:solidFill>
                <a:latin typeface="Times New Roman" panose="02020603050405020304" pitchFamily="18" charset="0"/>
              </a:rPr>
              <a:t> to 10</a:t>
            </a:r>
            <a:r>
              <a:rPr kumimoji="1" lang="en-US" altLang="zh-CN" sz="2800" b="1" baseline="30000" dirty="0">
                <a:solidFill>
                  <a:srgbClr val="FF0000"/>
                </a:solidFill>
                <a:latin typeface="Times New Roman" panose="02020603050405020304" pitchFamily="18" charset="0"/>
              </a:rPr>
              <a:t>20</a:t>
            </a:r>
            <a:r>
              <a:rPr kumimoji="1" lang="en-US" altLang="zh-CN" sz="2800" b="1" dirty="0">
                <a:latin typeface="Times New Roman" panose="02020603050405020304" pitchFamily="18" charset="0"/>
              </a:rPr>
              <a:t>)</a:t>
            </a:r>
          </a:p>
          <a:p>
            <a:pPr eaLnBrk="1" hangingPunct="1">
              <a:lnSpc>
                <a:spcPct val="80000"/>
              </a:lnSpc>
              <a:spcBef>
                <a:spcPct val="50000"/>
              </a:spcBef>
            </a:pPr>
            <a:r>
              <a:rPr kumimoji="1" lang="en-US" altLang="zh-CN" sz="2800" b="1" dirty="0">
                <a:latin typeface="Times New Roman" panose="02020603050405020304" pitchFamily="18" charset="0"/>
              </a:rPr>
              <a:t>	2.1.3 For </a:t>
            </a:r>
            <a:r>
              <a:rPr kumimoji="1" lang="en-US" altLang="zh-CN" sz="2800" b="1" dirty="0">
                <a:solidFill>
                  <a:srgbClr val="FF0000"/>
                </a:solidFill>
                <a:latin typeface="Times New Roman" panose="02020603050405020304" pitchFamily="18" charset="0"/>
              </a:rPr>
              <a:t>carbonic anhydrase</a:t>
            </a:r>
            <a:r>
              <a:rPr kumimoji="1" lang="en-US" altLang="zh-CN" sz="2800" b="1" dirty="0">
                <a:latin typeface="Times New Roman" panose="02020603050405020304" pitchFamily="18" charset="0"/>
              </a:rPr>
              <a:t>, an enzyme catalyzing the hydration of CO</a:t>
            </a:r>
            <a:r>
              <a:rPr kumimoji="1" lang="en-US" altLang="zh-CN" sz="2800" b="1" baseline="-25000" dirty="0">
                <a:latin typeface="Times New Roman" panose="02020603050405020304" pitchFamily="18" charset="0"/>
              </a:rPr>
              <a:t>2</a:t>
            </a:r>
            <a:r>
              <a:rPr kumimoji="1" lang="en-US" altLang="zh-CN" sz="2800" b="1" dirty="0">
                <a:latin typeface="Times New Roman" panose="02020603050405020304" pitchFamily="18" charset="0"/>
              </a:rPr>
              <a:t> (H</a:t>
            </a:r>
            <a:r>
              <a:rPr kumimoji="1" lang="en-US" altLang="zh-CN" sz="2800" b="1" baseline="-25000" dirty="0">
                <a:latin typeface="Times New Roman" panose="02020603050405020304" pitchFamily="18" charset="0"/>
              </a:rPr>
              <a:t>2</a:t>
            </a:r>
            <a:r>
              <a:rPr kumimoji="1" lang="en-US" altLang="zh-CN" sz="2800" b="1" dirty="0">
                <a:latin typeface="Times New Roman" panose="02020603050405020304" pitchFamily="18" charset="0"/>
              </a:rPr>
              <a:t>O + CO</a:t>
            </a:r>
            <a:r>
              <a:rPr kumimoji="1" lang="en-US" altLang="zh-CN" sz="2800" b="1" baseline="-25000" dirty="0">
                <a:latin typeface="Times New Roman" panose="02020603050405020304" pitchFamily="18" charset="0"/>
              </a:rPr>
              <a:t>2</a:t>
            </a:r>
            <a:r>
              <a:rPr kumimoji="1" lang="en-US" altLang="zh-CN" sz="2800" b="1" dirty="0">
                <a:latin typeface="Times New Roman" panose="02020603050405020304" pitchFamily="18" charset="0"/>
              </a:rPr>
              <a:t> </a:t>
            </a:r>
            <a:r>
              <a:rPr kumimoji="1" lang="en-US" altLang="zh-CN" sz="2800" b="1" dirty="0">
                <a:latin typeface="Times New Roman" panose="02020603050405020304" pitchFamily="18" charset="0"/>
                <a:sym typeface="Symbol" panose="05050102010706020507" pitchFamily="18" charset="2"/>
              </a:rPr>
              <a:t></a:t>
            </a:r>
            <a:r>
              <a:rPr kumimoji="1" lang="en-US" altLang="zh-CN" sz="2800" b="1" dirty="0">
                <a:latin typeface="Times New Roman" panose="02020603050405020304" pitchFamily="18" charset="0"/>
              </a:rPr>
              <a:t> HCO</a:t>
            </a:r>
            <a:r>
              <a:rPr kumimoji="1" lang="en-US" altLang="zh-CN" sz="2800" b="1" baseline="-25000" dirty="0">
                <a:latin typeface="Times New Roman" panose="02020603050405020304" pitchFamily="18" charset="0"/>
              </a:rPr>
              <a:t>3</a:t>
            </a:r>
            <a:r>
              <a:rPr kumimoji="1" lang="en-US" altLang="zh-CN" sz="2800" b="1" baseline="30000" dirty="0">
                <a:latin typeface="Times New Roman" panose="02020603050405020304" pitchFamily="18" charset="0"/>
              </a:rPr>
              <a:t>-</a:t>
            </a:r>
            <a:r>
              <a:rPr kumimoji="1" lang="en-US" altLang="zh-CN" sz="2800" b="1" dirty="0">
                <a:latin typeface="Times New Roman" panose="02020603050405020304" pitchFamily="18" charset="0"/>
              </a:rPr>
              <a:t> + H</a:t>
            </a:r>
            <a:r>
              <a:rPr kumimoji="1" lang="en-US" altLang="zh-CN" sz="2800" b="1" baseline="30000" dirty="0">
                <a:latin typeface="Times New Roman" panose="02020603050405020304" pitchFamily="18" charset="0"/>
              </a:rPr>
              <a:t>+</a:t>
            </a:r>
            <a:r>
              <a:rPr kumimoji="1" lang="en-US" altLang="zh-CN" sz="2800" b="1" dirty="0">
                <a:latin typeface="Times New Roman" panose="02020603050405020304" pitchFamily="18" charset="0"/>
              </a:rPr>
              <a:t>), the rate enhancement is 10</a:t>
            </a:r>
            <a:r>
              <a:rPr kumimoji="1" lang="en-US" altLang="zh-CN" sz="2800" b="1" baseline="30000" dirty="0">
                <a:latin typeface="Times New Roman" panose="02020603050405020304" pitchFamily="18" charset="0"/>
              </a:rPr>
              <a:t>7 </a:t>
            </a:r>
            <a:r>
              <a:rPr kumimoji="1" lang="en-US" altLang="zh-CN" sz="2800" b="1" dirty="0">
                <a:latin typeface="Times New Roman" panose="02020603050405020304" pitchFamily="18" charset="0"/>
              </a:rPr>
              <a:t>(each enzyme molecule can hydrate 10</a:t>
            </a:r>
            <a:r>
              <a:rPr kumimoji="1" lang="en-US" altLang="zh-CN" sz="2800" b="1" baseline="30000" dirty="0">
                <a:latin typeface="Times New Roman" panose="02020603050405020304" pitchFamily="18" charset="0"/>
              </a:rPr>
              <a:t>5</a:t>
            </a:r>
            <a:r>
              <a:rPr kumimoji="1" lang="en-US" altLang="zh-CN" sz="2800" b="1" dirty="0">
                <a:latin typeface="Times New Roman" panose="02020603050405020304" pitchFamily="18" charset="0"/>
              </a:rPr>
              <a:t> molecules of CO</a:t>
            </a:r>
            <a:r>
              <a:rPr kumimoji="1" lang="en-US" altLang="zh-CN" sz="2800" b="1" baseline="-25000" dirty="0">
                <a:latin typeface="Times New Roman" panose="02020603050405020304" pitchFamily="18" charset="0"/>
              </a:rPr>
              <a:t>2</a:t>
            </a:r>
            <a:r>
              <a:rPr kumimoji="1" lang="en-US" altLang="zh-CN" sz="2800" b="1" dirty="0">
                <a:latin typeface="Times New Roman" panose="02020603050405020304" pitchFamily="18" charset="0"/>
              </a:rPr>
              <a:t> per second!)</a:t>
            </a:r>
            <a:endParaRPr kumimoji="1" lang="en-US" altLang="zh-CN" sz="2400" dirty="0">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a:extLst>
              <a:ext uri="{FF2B5EF4-FFF2-40B4-BE49-F238E27FC236}">
                <a16:creationId xmlns:a16="http://schemas.microsoft.com/office/drawing/2014/main" id="{0FE56CF7-D923-450D-BF07-ADC4FEAE09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692150"/>
            <a:ext cx="7561263" cy="544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FC81541E-F831-4889-B759-2E71893FC1ED}"/>
              </a:ext>
            </a:extLst>
          </p:cNvPr>
          <p:cNvSpPr txBox="1">
            <a:spLocks noChangeArrowheads="1"/>
          </p:cNvSpPr>
          <p:nvPr/>
        </p:nvSpPr>
        <p:spPr bwMode="auto">
          <a:xfrm>
            <a:off x="457200" y="239713"/>
            <a:ext cx="8610600" cy="6124754"/>
          </a:xfrm>
          <a:prstGeom prst="rect">
            <a:avLst/>
          </a:prstGeom>
          <a:solidFill>
            <a:srgbClr val="FEFDD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5000"/>
              </a:spcBef>
            </a:pPr>
            <a:r>
              <a:rPr kumimoji="1" lang="en-US" altLang="zh-CN" sz="2800" b="1" dirty="0">
                <a:latin typeface="Times New Roman" panose="02020603050405020304" pitchFamily="18" charset="0"/>
              </a:rPr>
              <a:t>2.2 Enzymes are highly </a:t>
            </a:r>
            <a:r>
              <a:rPr kumimoji="1" lang="en-US" altLang="zh-CN" sz="2800" b="1" dirty="0">
                <a:solidFill>
                  <a:srgbClr val="FF0066"/>
                </a:solidFill>
                <a:latin typeface="Times New Roman" panose="02020603050405020304" pitchFamily="18" charset="0"/>
              </a:rPr>
              <a:t>specific</a:t>
            </a:r>
            <a:r>
              <a:rPr kumimoji="1" lang="en-US" altLang="zh-CN" sz="2800" b="1" dirty="0">
                <a:latin typeface="Times New Roman" panose="02020603050405020304" pitchFamily="18" charset="0"/>
              </a:rPr>
              <a:t> both in the reaction catalyzed and in their choice of</a:t>
            </a:r>
            <a:r>
              <a:rPr kumimoji="1" lang="en-US" altLang="zh-CN" sz="2800" b="1" dirty="0">
                <a:solidFill>
                  <a:schemeClr val="hlink"/>
                </a:solidFill>
                <a:latin typeface="Times New Roman" panose="02020603050405020304" pitchFamily="18" charset="0"/>
              </a:rPr>
              <a:t> substrates</a:t>
            </a:r>
            <a:r>
              <a:rPr kumimoji="1" lang="en-US" altLang="zh-CN" sz="2800" b="1" dirty="0">
                <a:latin typeface="Times New Roman" panose="02020603050405020304" pitchFamily="18" charset="0"/>
              </a:rPr>
              <a:t> (i.e., reactants).</a:t>
            </a:r>
          </a:p>
          <a:p>
            <a:pPr eaLnBrk="1" hangingPunct="1">
              <a:spcBef>
                <a:spcPct val="25000"/>
              </a:spcBef>
            </a:pPr>
            <a:r>
              <a:rPr kumimoji="1" lang="en-US" altLang="zh-CN" sz="2800" b="1" dirty="0">
                <a:latin typeface="Times New Roman" panose="02020603050405020304" pitchFamily="18" charset="0"/>
              </a:rPr>
              <a:t>	2.2.1 Enzymes exhibit </a:t>
            </a:r>
            <a:r>
              <a:rPr kumimoji="1" lang="en-US" altLang="zh-CN" sz="2800" b="1" dirty="0">
                <a:solidFill>
                  <a:srgbClr val="FF0000"/>
                </a:solidFill>
                <a:latin typeface="Times New Roman" panose="02020603050405020304" pitchFamily="18" charset="0"/>
              </a:rPr>
              <a:t>various degrees of specificity </a:t>
            </a:r>
            <a:r>
              <a:rPr kumimoji="1" lang="en-US" altLang="zh-CN" sz="2800" b="1" dirty="0">
                <a:latin typeface="Times New Roman" panose="02020603050405020304" pitchFamily="18" charset="0"/>
              </a:rPr>
              <a:t>in accord with their physiological functions :</a:t>
            </a:r>
          </a:p>
          <a:p>
            <a:pPr eaLnBrk="1" hangingPunct="1">
              <a:spcBef>
                <a:spcPct val="25000"/>
              </a:spcBef>
            </a:pPr>
            <a:r>
              <a:rPr kumimoji="1" lang="en-US" altLang="zh-CN" sz="2800" b="1" dirty="0">
                <a:latin typeface="Times New Roman" panose="02020603050405020304" pitchFamily="18" charset="0"/>
              </a:rPr>
              <a:t>		</a:t>
            </a:r>
            <a:r>
              <a:rPr kumimoji="1" lang="en-US" altLang="zh-CN" sz="2800" b="1" dirty="0">
                <a:solidFill>
                  <a:srgbClr val="FF0000"/>
                </a:solidFill>
                <a:latin typeface="Times New Roman" panose="02020603050405020304" pitchFamily="18" charset="0"/>
              </a:rPr>
              <a:t>Low specificity</a:t>
            </a:r>
            <a:r>
              <a:rPr kumimoji="1" lang="en-US" altLang="zh-CN" sz="2800" b="1" dirty="0">
                <a:latin typeface="Times New Roman" panose="02020603050405020304" pitchFamily="18" charset="0"/>
              </a:rPr>
              <a:t>: some peptidases, </a:t>
            </a:r>
            <a:r>
              <a:rPr kumimoji="1" lang="en-US" altLang="zh-CN" sz="2800" b="1" dirty="0" err="1">
                <a:latin typeface="Times New Roman" panose="02020603050405020304" pitchFamily="18" charset="0"/>
              </a:rPr>
              <a:t>esterases</a:t>
            </a:r>
            <a:r>
              <a:rPr kumimoji="1" lang="en-US" altLang="zh-CN" sz="2800" b="1" dirty="0">
                <a:latin typeface="Times New Roman" panose="02020603050405020304" pitchFamily="18" charset="0"/>
              </a:rPr>
              <a:t>, and phosphatases.</a:t>
            </a:r>
          </a:p>
          <a:p>
            <a:pPr eaLnBrk="1" hangingPunct="1">
              <a:spcBef>
                <a:spcPct val="25000"/>
              </a:spcBef>
            </a:pPr>
            <a:r>
              <a:rPr kumimoji="1" lang="en-US" altLang="zh-CN" sz="2800" b="1" dirty="0">
                <a:latin typeface="Times New Roman" panose="02020603050405020304" pitchFamily="18" charset="0"/>
              </a:rPr>
              <a:t>		</a:t>
            </a:r>
            <a:r>
              <a:rPr kumimoji="1" lang="en-US" altLang="zh-CN" sz="2800" b="1" dirty="0">
                <a:solidFill>
                  <a:srgbClr val="FF0000"/>
                </a:solidFill>
                <a:latin typeface="Times New Roman" panose="02020603050405020304" pitchFamily="18" charset="0"/>
              </a:rPr>
              <a:t>Intermediate specificity</a:t>
            </a:r>
            <a:r>
              <a:rPr kumimoji="1" lang="en-US" altLang="zh-CN" sz="2800" b="1" dirty="0">
                <a:latin typeface="Times New Roman" panose="02020603050405020304" pitchFamily="18" charset="0"/>
              </a:rPr>
              <a:t>: hexokinase, alcohol dehydrogenases, trypsin.</a:t>
            </a:r>
          </a:p>
          <a:p>
            <a:pPr eaLnBrk="1" hangingPunct="1">
              <a:spcBef>
                <a:spcPct val="25000"/>
              </a:spcBef>
            </a:pPr>
            <a:r>
              <a:rPr kumimoji="1" lang="en-US" altLang="zh-CN" sz="2800" b="1" dirty="0">
                <a:latin typeface="Times New Roman" panose="02020603050405020304" pitchFamily="18" charset="0"/>
              </a:rPr>
              <a:t>		</a:t>
            </a:r>
            <a:r>
              <a:rPr kumimoji="1" lang="en-US" altLang="zh-CN" sz="2800" b="1" dirty="0">
                <a:solidFill>
                  <a:srgbClr val="FF0000"/>
                </a:solidFill>
                <a:latin typeface="Times New Roman" panose="02020603050405020304" pitchFamily="18" charset="0"/>
              </a:rPr>
              <a:t>Absolute or near absolute specificity</a:t>
            </a:r>
            <a:r>
              <a:rPr kumimoji="1" lang="en-US" altLang="zh-CN" sz="2800" b="1" dirty="0">
                <a:latin typeface="Times New Roman" panose="02020603050405020304" pitchFamily="18" charset="0"/>
              </a:rPr>
              <a:t>: Many enzymes belong to this group, and in extreme cases, stereochemical specificity is exhibited (i.e., enantiomers are distinguished as substrates or products).</a:t>
            </a:r>
            <a:endParaRPr kumimoji="1" lang="en-US" altLang="zh-CN" sz="2400" dirty="0">
              <a:latin typeface="Times New Roman" panose="02020603050405020304" pitchFamily="18" charset="0"/>
            </a:endParaRPr>
          </a:p>
        </p:txBody>
      </p:sp>
      <p:sp>
        <p:nvSpPr>
          <p:cNvPr id="12291" name="Line 3">
            <a:extLst>
              <a:ext uri="{FF2B5EF4-FFF2-40B4-BE49-F238E27FC236}">
                <a16:creationId xmlns:a16="http://schemas.microsoft.com/office/drawing/2014/main" id="{ABC08063-F0DC-4352-8674-04609A66BCB4}"/>
              </a:ext>
            </a:extLst>
          </p:cNvPr>
          <p:cNvSpPr>
            <a:spLocks noChangeShapeType="1"/>
          </p:cNvSpPr>
          <p:nvPr/>
        </p:nvSpPr>
        <p:spPr bwMode="auto">
          <a:xfrm>
            <a:off x="5334000" y="1143000"/>
            <a:ext cx="14478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未标题-47">
            <a:extLst>
              <a:ext uri="{FF2B5EF4-FFF2-40B4-BE49-F238E27FC236}">
                <a16:creationId xmlns:a16="http://schemas.microsoft.com/office/drawing/2014/main" id="{D25ADA1F-D0B9-434C-80F7-86D7A3A51783}"/>
              </a:ext>
            </a:extLst>
          </p:cNvPr>
          <p:cNvPicPr>
            <a:picLocks noChangeAspect="1" noChangeArrowheads="1"/>
          </p:cNvPicPr>
          <p:nvPr/>
        </p:nvPicPr>
        <p:blipFill>
          <a:blip r:embed="rId3">
            <a:lum bright="-18000" contrast="36000"/>
            <a:extLst>
              <a:ext uri="{28A0092B-C50C-407E-A947-70E740481C1C}">
                <a14:useLocalDpi xmlns:a14="http://schemas.microsoft.com/office/drawing/2010/main" val="0"/>
              </a:ext>
            </a:extLst>
          </a:blip>
          <a:srcRect/>
          <a:stretch>
            <a:fillRect/>
          </a:stretch>
        </p:blipFill>
        <p:spPr bwMode="auto">
          <a:xfrm>
            <a:off x="611188" y="188913"/>
            <a:ext cx="7910512" cy="644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未标题-56-2">
            <a:extLst>
              <a:ext uri="{FF2B5EF4-FFF2-40B4-BE49-F238E27FC236}">
                <a16:creationId xmlns:a16="http://schemas.microsoft.com/office/drawing/2014/main" id="{DA229BC5-8429-4F51-82FD-66AB3A40FE93}"/>
              </a:ext>
            </a:extLst>
          </p:cNvPr>
          <p:cNvPicPr>
            <a:picLocks noChangeAspect="1" noChangeArrowheads="1"/>
          </p:cNvPicPr>
          <p:nvPr/>
        </p:nvPicPr>
        <p:blipFill>
          <a:blip r:embed="rId2">
            <a:lum bright="-12000" contrast="30000"/>
            <a:extLst>
              <a:ext uri="{28A0092B-C50C-407E-A947-70E740481C1C}">
                <a14:useLocalDpi xmlns:a14="http://schemas.microsoft.com/office/drawing/2010/main" val="0"/>
              </a:ext>
            </a:extLst>
          </a:blip>
          <a:srcRect/>
          <a:stretch>
            <a:fillRect/>
          </a:stretch>
        </p:blipFill>
        <p:spPr bwMode="auto">
          <a:xfrm>
            <a:off x="2730500" y="3505200"/>
            <a:ext cx="3641725"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9" name="Picture 3" descr="未标题-56-3">
            <a:extLst>
              <a:ext uri="{FF2B5EF4-FFF2-40B4-BE49-F238E27FC236}">
                <a16:creationId xmlns:a16="http://schemas.microsoft.com/office/drawing/2014/main" id="{B62B5037-B08D-4DAB-BD51-419F4D9F3DE6}"/>
              </a:ext>
            </a:extLst>
          </p:cNvPr>
          <p:cNvPicPr>
            <a:picLocks noChangeAspect="1" noChangeArrowheads="1"/>
          </p:cNvPicPr>
          <p:nvPr/>
        </p:nvPicPr>
        <p:blipFill>
          <a:blip r:embed="rId3">
            <a:lum bright="-54000" contrast="72000"/>
            <a:extLst>
              <a:ext uri="{28A0092B-C50C-407E-A947-70E740481C1C}">
                <a14:useLocalDpi xmlns:a14="http://schemas.microsoft.com/office/drawing/2010/main" val="0"/>
              </a:ext>
            </a:extLst>
          </a:blip>
          <a:srcRect/>
          <a:stretch>
            <a:fillRect/>
          </a:stretch>
        </p:blipFill>
        <p:spPr bwMode="auto">
          <a:xfrm>
            <a:off x="76200" y="838200"/>
            <a:ext cx="8991600" cy="267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箭头连接符 2">
            <a:extLst>
              <a:ext uri="{FF2B5EF4-FFF2-40B4-BE49-F238E27FC236}">
                <a16:creationId xmlns:a16="http://schemas.microsoft.com/office/drawing/2014/main" id="{79CD7F7B-105C-6E8E-3E7E-7670C1C8FE09}"/>
              </a:ext>
            </a:extLst>
          </p:cNvPr>
          <p:cNvCxnSpPr/>
          <p:nvPr/>
        </p:nvCxnSpPr>
        <p:spPr>
          <a:xfrm>
            <a:off x="2483768" y="620688"/>
            <a:ext cx="0" cy="1080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未标题-53">
            <a:extLst>
              <a:ext uri="{FF2B5EF4-FFF2-40B4-BE49-F238E27FC236}">
                <a16:creationId xmlns:a16="http://schemas.microsoft.com/office/drawing/2014/main" id="{281F4774-FA8E-4DB3-BE48-1A9FFBAD368E}"/>
              </a:ext>
            </a:extLst>
          </p:cNvPr>
          <p:cNvPicPr>
            <a:picLocks noChangeAspect="1" noChangeArrowheads="1"/>
          </p:cNvPicPr>
          <p:nvPr/>
        </p:nvPicPr>
        <p:blipFill>
          <a:blip r:embed="rId3">
            <a:lum bright="-24000" contrast="36000"/>
            <a:extLst>
              <a:ext uri="{28A0092B-C50C-407E-A947-70E740481C1C}">
                <a14:useLocalDpi xmlns:a14="http://schemas.microsoft.com/office/drawing/2010/main" val="0"/>
              </a:ext>
            </a:extLst>
          </a:blip>
          <a:srcRect/>
          <a:stretch>
            <a:fillRect/>
          </a:stretch>
        </p:blipFill>
        <p:spPr bwMode="auto">
          <a:xfrm>
            <a:off x="2554288" y="76200"/>
            <a:ext cx="4129087" cy="670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E850288B-ADD1-4C7A-8550-F0AF90845794}"/>
              </a:ext>
            </a:extLst>
          </p:cNvPr>
          <p:cNvSpPr/>
          <p:nvPr/>
        </p:nvSpPr>
        <p:spPr>
          <a:xfrm>
            <a:off x="7236296" y="5013176"/>
            <a:ext cx="4572000" cy="584775"/>
          </a:xfrm>
          <a:prstGeom prst="rect">
            <a:avLst/>
          </a:prstGeom>
        </p:spPr>
        <p:txBody>
          <a:bodyPr>
            <a:spAutoFit/>
          </a:bodyPr>
          <a:lstStyle/>
          <a:p>
            <a:r>
              <a:rPr lang="en-US" altLang="zh-CN" sz="1600" dirty="0"/>
              <a:t>thrombin  </a:t>
            </a:r>
          </a:p>
          <a:p>
            <a:r>
              <a:rPr lang="en-US" altLang="zh-CN" sz="1600" dirty="0"/>
              <a:t>n. </a:t>
            </a:r>
            <a:r>
              <a:rPr lang="zh-CN" altLang="en-US" sz="1600" dirty="0"/>
              <a:t>凝血酶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a:extLst>
              <a:ext uri="{FF2B5EF4-FFF2-40B4-BE49-F238E27FC236}">
                <a16:creationId xmlns:a16="http://schemas.microsoft.com/office/drawing/2014/main" id="{6E3D9379-1A34-44D5-9A47-844F5A43DE15}"/>
              </a:ext>
            </a:extLst>
          </p:cNvPr>
          <p:cNvSpPr txBox="1">
            <a:spLocks noChangeArrowheads="1"/>
          </p:cNvSpPr>
          <p:nvPr/>
        </p:nvSpPr>
        <p:spPr bwMode="auto">
          <a:xfrm>
            <a:off x="250825" y="260350"/>
            <a:ext cx="8686800" cy="5775325"/>
          </a:xfrm>
          <a:prstGeom prst="rect">
            <a:avLst/>
          </a:prstGeom>
          <a:solidFill>
            <a:srgbClr val="FEFDD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40000"/>
              </a:spcBef>
            </a:pPr>
            <a:r>
              <a:rPr kumimoji="1" lang="en-US" altLang="zh-CN" sz="2800" b="1" dirty="0">
                <a:latin typeface="Times New Roman" panose="02020603050405020304" pitchFamily="18" charset="0"/>
              </a:rPr>
              <a:t>2.3 Most enzymes are proteins.</a:t>
            </a:r>
          </a:p>
          <a:p>
            <a:pPr eaLnBrk="1" hangingPunct="1">
              <a:lnSpc>
                <a:spcPct val="110000"/>
              </a:lnSpc>
              <a:spcBef>
                <a:spcPct val="40000"/>
              </a:spcBef>
            </a:pPr>
            <a:r>
              <a:rPr kumimoji="1" lang="en-US" altLang="zh-CN" sz="2800" b="1" dirty="0">
                <a:latin typeface="Times New Roman" panose="02020603050405020304" pitchFamily="18" charset="0"/>
              </a:rPr>
              <a:t>	2.3.1 Some enzymes require no other chemical groups other than their amino acid residues for activity. </a:t>
            </a:r>
          </a:p>
          <a:p>
            <a:pPr eaLnBrk="1" hangingPunct="1">
              <a:lnSpc>
                <a:spcPct val="110000"/>
              </a:lnSpc>
              <a:spcBef>
                <a:spcPct val="40000"/>
              </a:spcBef>
            </a:pPr>
            <a:r>
              <a:rPr kumimoji="1" lang="en-US" altLang="zh-CN" sz="2800" b="1" dirty="0">
                <a:latin typeface="Times New Roman" panose="02020603050405020304" pitchFamily="18" charset="0"/>
              </a:rPr>
              <a:t>	2.3.2 Some enzymes require the presence of </a:t>
            </a:r>
            <a:r>
              <a:rPr kumimoji="1" lang="en-US" altLang="zh-CN" sz="2800" b="1" dirty="0">
                <a:solidFill>
                  <a:srgbClr val="FF0000"/>
                </a:solidFill>
                <a:latin typeface="Times New Roman" panose="02020603050405020304" pitchFamily="18" charset="0"/>
              </a:rPr>
              <a:t>cofactors</a:t>
            </a:r>
            <a:r>
              <a:rPr kumimoji="1" lang="en-US" altLang="zh-CN" sz="2800" b="1" dirty="0">
                <a:latin typeface="Times New Roman" panose="02020603050405020304" pitchFamily="18" charset="0"/>
              </a:rPr>
              <a:t>, small nonprotein units, to function. Cofactors may be inorganic ions or complex organic molecules </a:t>
            </a:r>
            <a:r>
              <a:rPr kumimoji="1" lang="en-US" altLang="zh-CN" sz="2800" b="1" dirty="0">
                <a:solidFill>
                  <a:srgbClr val="FF0000"/>
                </a:solidFill>
                <a:latin typeface="Times New Roman" panose="02020603050405020304" pitchFamily="18" charset="0"/>
              </a:rPr>
              <a:t>called coenzymes</a:t>
            </a:r>
            <a:r>
              <a:rPr kumimoji="1" lang="en-US" altLang="zh-CN" sz="2800" b="1" dirty="0">
                <a:latin typeface="Times New Roman" panose="02020603050405020304" pitchFamily="18" charset="0"/>
              </a:rPr>
              <a:t>. A cofactor that is covalently attached to the enzyme is called a </a:t>
            </a:r>
            <a:r>
              <a:rPr kumimoji="1" lang="en-US" altLang="zh-CN" sz="2800" b="1" dirty="0">
                <a:solidFill>
                  <a:srgbClr val="FF0000"/>
                </a:solidFill>
                <a:latin typeface="Times New Roman" panose="02020603050405020304" pitchFamily="18" charset="0"/>
              </a:rPr>
              <a:t>prosthetic group</a:t>
            </a:r>
            <a:r>
              <a:rPr kumimoji="1" lang="en-US" altLang="zh-CN" sz="2800" b="1" dirty="0">
                <a:latin typeface="Times New Roman" panose="02020603050405020304" pitchFamily="18" charset="0"/>
              </a:rPr>
              <a:t>.</a:t>
            </a:r>
          </a:p>
          <a:p>
            <a:pPr eaLnBrk="1" hangingPunct="1">
              <a:lnSpc>
                <a:spcPct val="110000"/>
              </a:lnSpc>
              <a:spcBef>
                <a:spcPct val="40000"/>
              </a:spcBef>
            </a:pPr>
            <a:r>
              <a:rPr kumimoji="1" lang="en-US" altLang="zh-CN" sz="2800" b="1" dirty="0">
                <a:latin typeface="Times New Roman" panose="02020603050405020304" pitchFamily="18" charset="0"/>
              </a:rPr>
              <a:t>	2.3.3 Prosthetic groups could be inorganic metal ions (e.g., Fe</a:t>
            </a:r>
            <a:r>
              <a:rPr kumimoji="1" lang="en-US" altLang="zh-CN" sz="2800" b="1" baseline="30000" dirty="0">
                <a:latin typeface="Times New Roman" panose="02020603050405020304" pitchFamily="18" charset="0"/>
              </a:rPr>
              <a:t>2+</a:t>
            </a:r>
            <a:r>
              <a:rPr kumimoji="1" lang="en-US" altLang="zh-CN" sz="2800" b="1" dirty="0">
                <a:latin typeface="Times New Roman" panose="02020603050405020304" pitchFamily="18" charset="0"/>
              </a:rPr>
              <a:t>, Mg</a:t>
            </a:r>
            <a:r>
              <a:rPr kumimoji="1" lang="en-US" altLang="zh-CN" sz="2800" b="1" baseline="30000" dirty="0">
                <a:latin typeface="Times New Roman" panose="02020603050405020304" pitchFamily="18" charset="0"/>
              </a:rPr>
              <a:t>2+</a:t>
            </a:r>
            <a:r>
              <a:rPr kumimoji="1" lang="en-US" altLang="zh-CN" sz="2800" b="1" dirty="0">
                <a:latin typeface="Times New Roman" panose="02020603050405020304" pitchFamily="18" charset="0"/>
              </a:rPr>
              <a:t>, Mn</a:t>
            </a:r>
            <a:r>
              <a:rPr kumimoji="1" lang="en-US" altLang="zh-CN" sz="2800" b="1" baseline="30000" dirty="0">
                <a:latin typeface="Times New Roman" panose="02020603050405020304" pitchFamily="18" charset="0"/>
              </a:rPr>
              <a:t>2+</a:t>
            </a:r>
            <a:r>
              <a:rPr kumimoji="1" lang="en-US" altLang="zh-CN" sz="2800" b="1" dirty="0">
                <a:latin typeface="Times New Roman" panose="02020603050405020304" pitchFamily="18" charset="0"/>
              </a:rPr>
              <a:t>, Zn</a:t>
            </a:r>
            <a:r>
              <a:rPr kumimoji="1" lang="en-US" altLang="zh-CN" sz="2800" b="1" baseline="30000" dirty="0">
                <a:latin typeface="Times New Roman" panose="02020603050405020304" pitchFamily="18" charset="0"/>
              </a:rPr>
              <a:t>2+</a:t>
            </a:r>
            <a:r>
              <a:rPr kumimoji="1" lang="en-US" altLang="zh-CN" sz="2800" b="1" dirty="0">
                <a:latin typeface="Times New Roman" panose="02020603050405020304" pitchFamily="18" charset="0"/>
              </a:rPr>
              <a:t>) or complex organic or metalloorganic molecules.	</a:t>
            </a:r>
            <a:endParaRPr kumimoji="1" lang="en-US" altLang="zh-CN" sz="2400" dirty="0">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a:extLst>
              <a:ext uri="{FF2B5EF4-FFF2-40B4-BE49-F238E27FC236}">
                <a16:creationId xmlns:a16="http://schemas.microsoft.com/office/drawing/2014/main" id="{F82878CA-96C3-4FE1-8603-C3DEB6798742}"/>
              </a:ext>
            </a:extLst>
          </p:cNvPr>
          <p:cNvSpPr txBox="1">
            <a:spLocks noChangeArrowheads="1"/>
          </p:cNvSpPr>
          <p:nvPr/>
        </p:nvSpPr>
        <p:spPr bwMode="auto">
          <a:xfrm>
            <a:off x="762000" y="685800"/>
            <a:ext cx="7772400" cy="5049838"/>
          </a:xfrm>
          <a:prstGeom prst="rect">
            <a:avLst/>
          </a:prstGeom>
          <a:solidFill>
            <a:srgbClr val="FEFDD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kumimoji="1" lang="en-US" altLang="zh-CN" sz="2400" dirty="0">
                <a:latin typeface="Times New Roman" panose="02020603050405020304" pitchFamily="18" charset="0"/>
              </a:rPr>
              <a:t>	</a:t>
            </a:r>
            <a:r>
              <a:rPr kumimoji="1" lang="en-US" altLang="zh-CN" sz="2800" b="1" dirty="0">
                <a:latin typeface="Times New Roman" panose="02020603050405020304" pitchFamily="18" charset="0"/>
              </a:rPr>
              <a:t>2.3.4 A complete catalytically active enzyme (including its prosthetic group) is called a </a:t>
            </a:r>
            <a:r>
              <a:rPr kumimoji="1" lang="en-US" altLang="zh-CN" sz="2800" b="1" dirty="0">
                <a:solidFill>
                  <a:srgbClr val="FF0066"/>
                </a:solidFill>
                <a:latin typeface="Times New Roman" panose="02020603050405020304" pitchFamily="18" charset="0"/>
              </a:rPr>
              <a:t>holoenzyme</a:t>
            </a:r>
            <a:r>
              <a:rPr kumimoji="1" lang="en-US" altLang="zh-CN" sz="2800" b="1" dirty="0">
                <a:latin typeface="Times New Roman" panose="02020603050405020304" pitchFamily="18" charset="0"/>
              </a:rPr>
              <a:t>.</a:t>
            </a:r>
          </a:p>
          <a:p>
            <a:pPr eaLnBrk="1" hangingPunct="1">
              <a:lnSpc>
                <a:spcPct val="120000"/>
              </a:lnSpc>
              <a:spcBef>
                <a:spcPct val="40000"/>
              </a:spcBef>
            </a:pPr>
            <a:r>
              <a:rPr kumimoji="1" lang="en-US" altLang="zh-CN" sz="2800" b="1" dirty="0">
                <a:latin typeface="Times New Roman" panose="02020603050405020304" pitchFamily="18" charset="0"/>
              </a:rPr>
              <a:t>	2.3.5 The protein part of an enzyme (without its prosthetic group) is called the </a:t>
            </a:r>
            <a:r>
              <a:rPr kumimoji="1" lang="en-US" altLang="zh-CN" sz="2800" b="1" dirty="0">
                <a:solidFill>
                  <a:srgbClr val="FF0066"/>
                </a:solidFill>
                <a:latin typeface="Times New Roman" panose="02020603050405020304" pitchFamily="18" charset="0"/>
              </a:rPr>
              <a:t>apoenzyme</a:t>
            </a:r>
            <a:r>
              <a:rPr kumimoji="1" lang="en-US" altLang="zh-CN" sz="2800" b="1" dirty="0">
                <a:latin typeface="Times New Roman" panose="02020603050405020304" pitchFamily="18" charset="0"/>
              </a:rPr>
              <a:t>.</a:t>
            </a:r>
            <a:endParaRPr kumimoji="1" lang="en-US" altLang="zh-CN" sz="2400" dirty="0">
              <a:latin typeface="Times New Roman" panose="02020603050405020304" pitchFamily="18" charset="0"/>
            </a:endParaRPr>
          </a:p>
          <a:p>
            <a:pPr eaLnBrk="1" hangingPunct="1">
              <a:lnSpc>
                <a:spcPct val="120000"/>
              </a:lnSpc>
              <a:spcBef>
                <a:spcPct val="40000"/>
              </a:spcBef>
            </a:pPr>
            <a:r>
              <a:rPr kumimoji="1" lang="en-US" altLang="zh-CN" sz="2800" b="1" dirty="0">
                <a:latin typeface="Times New Roman" panose="02020603050405020304" pitchFamily="18" charset="0"/>
              </a:rPr>
              <a:t>         2.3.6 Many vitamins, organic nutrients required in small amounts in the diet, are </a:t>
            </a:r>
            <a:r>
              <a:rPr kumimoji="1" lang="en-US" altLang="zh-CN" sz="2800" b="1" dirty="0">
                <a:solidFill>
                  <a:srgbClr val="FF0000"/>
                </a:solidFill>
                <a:latin typeface="Times New Roman" panose="02020603050405020304" pitchFamily="18" charset="0"/>
              </a:rPr>
              <a:t>precursors of coenzymes</a:t>
            </a:r>
            <a:r>
              <a:rPr kumimoji="1" lang="en-US" altLang="zh-CN" sz="2800" b="1" dirty="0">
                <a:latin typeface="Times New Roman" panose="02020603050405020304" pitchFamily="18" charset="0"/>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a:extLst>
              <a:ext uri="{FF2B5EF4-FFF2-40B4-BE49-F238E27FC236}">
                <a16:creationId xmlns:a16="http://schemas.microsoft.com/office/drawing/2014/main" id="{96C73CB8-497C-4716-9B37-B345541AEF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604" t="11610" r="10872" b="16536"/>
          <a:stretch>
            <a:fillRect/>
          </a:stretch>
        </p:blipFill>
        <p:spPr bwMode="auto">
          <a:xfrm>
            <a:off x="827088" y="620713"/>
            <a:ext cx="7561262"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5" name="Picture 3">
            <a:extLst>
              <a:ext uri="{FF2B5EF4-FFF2-40B4-BE49-F238E27FC236}">
                <a16:creationId xmlns:a16="http://schemas.microsoft.com/office/drawing/2014/main" id="{6B488BAA-E188-4C59-8CBA-D2703E9A4E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7327" t="17355" r="18361" b="74219"/>
          <a:stretch>
            <a:fillRect/>
          </a:stretch>
        </p:blipFill>
        <p:spPr bwMode="auto">
          <a:xfrm>
            <a:off x="1042988" y="908050"/>
            <a:ext cx="647700"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a:extLst>
              <a:ext uri="{FF2B5EF4-FFF2-40B4-BE49-F238E27FC236}">
                <a16:creationId xmlns:a16="http://schemas.microsoft.com/office/drawing/2014/main" id="{01F0DE09-FB9E-4FB4-9623-050D7CDA64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604" t="11610" r="10872" b="18489"/>
          <a:stretch>
            <a:fillRect/>
          </a:stretch>
        </p:blipFill>
        <p:spPr bwMode="auto">
          <a:xfrm>
            <a:off x="827088" y="620713"/>
            <a:ext cx="7561262" cy="511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9" name="Picture 3">
            <a:extLst>
              <a:ext uri="{FF2B5EF4-FFF2-40B4-BE49-F238E27FC236}">
                <a16:creationId xmlns:a16="http://schemas.microsoft.com/office/drawing/2014/main" id="{55E8C810-813E-4B59-B636-D040358E9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7327" t="17355" r="18361" b="75201"/>
          <a:stretch>
            <a:fillRect/>
          </a:stretch>
        </p:blipFill>
        <p:spPr bwMode="auto">
          <a:xfrm>
            <a:off x="1042988" y="981075"/>
            <a:ext cx="6477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a:extLst>
              <a:ext uri="{FF2B5EF4-FFF2-40B4-BE49-F238E27FC236}">
                <a16:creationId xmlns:a16="http://schemas.microsoft.com/office/drawing/2014/main" id="{77D53FD1-54E1-4EA7-8F5B-BB876A63B9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872" t="11610" r="11604" b="18489"/>
          <a:stretch>
            <a:fillRect/>
          </a:stretch>
        </p:blipFill>
        <p:spPr bwMode="auto">
          <a:xfrm>
            <a:off x="755650" y="620713"/>
            <a:ext cx="7561263" cy="511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3" name="Picture 3">
            <a:extLst>
              <a:ext uri="{FF2B5EF4-FFF2-40B4-BE49-F238E27FC236}">
                <a16:creationId xmlns:a16="http://schemas.microsoft.com/office/drawing/2014/main" id="{63929C15-2671-472A-9EAA-281A9ACF3D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7327" t="17355" r="18361" b="75201"/>
          <a:stretch>
            <a:fillRect/>
          </a:stretch>
        </p:blipFill>
        <p:spPr bwMode="auto">
          <a:xfrm>
            <a:off x="1042988" y="981075"/>
            <a:ext cx="6477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a:extLst>
              <a:ext uri="{FF2B5EF4-FFF2-40B4-BE49-F238E27FC236}">
                <a16:creationId xmlns:a16="http://schemas.microsoft.com/office/drawing/2014/main" id="{566E763D-8B5E-4227-B054-6258CC87A0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872" t="10634" r="10872" b="18489"/>
          <a:stretch>
            <a:fillRect/>
          </a:stretch>
        </p:blipFill>
        <p:spPr bwMode="auto">
          <a:xfrm>
            <a:off x="684213" y="765175"/>
            <a:ext cx="7632700"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7" name="Picture 3">
            <a:extLst>
              <a:ext uri="{FF2B5EF4-FFF2-40B4-BE49-F238E27FC236}">
                <a16:creationId xmlns:a16="http://schemas.microsoft.com/office/drawing/2014/main" id="{D21A24F3-AE57-4E6E-9B77-ED9DAC4C3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7327" t="17355" r="18361" b="75201"/>
          <a:stretch>
            <a:fillRect/>
          </a:stretch>
        </p:blipFill>
        <p:spPr bwMode="auto">
          <a:xfrm>
            <a:off x="900113" y="1125538"/>
            <a:ext cx="64770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未标题-1 拷贝">
            <a:extLst>
              <a:ext uri="{FF2B5EF4-FFF2-40B4-BE49-F238E27FC236}">
                <a16:creationId xmlns:a16="http://schemas.microsoft.com/office/drawing/2014/main" id="{FB0F7CB8-7A9F-4839-BADE-2E29A60A4F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6100" y="188913"/>
            <a:ext cx="2552700" cy="645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Text Box 3">
            <a:extLst>
              <a:ext uri="{FF2B5EF4-FFF2-40B4-BE49-F238E27FC236}">
                <a16:creationId xmlns:a16="http://schemas.microsoft.com/office/drawing/2014/main" id="{D315B55D-133D-41D8-827E-7287F610C87E}"/>
              </a:ext>
            </a:extLst>
          </p:cNvPr>
          <p:cNvSpPr txBox="1">
            <a:spLocks noChangeArrowheads="1"/>
          </p:cNvSpPr>
          <p:nvPr/>
        </p:nvSpPr>
        <p:spPr bwMode="auto">
          <a:xfrm>
            <a:off x="6983413" y="5157788"/>
            <a:ext cx="21605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a:ea typeface="华文中宋" panose="02010600040101010101" pitchFamily="2" charset="-122"/>
              </a:rPr>
              <a:t>视黄醇</a:t>
            </a:r>
          </a:p>
        </p:txBody>
      </p:sp>
      <p:sp>
        <p:nvSpPr>
          <p:cNvPr id="22532" name="Text Box 4">
            <a:extLst>
              <a:ext uri="{FF2B5EF4-FFF2-40B4-BE49-F238E27FC236}">
                <a16:creationId xmlns:a16="http://schemas.microsoft.com/office/drawing/2014/main" id="{AC934990-AAB6-444D-947C-8D78F18A0D01}"/>
              </a:ext>
            </a:extLst>
          </p:cNvPr>
          <p:cNvSpPr txBox="1">
            <a:spLocks noChangeArrowheads="1"/>
          </p:cNvSpPr>
          <p:nvPr/>
        </p:nvSpPr>
        <p:spPr bwMode="auto">
          <a:xfrm>
            <a:off x="250825" y="2133600"/>
            <a:ext cx="31686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a:ea typeface="华文中宋" panose="02010600040101010101" pitchFamily="2" charset="-122"/>
              </a:rPr>
              <a:t>脂溶性维生素：</a:t>
            </a:r>
          </a:p>
          <a:p>
            <a:pPr eaLnBrk="1" hangingPunct="1">
              <a:spcBef>
                <a:spcPct val="50000"/>
              </a:spcBef>
            </a:pPr>
            <a:r>
              <a:rPr lang="en-US" altLang="zh-CN" sz="3200">
                <a:ea typeface="华文中宋" panose="02010600040101010101" pitchFamily="2" charset="-122"/>
              </a:rPr>
              <a:t>A</a:t>
            </a:r>
            <a:r>
              <a:rPr lang="zh-CN" altLang="en-US" sz="3200">
                <a:ea typeface="华文中宋" panose="02010600040101010101" pitchFamily="2" charset="-122"/>
              </a:rPr>
              <a:t>、</a:t>
            </a:r>
            <a:r>
              <a:rPr lang="en-US" altLang="zh-CN" sz="3200">
                <a:ea typeface="华文中宋" panose="02010600040101010101" pitchFamily="2" charset="-122"/>
              </a:rPr>
              <a:t>D</a:t>
            </a:r>
            <a:r>
              <a:rPr lang="zh-CN" altLang="en-US" sz="3200">
                <a:ea typeface="华文中宋" panose="02010600040101010101" pitchFamily="2" charset="-122"/>
              </a:rPr>
              <a:t>、</a:t>
            </a:r>
            <a:r>
              <a:rPr lang="en-US" altLang="zh-CN" sz="3200">
                <a:ea typeface="华文中宋" panose="02010600040101010101" pitchFamily="2" charset="-122"/>
              </a:rPr>
              <a:t>E</a:t>
            </a:r>
            <a:r>
              <a:rPr lang="zh-CN" altLang="en-US" sz="3200">
                <a:ea typeface="华文中宋" panose="02010600040101010101" pitchFamily="2" charset="-122"/>
              </a:rPr>
              <a:t>、</a:t>
            </a:r>
            <a:r>
              <a:rPr lang="en-US" altLang="zh-CN" sz="3200">
                <a:ea typeface="华文中宋" panose="02010600040101010101" pitchFamily="2" charset="-122"/>
              </a:rPr>
              <a:t>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未标题-1 拷贝">
            <a:extLst>
              <a:ext uri="{FF2B5EF4-FFF2-40B4-BE49-F238E27FC236}">
                <a16:creationId xmlns:a16="http://schemas.microsoft.com/office/drawing/2014/main" id="{FDBB9CCD-2F98-4152-9F33-4B585DEABE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149350"/>
            <a:ext cx="7200900" cy="455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Text Box 3">
            <a:extLst>
              <a:ext uri="{FF2B5EF4-FFF2-40B4-BE49-F238E27FC236}">
                <a16:creationId xmlns:a16="http://schemas.microsoft.com/office/drawing/2014/main" id="{1EA11781-93D5-48BF-845B-12A727194080}"/>
              </a:ext>
            </a:extLst>
          </p:cNvPr>
          <p:cNvSpPr txBox="1">
            <a:spLocks noChangeArrowheads="1"/>
          </p:cNvSpPr>
          <p:nvPr/>
        </p:nvSpPr>
        <p:spPr bwMode="auto">
          <a:xfrm>
            <a:off x="4067175" y="4365625"/>
            <a:ext cx="4537075" cy="701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4000"/>
              <a:t>Vitamin D3</a:t>
            </a:r>
          </a:p>
        </p:txBody>
      </p:sp>
      <p:sp>
        <p:nvSpPr>
          <p:cNvPr id="23556" name="Text Box 4">
            <a:extLst>
              <a:ext uri="{FF2B5EF4-FFF2-40B4-BE49-F238E27FC236}">
                <a16:creationId xmlns:a16="http://schemas.microsoft.com/office/drawing/2014/main" id="{4E1EC3A0-F0C8-4C73-A5C2-87992F54769F}"/>
              </a:ext>
            </a:extLst>
          </p:cNvPr>
          <p:cNvSpPr txBox="1">
            <a:spLocks noChangeArrowheads="1"/>
          </p:cNvSpPr>
          <p:nvPr/>
        </p:nvSpPr>
        <p:spPr bwMode="auto">
          <a:xfrm>
            <a:off x="5364163" y="5661025"/>
            <a:ext cx="31686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a:ea typeface="华文中宋" panose="02010600040101010101" pitchFamily="2" charset="-122"/>
              </a:rPr>
              <a:t>甾醇衍生物</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a:extLst>
              <a:ext uri="{FF2B5EF4-FFF2-40B4-BE49-F238E27FC236}">
                <a16:creationId xmlns:a16="http://schemas.microsoft.com/office/drawing/2014/main" id="{E0E57A43-D938-487B-BA2C-2EF35A9111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404813"/>
            <a:ext cx="7704137" cy="582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未标题-1 拷贝">
            <a:extLst>
              <a:ext uri="{FF2B5EF4-FFF2-40B4-BE49-F238E27FC236}">
                <a16:creationId xmlns:a16="http://schemas.microsoft.com/office/drawing/2014/main" id="{D98D0490-FF45-47DF-8883-4D8F6AFC09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836613"/>
            <a:ext cx="8064500" cy="169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Text Box 3">
            <a:extLst>
              <a:ext uri="{FF2B5EF4-FFF2-40B4-BE49-F238E27FC236}">
                <a16:creationId xmlns:a16="http://schemas.microsoft.com/office/drawing/2014/main" id="{C3E3B70E-8D76-4AB6-9030-3C8877FE224C}"/>
              </a:ext>
            </a:extLst>
          </p:cNvPr>
          <p:cNvSpPr txBox="1">
            <a:spLocks noChangeArrowheads="1"/>
          </p:cNvSpPr>
          <p:nvPr/>
        </p:nvSpPr>
        <p:spPr bwMode="auto">
          <a:xfrm>
            <a:off x="3132138" y="2420938"/>
            <a:ext cx="35274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a:t>Vitamin E</a:t>
            </a:r>
          </a:p>
        </p:txBody>
      </p:sp>
      <p:pic>
        <p:nvPicPr>
          <p:cNvPr id="25604" name="Picture 4" descr="未标题-1 拷贝">
            <a:extLst>
              <a:ext uri="{FF2B5EF4-FFF2-40B4-BE49-F238E27FC236}">
                <a16:creationId xmlns:a16="http://schemas.microsoft.com/office/drawing/2014/main" id="{69DC14FC-DE79-4963-93E9-AFB58503C2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3284538"/>
            <a:ext cx="8316912" cy="192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5" name="Text Box 5">
            <a:extLst>
              <a:ext uri="{FF2B5EF4-FFF2-40B4-BE49-F238E27FC236}">
                <a16:creationId xmlns:a16="http://schemas.microsoft.com/office/drawing/2014/main" id="{029CC5A9-2BEE-450C-8A34-26BE60191D5C}"/>
              </a:ext>
            </a:extLst>
          </p:cNvPr>
          <p:cNvSpPr txBox="1">
            <a:spLocks noChangeArrowheads="1"/>
          </p:cNvSpPr>
          <p:nvPr/>
        </p:nvSpPr>
        <p:spPr bwMode="auto">
          <a:xfrm>
            <a:off x="2987675" y="5013325"/>
            <a:ext cx="35274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a:t>Vitamin K</a:t>
            </a:r>
          </a:p>
        </p:txBody>
      </p:sp>
      <p:sp>
        <p:nvSpPr>
          <p:cNvPr id="25606" name="Text Box 6">
            <a:extLst>
              <a:ext uri="{FF2B5EF4-FFF2-40B4-BE49-F238E27FC236}">
                <a16:creationId xmlns:a16="http://schemas.microsoft.com/office/drawing/2014/main" id="{F8693388-1FD7-40E7-93E6-254EEFBF721E}"/>
              </a:ext>
            </a:extLst>
          </p:cNvPr>
          <p:cNvSpPr txBox="1">
            <a:spLocks noChangeArrowheads="1"/>
          </p:cNvSpPr>
          <p:nvPr/>
        </p:nvSpPr>
        <p:spPr bwMode="auto">
          <a:xfrm>
            <a:off x="5435600" y="2349500"/>
            <a:ext cx="25923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a:ea typeface="华文中宋" panose="02010600040101010101" pitchFamily="2" charset="-122"/>
              </a:rPr>
              <a:t>生育酚</a:t>
            </a:r>
          </a:p>
        </p:txBody>
      </p:sp>
      <p:sp>
        <p:nvSpPr>
          <p:cNvPr id="25607" name="Text Box 7">
            <a:extLst>
              <a:ext uri="{FF2B5EF4-FFF2-40B4-BE49-F238E27FC236}">
                <a16:creationId xmlns:a16="http://schemas.microsoft.com/office/drawing/2014/main" id="{1516E80F-198A-4200-BC5F-564F7E7D7891}"/>
              </a:ext>
            </a:extLst>
          </p:cNvPr>
          <p:cNvSpPr txBox="1">
            <a:spLocks noChangeArrowheads="1"/>
          </p:cNvSpPr>
          <p:nvPr/>
        </p:nvSpPr>
        <p:spPr bwMode="auto">
          <a:xfrm>
            <a:off x="5795963" y="5013325"/>
            <a:ext cx="27368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a:ea typeface="华文中宋" panose="02010600040101010101" pitchFamily="2" charset="-122"/>
              </a:rPr>
              <a:t>凝血维生素</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a:extLst>
              <a:ext uri="{FF2B5EF4-FFF2-40B4-BE49-F238E27FC236}">
                <a16:creationId xmlns:a16="http://schemas.microsoft.com/office/drawing/2014/main" id="{070283A0-6D47-441A-AE2E-F203E050F42E}"/>
              </a:ext>
            </a:extLst>
          </p:cNvPr>
          <p:cNvPicPr>
            <a:picLocks noChangeAspect="1" noChangeArrowheads="1"/>
          </p:cNvPicPr>
          <p:nvPr/>
        </p:nvPicPr>
        <p:blipFill>
          <a:blip r:embed="rId3">
            <a:lum contrast="42000"/>
            <a:extLst>
              <a:ext uri="{28A0092B-C50C-407E-A947-70E740481C1C}">
                <a14:useLocalDpi xmlns:a14="http://schemas.microsoft.com/office/drawing/2010/main" val="0"/>
              </a:ext>
            </a:extLst>
          </a:blip>
          <a:srcRect l="10872" t="11610" r="10872" b="18489"/>
          <a:stretch>
            <a:fillRect/>
          </a:stretch>
        </p:blipFill>
        <p:spPr bwMode="auto">
          <a:xfrm>
            <a:off x="755650" y="620713"/>
            <a:ext cx="8137525" cy="545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7" name="Picture 3">
            <a:extLst>
              <a:ext uri="{FF2B5EF4-FFF2-40B4-BE49-F238E27FC236}">
                <a16:creationId xmlns:a16="http://schemas.microsoft.com/office/drawing/2014/main" id="{6B35198A-C7FA-4751-AB47-66CA238ACB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7327" t="17355" r="18361" b="75201"/>
          <a:stretch>
            <a:fillRect/>
          </a:stretch>
        </p:blipFill>
        <p:spPr bwMode="auto">
          <a:xfrm>
            <a:off x="971550" y="981075"/>
            <a:ext cx="6477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a:extLst>
              <a:ext uri="{FF2B5EF4-FFF2-40B4-BE49-F238E27FC236}">
                <a16:creationId xmlns:a16="http://schemas.microsoft.com/office/drawing/2014/main" id="{6A22B318-0130-4192-2207-BF47CCAD0B7C}"/>
              </a:ext>
            </a:extLst>
          </p:cNvPr>
          <p:cNvPicPr>
            <a:picLocks noChangeAspect="1" noChangeArrowheads="1"/>
          </p:cNvPicPr>
          <p:nvPr/>
        </p:nvPicPr>
        <p:blipFill rotWithShape="1">
          <a:blip r:embed="rId3">
            <a:lum contrast="42000"/>
            <a:extLst>
              <a:ext uri="{28A0092B-C50C-407E-A947-70E740481C1C}">
                <a14:useLocalDpi xmlns:a14="http://schemas.microsoft.com/office/drawing/2010/main" val="0"/>
              </a:ext>
            </a:extLst>
          </a:blip>
          <a:srcRect l="24027" t="49571" r="13651" b="45813"/>
          <a:stretch/>
        </p:blipFill>
        <p:spPr bwMode="auto">
          <a:xfrm>
            <a:off x="2123728" y="3284984"/>
            <a:ext cx="6480720"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a:extLst>
              <a:ext uri="{FF2B5EF4-FFF2-40B4-BE49-F238E27FC236}">
                <a16:creationId xmlns:a16="http://schemas.microsoft.com/office/drawing/2014/main" id="{4F6117F3-763D-B096-E052-A1FD4FE3B138}"/>
              </a:ext>
            </a:extLst>
          </p:cNvPr>
          <p:cNvPicPr>
            <a:picLocks noChangeAspect="1" noChangeArrowheads="1"/>
          </p:cNvPicPr>
          <p:nvPr/>
        </p:nvPicPr>
        <p:blipFill rotWithShape="1">
          <a:blip r:embed="rId3">
            <a:lum contrast="42000"/>
            <a:extLst>
              <a:ext uri="{28A0092B-C50C-407E-A947-70E740481C1C}">
                <a14:useLocalDpi xmlns:a14="http://schemas.microsoft.com/office/drawing/2010/main" val="0"/>
              </a:ext>
            </a:extLst>
          </a:blip>
          <a:srcRect l="24029" t="46695" r="13648" b="49611"/>
          <a:stretch/>
        </p:blipFill>
        <p:spPr bwMode="auto">
          <a:xfrm>
            <a:off x="2123728" y="3645024"/>
            <a:ext cx="6480720"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a:extLst>
              <a:ext uri="{FF2B5EF4-FFF2-40B4-BE49-F238E27FC236}">
                <a16:creationId xmlns:a16="http://schemas.microsoft.com/office/drawing/2014/main" id="{6C8618FD-5D49-4E41-98EA-BBFBF3C586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2205038"/>
            <a:ext cx="8026400" cy="416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Text Box 3">
            <a:extLst>
              <a:ext uri="{FF2B5EF4-FFF2-40B4-BE49-F238E27FC236}">
                <a16:creationId xmlns:a16="http://schemas.microsoft.com/office/drawing/2014/main" id="{C5432679-9B81-433F-8CDE-7C728D6B0738}"/>
              </a:ext>
            </a:extLst>
          </p:cNvPr>
          <p:cNvSpPr txBox="1">
            <a:spLocks noChangeArrowheads="1"/>
          </p:cNvSpPr>
          <p:nvPr/>
        </p:nvSpPr>
        <p:spPr bwMode="auto">
          <a:xfrm>
            <a:off x="468313" y="620713"/>
            <a:ext cx="74882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a:ea typeface="华文中宋" panose="02010600040101010101" pitchFamily="2" charset="-122"/>
              </a:rPr>
              <a:t>水溶性维生素：</a:t>
            </a:r>
            <a:r>
              <a:rPr lang="en-US" altLang="zh-CN" sz="3200">
                <a:ea typeface="华文中宋" panose="02010600040101010101" pitchFamily="2" charset="-122"/>
              </a:rPr>
              <a:t>B</a:t>
            </a:r>
            <a:r>
              <a:rPr lang="zh-CN" altLang="en-US" sz="3200">
                <a:ea typeface="华文中宋" panose="02010600040101010101" pitchFamily="2" charset="-122"/>
              </a:rPr>
              <a:t>族、硫辛酸和维生素</a:t>
            </a:r>
            <a:r>
              <a:rPr lang="en-US" altLang="zh-CN" sz="3200">
                <a:ea typeface="华文中宋" panose="02010600040101010101" pitchFamily="2" charset="-122"/>
              </a:rPr>
              <a:t>C</a:t>
            </a:r>
          </a:p>
        </p:txBody>
      </p:sp>
      <p:pic>
        <p:nvPicPr>
          <p:cNvPr id="4" name="Picture 2">
            <a:extLst>
              <a:ext uri="{FF2B5EF4-FFF2-40B4-BE49-F238E27FC236}">
                <a16:creationId xmlns:a16="http://schemas.microsoft.com/office/drawing/2014/main" id="{FEEAC268-D419-4C93-96D5-504B488CD8E5}"/>
              </a:ext>
            </a:extLst>
          </p:cNvPr>
          <p:cNvPicPr>
            <a:picLocks noChangeAspect="1" noChangeArrowheads="1"/>
          </p:cNvPicPr>
          <p:nvPr/>
        </p:nvPicPr>
        <p:blipFill rotWithShape="1">
          <a:blip r:embed="rId4">
            <a:lum contrast="42000"/>
            <a:extLst>
              <a:ext uri="{28A0092B-C50C-407E-A947-70E740481C1C}">
                <a14:useLocalDpi xmlns:a14="http://schemas.microsoft.com/office/drawing/2010/main" val="0"/>
              </a:ext>
            </a:extLst>
          </a:blip>
          <a:srcRect l="15718" t="39308" r="41349" b="56842"/>
          <a:stretch/>
        </p:blipFill>
        <p:spPr bwMode="auto">
          <a:xfrm>
            <a:off x="3995936" y="1544634"/>
            <a:ext cx="4464496" cy="300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圆角 2">
            <a:extLst>
              <a:ext uri="{FF2B5EF4-FFF2-40B4-BE49-F238E27FC236}">
                <a16:creationId xmlns:a16="http://schemas.microsoft.com/office/drawing/2014/main" id="{82DF3FD1-474C-23D1-6289-95FADBDBAD4D}"/>
              </a:ext>
            </a:extLst>
          </p:cNvPr>
          <p:cNvSpPr/>
          <p:nvPr/>
        </p:nvSpPr>
        <p:spPr>
          <a:xfrm>
            <a:off x="468313" y="2205038"/>
            <a:ext cx="6047903" cy="2952154"/>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a:extLst>
              <a:ext uri="{FF2B5EF4-FFF2-40B4-BE49-F238E27FC236}">
                <a16:creationId xmlns:a16="http://schemas.microsoft.com/office/drawing/2014/main" id="{ABD3880C-07E2-4728-B9DD-D9C3BABA4F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304800"/>
            <a:ext cx="2954174" cy="5644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53775FF0-EDDF-4DE4-BC3A-B66052F8328F}"/>
              </a:ext>
            </a:extLst>
          </p:cNvPr>
          <p:cNvPicPr>
            <a:picLocks noChangeAspect="1" noChangeArrowheads="1"/>
          </p:cNvPicPr>
          <p:nvPr/>
        </p:nvPicPr>
        <p:blipFill rotWithShape="1">
          <a:blip r:embed="rId3">
            <a:lum contrast="42000"/>
            <a:extLst>
              <a:ext uri="{28A0092B-C50C-407E-A947-70E740481C1C}">
                <a14:useLocalDpi xmlns:a14="http://schemas.microsoft.com/office/drawing/2010/main" val="0"/>
              </a:ext>
            </a:extLst>
          </a:blip>
          <a:srcRect l="15718" t="43003" r="33038" b="53304"/>
          <a:stretch/>
        </p:blipFill>
        <p:spPr bwMode="auto">
          <a:xfrm>
            <a:off x="2339752" y="5949280"/>
            <a:ext cx="5328592"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未标题-1 拷贝">
            <a:extLst>
              <a:ext uri="{FF2B5EF4-FFF2-40B4-BE49-F238E27FC236}">
                <a16:creationId xmlns:a16="http://schemas.microsoft.com/office/drawing/2014/main" id="{0F8B679D-981D-4280-ACB9-81C1D5818E64}"/>
              </a:ext>
            </a:extLst>
          </p:cNvPr>
          <p:cNvPicPr>
            <a:picLocks noChangeAspect="1" noChangeArrowheads="1"/>
          </p:cNvPicPr>
          <p:nvPr/>
        </p:nvPicPr>
        <p:blipFill>
          <a:blip r:embed="rId2">
            <a:lum bright="-24000" contrast="36000"/>
            <a:extLst>
              <a:ext uri="{28A0092B-C50C-407E-A947-70E740481C1C}">
                <a14:useLocalDpi xmlns:a14="http://schemas.microsoft.com/office/drawing/2010/main" val="0"/>
              </a:ext>
            </a:extLst>
          </a:blip>
          <a:srcRect/>
          <a:stretch>
            <a:fillRect/>
          </a:stretch>
        </p:blipFill>
        <p:spPr bwMode="auto">
          <a:xfrm>
            <a:off x="179388" y="549275"/>
            <a:ext cx="8585200" cy="559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a:extLst>
              <a:ext uri="{FF2B5EF4-FFF2-40B4-BE49-F238E27FC236}">
                <a16:creationId xmlns:a16="http://schemas.microsoft.com/office/drawing/2014/main" id="{8D9B94E2-B503-4265-918D-1BFBD47C5B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298" t="28342" r="15298" b="21461"/>
          <a:stretch>
            <a:fillRect/>
          </a:stretch>
        </p:blipFill>
        <p:spPr bwMode="auto">
          <a:xfrm>
            <a:off x="468313" y="1484313"/>
            <a:ext cx="8137525" cy="441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a:extLst>
              <a:ext uri="{FF2B5EF4-FFF2-40B4-BE49-F238E27FC236}">
                <a16:creationId xmlns:a16="http://schemas.microsoft.com/office/drawing/2014/main" id="{9601895D-0C36-4E2C-BE1A-FED9A4AE06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04800"/>
            <a:ext cx="4443413"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a:extLst>
              <a:ext uri="{FF2B5EF4-FFF2-40B4-BE49-F238E27FC236}">
                <a16:creationId xmlns:a16="http://schemas.microsoft.com/office/drawing/2014/main" id="{EEC21150-6B35-4DAB-B6D6-E72B5BEA9C5D}"/>
              </a:ext>
            </a:extLst>
          </p:cNvPr>
          <p:cNvPicPr>
            <a:picLocks noChangeAspect="1" noChangeArrowheads="1"/>
          </p:cNvPicPr>
          <p:nvPr/>
        </p:nvPicPr>
        <p:blipFill rotWithShape="1">
          <a:blip r:embed="rId3">
            <a:lum contrast="42000"/>
            <a:extLst>
              <a:ext uri="{28A0092B-C50C-407E-A947-70E740481C1C}">
                <a14:useLocalDpi xmlns:a14="http://schemas.microsoft.com/office/drawing/2010/main" val="0"/>
              </a:ext>
            </a:extLst>
          </a:blip>
          <a:srcRect l="24028" t="49571" r="34424" b="45918"/>
          <a:stretch/>
        </p:blipFill>
        <p:spPr bwMode="auto">
          <a:xfrm>
            <a:off x="3203848" y="6381328"/>
            <a:ext cx="4320480" cy="351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69C63E49-EEB9-9C6E-9353-6D9535E71CAB}"/>
              </a:ext>
            </a:extLst>
          </p:cNvPr>
          <p:cNvSpPr txBox="1"/>
          <p:nvPr/>
        </p:nvSpPr>
        <p:spPr>
          <a:xfrm>
            <a:off x="2737054" y="6381328"/>
            <a:ext cx="466794" cy="369332"/>
          </a:xfrm>
          <a:prstGeom prst="rect">
            <a:avLst/>
          </a:prstGeom>
          <a:noFill/>
        </p:spPr>
        <p:txBody>
          <a:bodyPr wrap="none" rtlCol="0">
            <a:spAutoFit/>
          </a:bodyPr>
          <a:lstStyle/>
          <a:p>
            <a:r>
              <a:rPr lang="en-US" altLang="zh-CN" dirty="0"/>
              <a:t>B3</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descr="未标题-1 拷贝">
            <a:extLst>
              <a:ext uri="{FF2B5EF4-FFF2-40B4-BE49-F238E27FC236}">
                <a16:creationId xmlns:a16="http://schemas.microsoft.com/office/drawing/2014/main" id="{71CE54E0-AACA-468A-AE4C-C2F7BC8DB0B6}"/>
              </a:ext>
            </a:extLst>
          </p:cNvPr>
          <p:cNvPicPr>
            <a:picLocks noChangeAspect="1" noChangeArrowheads="1"/>
          </p:cNvPicPr>
          <p:nvPr/>
        </p:nvPicPr>
        <p:blipFill>
          <a:blip r:embed="rId3">
            <a:lum bright="-6000" contrast="6000"/>
            <a:extLst>
              <a:ext uri="{28A0092B-C50C-407E-A947-70E740481C1C}">
                <a14:useLocalDpi xmlns:a14="http://schemas.microsoft.com/office/drawing/2010/main" val="0"/>
              </a:ext>
            </a:extLst>
          </a:blip>
          <a:srcRect/>
          <a:stretch>
            <a:fillRect/>
          </a:stretch>
        </p:blipFill>
        <p:spPr bwMode="auto">
          <a:xfrm>
            <a:off x="34925" y="476250"/>
            <a:ext cx="8964613" cy="493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24746A5B-42AD-2FD8-590D-D582CC2208DA}"/>
              </a:ext>
            </a:extLst>
          </p:cNvPr>
          <p:cNvSpPr txBox="1"/>
          <p:nvPr/>
        </p:nvSpPr>
        <p:spPr>
          <a:xfrm>
            <a:off x="1979712" y="5733256"/>
            <a:ext cx="3571812" cy="954107"/>
          </a:xfrm>
          <a:prstGeom prst="rect">
            <a:avLst/>
          </a:prstGeom>
          <a:noFill/>
        </p:spPr>
        <p:txBody>
          <a:bodyPr wrap="none" rtlCol="0">
            <a:spAutoFit/>
          </a:bodyPr>
          <a:lstStyle/>
          <a:p>
            <a:r>
              <a:rPr lang="en-US" altLang="zh-CN" sz="2800" b="1" dirty="0"/>
              <a:t>NAD        /       NADP</a:t>
            </a:r>
          </a:p>
          <a:p>
            <a:r>
              <a:rPr lang="zh-CN" altLang="en-US" sz="2800" b="1" dirty="0"/>
              <a:t>辅酶</a:t>
            </a:r>
            <a:r>
              <a:rPr lang="en-US" altLang="zh-CN" sz="2800" b="1" dirty="0"/>
              <a:t>I        /       </a:t>
            </a:r>
            <a:r>
              <a:rPr lang="zh-CN" altLang="en-US" sz="2800" b="1" dirty="0"/>
              <a:t>辅酶</a:t>
            </a:r>
            <a:r>
              <a:rPr lang="en-US" altLang="zh-CN" sz="2800" b="1" dirty="0"/>
              <a:t>II</a:t>
            </a:r>
            <a:endParaRPr lang="zh-CN" altLang="en-US" sz="2800"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未标题-1 拷贝">
            <a:extLst>
              <a:ext uri="{FF2B5EF4-FFF2-40B4-BE49-F238E27FC236}">
                <a16:creationId xmlns:a16="http://schemas.microsoft.com/office/drawing/2014/main" id="{A30922DE-AEB2-4426-995C-69C91EDEC7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916113"/>
            <a:ext cx="80264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49B7BA10-8109-4400-AD95-5F4613E1A31D}"/>
              </a:ext>
            </a:extLst>
          </p:cNvPr>
          <p:cNvPicPr>
            <a:picLocks noChangeAspect="1" noChangeArrowheads="1"/>
          </p:cNvPicPr>
          <p:nvPr/>
        </p:nvPicPr>
        <p:blipFill rotWithShape="1">
          <a:blip r:embed="rId4">
            <a:lum contrast="42000"/>
            <a:extLst>
              <a:ext uri="{28A0092B-C50C-407E-A947-70E740481C1C}">
                <a14:useLocalDpi xmlns:a14="http://schemas.microsoft.com/office/drawing/2010/main" val="0"/>
              </a:ext>
            </a:extLst>
          </a:blip>
          <a:srcRect l="24721" t="46695" r="13648" b="49611"/>
          <a:stretch/>
        </p:blipFill>
        <p:spPr bwMode="auto">
          <a:xfrm>
            <a:off x="1420032" y="5805264"/>
            <a:ext cx="6408712"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3C03BFA4-68B7-96C9-2AC5-D9A060683FAD}"/>
              </a:ext>
            </a:extLst>
          </p:cNvPr>
          <p:cNvSpPr txBox="1"/>
          <p:nvPr/>
        </p:nvSpPr>
        <p:spPr>
          <a:xfrm>
            <a:off x="985121" y="5805264"/>
            <a:ext cx="466794" cy="369332"/>
          </a:xfrm>
          <a:prstGeom prst="rect">
            <a:avLst/>
          </a:prstGeom>
          <a:noFill/>
        </p:spPr>
        <p:txBody>
          <a:bodyPr wrap="none" rtlCol="0">
            <a:spAutoFit/>
          </a:bodyPr>
          <a:lstStyle/>
          <a:p>
            <a:r>
              <a:rPr lang="en-US" altLang="zh-CN" dirty="0"/>
              <a:t>B5</a:t>
            </a:r>
            <a:endParaRPr lang="zh-CN" altLang="en-US" dirty="0"/>
          </a:p>
        </p:txBody>
      </p:sp>
      <p:sp>
        <p:nvSpPr>
          <p:cNvPr id="4" name="文本框 3">
            <a:extLst>
              <a:ext uri="{FF2B5EF4-FFF2-40B4-BE49-F238E27FC236}">
                <a16:creationId xmlns:a16="http://schemas.microsoft.com/office/drawing/2014/main" id="{A6A94501-2E91-573A-92E0-142ACAE353D6}"/>
              </a:ext>
            </a:extLst>
          </p:cNvPr>
          <p:cNvSpPr txBox="1"/>
          <p:nvPr/>
        </p:nvSpPr>
        <p:spPr>
          <a:xfrm>
            <a:off x="2051720" y="6174596"/>
            <a:ext cx="3694216" cy="523220"/>
          </a:xfrm>
          <a:prstGeom prst="rect">
            <a:avLst/>
          </a:prstGeom>
          <a:noFill/>
        </p:spPr>
        <p:txBody>
          <a:bodyPr wrap="none" rtlCol="0">
            <a:spAutoFit/>
          </a:bodyPr>
          <a:lstStyle/>
          <a:p>
            <a:r>
              <a:rPr lang="en-US" altLang="zh-CN" sz="2800" b="1" dirty="0"/>
              <a:t>Coenzyme A    </a:t>
            </a:r>
            <a:r>
              <a:rPr lang="zh-CN" altLang="en-US" sz="2800" b="1" dirty="0"/>
              <a:t>辅酶</a:t>
            </a:r>
            <a:r>
              <a:rPr lang="en-US" altLang="zh-CN" sz="2800" b="1" dirty="0"/>
              <a:t>A</a:t>
            </a:r>
            <a:endParaRPr lang="zh-CN" altLang="en-US" sz="2800"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a:extLst>
              <a:ext uri="{FF2B5EF4-FFF2-40B4-BE49-F238E27FC236}">
                <a16:creationId xmlns:a16="http://schemas.microsoft.com/office/drawing/2014/main" id="{8E43A0A7-40EB-4104-8873-4424E5DF67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139" t="14561" r="10139" b="18489"/>
          <a:stretch>
            <a:fillRect/>
          </a:stretch>
        </p:blipFill>
        <p:spPr bwMode="auto">
          <a:xfrm>
            <a:off x="684213" y="836613"/>
            <a:ext cx="7775575" cy="489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19" name="Picture 3">
            <a:extLst>
              <a:ext uri="{FF2B5EF4-FFF2-40B4-BE49-F238E27FC236}">
                <a16:creationId xmlns:a16="http://schemas.microsoft.com/office/drawing/2014/main" id="{FBFEEBFF-D64A-47C7-B51C-7AABC4A76A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7054" t="14561" r="11630" b="76584"/>
          <a:stretch>
            <a:fillRect/>
          </a:stretch>
        </p:blipFill>
        <p:spPr bwMode="auto">
          <a:xfrm>
            <a:off x="1763713" y="836613"/>
            <a:ext cx="39608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a:extLst>
              <a:ext uri="{FF2B5EF4-FFF2-40B4-BE49-F238E27FC236}">
                <a16:creationId xmlns:a16="http://schemas.microsoft.com/office/drawing/2014/main" id="{AD12756A-A84F-4DAA-BB45-F6CE51DBD6DD}"/>
              </a:ext>
            </a:extLst>
          </p:cNvPr>
          <p:cNvPicPr>
            <a:picLocks noChangeAspect="1" noChangeArrowheads="1"/>
          </p:cNvPicPr>
          <p:nvPr/>
        </p:nvPicPr>
        <p:blipFill rotWithShape="1">
          <a:blip r:embed="rId5">
            <a:lum contrast="42000"/>
            <a:extLst>
              <a:ext uri="{28A0092B-C50C-407E-A947-70E740481C1C}">
                <a14:useLocalDpi xmlns:a14="http://schemas.microsoft.com/office/drawing/2010/main" val="0"/>
              </a:ext>
            </a:extLst>
          </a:blip>
          <a:srcRect l="15927" t="53557" r="35599" b="41826"/>
          <a:stretch/>
        </p:blipFill>
        <p:spPr bwMode="auto">
          <a:xfrm>
            <a:off x="1907704" y="5365026"/>
            <a:ext cx="5040560"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A06FAAB6-11C7-437B-CDFC-58F611093D64}"/>
              </a:ext>
            </a:extLst>
          </p:cNvPr>
          <p:cNvSpPr txBox="1"/>
          <p:nvPr/>
        </p:nvSpPr>
        <p:spPr>
          <a:xfrm>
            <a:off x="5004048" y="4005064"/>
            <a:ext cx="620683" cy="369332"/>
          </a:xfrm>
          <a:prstGeom prst="rect">
            <a:avLst/>
          </a:prstGeom>
          <a:noFill/>
        </p:spPr>
        <p:txBody>
          <a:bodyPr wrap="none" rtlCol="0">
            <a:spAutoFit/>
          </a:bodyPr>
          <a:lstStyle/>
          <a:p>
            <a:r>
              <a:rPr lang="en-US" altLang="zh-CN" dirty="0"/>
              <a:t>PLP</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a:extLst>
              <a:ext uri="{FF2B5EF4-FFF2-40B4-BE49-F238E27FC236}">
                <a16:creationId xmlns:a16="http://schemas.microsoft.com/office/drawing/2014/main" id="{749F5D18-718B-4337-B228-BFDF730EC9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5650" t="11610" r="23405" b="16536"/>
          <a:stretch>
            <a:fillRect/>
          </a:stretch>
        </p:blipFill>
        <p:spPr bwMode="auto">
          <a:xfrm>
            <a:off x="2124075" y="836613"/>
            <a:ext cx="4968875"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a:extLst>
              <a:ext uri="{FF2B5EF4-FFF2-40B4-BE49-F238E27FC236}">
                <a16:creationId xmlns:a16="http://schemas.microsoft.com/office/drawing/2014/main" id="{5CD7FFFF-8A7B-4B9C-9B8B-B1E577CDB1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3422" t="15538" r="24153" b="14561"/>
          <a:stretch>
            <a:fillRect/>
          </a:stretch>
        </p:blipFill>
        <p:spPr bwMode="auto">
          <a:xfrm>
            <a:off x="1979613" y="908050"/>
            <a:ext cx="5113337" cy="511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8C1CF66A-A801-4F1B-A4D7-9CB9B4D4F546}"/>
              </a:ext>
            </a:extLst>
          </p:cNvPr>
          <p:cNvSpPr txBox="1"/>
          <p:nvPr/>
        </p:nvSpPr>
        <p:spPr>
          <a:xfrm>
            <a:off x="7199775" y="3573016"/>
            <a:ext cx="1296144" cy="646331"/>
          </a:xfrm>
          <a:prstGeom prst="rect">
            <a:avLst/>
          </a:prstGeom>
          <a:noFill/>
        </p:spPr>
        <p:txBody>
          <a:bodyPr wrap="square" rtlCol="0">
            <a:spAutoFit/>
          </a:bodyPr>
          <a:lstStyle/>
          <a:p>
            <a:r>
              <a:rPr lang="en-US" altLang="zh-CN" dirty="0"/>
              <a:t>Fe</a:t>
            </a:r>
            <a:r>
              <a:rPr lang="en-US" altLang="zh-CN" baseline="30000" dirty="0"/>
              <a:t>2+ </a:t>
            </a:r>
          </a:p>
          <a:p>
            <a:r>
              <a:rPr lang="en-US" altLang="zh-CN" dirty="0"/>
              <a:t>ferrous</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a:extLst>
              <a:ext uri="{FF2B5EF4-FFF2-40B4-BE49-F238E27FC236}">
                <a16:creationId xmlns:a16="http://schemas.microsoft.com/office/drawing/2014/main" id="{2ABC4F57-11B9-4973-9795-81C04BA77A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533400"/>
            <a:ext cx="7543800" cy="556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a:extLst>
              <a:ext uri="{FF2B5EF4-FFF2-40B4-BE49-F238E27FC236}">
                <a16:creationId xmlns:a16="http://schemas.microsoft.com/office/drawing/2014/main" id="{C8C93F54-9C0F-400F-AC26-4F6941F462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762000"/>
            <a:ext cx="8458200" cy="439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a:extLst>
              <a:ext uri="{FF2B5EF4-FFF2-40B4-BE49-F238E27FC236}">
                <a16:creationId xmlns:a16="http://schemas.microsoft.com/office/drawing/2014/main" id="{05844098-51BD-4C9C-9CE6-E9EA1121ADDE}"/>
              </a:ext>
            </a:extLst>
          </p:cNvPr>
          <p:cNvSpPr txBox="1">
            <a:spLocks noChangeArrowheads="1"/>
          </p:cNvSpPr>
          <p:nvPr/>
        </p:nvSpPr>
        <p:spPr bwMode="auto">
          <a:xfrm>
            <a:off x="457200" y="228600"/>
            <a:ext cx="8686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solidFill>
                  <a:srgbClr val="FF0066"/>
                </a:solidFill>
                <a:latin typeface="Times New Roman" panose="02020603050405020304" pitchFamily="18" charset="0"/>
              </a:rPr>
              <a:t>3. Enzymes are classified by the reactions they catalyze</a:t>
            </a:r>
          </a:p>
        </p:txBody>
      </p:sp>
      <p:sp>
        <p:nvSpPr>
          <p:cNvPr id="40963" name="Text Box 3">
            <a:extLst>
              <a:ext uri="{FF2B5EF4-FFF2-40B4-BE49-F238E27FC236}">
                <a16:creationId xmlns:a16="http://schemas.microsoft.com/office/drawing/2014/main" id="{B44C8997-E819-4317-800E-C8320201718D}"/>
              </a:ext>
            </a:extLst>
          </p:cNvPr>
          <p:cNvSpPr txBox="1">
            <a:spLocks noChangeArrowheads="1"/>
          </p:cNvSpPr>
          <p:nvPr/>
        </p:nvSpPr>
        <p:spPr bwMode="auto">
          <a:xfrm>
            <a:off x="609600" y="914400"/>
            <a:ext cx="7848600" cy="5729288"/>
          </a:xfrm>
          <a:prstGeom prst="rect">
            <a:avLst/>
          </a:prstGeom>
          <a:solidFill>
            <a:srgbClr val="FEFDD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30000"/>
              </a:spcBef>
            </a:pPr>
            <a:r>
              <a:rPr kumimoji="1" lang="en-US" altLang="zh-CN" sz="2800" b="1" dirty="0">
                <a:latin typeface="Times New Roman" panose="02020603050405020304" pitchFamily="18" charset="0"/>
              </a:rPr>
              <a:t>3.1 Trivial names are usually given to enzymes.</a:t>
            </a:r>
          </a:p>
          <a:p>
            <a:pPr eaLnBrk="1" hangingPunct="1">
              <a:lnSpc>
                <a:spcPct val="90000"/>
              </a:lnSpc>
              <a:spcBef>
                <a:spcPct val="30000"/>
              </a:spcBef>
            </a:pPr>
            <a:r>
              <a:rPr kumimoji="1" lang="en-US" altLang="zh-CN" sz="2800" b="1" dirty="0">
                <a:latin typeface="Times New Roman" panose="02020603050405020304" pitchFamily="18" charset="0"/>
              </a:rPr>
              <a:t>	3.1.1 Many enzymes have been named by </a:t>
            </a:r>
            <a:r>
              <a:rPr kumimoji="1" lang="en-US" altLang="zh-CN" sz="2800" b="1" dirty="0">
                <a:solidFill>
                  <a:srgbClr val="FF0000"/>
                </a:solidFill>
                <a:latin typeface="Times New Roman" panose="02020603050405020304" pitchFamily="18" charset="0"/>
              </a:rPr>
              <a:t>adding the suffix “-</a:t>
            </a:r>
            <a:r>
              <a:rPr kumimoji="1" lang="en-US" altLang="zh-CN" sz="2800" b="1" dirty="0" err="1">
                <a:solidFill>
                  <a:srgbClr val="FF0000"/>
                </a:solidFill>
                <a:latin typeface="Times New Roman" panose="02020603050405020304" pitchFamily="18" charset="0"/>
              </a:rPr>
              <a:t>ase</a:t>
            </a:r>
            <a:r>
              <a:rPr kumimoji="1" lang="en-US" altLang="zh-CN" sz="2800" b="1" dirty="0">
                <a:latin typeface="Times New Roman" panose="02020603050405020304" pitchFamily="18" charset="0"/>
              </a:rPr>
              <a:t>” to the name of their substrate or to a word or phrase describing their activity (type of reaction).</a:t>
            </a:r>
          </a:p>
          <a:p>
            <a:pPr eaLnBrk="1" hangingPunct="1">
              <a:lnSpc>
                <a:spcPct val="90000"/>
              </a:lnSpc>
              <a:spcBef>
                <a:spcPct val="30000"/>
              </a:spcBef>
            </a:pPr>
            <a:r>
              <a:rPr kumimoji="1" lang="en-US" altLang="zh-CN" sz="2800" b="1" dirty="0">
                <a:latin typeface="Times New Roman" panose="02020603050405020304" pitchFamily="18" charset="0"/>
              </a:rPr>
              <a:t>3.2 Enzymes are categorized into </a:t>
            </a:r>
            <a:r>
              <a:rPr kumimoji="1" lang="en-US" altLang="zh-CN" sz="2800" b="1" dirty="0">
                <a:solidFill>
                  <a:srgbClr val="FF0000"/>
                </a:solidFill>
                <a:latin typeface="Times New Roman" panose="02020603050405020304" pitchFamily="18" charset="0"/>
              </a:rPr>
              <a:t>six major classes </a:t>
            </a:r>
            <a:r>
              <a:rPr kumimoji="1" lang="en-US" altLang="zh-CN" sz="2800" b="1" dirty="0">
                <a:latin typeface="Times New Roman" panose="02020603050405020304" pitchFamily="18" charset="0"/>
              </a:rPr>
              <a:t>by international agreement.</a:t>
            </a:r>
          </a:p>
          <a:p>
            <a:pPr eaLnBrk="1" hangingPunct="1">
              <a:lnSpc>
                <a:spcPct val="90000"/>
              </a:lnSpc>
              <a:spcBef>
                <a:spcPct val="30000"/>
              </a:spcBef>
            </a:pPr>
            <a:r>
              <a:rPr kumimoji="1" lang="en-US" altLang="zh-CN" sz="2800" b="1" dirty="0">
                <a:latin typeface="Times New Roman" panose="02020603050405020304" pitchFamily="18" charset="0"/>
              </a:rPr>
              <a:t>	3.2.1 The six major classes include</a:t>
            </a:r>
          </a:p>
          <a:p>
            <a:pPr eaLnBrk="1" hangingPunct="1">
              <a:lnSpc>
                <a:spcPct val="90000"/>
              </a:lnSpc>
              <a:spcBef>
                <a:spcPct val="30000"/>
              </a:spcBef>
            </a:pPr>
            <a:r>
              <a:rPr kumimoji="1" lang="en-US" altLang="zh-CN" sz="2800" b="1" dirty="0">
                <a:latin typeface="Times New Roman" panose="02020603050405020304" pitchFamily="18" charset="0"/>
              </a:rPr>
              <a:t>		Oxidoreductases: catalyzing oxidation-reduction reactions.</a:t>
            </a:r>
          </a:p>
          <a:p>
            <a:pPr eaLnBrk="1" hangingPunct="1">
              <a:lnSpc>
                <a:spcPct val="90000"/>
              </a:lnSpc>
              <a:spcBef>
                <a:spcPct val="30000"/>
              </a:spcBef>
            </a:pPr>
            <a:r>
              <a:rPr kumimoji="1" lang="en-US" altLang="zh-CN" sz="2800" b="1" dirty="0">
                <a:latin typeface="Times New Roman" panose="02020603050405020304" pitchFamily="18" charset="0"/>
              </a:rPr>
              <a:t>		Transferases: catalyzing the transfer of a molecular group from one molecule to another.</a:t>
            </a:r>
            <a:endParaRPr kumimoji="1" lang="en-US" altLang="zh-CN" sz="2400" dirty="0">
              <a:latin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a:extLst>
              <a:ext uri="{FF2B5EF4-FFF2-40B4-BE49-F238E27FC236}">
                <a16:creationId xmlns:a16="http://schemas.microsoft.com/office/drawing/2014/main" id="{10F2E039-7022-4AEE-95D8-D858AEBE3107}"/>
              </a:ext>
            </a:extLst>
          </p:cNvPr>
          <p:cNvSpPr txBox="1">
            <a:spLocks noChangeArrowheads="1"/>
          </p:cNvSpPr>
          <p:nvPr/>
        </p:nvSpPr>
        <p:spPr bwMode="auto">
          <a:xfrm>
            <a:off x="611560" y="179249"/>
            <a:ext cx="7620000" cy="6678751"/>
          </a:xfrm>
          <a:prstGeom prst="rect">
            <a:avLst/>
          </a:prstGeom>
          <a:solidFill>
            <a:srgbClr val="FEFDD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rPr>
              <a:t>	</a:t>
            </a:r>
          </a:p>
          <a:p>
            <a:pPr eaLnBrk="1" hangingPunct="1">
              <a:spcBef>
                <a:spcPct val="50000"/>
              </a:spcBef>
            </a:pPr>
            <a:r>
              <a:rPr kumimoji="1" lang="en-US" altLang="zh-CN" sz="2800" b="1" dirty="0">
                <a:latin typeface="Times New Roman" panose="02020603050405020304" pitchFamily="18" charset="0"/>
              </a:rPr>
              <a:t>		Hydrolases: catalyzing the cleavage by the introduction of water.</a:t>
            </a:r>
          </a:p>
          <a:p>
            <a:pPr eaLnBrk="1" hangingPunct="1">
              <a:spcBef>
                <a:spcPct val="50000"/>
              </a:spcBef>
            </a:pPr>
            <a:r>
              <a:rPr kumimoji="1" lang="en-US" altLang="zh-CN" sz="2800" b="1" dirty="0">
                <a:latin typeface="Times New Roman" panose="02020603050405020304" pitchFamily="18" charset="0"/>
              </a:rPr>
              <a:t>		Lyases(</a:t>
            </a:r>
            <a:r>
              <a:rPr kumimoji="1" lang="en-US" altLang="zh-CN" sz="2800" b="1" dirty="0">
                <a:solidFill>
                  <a:srgbClr val="FF0000"/>
                </a:solidFill>
                <a:latin typeface="Times New Roman" panose="02020603050405020304" pitchFamily="18" charset="0"/>
              </a:rPr>
              <a:t>such as synthase, hydratase</a:t>
            </a:r>
            <a:r>
              <a:rPr kumimoji="1" lang="en-US" altLang="zh-CN" sz="2800" b="1" dirty="0">
                <a:latin typeface="Times New Roman" panose="02020603050405020304" pitchFamily="18" charset="0"/>
              </a:rPr>
              <a:t>): catalyzing reactions involving removal of a group to form a double bond or addition of groups to double bonds. </a:t>
            </a:r>
          </a:p>
          <a:p>
            <a:pPr eaLnBrk="1" hangingPunct="1">
              <a:spcBef>
                <a:spcPct val="50000"/>
              </a:spcBef>
            </a:pPr>
            <a:r>
              <a:rPr kumimoji="1" lang="en-US" altLang="zh-CN" sz="2800" b="1" dirty="0">
                <a:latin typeface="Times New Roman" panose="02020603050405020304" pitchFamily="18" charset="0"/>
              </a:rPr>
              <a:t>		Isomerases: catalyzing reactions involving intramolecular rearrangements.</a:t>
            </a:r>
          </a:p>
          <a:p>
            <a:pPr eaLnBrk="1" hangingPunct="1">
              <a:spcBef>
                <a:spcPct val="50000"/>
              </a:spcBef>
            </a:pPr>
            <a:r>
              <a:rPr kumimoji="1" lang="en-US" altLang="zh-CN" sz="2800" b="1" dirty="0">
                <a:latin typeface="Times New Roman" panose="02020603050405020304" pitchFamily="18" charset="0"/>
              </a:rPr>
              <a:t>		Ligases (</a:t>
            </a:r>
            <a:r>
              <a:rPr kumimoji="1" lang="en-US" altLang="zh-CN" sz="2800" b="1" dirty="0">
                <a:solidFill>
                  <a:srgbClr val="FF0000"/>
                </a:solidFill>
                <a:latin typeface="Times New Roman" panose="02020603050405020304" pitchFamily="18" charset="0"/>
              </a:rPr>
              <a:t>such as </a:t>
            </a:r>
            <a:r>
              <a:rPr kumimoji="1" lang="en-US" altLang="zh-CN" sz="2800" b="1" dirty="0">
                <a:latin typeface="Times New Roman" panose="02020603050405020304" pitchFamily="18" charset="0"/>
              </a:rPr>
              <a:t>synth</a:t>
            </a:r>
            <a:r>
              <a:rPr kumimoji="1" lang="en-US" altLang="zh-CN" sz="2800" b="1" dirty="0">
                <a:solidFill>
                  <a:srgbClr val="FF0000"/>
                </a:solidFill>
                <a:latin typeface="Times New Roman" panose="02020603050405020304" pitchFamily="18" charset="0"/>
              </a:rPr>
              <a:t>et</a:t>
            </a:r>
            <a:r>
              <a:rPr kumimoji="1" lang="en-US" altLang="zh-CN" sz="2800" b="1" dirty="0">
                <a:latin typeface="Times New Roman" panose="02020603050405020304" pitchFamily="18" charset="0"/>
              </a:rPr>
              <a:t>ases): catalyzing reactions joining together two molecules.</a:t>
            </a:r>
          </a:p>
          <a:p>
            <a:pPr eaLnBrk="1" hangingPunct="1">
              <a:spcBef>
                <a:spcPct val="50000"/>
              </a:spcBef>
            </a:pPr>
            <a:r>
              <a:rPr kumimoji="1" lang="en-US" altLang="zh-CN" sz="2400" dirty="0">
                <a:latin typeface="Times New Roman" panose="02020603050405020304" pitchFamily="18" charset="0"/>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a:extLst>
              <a:ext uri="{FF2B5EF4-FFF2-40B4-BE49-F238E27FC236}">
                <a16:creationId xmlns:a16="http://schemas.microsoft.com/office/drawing/2014/main" id="{7B5E8522-9FD1-47CF-80AE-E2319F1BF960}"/>
              </a:ext>
            </a:extLst>
          </p:cNvPr>
          <p:cNvSpPr txBox="1">
            <a:spLocks noChangeArrowheads="1"/>
          </p:cNvSpPr>
          <p:nvPr/>
        </p:nvSpPr>
        <p:spPr bwMode="auto">
          <a:xfrm>
            <a:off x="3132138" y="620713"/>
            <a:ext cx="30241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b="1"/>
              <a:t>3.2.1 </a:t>
            </a:r>
            <a:r>
              <a:rPr lang="zh-CN" altLang="en-US" sz="3200" b="1"/>
              <a:t>酶的分类</a:t>
            </a:r>
          </a:p>
        </p:txBody>
      </p:sp>
      <p:sp>
        <p:nvSpPr>
          <p:cNvPr id="44035" name="Rectangle 3">
            <a:extLst>
              <a:ext uri="{FF2B5EF4-FFF2-40B4-BE49-F238E27FC236}">
                <a16:creationId xmlns:a16="http://schemas.microsoft.com/office/drawing/2014/main" id="{2BDA7D65-C05F-45D7-8ACF-BA1D659229C9}"/>
              </a:ext>
            </a:extLst>
          </p:cNvPr>
          <p:cNvSpPr>
            <a:spLocks noGrp="1" noChangeArrowheads="1"/>
          </p:cNvSpPr>
          <p:nvPr>
            <p:ph type="body" sz="half" idx="1"/>
          </p:nvPr>
        </p:nvSpPr>
        <p:spPr>
          <a:xfrm>
            <a:off x="381000" y="1600200"/>
            <a:ext cx="7650163" cy="4525963"/>
          </a:xfrm>
        </p:spPr>
        <p:txBody>
          <a:bodyPr/>
          <a:lstStyle/>
          <a:p>
            <a:pPr eaLnBrk="1" hangingPunct="1">
              <a:lnSpc>
                <a:spcPct val="130000"/>
              </a:lnSpc>
            </a:pPr>
            <a:r>
              <a:rPr lang="en-US" altLang="zh-CN" sz="2800" b="1"/>
              <a:t>1. </a:t>
            </a:r>
            <a:r>
              <a:rPr lang="zh-CN" altLang="en-US" sz="2800" b="1"/>
              <a:t>氧化还原酶类  </a:t>
            </a:r>
            <a:r>
              <a:rPr lang="en-US" altLang="zh-CN" sz="2800" b="1"/>
              <a:t>AH</a:t>
            </a:r>
            <a:r>
              <a:rPr lang="en-US" altLang="zh-CN" sz="1800" b="1"/>
              <a:t>2</a:t>
            </a:r>
            <a:r>
              <a:rPr lang="en-US" altLang="zh-CN" sz="2800" b="1"/>
              <a:t> + B           A+BH</a:t>
            </a:r>
            <a:r>
              <a:rPr lang="en-US" altLang="zh-CN" sz="1800" b="1"/>
              <a:t>2</a:t>
            </a:r>
            <a:r>
              <a:rPr lang="en-US" altLang="zh-CN" sz="2800" b="1"/>
              <a:t>       </a:t>
            </a:r>
          </a:p>
          <a:p>
            <a:pPr eaLnBrk="1" hangingPunct="1">
              <a:lnSpc>
                <a:spcPct val="130000"/>
              </a:lnSpc>
            </a:pPr>
            <a:r>
              <a:rPr lang="en-US" altLang="zh-CN" sz="2800" b="1"/>
              <a:t>2. </a:t>
            </a:r>
            <a:r>
              <a:rPr lang="zh-CN" altLang="en-US" sz="2800" b="1"/>
              <a:t>转移酶类         </a:t>
            </a:r>
            <a:r>
              <a:rPr lang="en-US" altLang="zh-CN" sz="2800" b="1"/>
              <a:t>AR + B            A+BR </a:t>
            </a:r>
          </a:p>
          <a:p>
            <a:pPr eaLnBrk="1" hangingPunct="1">
              <a:lnSpc>
                <a:spcPct val="130000"/>
              </a:lnSpc>
            </a:pPr>
            <a:r>
              <a:rPr lang="en-US" altLang="zh-CN" sz="2800" b="1"/>
              <a:t>3. </a:t>
            </a:r>
            <a:r>
              <a:rPr lang="zh-CN" altLang="en-US" sz="2800" b="1"/>
              <a:t>水解酶类        </a:t>
            </a:r>
            <a:r>
              <a:rPr lang="en-US" altLang="zh-CN" sz="2800" b="1"/>
              <a:t>AB + H</a:t>
            </a:r>
            <a:r>
              <a:rPr lang="en-US" altLang="zh-CN" sz="1600" b="1"/>
              <a:t>2</a:t>
            </a:r>
            <a:r>
              <a:rPr lang="en-US" altLang="zh-CN" sz="2800" b="1"/>
              <a:t>O         AOH+BH </a:t>
            </a:r>
          </a:p>
          <a:p>
            <a:pPr eaLnBrk="1" hangingPunct="1">
              <a:lnSpc>
                <a:spcPct val="130000"/>
              </a:lnSpc>
            </a:pPr>
            <a:r>
              <a:rPr lang="en-US" altLang="zh-CN" sz="2800" b="1"/>
              <a:t>4. </a:t>
            </a:r>
            <a:r>
              <a:rPr lang="zh-CN" altLang="en-US" sz="2800" b="1"/>
              <a:t>裂合酶类        </a:t>
            </a:r>
            <a:r>
              <a:rPr lang="en-US" altLang="zh-CN" sz="2800" b="1"/>
              <a:t>AX— BY           A=B + X-Y </a:t>
            </a:r>
          </a:p>
          <a:p>
            <a:pPr eaLnBrk="1" hangingPunct="1">
              <a:lnSpc>
                <a:spcPct val="130000"/>
              </a:lnSpc>
            </a:pPr>
            <a:r>
              <a:rPr lang="en-US" altLang="zh-CN" sz="2800" b="1"/>
              <a:t>5. </a:t>
            </a:r>
            <a:r>
              <a:rPr lang="zh-CN" altLang="en-US" sz="2800" b="1"/>
              <a:t>异构酶类                     </a:t>
            </a:r>
            <a:r>
              <a:rPr lang="en-US" altLang="zh-CN" sz="2800" b="1"/>
              <a:t>A          B</a:t>
            </a:r>
          </a:p>
          <a:p>
            <a:pPr eaLnBrk="1" hangingPunct="1">
              <a:lnSpc>
                <a:spcPct val="130000"/>
              </a:lnSpc>
            </a:pPr>
            <a:r>
              <a:rPr lang="en-US" altLang="zh-CN" sz="2800" b="1"/>
              <a:t>6. </a:t>
            </a:r>
            <a:r>
              <a:rPr lang="zh-CN" altLang="en-US" sz="2800" b="1"/>
              <a:t>合成酶类  </a:t>
            </a:r>
            <a:r>
              <a:rPr lang="en-US" altLang="zh-CN" sz="2800" b="1"/>
              <a:t>A + B + ATP        AB + ADP +Pi</a:t>
            </a:r>
          </a:p>
        </p:txBody>
      </p:sp>
      <p:sp>
        <p:nvSpPr>
          <p:cNvPr id="44036" name="Rectangle 4">
            <a:extLst>
              <a:ext uri="{FF2B5EF4-FFF2-40B4-BE49-F238E27FC236}">
                <a16:creationId xmlns:a16="http://schemas.microsoft.com/office/drawing/2014/main" id="{52B6E14A-4AC5-4AE8-A6ED-1AF3BFB7580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37" name="Rectangle 5">
            <a:extLst>
              <a:ext uri="{FF2B5EF4-FFF2-40B4-BE49-F238E27FC236}">
                <a16:creationId xmlns:a16="http://schemas.microsoft.com/office/drawing/2014/main" id="{3FB2CF6D-1385-4956-B449-3B5E03F48B8A}"/>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44038" name="Group 6">
            <a:extLst>
              <a:ext uri="{FF2B5EF4-FFF2-40B4-BE49-F238E27FC236}">
                <a16:creationId xmlns:a16="http://schemas.microsoft.com/office/drawing/2014/main" id="{D4F4413D-64BD-4A36-9279-DD00E6D47C8E}"/>
              </a:ext>
            </a:extLst>
          </p:cNvPr>
          <p:cNvGrpSpPr>
            <a:grpSpLocks/>
          </p:cNvGrpSpPr>
          <p:nvPr/>
        </p:nvGrpSpPr>
        <p:grpSpPr bwMode="auto">
          <a:xfrm>
            <a:off x="4644008" y="1916832"/>
            <a:ext cx="609600" cy="71438"/>
            <a:chOff x="954" y="981"/>
            <a:chExt cx="384" cy="45"/>
          </a:xfrm>
        </p:grpSpPr>
        <p:sp>
          <p:nvSpPr>
            <p:cNvPr id="44054" name="Line 7">
              <a:extLst>
                <a:ext uri="{FF2B5EF4-FFF2-40B4-BE49-F238E27FC236}">
                  <a16:creationId xmlns:a16="http://schemas.microsoft.com/office/drawing/2014/main" id="{FAE8AEC7-26DE-4C2D-9B0B-CD6C55627BDF}"/>
                </a:ext>
              </a:extLst>
            </p:cNvPr>
            <p:cNvSpPr>
              <a:spLocks noChangeShapeType="1"/>
            </p:cNvSpPr>
            <p:nvPr/>
          </p:nvSpPr>
          <p:spPr bwMode="auto">
            <a:xfrm>
              <a:off x="975" y="981"/>
              <a:ext cx="363"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55" name="Line 8">
              <a:extLst>
                <a:ext uri="{FF2B5EF4-FFF2-40B4-BE49-F238E27FC236}">
                  <a16:creationId xmlns:a16="http://schemas.microsoft.com/office/drawing/2014/main" id="{3EFA1194-4C1A-48A6-AAD5-688BC4036F73}"/>
                </a:ext>
              </a:extLst>
            </p:cNvPr>
            <p:cNvSpPr>
              <a:spLocks noChangeShapeType="1"/>
            </p:cNvSpPr>
            <p:nvPr/>
          </p:nvSpPr>
          <p:spPr bwMode="auto">
            <a:xfrm flipH="1">
              <a:off x="954" y="1026"/>
              <a:ext cx="362"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4039" name="Group 9">
            <a:extLst>
              <a:ext uri="{FF2B5EF4-FFF2-40B4-BE49-F238E27FC236}">
                <a16:creationId xmlns:a16="http://schemas.microsoft.com/office/drawing/2014/main" id="{0654C6B9-8018-4FE7-87BF-366778407B02}"/>
              </a:ext>
            </a:extLst>
          </p:cNvPr>
          <p:cNvGrpSpPr>
            <a:grpSpLocks/>
          </p:cNvGrpSpPr>
          <p:nvPr/>
        </p:nvGrpSpPr>
        <p:grpSpPr bwMode="auto">
          <a:xfrm>
            <a:off x="4499992" y="2564904"/>
            <a:ext cx="609600" cy="71438"/>
            <a:chOff x="954" y="981"/>
            <a:chExt cx="384" cy="45"/>
          </a:xfrm>
        </p:grpSpPr>
        <p:sp>
          <p:nvSpPr>
            <p:cNvPr id="44052" name="Line 10">
              <a:extLst>
                <a:ext uri="{FF2B5EF4-FFF2-40B4-BE49-F238E27FC236}">
                  <a16:creationId xmlns:a16="http://schemas.microsoft.com/office/drawing/2014/main" id="{C8F38304-E3D2-4C6C-A87B-0E68CD57F4E9}"/>
                </a:ext>
              </a:extLst>
            </p:cNvPr>
            <p:cNvSpPr>
              <a:spLocks noChangeShapeType="1"/>
            </p:cNvSpPr>
            <p:nvPr/>
          </p:nvSpPr>
          <p:spPr bwMode="auto">
            <a:xfrm>
              <a:off x="975" y="981"/>
              <a:ext cx="363"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53" name="Line 11">
              <a:extLst>
                <a:ext uri="{FF2B5EF4-FFF2-40B4-BE49-F238E27FC236}">
                  <a16:creationId xmlns:a16="http://schemas.microsoft.com/office/drawing/2014/main" id="{EFCD0307-8BA2-4880-B995-D4BA0548C19B}"/>
                </a:ext>
              </a:extLst>
            </p:cNvPr>
            <p:cNvSpPr>
              <a:spLocks noChangeShapeType="1"/>
            </p:cNvSpPr>
            <p:nvPr/>
          </p:nvSpPr>
          <p:spPr bwMode="auto">
            <a:xfrm flipH="1">
              <a:off x="954" y="1026"/>
              <a:ext cx="362"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4040" name="Group 12">
            <a:extLst>
              <a:ext uri="{FF2B5EF4-FFF2-40B4-BE49-F238E27FC236}">
                <a16:creationId xmlns:a16="http://schemas.microsoft.com/office/drawing/2014/main" id="{42D87207-0CD8-4076-9284-1EB786280E4E}"/>
              </a:ext>
            </a:extLst>
          </p:cNvPr>
          <p:cNvGrpSpPr>
            <a:grpSpLocks/>
          </p:cNvGrpSpPr>
          <p:nvPr/>
        </p:nvGrpSpPr>
        <p:grpSpPr bwMode="auto">
          <a:xfrm>
            <a:off x="4644008" y="3212976"/>
            <a:ext cx="609600" cy="71437"/>
            <a:chOff x="954" y="981"/>
            <a:chExt cx="384" cy="45"/>
          </a:xfrm>
        </p:grpSpPr>
        <p:sp>
          <p:nvSpPr>
            <p:cNvPr id="44050" name="Line 13">
              <a:extLst>
                <a:ext uri="{FF2B5EF4-FFF2-40B4-BE49-F238E27FC236}">
                  <a16:creationId xmlns:a16="http://schemas.microsoft.com/office/drawing/2014/main" id="{DD40875E-8E53-46AA-8682-FC0E55A77AF3}"/>
                </a:ext>
              </a:extLst>
            </p:cNvPr>
            <p:cNvSpPr>
              <a:spLocks noChangeShapeType="1"/>
            </p:cNvSpPr>
            <p:nvPr/>
          </p:nvSpPr>
          <p:spPr bwMode="auto">
            <a:xfrm>
              <a:off x="975" y="981"/>
              <a:ext cx="363"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51" name="Line 14">
              <a:extLst>
                <a:ext uri="{FF2B5EF4-FFF2-40B4-BE49-F238E27FC236}">
                  <a16:creationId xmlns:a16="http://schemas.microsoft.com/office/drawing/2014/main" id="{759907F3-7AED-4534-8BC1-A41CC5C0A2B3}"/>
                </a:ext>
              </a:extLst>
            </p:cNvPr>
            <p:cNvSpPr>
              <a:spLocks noChangeShapeType="1"/>
            </p:cNvSpPr>
            <p:nvPr/>
          </p:nvSpPr>
          <p:spPr bwMode="auto">
            <a:xfrm flipH="1">
              <a:off x="954" y="1026"/>
              <a:ext cx="362"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4041" name="Group 15">
            <a:extLst>
              <a:ext uri="{FF2B5EF4-FFF2-40B4-BE49-F238E27FC236}">
                <a16:creationId xmlns:a16="http://schemas.microsoft.com/office/drawing/2014/main" id="{0C731381-7D40-44C2-9F6F-F6DC95D5125B}"/>
              </a:ext>
            </a:extLst>
          </p:cNvPr>
          <p:cNvGrpSpPr>
            <a:grpSpLocks/>
          </p:cNvGrpSpPr>
          <p:nvPr/>
        </p:nvGrpSpPr>
        <p:grpSpPr bwMode="auto">
          <a:xfrm>
            <a:off x="4644008" y="3861619"/>
            <a:ext cx="609600" cy="71437"/>
            <a:chOff x="954" y="981"/>
            <a:chExt cx="384" cy="45"/>
          </a:xfrm>
        </p:grpSpPr>
        <p:sp>
          <p:nvSpPr>
            <p:cNvPr id="44048" name="Line 16">
              <a:extLst>
                <a:ext uri="{FF2B5EF4-FFF2-40B4-BE49-F238E27FC236}">
                  <a16:creationId xmlns:a16="http://schemas.microsoft.com/office/drawing/2014/main" id="{567BF499-E70B-426C-868C-4C8D68359857}"/>
                </a:ext>
              </a:extLst>
            </p:cNvPr>
            <p:cNvSpPr>
              <a:spLocks noChangeShapeType="1"/>
            </p:cNvSpPr>
            <p:nvPr/>
          </p:nvSpPr>
          <p:spPr bwMode="auto">
            <a:xfrm>
              <a:off x="975" y="981"/>
              <a:ext cx="363"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49" name="Line 17">
              <a:extLst>
                <a:ext uri="{FF2B5EF4-FFF2-40B4-BE49-F238E27FC236}">
                  <a16:creationId xmlns:a16="http://schemas.microsoft.com/office/drawing/2014/main" id="{D4EBDA4F-9FB9-4733-A807-07C03D4725E8}"/>
                </a:ext>
              </a:extLst>
            </p:cNvPr>
            <p:cNvSpPr>
              <a:spLocks noChangeShapeType="1"/>
            </p:cNvSpPr>
            <p:nvPr/>
          </p:nvSpPr>
          <p:spPr bwMode="auto">
            <a:xfrm flipH="1">
              <a:off x="954" y="1026"/>
              <a:ext cx="362"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4042" name="Group 18">
            <a:extLst>
              <a:ext uri="{FF2B5EF4-FFF2-40B4-BE49-F238E27FC236}">
                <a16:creationId xmlns:a16="http://schemas.microsoft.com/office/drawing/2014/main" id="{44290B65-6DB6-46FC-B4F7-C029B1D8AC91}"/>
              </a:ext>
            </a:extLst>
          </p:cNvPr>
          <p:cNvGrpSpPr>
            <a:grpSpLocks/>
          </p:cNvGrpSpPr>
          <p:nvPr/>
        </p:nvGrpSpPr>
        <p:grpSpPr bwMode="auto">
          <a:xfrm>
            <a:off x="4644008" y="4437112"/>
            <a:ext cx="609600" cy="71437"/>
            <a:chOff x="954" y="981"/>
            <a:chExt cx="384" cy="45"/>
          </a:xfrm>
        </p:grpSpPr>
        <p:sp>
          <p:nvSpPr>
            <p:cNvPr id="44046" name="Line 19">
              <a:extLst>
                <a:ext uri="{FF2B5EF4-FFF2-40B4-BE49-F238E27FC236}">
                  <a16:creationId xmlns:a16="http://schemas.microsoft.com/office/drawing/2014/main" id="{7F956939-905E-4C3D-B788-842F3844393D}"/>
                </a:ext>
              </a:extLst>
            </p:cNvPr>
            <p:cNvSpPr>
              <a:spLocks noChangeShapeType="1"/>
            </p:cNvSpPr>
            <p:nvPr/>
          </p:nvSpPr>
          <p:spPr bwMode="auto">
            <a:xfrm>
              <a:off x="975" y="981"/>
              <a:ext cx="363"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47" name="Line 20">
              <a:extLst>
                <a:ext uri="{FF2B5EF4-FFF2-40B4-BE49-F238E27FC236}">
                  <a16:creationId xmlns:a16="http://schemas.microsoft.com/office/drawing/2014/main" id="{CD2295E1-4937-4979-B204-A66E83F9D478}"/>
                </a:ext>
              </a:extLst>
            </p:cNvPr>
            <p:cNvSpPr>
              <a:spLocks noChangeShapeType="1"/>
            </p:cNvSpPr>
            <p:nvPr/>
          </p:nvSpPr>
          <p:spPr bwMode="auto">
            <a:xfrm flipH="1">
              <a:off x="954" y="1026"/>
              <a:ext cx="362"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4043" name="Group 21">
            <a:extLst>
              <a:ext uri="{FF2B5EF4-FFF2-40B4-BE49-F238E27FC236}">
                <a16:creationId xmlns:a16="http://schemas.microsoft.com/office/drawing/2014/main" id="{7F28856C-CAE6-4E75-B4EF-7864339AC57C}"/>
              </a:ext>
            </a:extLst>
          </p:cNvPr>
          <p:cNvGrpSpPr>
            <a:grpSpLocks/>
          </p:cNvGrpSpPr>
          <p:nvPr/>
        </p:nvGrpSpPr>
        <p:grpSpPr bwMode="auto">
          <a:xfrm>
            <a:off x="4466456" y="5085184"/>
            <a:ext cx="609600" cy="71438"/>
            <a:chOff x="954" y="981"/>
            <a:chExt cx="384" cy="45"/>
          </a:xfrm>
        </p:grpSpPr>
        <p:sp>
          <p:nvSpPr>
            <p:cNvPr id="44044" name="Line 22">
              <a:extLst>
                <a:ext uri="{FF2B5EF4-FFF2-40B4-BE49-F238E27FC236}">
                  <a16:creationId xmlns:a16="http://schemas.microsoft.com/office/drawing/2014/main" id="{570BB081-FAE0-4EEE-A855-E1CD61B5BC4D}"/>
                </a:ext>
              </a:extLst>
            </p:cNvPr>
            <p:cNvSpPr>
              <a:spLocks noChangeShapeType="1"/>
            </p:cNvSpPr>
            <p:nvPr/>
          </p:nvSpPr>
          <p:spPr bwMode="auto">
            <a:xfrm>
              <a:off x="975" y="981"/>
              <a:ext cx="363"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45" name="Line 23">
              <a:extLst>
                <a:ext uri="{FF2B5EF4-FFF2-40B4-BE49-F238E27FC236}">
                  <a16:creationId xmlns:a16="http://schemas.microsoft.com/office/drawing/2014/main" id="{00500A0A-F1DB-4FAB-86ED-691DAAAA3CE6}"/>
                </a:ext>
              </a:extLst>
            </p:cNvPr>
            <p:cNvSpPr>
              <a:spLocks noChangeShapeType="1"/>
            </p:cNvSpPr>
            <p:nvPr/>
          </p:nvSpPr>
          <p:spPr bwMode="auto">
            <a:xfrm flipH="1">
              <a:off x="954" y="1026"/>
              <a:ext cx="362"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7869EF-54CF-9812-C5D0-DB6030147A67}"/>
              </a:ext>
            </a:extLst>
          </p:cNvPr>
          <p:cNvSpPr>
            <a:spLocks noGrp="1"/>
          </p:cNvSpPr>
          <p:nvPr>
            <p:ph type="title"/>
          </p:nvPr>
        </p:nvSpPr>
        <p:spPr/>
        <p:txBody>
          <a:bodyPr/>
          <a:lstStyle/>
          <a:p>
            <a:r>
              <a:rPr lang="zh-CN" altLang="en-US" dirty="0"/>
              <a:t>举例 </a:t>
            </a:r>
            <a:r>
              <a:rPr lang="en-US" altLang="zh-CN" dirty="0"/>
              <a:t>synthase</a:t>
            </a:r>
            <a:r>
              <a:rPr lang="zh-CN" altLang="en-US" dirty="0"/>
              <a:t>（</a:t>
            </a:r>
            <a:r>
              <a:rPr lang="en-US" altLang="zh-CN" dirty="0"/>
              <a:t>lyase</a:t>
            </a:r>
            <a:r>
              <a:rPr lang="zh-CN" altLang="en-US" dirty="0"/>
              <a:t>）</a:t>
            </a:r>
          </a:p>
        </p:txBody>
      </p:sp>
      <p:sp>
        <p:nvSpPr>
          <p:cNvPr id="3" name="文本占位符 2">
            <a:extLst>
              <a:ext uri="{FF2B5EF4-FFF2-40B4-BE49-F238E27FC236}">
                <a16:creationId xmlns:a16="http://schemas.microsoft.com/office/drawing/2014/main" id="{ACDF08AF-A4E6-31EB-20BB-3445823B840C}"/>
              </a:ext>
            </a:extLst>
          </p:cNvPr>
          <p:cNvSpPr>
            <a:spLocks noGrp="1"/>
          </p:cNvSpPr>
          <p:nvPr>
            <p:ph type="body" sz="half" idx="1"/>
          </p:nvPr>
        </p:nvSpPr>
        <p:spPr/>
        <p:txBody>
          <a:bodyPr/>
          <a:lstStyle/>
          <a:p>
            <a:endParaRPr lang="zh-CN" altLang="en-US"/>
          </a:p>
        </p:txBody>
      </p:sp>
      <p:sp>
        <p:nvSpPr>
          <p:cNvPr id="4" name="内容占位符 3">
            <a:extLst>
              <a:ext uri="{FF2B5EF4-FFF2-40B4-BE49-F238E27FC236}">
                <a16:creationId xmlns:a16="http://schemas.microsoft.com/office/drawing/2014/main" id="{05D73A12-77B0-FA2C-BB4E-E095BD06D2CD}"/>
              </a:ext>
            </a:extLst>
          </p:cNvPr>
          <p:cNvSpPr>
            <a:spLocks noGrp="1"/>
          </p:cNvSpPr>
          <p:nvPr>
            <p:ph sz="quarter" idx="2"/>
          </p:nvPr>
        </p:nvSpPr>
        <p:spPr/>
        <p:txBody>
          <a:bodyPr/>
          <a:lstStyle/>
          <a:p>
            <a:endParaRPr lang="zh-CN" altLang="en-US"/>
          </a:p>
        </p:txBody>
      </p:sp>
      <p:sp>
        <p:nvSpPr>
          <p:cNvPr id="5" name="内容占位符 4">
            <a:extLst>
              <a:ext uri="{FF2B5EF4-FFF2-40B4-BE49-F238E27FC236}">
                <a16:creationId xmlns:a16="http://schemas.microsoft.com/office/drawing/2014/main" id="{7D7FABB0-78A5-A67E-E528-CFFECDED9BD7}"/>
              </a:ext>
            </a:extLst>
          </p:cNvPr>
          <p:cNvSpPr>
            <a:spLocks noGrp="1"/>
          </p:cNvSpPr>
          <p:nvPr>
            <p:ph sz="quarter" idx="3"/>
          </p:nvPr>
        </p:nvSpPr>
        <p:spPr/>
        <p:txBody>
          <a:bodyPr/>
          <a:lstStyle/>
          <a:p>
            <a:endParaRPr lang="zh-CN" altLang="en-US"/>
          </a:p>
        </p:txBody>
      </p:sp>
      <p:pic>
        <p:nvPicPr>
          <p:cNvPr id="6" name="图片 5">
            <a:extLst>
              <a:ext uri="{FF2B5EF4-FFF2-40B4-BE49-F238E27FC236}">
                <a16:creationId xmlns:a16="http://schemas.microsoft.com/office/drawing/2014/main" id="{C82DD630-45E0-8403-465C-8389FBD04FF7}"/>
              </a:ext>
            </a:extLst>
          </p:cNvPr>
          <p:cNvPicPr>
            <a:picLocks noChangeAspect="1"/>
          </p:cNvPicPr>
          <p:nvPr/>
        </p:nvPicPr>
        <p:blipFill>
          <a:blip r:embed="rId2"/>
          <a:stretch>
            <a:fillRect/>
          </a:stretch>
        </p:blipFill>
        <p:spPr>
          <a:xfrm>
            <a:off x="1331640" y="1605688"/>
            <a:ext cx="6192688" cy="4644516"/>
          </a:xfrm>
          <a:prstGeom prst="rect">
            <a:avLst/>
          </a:prstGeom>
        </p:spPr>
      </p:pic>
    </p:spTree>
    <p:extLst>
      <p:ext uri="{BB962C8B-B14F-4D97-AF65-F5344CB8AC3E}">
        <p14:creationId xmlns:p14="http://schemas.microsoft.com/office/powerpoint/2010/main" val="14342857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1298" name="Picture 4">
            <a:extLst>
              <a:ext uri="{FF2B5EF4-FFF2-40B4-BE49-F238E27FC236}">
                <a16:creationId xmlns:a16="http://schemas.microsoft.com/office/drawing/2014/main" id="{40F9EC0C-4873-4FE6-B005-7692414FFF1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59967" t="14305" b="33629"/>
          <a:stretch>
            <a:fillRect/>
          </a:stretch>
        </p:blipFill>
        <p:spPr bwMode="auto">
          <a:xfrm>
            <a:off x="1619250" y="115888"/>
            <a:ext cx="4930775" cy="666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39B3991F-7B5A-8FD0-1703-7329F8E77C64}"/>
              </a:ext>
            </a:extLst>
          </p:cNvPr>
          <p:cNvSpPr txBox="1"/>
          <p:nvPr/>
        </p:nvSpPr>
        <p:spPr>
          <a:xfrm>
            <a:off x="6156176" y="908720"/>
            <a:ext cx="2300630" cy="369332"/>
          </a:xfrm>
          <a:prstGeom prst="rect">
            <a:avLst/>
          </a:prstGeom>
          <a:noFill/>
        </p:spPr>
        <p:txBody>
          <a:bodyPr wrap="none" rtlCol="0">
            <a:spAutoFit/>
          </a:bodyPr>
          <a:lstStyle/>
          <a:p>
            <a:r>
              <a:rPr lang="en-US" altLang="zh-CN" dirty="0"/>
              <a:t>Hydratase </a:t>
            </a:r>
            <a:r>
              <a:rPr lang="zh-CN" altLang="en-US" dirty="0"/>
              <a:t>（</a:t>
            </a:r>
            <a:r>
              <a:rPr lang="en-US" altLang="zh-CN" dirty="0"/>
              <a:t>lyase</a:t>
            </a:r>
            <a:r>
              <a:rPr lang="zh-CN" altLang="en-US" dirty="0"/>
              <a:t>）</a:t>
            </a:r>
          </a:p>
        </p:txBody>
      </p:sp>
    </p:spTree>
    <p:extLst>
      <p:ext uri="{BB962C8B-B14F-4D97-AF65-F5344CB8AC3E}">
        <p14:creationId xmlns:p14="http://schemas.microsoft.com/office/powerpoint/2010/main" val="7743985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a:extLst>
              <a:ext uri="{FF2B5EF4-FFF2-40B4-BE49-F238E27FC236}">
                <a16:creationId xmlns:a16="http://schemas.microsoft.com/office/drawing/2014/main" id="{50694EE0-BE01-4CF8-808E-8747AF1DABFB}"/>
              </a:ext>
            </a:extLst>
          </p:cNvPr>
          <p:cNvSpPr txBox="1">
            <a:spLocks noChangeArrowheads="1"/>
          </p:cNvSpPr>
          <p:nvPr/>
        </p:nvSpPr>
        <p:spPr bwMode="auto">
          <a:xfrm>
            <a:off x="36512" y="1539369"/>
            <a:ext cx="91440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en-US" altLang="zh-CN" sz="2800" dirty="0"/>
          </a:p>
          <a:p>
            <a:pPr eaLnBrk="1" hangingPunct="1">
              <a:spcBef>
                <a:spcPct val="50000"/>
              </a:spcBef>
            </a:pPr>
            <a:r>
              <a:rPr lang="en-US" altLang="zh-CN" sz="2800" dirty="0"/>
              <a:t>Amino acid + ATP + tRNA     aminoacyl-tRNA + AMP +</a:t>
            </a:r>
            <a:r>
              <a:rPr lang="en-US" altLang="zh-CN" sz="2800" dirty="0" err="1"/>
              <a:t>PPi</a:t>
            </a:r>
            <a:endParaRPr lang="en-US" altLang="zh-CN" sz="2800" dirty="0"/>
          </a:p>
        </p:txBody>
      </p:sp>
      <p:sp>
        <p:nvSpPr>
          <p:cNvPr id="45061" name="Line 5">
            <a:extLst>
              <a:ext uri="{FF2B5EF4-FFF2-40B4-BE49-F238E27FC236}">
                <a16:creationId xmlns:a16="http://schemas.microsoft.com/office/drawing/2014/main" id="{0C4100D0-420D-4C75-AC97-B3C4B87E9F62}"/>
              </a:ext>
            </a:extLst>
          </p:cNvPr>
          <p:cNvSpPr>
            <a:spLocks noChangeShapeType="1"/>
          </p:cNvSpPr>
          <p:nvPr/>
        </p:nvSpPr>
        <p:spPr bwMode="auto">
          <a:xfrm>
            <a:off x="3995936" y="2492896"/>
            <a:ext cx="457200" cy="0"/>
          </a:xfrm>
          <a:prstGeom prst="line">
            <a:avLst/>
          </a:prstGeom>
          <a:noFill/>
          <a:ln w="57150">
            <a:solidFill>
              <a:schemeClr val="tx2"/>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 name="文本框 1">
            <a:extLst>
              <a:ext uri="{FF2B5EF4-FFF2-40B4-BE49-F238E27FC236}">
                <a16:creationId xmlns:a16="http://schemas.microsoft.com/office/drawing/2014/main" id="{EB395574-6784-A872-53D5-54B1E883F228}"/>
              </a:ext>
            </a:extLst>
          </p:cNvPr>
          <p:cNvSpPr txBox="1"/>
          <p:nvPr/>
        </p:nvSpPr>
        <p:spPr>
          <a:xfrm>
            <a:off x="2943716" y="1700808"/>
            <a:ext cx="3018840" cy="369332"/>
          </a:xfrm>
          <a:prstGeom prst="rect">
            <a:avLst/>
          </a:prstGeom>
          <a:noFill/>
        </p:spPr>
        <p:txBody>
          <a:bodyPr wrap="none" rtlCol="0">
            <a:spAutoFit/>
          </a:bodyPr>
          <a:lstStyle/>
          <a:p>
            <a:r>
              <a:rPr lang="en-US" altLang="zh-CN" dirty="0"/>
              <a:t>aminoacyl-tRNA synthetase</a:t>
            </a:r>
            <a:endParaRPr lang="zh-CN" altLang="en-US" dirty="0"/>
          </a:p>
        </p:txBody>
      </p:sp>
    </p:spTree>
    <p:extLst>
      <p:ext uri="{BB962C8B-B14F-4D97-AF65-F5344CB8AC3E}">
        <p14:creationId xmlns:p14="http://schemas.microsoft.com/office/powerpoint/2010/main" val="23924453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a:extLst>
              <a:ext uri="{FF2B5EF4-FFF2-40B4-BE49-F238E27FC236}">
                <a16:creationId xmlns:a16="http://schemas.microsoft.com/office/drawing/2014/main" id="{4BF3520A-747E-4C2A-A0A1-C70603480A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400" y="496888"/>
            <a:ext cx="8509000" cy="559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a:extLst>
              <a:ext uri="{FF2B5EF4-FFF2-40B4-BE49-F238E27FC236}">
                <a16:creationId xmlns:a16="http://schemas.microsoft.com/office/drawing/2014/main" id="{D21A4C62-18C9-4643-BB64-0062D4E2A8FE}"/>
              </a:ext>
            </a:extLst>
          </p:cNvPr>
          <p:cNvSpPr txBox="1">
            <a:spLocks noChangeArrowheads="1"/>
          </p:cNvSpPr>
          <p:nvPr/>
        </p:nvSpPr>
        <p:spPr bwMode="auto">
          <a:xfrm>
            <a:off x="838200" y="533400"/>
            <a:ext cx="7543800" cy="5645150"/>
          </a:xfrm>
          <a:prstGeom prst="rect">
            <a:avLst/>
          </a:prstGeom>
          <a:solidFill>
            <a:srgbClr val="FEFDD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rPr>
              <a:t>3.3 Each enzyme is given a </a:t>
            </a:r>
            <a:r>
              <a:rPr kumimoji="1" lang="en-US" altLang="zh-CN" sz="2800" b="1" dirty="0">
                <a:solidFill>
                  <a:srgbClr val="FF0000"/>
                </a:solidFill>
                <a:latin typeface="Times New Roman" panose="02020603050405020304" pitchFamily="18" charset="0"/>
              </a:rPr>
              <a:t>systematic name </a:t>
            </a:r>
            <a:r>
              <a:rPr kumimoji="1" lang="en-US" altLang="zh-CN" sz="2800" b="1" dirty="0">
                <a:latin typeface="Times New Roman" panose="02020603050405020304" pitchFamily="18" charset="0"/>
              </a:rPr>
              <a:t>which identifies the reaction catalyzed (e.g., hexokinase is named as </a:t>
            </a:r>
            <a:r>
              <a:rPr kumimoji="1" lang="en-US" altLang="zh-CN" sz="2800" b="1" dirty="0" err="1">
                <a:solidFill>
                  <a:srgbClr val="FF0000"/>
                </a:solidFill>
                <a:latin typeface="Times New Roman" panose="02020603050405020304" pitchFamily="18" charset="0"/>
              </a:rPr>
              <a:t>ATP:glucose</a:t>
            </a:r>
            <a:r>
              <a:rPr kumimoji="1" lang="en-US" altLang="zh-CN" sz="2800" b="1" dirty="0">
                <a:solidFill>
                  <a:srgbClr val="FF0000"/>
                </a:solidFill>
                <a:latin typeface="Times New Roman" panose="02020603050405020304" pitchFamily="18" charset="0"/>
              </a:rPr>
              <a:t> phosphotransferase</a:t>
            </a:r>
            <a:r>
              <a:rPr kumimoji="1" lang="en-US" altLang="zh-CN" sz="2800" b="1" dirty="0">
                <a:latin typeface="Times New Roman" panose="02020603050405020304" pitchFamily="18" charset="0"/>
              </a:rPr>
              <a:t>).</a:t>
            </a:r>
          </a:p>
          <a:p>
            <a:pPr eaLnBrk="1" hangingPunct="1">
              <a:spcBef>
                <a:spcPct val="50000"/>
              </a:spcBef>
            </a:pPr>
            <a:r>
              <a:rPr kumimoji="1" lang="en-US" altLang="zh-CN" sz="2800" b="1" dirty="0">
                <a:latin typeface="Times New Roman" panose="02020603050405020304" pitchFamily="18" charset="0"/>
              </a:rPr>
              <a:t>3.4 Each enzyme is assigned a </a:t>
            </a:r>
            <a:r>
              <a:rPr kumimoji="1" lang="en-US" altLang="zh-CN" sz="2800" b="1" dirty="0">
                <a:solidFill>
                  <a:srgbClr val="FF0000"/>
                </a:solidFill>
                <a:latin typeface="Times New Roman" panose="02020603050405020304" pitchFamily="18" charset="0"/>
              </a:rPr>
              <a:t>four-digit number </a:t>
            </a:r>
            <a:r>
              <a:rPr kumimoji="1" lang="en-US" altLang="zh-CN" sz="2800" b="1" dirty="0">
                <a:latin typeface="Times New Roman" panose="02020603050405020304" pitchFamily="18" charset="0"/>
              </a:rPr>
              <a:t>with the first digit denoting the class it belongs, the other three further clarifications on the reaction catalyzed. </a:t>
            </a:r>
          </a:p>
          <a:p>
            <a:pPr eaLnBrk="1" hangingPunct="1">
              <a:spcBef>
                <a:spcPct val="50000"/>
              </a:spcBef>
            </a:pPr>
            <a:r>
              <a:rPr kumimoji="1" lang="en-US" altLang="zh-CN" sz="2800" b="1" dirty="0">
                <a:latin typeface="Times New Roman" panose="02020603050405020304" pitchFamily="18" charset="0"/>
              </a:rPr>
              <a:t>Each enzyme is then uniquely identified by a four-digit classification number. Thus trypsin has the Enzyme Commission (EC)number 3.4.21.4.  (e.g. </a:t>
            </a:r>
            <a:r>
              <a:rPr kumimoji="1" lang="en-US" altLang="zh-CN" sz="2800" b="1" dirty="0">
                <a:solidFill>
                  <a:srgbClr val="FF0066"/>
                </a:solidFill>
                <a:latin typeface="Times New Roman" panose="02020603050405020304" pitchFamily="18" charset="0"/>
              </a:rPr>
              <a:t>Trypsin, EC 3.4.21.4</a:t>
            </a:r>
            <a:r>
              <a:rPr kumimoji="1" lang="en-US" altLang="zh-CN" sz="2800" b="1" dirty="0">
                <a:solidFill>
                  <a:schemeClr val="tx2"/>
                </a:solidFill>
                <a:latin typeface="Times New Roman" panose="02020603050405020304" pitchFamily="18" charset="0"/>
              </a:rPr>
              <a:t>)</a:t>
            </a:r>
            <a:endParaRPr kumimoji="1" lang="en-US" altLang="zh-CN" sz="2400" dirty="0">
              <a:solidFill>
                <a:srgbClr val="FF0066"/>
              </a:solidFill>
              <a:latin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a:extLst>
              <a:ext uri="{FF2B5EF4-FFF2-40B4-BE49-F238E27FC236}">
                <a16:creationId xmlns:a16="http://schemas.microsoft.com/office/drawing/2014/main" id="{D455C29E-FCFF-4766-B94E-26EAE4C824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2205038"/>
            <a:ext cx="7451725"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3">
            <a:extLst>
              <a:ext uri="{FF2B5EF4-FFF2-40B4-BE49-F238E27FC236}">
                <a16:creationId xmlns:a16="http://schemas.microsoft.com/office/drawing/2014/main" id="{A140F440-F78D-4B41-A91A-ECC76ECEAD4E}"/>
              </a:ext>
            </a:extLst>
          </p:cNvPr>
          <p:cNvSpPr>
            <a:spLocks noChangeArrowheads="1"/>
          </p:cNvSpPr>
          <p:nvPr/>
        </p:nvSpPr>
        <p:spPr bwMode="auto">
          <a:xfrm>
            <a:off x="900113" y="3716338"/>
            <a:ext cx="6624637"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ahoma" panose="020B0604030504040204" pitchFamily="34" charset="0"/>
              </a:rPr>
              <a:t>A phosphate group is transferred from ATP to the C-6-OH group of glucose, so the enzyme is a </a:t>
            </a:r>
            <a:r>
              <a:rPr kumimoji="1" lang="en-US" altLang="zh-CN" sz="2400" i="1">
                <a:solidFill>
                  <a:srgbClr val="FF0066"/>
                </a:solidFill>
                <a:latin typeface="Tahoma" panose="020B0604030504040204" pitchFamily="34" charset="0"/>
              </a:rPr>
              <a:t>transferase.</a:t>
            </a:r>
          </a:p>
        </p:txBody>
      </p:sp>
      <p:sp>
        <p:nvSpPr>
          <p:cNvPr id="46084" name="Rectangle 4">
            <a:extLst>
              <a:ext uri="{FF2B5EF4-FFF2-40B4-BE49-F238E27FC236}">
                <a16:creationId xmlns:a16="http://schemas.microsoft.com/office/drawing/2014/main" id="{E9494871-CB41-4FA8-8A21-D7695A5AE59C}"/>
              </a:ext>
            </a:extLst>
          </p:cNvPr>
          <p:cNvSpPr>
            <a:spLocks noChangeArrowheads="1"/>
          </p:cNvSpPr>
          <p:nvPr/>
        </p:nvSpPr>
        <p:spPr bwMode="auto">
          <a:xfrm>
            <a:off x="827088" y="2852738"/>
            <a:ext cx="5649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latin typeface="Tahoma" panose="020B0604030504040204" pitchFamily="34" charset="0"/>
              </a:rPr>
              <a:t>ATP: D-glucose phosphotransferase</a:t>
            </a:r>
          </a:p>
        </p:txBody>
      </p:sp>
      <p:sp>
        <p:nvSpPr>
          <p:cNvPr id="46085" name="Rectangle 5">
            <a:extLst>
              <a:ext uri="{FF2B5EF4-FFF2-40B4-BE49-F238E27FC236}">
                <a16:creationId xmlns:a16="http://schemas.microsoft.com/office/drawing/2014/main" id="{1BAD5269-4CA6-4437-9DD8-EC1094889B81}"/>
              </a:ext>
            </a:extLst>
          </p:cNvPr>
          <p:cNvSpPr>
            <a:spLocks noChangeArrowheads="1"/>
          </p:cNvSpPr>
          <p:nvPr/>
        </p:nvSpPr>
        <p:spPr bwMode="auto">
          <a:xfrm>
            <a:off x="2555875" y="1773238"/>
            <a:ext cx="1747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ahoma" panose="020B0604030504040204" pitchFamily="34" charset="0"/>
              </a:rPr>
              <a:t>glucokinase</a:t>
            </a:r>
          </a:p>
        </p:txBody>
      </p:sp>
      <p:sp>
        <p:nvSpPr>
          <p:cNvPr id="46086" name="Rectangle 6">
            <a:extLst>
              <a:ext uri="{FF2B5EF4-FFF2-40B4-BE49-F238E27FC236}">
                <a16:creationId xmlns:a16="http://schemas.microsoft.com/office/drawing/2014/main" id="{0AF344DD-30D0-44D6-B630-FEAB410DD076}"/>
              </a:ext>
            </a:extLst>
          </p:cNvPr>
          <p:cNvSpPr>
            <a:spLocks noChangeArrowheads="1"/>
          </p:cNvSpPr>
          <p:nvPr/>
        </p:nvSpPr>
        <p:spPr bwMode="auto">
          <a:xfrm>
            <a:off x="2843213" y="5229225"/>
            <a:ext cx="1757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a:latin typeface="Tahoma" panose="020B0604030504040204" pitchFamily="34" charset="0"/>
              </a:rPr>
              <a:t>E.C.2.7.1.2,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a:extLst>
              <a:ext uri="{FF2B5EF4-FFF2-40B4-BE49-F238E27FC236}">
                <a16:creationId xmlns:a16="http://schemas.microsoft.com/office/drawing/2014/main" id="{39652F44-4EAD-42CC-893F-0209AC8FEC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325" y="323850"/>
            <a:ext cx="8378825" cy="621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a:extLst>
              <a:ext uri="{FF2B5EF4-FFF2-40B4-BE49-F238E27FC236}">
                <a16:creationId xmlns:a16="http://schemas.microsoft.com/office/drawing/2014/main" id="{7F27F0B9-8B9B-49E4-8F36-0CC8609D38DE}"/>
              </a:ext>
            </a:extLst>
          </p:cNvPr>
          <p:cNvCxnSpPr/>
          <p:nvPr/>
        </p:nvCxnSpPr>
        <p:spPr>
          <a:xfrm>
            <a:off x="2771800" y="6213866"/>
            <a:ext cx="3672408" cy="0"/>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5" name="直接连接符 4">
            <a:extLst>
              <a:ext uri="{FF2B5EF4-FFF2-40B4-BE49-F238E27FC236}">
                <a16:creationId xmlns:a16="http://schemas.microsoft.com/office/drawing/2014/main" id="{D74D4731-3D99-42C7-8D43-6510FED91B16}"/>
              </a:ext>
            </a:extLst>
          </p:cNvPr>
          <p:cNvCxnSpPr/>
          <p:nvPr/>
        </p:nvCxnSpPr>
        <p:spPr>
          <a:xfrm>
            <a:off x="2959369" y="6490175"/>
            <a:ext cx="3672408" cy="0"/>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2" name="直接连接符 1">
            <a:extLst>
              <a:ext uri="{FF2B5EF4-FFF2-40B4-BE49-F238E27FC236}">
                <a16:creationId xmlns:a16="http://schemas.microsoft.com/office/drawing/2014/main" id="{C6C0D51B-5F9C-C552-3E09-9BF8935C0341}"/>
              </a:ext>
            </a:extLst>
          </p:cNvPr>
          <p:cNvCxnSpPr/>
          <p:nvPr/>
        </p:nvCxnSpPr>
        <p:spPr>
          <a:xfrm>
            <a:off x="2924200" y="4038931"/>
            <a:ext cx="3672408" cy="0"/>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4" name="直接连接符 3">
            <a:extLst>
              <a:ext uri="{FF2B5EF4-FFF2-40B4-BE49-F238E27FC236}">
                <a16:creationId xmlns:a16="http://schemas.microsoft.com/office/drawing/2014/main" id="{FA7ED54D-F2DF-57ED-59BB-AAD5E02725E2}"/>
              </a:ext>
            </a:extLst>
          </p:cNvPr>
          <p:cNvCxnSpPr/>
          <p:nvPr/>
        </p:nvCxnSpPr>
        <p:spPr>
          <a:xfrm>
            <a:off x="2924200" y="4277533"/>
            <a:ext cx="3672408" cy="0"/>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6" name="直接连接符 5">
            <a:extLst>
              <a:ext uri="{FF2B5EF4-FFF2-40B4-BE49-F238E27FC236}">
                <a16:creationId xmlns:a16="http://schemas.microsoft.com/office/drawing/2014/main" id="{6C19DAC5-B2D7-367A-FD81-5E9BE48E1228}"/>
              </a:ext>
            </a:extLst>
          </p:cNvPr>
          <p:cNvCxnSpPr/>
          <p:nvPr/>
        </p:nvCxnSpPr>
        <p:spPr>
          <a:xfrm>
            <a:off x="2924200" y="4509120"/>
            <a:ext cx="3672408" cy="0"/>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7" name="直接连接符 6">
            <a:extLst>
              <a:ext uri="{FF2B5EF4-FFF2-40B4-BE49-F238E27FC236}">
                <a16:creationId xmlns:a16="http://schemas.microsoft.com/office/drawing/2014/main" id="{19D26C69-D5D2-890F-D6E4-6F3B2A5DB561}"/>
              </a:ext>
            </a:extLst>
          </p:cNvPr>
          <p:cNvCxnSpPr/>
          <p:nvPr/>
        </p:nvCxnSpPr>
        <p:spPr>
          <a:xfrm>
            <a:off x="2924200" y="5244763"/>
            <a:ext cx="3672408" cy="0"/>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8" name="直接连接符 7">
            <a:extLst>
              <a:ext uri="{FF2B5EF4-FFF2-40B4-BE49-F238E27FC236}">
                <a16:creationId xmlns:a16="http://schemas.microsoft.com/office/drawing/2014/main" id="{82D5810D-D50D-4480-9174-2CC581C1B32E}"/>
              </a:ext>
            </a:extLst>
          </p:cNvPr>
          <p:cNvCxnSpPr/>
          <p:nvPr/>
        </p:nvCxnSpPr>
        <p:spPr>
          <a:xfrm>
            <a:off x="2987824" y="5733256"/>
            <a:ext cx="3672408" cy="0"/>
          </a:xfrm>
          <a:prstGeom prst="line">
            <a:avLst/>
          </a:prstGeom>
          <a:ln/>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a:extLst>
              <a:ext uri="{FF2B5EF4-FFF2-40B4-BE49-F238E27FC236}">
                <a16:creationId xmlns:a16="http://schemas.microsoft.com/office/drawing/2014/main" id="{A8D73FFD-A1A3-420F-B3EF-A1A917C0FE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275" y="331788"/>
            <a:ext cx="8199438" cy="619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ext Box 2">
            <a:extLst>
              <a:ext uri="{FF2B5EF4-FFF2-40B4-BE49-F238E27FC236}">
                <a16:creationId xmlns:a16="http://schemas.microsoft.com/office/drawing/2014/main" id="{D0520BB5-FA90-4A98-A067-36F4E1C95DCA}"/>
              </a:ext>
            </a:extLst>
          </p:cNvPr>
          <p:cNvSpPr txBox="1">
            <a:spLocks noChangeArrowheads="1"/>
          </p:cNvSpPr>
          <p:nvPr/>
        </p:nvSpPr>
        <p:spPr bwMode="auto">
          <a:xfrm>
            <a:off x="304800" y="228600"/>
            <a:ext cx="7772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solidFill>
                  <a:srgbClr val="FF0066"/>
                </a:solidFill>
                <a:latin typeface="Times New Roman" panose="02020603050405020304" pitchFamily="18" charset="0"/>
              </a:rPr>
              <a:t>4. Enzymes, like all other catalysts, does not affect reaction equilibria, only accelerate reactions.</a:t>
            </a:r>
            <a:endParaRPr kumimoji="1" lang="en-US" altLang="zh-CN" sz="2400" dirty="0">
              <a:latin typeface="Times New Roman" panose="02020603050405020304" pitchFamily="18" charset="0"/>
            </a:endParaRPr>
          </a:p>
        </p:txBody>
      </p:sp>
      <p:sp>
        <p:nvSpPr>
          <p:cNvPr id="1028" name="Text Box 3">
            <a:extLst>
              <a:ext uri="{FF2B5EF4-FFF2-40B4-BE49-F238E27FC236}">
                <a16:creationId xmlns:a16="http://schemas.microsoft.com/office/drawing/2014/main" id="{4D98E61B-E909-4DD4-9910-B5CD620174D6}"/>
              </a:ext>
            </a:extLst>
          </p:cNvPr>
          <p:cNvSpPr txBox="1">
            <a:spLocks noChangeArrowheads="1"/>
          </p:cNvSpPr>
          <p:nvPr/>
        </p:nvSpPr>
        <p:spPr bwMode="auto">
          <a:xfrm>
            <a:off x="457200" y="1371600"/>
            <a:ext cx="8382000" cy="4401205"/>
          </a:xfrm>
          <a:prstGeom prst="rect">
            <a:avLst/>
          </a:prstGeom>
          <a:solidFill>
            <a:srgbClr val="FEFDD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rPr>
              <a:t>4.1 </a:t>
            </a:r>
            <a:r>
              <a:rPr kumimoji="1" lang="en-US" altLang="zh-CN" sz="2800" b="1" dirty="0">
                <a:solidFill>
                  <a:srgbClr val="FF0000"/>
                </a:solidFill>
                <a:latin typeface="Times New Roman" panose="02020603050405020304" pitchFamily="18" charset="0"/>
              </a:rPr>
              <a:t>Equilibrium constant </a:t>
            </a:r>
            <a:r>
              <a:rPr kumimoji="1" lang="en-US" altLang="zh-CN" sz="2800" b="1" dirty="0">
                <a:latin typeface="Times New Roman" panose="02020603050405020304" pitchFamily="18" charset="0"/>
              </a:rPr>
              <a:t>(</a:t>
            </a:r>
            <a:r>
              <a:rPr kumimoji="1" lang="en-US" altLang="zh-CN" sz="2800" b="1" dirty="0" err="1">
                <a:latin typeface="Times New Roman" panose="02020603050405020304" pitchFamily="18" charset="0"/>
              </a:rPr>
              <a:t>K</a:t>
            </a:r>
            <a:r>
              <a:rPr kumimoji="1" lang="en-US" altLang="zh-CN" sz="2800" b="1" baseline="-25000" dirty="0" err="1">
                <a:latin typeface="Times New Roman" panose="02020603050405020304" pitchFamily="18" charset="0"/>
              </a:rPr>
              <a:t>eq</a:t>
            </a:r>
            <a:r>
              <a:rPr kumimoji="1" lang="en-US" altLang="zh-CN" sz="2800" b="1" dirty="0">
                <a:latin typeface="Times New Roman" panose="02020603050405020304" pitchFamily="18" charset="0"/>
              </a:rPr>
              <a:t>’) of a reaction is related to the free energy difference between the ground states of the substrates and products (</a:t>
            </a:r>
            <a:r>
              <a:rPr kumimoji="1" lang="en-US" altLang="zh-CN" sz="2800" b="1" dirty="0">
                <a:latin typeface="Times New Roman" panose="02020603050405020304" pitchFamily="18" charset="0"/>
                <a:sym typeface="Symbol" panose="05050102010706020507" pitchFamily="18" charset="2"/>
              </a:rPr>
              <a:t></a:t>
            </a:r>
            <a:r>
              <a:rPr kumimoji="1" lang="en-US" altLang="zh-CN" sz="2800" b="1" dirty="0">
                <a:latin typeface="Times New Roman" panose="02020603050405020304" pitchFamily="18" charset="0"/>
              </a:rPr>
              <a:t>G</a:t>
            </a:r>
            <a:r>
              <a:rPr kumimoji="1" lang="en-US" altLang="zh-CN" sz="2800" b="1" baseline="30000" dirty="0">
                <a:latin typeface="Times New Roman" panose="02020603050405020304" pitchFamily="18" charset="0"/>
              </a:rPr>
              <a:t>o’</a:t>
            </a:r>
            <a:r>
              <a:rPr kumimoji="1" lang="en-US" altLang="zh-CN" sz="2800" b="1" dirty="0">
                <a:latin typeface="Times New Roman" panose="02020603050405020304" pitchFamily="18" charset="0"/>
              </a:rPr>
              <a:t>)</a:t>
            </a:r>
          </a:p>
          <a:p>
            <a:pPr eaLnBrk="1" hangingPunct="1">
              <a:spcBef>
                <a:spcPct val="50000"/>
              </a:spcBef>
            </a:pPr>
            <a:r>
              <a:rPr kumimoji="1" lang="en-US" altLang="zh-CN" sz="2800" b="1" dirty="0">
                <a:latin typeface="Times New Roman" panose="02020603050405020304" pitchFamily="18" charset="0"/>
              </a:rPr>
              <a:t>	  P                    S	 </a:t>
            </a:r>
          </a:p>
          <a:p>
            <a:pPr eaLnBrk="1" hangingPunct="1">
              <a:spcBef>
                <a:spcPct val="50000"/>
              </a:spcBef>
            </a:pPr>
            <a:r>
              <a:rPr kumimoji="1" lang="en-US" altLang="zh-CN" sz="2800" b="1" dirty="0">
                <a:latin typeface="Times New Roman" panose="02020603050405020304" pitchFamily="18" charset="0"/>
                <a:sym typeface="Symbol" panose="05050102010706020507" pitchFamily="18" charset="2"/>
              </a:rPr>
              <a:t>  </a:t>
            </a:r>
          </a:p>
          <a:p>
            <a:pPr eaLnBrk="1" hangingPunct="1">
              <a:spcBef>
                <a:spcPct val="50000"/>
              </a:spcBef>
            </a:pPr>
            <a:r>
              <a:rPr kumimoji="1" lang="en-US" altLang="zh-CN" sz="2800" b="1" dirty="0">
                <a:latin typeface="Times New Roman" panose="02020603050405020304" pitchFamily="18" charset="0"/>
                <a:sym typeface="Symbol" panose="05050102010706020507" pitchFamily="18" charset="2"/>
              </a:rPr>
              <a:t></a:t>
            </a:r>
            <a:r>
              <a:rPr kumimoji="1" lang="en-US" altLang="zh-CN" sz="2800" b="1" dirty="0">
                <a:latin typeface="Times New Roman" panose="02020603050405020304" pitchFamily="18" charset="0"/>
              </a:rPr>
              <a:t> G</a:t>
            </a:r>
            <a:r>
              <a:rPr kumimoji="1" lang="en-US" altLang="zh-CN" sz="2800" b="1" baseline="30000" dirty="0">
                <a:latin typeface="Times New Roman" panose="02020603050405020304" pitchFamily="18" charset="0"/>
              </a:rPr>
              <a:t>o’</a:t>
            </a:r>
            <a:r>
              <a:rPr kumimoji="1" lang="en-US" altLang="zh-CN" sz="2800" b="1" dirty="0">
                <a:latin typeface="Times New Roman" panose="02020603050405020304" pitchFamily="18" charset="0"/>
              </a:rPr>
              <a:t> = -</a:t>
            </a:r>
            <a:r>
              <a:rPr kumimoji="1" lang="en-US" altLang="zh-CN" sz="2800" b="1" dirty="0" err="1">
                <a:latin typeface="Times New Roman" panose="02020603050405020304" pitchFamily="18" charset="0"/>
              </a:rPr>
              <a:t>RTlnK</a:t>
            </a:r>
            <a:r>
              <a:rPr kumimoji="1" lang="en-US" altLang="zh-CN" sz="2800" b="1" baseline="-25000" dirty="0" err="1">
                <a:latin typeface="Times New Roman" panose="02020603050405020304" pitchFamily="18" charset="0"/>
              </a:rPr>
              <a:t>eq</a:t>
            </a:r>
            <a:r>
              <a:rPr kumimoji="1" lang="en-US" altLang="zh-CN" sz="2800" b="1" dirty="0">
                <a:latin typeface="Times New Roman" panose="02020603050405020304" pitchFamily="18" charset="0"/>
              </a:rPr>
              <a:t>’</a:t>
            </a:r>
          </a:p>
          <a:p>
            <a:pPr eaLnBrk="1" hangingPunct="1">
              <a:spcBef>
                <a:spcPct val="50000"/>
              </a:spcBef>
            </a:pPr>
            <a:r>
              <a:rPr kumimoji="1" lang="en-US" altLang="zh-CN" sz="2800" b="1" dirty="0">
                <a:latin typeface="Times New Roman" panose="02020603050405020304" pitchFamily="18" charset="0"/>
              </a:rPr>
              <a:t>	Enzyme catalysis does not affect </a:t>
            </a:r>
            <a:r>
              <a:rPr kumimoji="1" lang="en-US" altLang="zh-CN" sz="2800" b="1" dirty="0">
                <a:latin typeface="Times New Roman" panose="02020603050405020304" pitchFamily="18" charset="0"/>
                <a:sym typeface="Symbol" panose="05050102010706020507" pitchFamily="18" charset="2"/>
              </a:rPr>
              <a:t></a:t>
            </a:r>
            <a:r>
              <a:rPr kumimoji="1" lang="en-US" altLang="zh-CN" sz="2800" b="1" dirty="0">
                <a:latin typeface="Times New Roman" panose="02020603050405020304" pitchFamily="18" charset="0"/>
              </a:rPr>
              <a:t> G</a:t>
            </a:r>
            <a:r>
              <a:rPr kumimoji="1" lang="en-US" altLang="zh-CN" sz="2800" b="1" baseline="30000" dirty="0">
                <a:latin typeface="Times New Roman" panose="02020603050405020304" pitchFamily="18" charset="0"/>
              </a:rPr>
              <a:t>o’</a:t>
            </a:r>
            <a:r>
              <a:rPr kumimoji="1" lang="en-US" altLang="zh-CN" sz="2800" b="1" dirty="0">
                <a:latin typeface="Times New Roman" panose="02020603050405020304" pitchFamily="18" charset="0"/>
              </a:rPr>
              <a:t>, thus not </a:t>
            </a:r>
            <a:r>
              <a:rPr kumimoji="1" lang="en-US" altLang="zh-CN" sz="2800" b="1" dirty="0" err="1">
                <a:latin typeface="Times New Roman" panose="02020603050405020304" pitchFamily="18" charset="0"/>
              </a:rPr>
              <a:t>K</a:t>
            </a:r>
            <a:r>
              <a:rPr kumimoji="1" lang="en-US" altLang="zh-CN" sz="2800" b="1" baseline="-25000" dirty="0" err="1">
                <a:latin typeface="Times New Roman" panose="02020603050405020304" pitchFamily="18" charset="0"/>
              </a:rPr>
              <a:t>eq</a:t>
            </a:r>
            <a:r>
              <a:rPr kumimoji="1" lang="en-US" altLang="zh-CN" sz="2800" b="1" dirty="0">
                <a:latin typeface="Times New Roman" panose="02020603050405020304" pitchFamily="18" charset="0"/>
              </a:rPr>
              <a:t>’.        </a:t>
            </a:r>
          </a:p>
        </p:txBody>
      </p:sp>
      <p:graphicFrame>
        <p:nvGraphicFramePr>
          <p:cNvPr id="1026" name="Object 4">
            <a:extLst>
              <a:ext uri="{FF2B5EF4-FFF2-40B4-BE49-F238E27FC236}">
                <a16:creationId xmlns:a16="http://schemas.microsoft.com/office/drawing/2014/main" id="{076EB7E3-11A7-415B-AD3D-5A0D9CFC9B89}"/>
              </a:ext>
            </a:extLst>
          </p:cNvPr>
          <p:cNvGraphicFramePr>
            <a:graphicFrameLocks noChangeAspect="1"/>
          </p:cNvGraphicFramePr>
          <p:nvPr>
            <p:extLst>
              <p:ext uri="{D42A27DB-BD31-4B8C-83A1-F6EECF244321}">
                <p14:modId xmlns:p14="http://schemas.microsoft.com/office/powerpoint/2010/main" val="2662887020"/>
              </p:ext>
            </p:extLst>
          </p:nvPr>
        </p:nvGraphicFramePr>
        <p:xfrm>
          <a:off x="4648200" y="2748974"/>
          <a:ext cx="1524000" cy="1000125"/>
        </p:xfrm>
        <a:graphic>
          <a:graphicData uri="http://schemas.openxmlformats.org/presentationml/2006/ole">
            <mc:AlternateContent xmlns:mc="http://schemas.openxmlformats.org/markup-compatibility/2006">
              <mc:Choice xmlns:v="urn:schemas-microsoft-com:vml" Requires="v">
                <p:oleObj r:id="rId3" imgW="634725" imgH="418918" progId="Equation.DSMT4">
                  <p:embed/>
                </p:oleObj>
              </mc:Choice>
              <mc:Fallback>
                <p:oleObj r:id="rId3" imgW="634725" imgH="418918" progId="Equation.DSMT4">
                  <p:embed/>
                  <p:pic>
                    <p:nvPicPr>
                      <p:cNvPr id="1026" name="Object 4">
                        <a:extLst>
                          <a:ext uri="{FF2B5EF4-FFF2-40B4-BE49-F238E27FC236}">
                            <a16:creationId xmlns:a16="http://schemas.microsoft.com/office/drawing/2014/main" id="{076EB7E3-11A7-415B-AD3D-5A0D9CFC9B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2748974"/>
                        <a:ext cx="1524000" cy="1000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Picture 2">
            <a:extLst>
              <a:ext uri="{FF2B5EF4-FFF2-40B4-BE49-F238E27FC236}">
                <a16:creationId xmlns:a16="http://schemas.microsoft.com/office/drawing/2014/main" id="{6BD72EFF-F53A-859B-885D-6B638092589B}"/>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l="15011" t="6125" r="69737" b="88813"/>
          <a:stretch/>
        </p:blipFill>
        <p:spPr bwMode="auto">
          <a:xfrm>
            <a:off x="2267744" y="3068960"/>
            <a:ext cx="1224136" cy="216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a:extLst>
              <a:ext uri="{FF2B5EF4-FFF2-40B4-BE49-F238E27FC236}">
                <a16:creationId xmlns:a16="http://schemas.microsoft.com/office/drawing/2014/main" id="{A106D704-7CFF-4905-BF7D-A28BEF3FEEE1}"/>
              </a:ext>
            </a:extLst>
          </p:cNvPr>
          <p:cNvSpPr txBox="1">
            <a:spLocks noChangeArrowheads="1"/>
          </p:cNvSpPr>
          <p:nvPr/>
        </p:nvSpPr>
        <p:spPr bwMode="auto">
          <a:xfrm>
            <a:off x="152400" y="228600"/>
            <a:ext cx="87630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rPr>
              <a:t>4.2 The rate constant of a reaction (</a:t>
            </a:r>
            <a:r>
              <a:rPr kumimoji="1" lang="en-US" altLang="zh-CN" sz="2800" b="1" i="1" dirty="0">
                <a:latin typeface="Times New Roman" panose="02020603050405020304" pitchFamily="18" charset="0"/>
              </a:rPr>
              <a:t>k</a:t>
            </a:r>
            <a:r>
              <a:rPr kumimoji="1" lang="en-US" altLang="zh-CN" sz="2800" b="1" dirty="0">
                <a:latin typeface="Times New Roman" panose="02020603050405020304" pitchFamily="18" charset="0"/>
              </a:rPr>
              <a:t>) is related to the </a:t>
            </a:r>
            <a:r>
              <a:rPr kumimoji="1" lang="en-US" altLang="zh-CN" sz="2800" b="1" dirty="0">
                <a:solidFill>
                  <a:srgbClr val="FF0000"/>
                </a:solidFill>
                <a:latin typeface="Times New Roman" panose="02020603050405020304" pitchFamily="18" charset="0"/>
              </a:rPr>
              <a:t>free energy difference between the transition state and the ground state</a:t>
            </a:r>
            <a:r>
              <a:rPr kumimoji="1" lang="en-US" altLang="zh-CN" sz="2800" b="1" dirty="0">
                <a:latin typeface="Times New Roman" panose="02020603050405020304" pitchFamily="18" charset="0"/>
              </a:rPr>
              <a:t> of the substrate (</a:t>
            </a:r>
            <a:r>
              <a:rPr kumimoji="1" lang="en-US" altLang="zh-CN" sz="2800" b="1" dirty="0">
                <a:latin typeface="Times New Roman" panose="02020603050405020304" pitchFamily="18" charset="0"/>
                <a:sym typeface="Symbol" panose="05050102010706020507" pitchFamily="18" charset="2"/>
              </a:rPr>
              <a:t></a:t>
            </a:r>
            <a:r>
              <a:rPr kumimoji="1" lang="en-US" altLang="zh-CN" sz="2800" b="1" dirty="0">
                <a:latin typeface="Times New Roman" panose="02020603050405020304" pitchFamily="18" charset="0"/>
              </a:rPr>
              <a:t>G</a:t>
            </a:r>
            <a:r>
              <a:rPr kumimoji="1" lang="en-US" altLang="zh-CN" sz="2800" b="1" baseline="30000" dirty="0">
                <a:latin typeface="Times New Roman" panose="02020603050405020304" pitchFamily="18" charset="0"/>
              </a:rPr>
              <a:t>‡</a:t>
            </a:r>
            <a:r>
              <a:rPr kumimoji="1" lang="en-US" altLang="zh-CN" sz="2800" b="1" dirty="0">
                <a:latin typeface="Times New Roman" panose="02020603050405020304" pitchFamily="18" charset="0"/>
              </a:rPr>
              <a:t>)	</a:t>
            </a:r>
            <a:endParaRPr kumimoji="1" lang="en-US" altLang="zh-CN" sz="2400" dirty="0">
              <a:latin typeface="Times New Roman" panose="02020603050405020304" pitchFamily="18" charset="0"/>
            </a:endParaRPr>
          </a:p>
        </p:txBody>
      </p:sp>
      <p:pic>
        <p:nvPicPr>
          <p:cNvPr id="49155" name="Picture 3">
            <a:extLst>
              <a:ext uri="{FF2B5EF4-FFF2-40B4-BE49-F238E27FC236}">
                <a16:creationId xmlns:a16="http://schemas.microsoft.com/office/drawing/2014/main" id="{CF0C074A-C111-407C-9B50-012FC47581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54175"/>
            <a:ext cx="7391400"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3F1BE11F-7CC4-7A45-F789-414773DFEA59}"/>
              </a:ext>
            </a:extLst>
          </p:cNvPr>
          <p:cNvSpPr txBox="1"/>
          <p:nvPr/>
        </p:nvSpPr>
        <p:spPr>
          <a:xfrm>
            <a:off x="2915816" y="3059668"/>
            <a:ext cx="2069976" cy="369332"/>
          </a:xfrm>
          <a:prstGeom prst="rect">
            <a:avLst/>
          </a:prstGeom>
          <a:noFill/>
        </p:spPr>
        <p:txBody>
          <a:bodyPr wrap="square">
            <a:spAutoFit/>
          </a:bodyPr>
          <a:lstStyle/>
          <a:p>
            <a:r>
              <a:rPr kumimoji="1" lang="en-US" altLang="zh-CN" sz="1800" b="1" dirty="0">
                <a:solidFill>
                  <a:srgbClr val="FF0066"/>
                </a:solidFill>
                <a:latin typeface="Times New Roman" panose="02020603050405020304" pitchFamily="18" charset="0"/>
              </a:rPr>
              <a:t>activation energy</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a:extLst>
              <a:ext uri="{FF2B5EF4-FFF2-40B4-BE49-F238E27FC236}">
                <a16:creationId xmlns:a16="http://schemas.microsoft.com/office/drawing/2014/main" id="{C28F8FAF-EF1F-4365-BB8B-606698D0D096}"/>
              </a:ext>
            </a:extLst>
          </p:cNvPr>
          <p:cNvSpPr txBox="1">
            <a:spLocks noChangeArrowheads="1"/>
          </p:cNvSpPr>
          <p:nvPr/>
        </p:nvSpPr>
        <p:spPr bwMode="auto">
          <a:xfrm>
            <a:off x="762000" y="457200"/>
            <a:ext cx="8305800" cy="4278094"/>
          </a:xfrm>
          <a:prstGeom prst="rect">
            <a:avLst/>
          </a:prstGeom>
          <a:solidFill>
            <a:srgbClr val="FEFDD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dirty="0">
                <a:latin typeface="Times New Roman" panose="02020603050405020304" pitchFamily="18" charset="0"/>
              </a:rPr>
              <a:t>For a biochemical reaction to proceed, the </a:t>
            </a:r>
            <a:r>
              <a:rPr kumimoji="1" lang="en-US" altLang="zh-CN" sz="3200" b="1" dirty="0">
                <a:solidFill>
                  <a:srgbClr val="FF0000"/>
                </a:solidFill>
                <a:latin typeface="Times New Roman" panose="02020603050405020304" pitchFamily="18" charset="0"/>
              </a:rPr>
              <a:t>energy barrier </a:t>
            </a:r>
            <a:r>
              <a:rPr kumimoji="1" lang="en-US" altLang="zh-CN" sz="3200" b="1" dirty="0">
                <a:latin typeface="Times New Roman" panose="02020603050405020304" pitchFamily="18" charset="0"/>
              </a:rPr>
              <a:t>needed to transform the substrate molecules into the transition state has to be overcome. The difference in free energy between the substrate and the transition state is termed the Gibbs free energy of activation (</a:t>
            </a:r>
            <a:r>
              <a:rPr kumimoji="1" lang="en-US" altLang="zh-CN" sz="2800" b="1" dirty="0">
                <a:latin typeface="Times New Roman" panose="02020603050405020304" pitchFamily="18" charset="0"/>
                <a:sym typeface="Symbol" panose="05050102010706020507" pitchFamily="18" charset="2"/>
              </a:rPr>
              <a:t></a:t>
            </a:r>
            <a:r>
              <a:rPr kumimoji="1" lang="en-US" altLang="zh-CN" sz="2800" b="1" dirty="0">
                <a:latin typeface="Times New Roman" panose="02020603050405020304" pitchFamily="18" charset="0"/>
              </a:rPr>
              <a:t>G</a:t>
            </a:r>
            <a:r>
              <a:rPr kumimoji="1" lang="en-US" altLang="zh-CN" sz="2800" b="1" baseline="30000" dirty="0">
                <a:latin typeface="Times New Roman" panose="02020603050405020304" pitchFamily="18" charset="0"/>
              </a:rPr>
              <a:t>‡</a:t>
            </a:r>
            <a:r>
              <a:rPr kumimoji="1" lang="en-US" altLang="zh-CN" sz="3200" b="1" dirty="0">
                <a:latin typeface="Times New Roman" panose="02020603050405020304" pitchFamily="18" charset="0"/>
              </a:rPr>
              <a:t> )</a:t>
            </a:r>
          </a:p>
          <a:p>
            <a:pPr eaLnBrk="1" hangingPunct="1">
              <a:spcBef>
                <a:spcPct val="50000"/>
              </a:spcBef>
            </a:pPr>
            <a:r>
              <a:rPr kumimoji="1" lang="en-US" altLang="zh-CN" sz="3200" b="1" dirty="0">
                <a:latin typeface="Times New Roman" panose="02020603050405020304" pitchFamily="18" charset="0"/>
              </a:rPr>
              <a:t> </a:t>
            </a:r>
            <a:r>
              <a:rPr kumimoji="1" lang="en-US" altLang="zh-CN" sz="2800" b="1" dirty="0">
                <a:latin typeface="Times New Roman" panose="02020603050405020304" pitchFamily="18" charset="0"/>
                <a:sym typeface="Symbol" panose="05050102010706020507" pitchFamily="18" charset="2"/>
              </a:rPr>
              <a:t></a:t>
            </a:r>
            <a:r>
              <a:rPr kumimoji="1" lang="en-US" altLang="zh-CN" sz="2800" b="1" dirty="0">
                <a:latin typeface="Times New Roman" panose="02020603050405020304" pitchFamily="18" charset="0"/>
              </a:rPr>
              <a:t>G</a:t>
            </a:r>
            <a:r>
              <a:rPr kumimoji="1" lang="en-US" altLang="zh-CN" sz="2800" b="1" baseline="30000" dirty="0">
                <a:latin typeface="Times New Roman" panose="02020603050405020304" pitchFamily="18" charset="0"/>
              </a:rPr>
              <a:t>‡-------  </a:t>
            </a:r>
            <a:r>
              <a:rPr kumimoji="1" lang="en-US" altLang="zh-CN" sz="3200" b="1" dirty="0">
                <a:solidFill>
                  <a:srgbClr val="FF0066"/>
                </a:solidFill>
                <a:latin typeface="Times New Roman" panose="02020603050405020304" pitchFamily="18" charset="0"/>
              </a:rPr>
              <a:t>activation energy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a:extLst>
              <a:ext uri="{FF2B5EF4-FFF2-40B4-BE49-F238E27FC236}">
                <a16:creationId xmlns:a16="http://schemas.microsoft.com/office/drawing/2014/main" id="{84DB8749-F9AD-4100-A003-857D6C4778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0" y="711200"/>
            <a:ext cx="78740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a:extLst>
              <a:ext uri="{FF2B5EF4-FFF2-40B4-BE49-F238E27FC236}">
                <a16:creationId xmlns:a16="http://schemas.microsoft.com/office/drawing/2014/main" id="{5E96CC7E-022A-4250-841F-7214587F2228}"/>
              </a:ext>
            </a:extLst>
          </p:cNvPr>
          <p:cNvSpPr txBox="1">
            <a:spLocks noChangeArrowheads="1"/>
          </p:cNvSpPr>
          <p:nvPr/>
        </p:nvSpPr>
        <p:spPr bwMode="auto">
          <a:xfrm>
            <a:off x="685800" y="533400"/>
            <a:ext cx="7924800" cy="5338763"/>
          </a:xfrm>
          <a:prstGeom prst="rect">
            <a:avLst/>
          </a:prstGeom>
          <a:solidFill>
            <a:srgbClr val="FEFDD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rPr>
              <a:t>          4.2.1 Transition state is a fleeting molecular moment (not a chemical species with any significant stability) that has the highest free energy during a reaction.</a:t>
            </a:r>
          </a:p>
          <a:p>
            <a:pPr eaLnBrk="1" hangingPunct="1">
              <a:spcBef>
                <a:spcPct val="50000"/>
              </a:spcBef>
            </a:pPr>
            <a:r>
              <a:rPr kumimoji="1" lang="en-US" altLang="zh-CN" sz="2800" b="1" dirty="0">
                <a:latin typeface="Times New Roman" panose="02020603050405020304" pitchFamily="18" charset="0"/>
              </a:rPr>
              <a:t>	4.2.2 </a:t>
            </a:r>
            <a:r>
              <a:rPr kumimoji="1" lang="en-US" altLang="zh-CN" sz="2800" b="1" dirty="0">
                <a:solidFill>
                  <a:srgbClr val="FF0000"/>
                </a:solidFill>
                <a:latin typeface="Times New Roman" panose="02020603050405020304" pitchFamily="18" charset="0"/>
              </a:rPr>
              <a:t>An enzyme increases the rate constant of a reaction (k) by lowering its </a:t>
            </a:r>
            <a:r>
              <a:rPr kumimoji="1" lang="en-US" altLang="zh-CN" sz="2800" b="1" dirty="0">
                <a:solidFill>
                  <a:srgbClr val="FF0000"/>
                </a:solidFill>
                <a:latin typeface="Times New Roman" panose="02020603050405020304" pitchFamily="18" charset="0"/>
                <a:sym typeface="Symbol" panose="05050102010706020507" pitchFamily="18" charset="2"/>
              </a:rPr>
              <a:t></a:t>
            </a:r>
            <a:r>
              <a:rPr kumimoji="1" lang="en-US" altLang="zh-CN" sz="2800" b="1" dirty="0">
                <a:solidFill>
                  <a:srgbClr val="FF0000"/>
                </a:solidFill>
                <a:latin typeface="Times New Roman" panose="02020603050405020304" pitchFamily="18" charset="0"/>
              </a:rPr>
              <a:t>G</a:t>
            </a:r>
            <a:r>
              <a:rPr kumimoji="1" lang="en-US" altLang="zh-CN" sz="2800" b="1" baseline="30000" dirty="0">
                <a:solidFill>
                  <a:srgbClr val="FF0000"/>
                </a:solidFill>
                <a:latin typeface="Times New Roman" panose="02020603050405020304" pitchFamily="18" charset="0"/>
              </a:rPr>
              <a:t>‡</a:t>
            </a:r>
            <a:r>
              <a:rPr kumimoji="1" lang="en-US" altLang="zh-CN" sz="2800" b="1" dirty="0">
                <a:solidFill>
                  <a:srgbClr val="FF0000"/>
                </a:solidFill>
                <a:latin typeface="Times New Roman" panose="02020603050405020304" pitchFamily="18" charset="0"/>
              </a:rPr>
              <a:t>.</a:t>
            </a:r>
          </a:p>
          <a:p>
            <a:pPr eaLnBrk="1" hangingPunct="1">
              <a:spcBef>
                <a:spcPct val="50000"/>
              </a:spcBef>
            </a:pPr>
            <a:r>
              <a:rPr kumimoji="1" lang="en-US" altLang="zh-CN" sz="2800" b="1" dirty="0">
                <a:latin typeface="Times New Roman" panose="02020603050405020304" pitchFamily="18" charset="0"/>
              </a:rPr>
              <a:t>	4.2.3 </a:t>
            </a:r>
            <a:r>
              <a:rPr kumimoji="1" lang="en-US" altLang="zh-CN" sz="2800" b="1" dirty="0">
                <a:solidFill>
                  <a:srgbClr val="FF0000"/>
                </a:solidFill>
                <a:latin typeface="Times New Roman" panose="02020603050405020304" pitchFamily="18" charset="0"/>
              </a:rPr>
              <a:t>The combination of a substrate and an enzyme creates a new reaction pathway whose transition state energy is lower than that of the reaction in the absence of enzyme.</a:t>
            </a:r>
            <a:endParaRPr kumimoji="1" lang="en-US" altLang="zh-CN" sz="2400" dirty="0">
              <a:solidFill>
                <a:srgbClr val="FF0000"/>
              </a:solidFill>
              <a:latin typeface="Times New Roman" panose="02020603050405020304" pitchFamily="18" charset="0"/>
            </a:endParaRPr>
          </a:p>
          <a:p>
            <a:pPr eaLnBrk="1" hangingPunct="1">
              <a:spcBef>
                <a:spcPct val="50000"/>
              </a:spcBef>
            </a:pPr>
            <a:endParaRPr kumimoji="1" lang="en-US" altLang="zh-CN" sz="2400" dirty="0">
              <a:latin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id="{3A0F14BA-227D-46C5-AF63-B04BFB7FDC1F}"/>
              </a:ext>
            </a:extLst>
          </p:cNvPr>
          <p:cNvSpPr txBox="1">
            <a:spLocks noChangeArrowheads="1"/>
          </p:cNvSpPr>
          <p:nvPr/>
        </p:nvSpPr>
        <p:spPr bwMode="auto">
          <a:xfrm>
            <a:off x="228600" y="425450"/>
            <a:ext cx="8915400" cy="1117600"/>
          </a:xfrm>
          <a:prstGeom prst="rect">
            <a:avLst/>
          </a:prstGeom>
          <a:solidFill>
            <a:srgbClr val="FEFDD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50000"/>
              </a:spcBef>
            </a:pPr>
            <a:r>
              <a:rPr kumimoji="1" lang="en-US" altLang="zh-CN" sz="2800" b="1">
                <a:solidFill>
                  <a:srgbClr val="FF0066"/>
                </a:solidFill>
                <a:latin typeface="Times New Roman" panose="02020603050405020304" pitchFamily="18" charset="0"/>
              </a:rPr>
              <a:t>5. Formation of an enzyme-substrate complex is the first step in enzyme catalysis.</a:t>
            </a:r>
          </a:p>
        </p:txBody>
      </p:sp>
      <p:sp>
        <p:nvSpPr>
          <p:cNvPr id="53251" name="Text Box 3">
            <a:extLst>
              <a:ext uri="{FF2B5EF4-FFF2-40B4-BE49-F238E27FC236}">
                <a16:creationId xmlns:a16="http://schemas.microsoft.com/office/drawing/2014/main" id="{A8A4A7DA-456C-4C1B-AEE0-681704C8F2B1}"/>
              </a:ext>
            </a:extLst>
          </p:cNvPr>
          <p:cNvSpPr txBox="1">
            <a:spLocks noChangeArrowheads="1"/>
          </p:cNvSpPr>
          <p:nvPr/>
        </p:nvSpPr>
        <p:spPr bwMode="auto">
          <a:xfrm>
            <a:off x="381000" y="1981200"/>
            <a:ext cx="8610600" cy="423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30000"/>
              </a:spcBef>
            </a:pPr>
            <a:r>
              <a:rPr kumimoji="1" lang="en-US" altLang="zh-CN" sz="2800" b="1" dirty="0">
                <a:latin typeface="Times New Roman" panose="02020603050405020304" pitchFamily="18" charset="0"/>
              </a:rPr>
              <a:t>5.1 Substrates are bound to a specific region of an enzyme called the </a:t>
            </a:r>
            <a:r>
              <a:rPr kumimoji="1" lang="en-US" altLang="zh-CN" sz="2800" b="1" dirty="0">
                <a:solidFill>
                  <a:srgbClr val="FF0066"/>
                </a:solidFill>
                <a:latin typeface="Times New Roman" panose="02020603050405020304" pitchFamily="18" charset="0"/>
              </a:rPr>
              <a:t>active site</a:t>
            </a:r>
            <a:r>
              <a:rPr kumimoji="1" lang="en-US" altLang="zh-CN" sz="2800" b="1" dirty="0">
                <a:latin typeface="Times New Roman" panose="02020603050405020304" pitchFamily="18" charset="0"/>
              </a:rPr>
              <a:t>.</a:t>
            </a:r>
          </a:p>
          <a:p>
            <a:pPr eaLnBrk="1" hangingPunct="1">
              <a:spcBef>
                <a:spcPct val="30000"/>
              </a:spcBef>
            </a:pPr>
            <a:r>
              <a:rPr kumimoji="1" lang="en-US" altLang="zh-CN" sz="2800" b="1" dirty="0">
                <a:latin typeface="Times New Roman" panose="02020603050405020304" pitchFamily="18" charset="0"/>
              </a:rPr>
              <a:t>	5.1.1 Much of the catalytic power of enzymes comes from their bringing substrates together in favorable orientations in enzyme-substrate (ES) complexes. </a:t>
            </a:r>
          </a:p>
          <a:p>
            <a:pPr eaLnBrk="1" hangingPunct="1">
              <a:spcBef>
                <a:spcPct val="30000"/>
              </a:spcBef>
            </a:pPr>
            <a:r>
              <a:rPr kumimoji="1" lang="en-US" altLang="zh-CN" sz="2800" b="1" dirty="0">
                <a:latin typeface="Times New Roman" panose="02020603050405020304" pitchFamily="18" charset="0"/>
              </a:rPr>
              <a:t>	5.1.2 Most enzymes are highly selective in their binding of substrates.</a:t>
            </a:r>
          </a:p>
          <a:p>
            <a:pPr eaLnBrk="1" hangingPunct="1">
              <a:lnSpc>
                <a:spcPct val="80000"/>
              </a:lnSpc>
              <a:spcBef>
                <a:spcPct val="30000"/>
              </a:spcBef>
            </a:pPr>
            <a:r>
              <a:rPr kumimoji="1" lang="en-US" altLang="zh-CN" sz="2800" b="1" dirty="0">
                <a:latin typeface="Times New Roman" panose="02020603050405020304" pitchFamily="18" charset="0"/>
              </a:rPr>
              <a:t>	</a:t>
            </a:r>
            <a:endParaRPr kumimoji="1" lang="en-US" altLang="zh-CN" sz="2400" dirty="0">
              <a:latin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a:extLst>
              <a:ext uri="{FF2B5EF4-FFF2-40B4-BE49-F238E27FC236}">
                <a16:creationId xmlns:a16="http://schemas.microsoft.com/office/drawing/2014/main" id="{7DF99484-631F-423E-88F6-D1478691DF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000" t="8667" r="9000" b="7333"/>
          <a:stretch>
            <a:fillRect/>
          </a:stretch>
        </p:blipFill>
        <p:spPr bwMode="auto">
          <a:xfrm>
            <a:off x="1066800" y="533400"/>
            <a:ext cx="7467600" cy="573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F0D8459A-4AA5-513A-9401-BDA2976D8B47}"/>
              </a:ext>
            </a:extLst>
          </p:cNvPr>
          <p:cNvSpPr txBox="1"/>
          <p:nvPr/>
        </p:nvSpPr>
        <p:spPr>
          <a:xfrm>
            <a:off x="5004048" y="2924944"/>
            <a:ext cx="1368152" cy="369332"/>
          </a:xfrm>
          <a:prstGeom prst="rect">
            <a:avLst/>
          </a:prstGeom>
          <a:noFill/>
        </p:spPr>
        <p:txBody>
          <a:bodyPr wrap="square">
            <a:spAutoFit/>
          </a:bodyPr>
          <a:lstStyle/>
          <a:p>
            <a:r>
              <a:rPr kumimoji="1" lang="en-US" altLang="zh-CN" sz="1800" b="1" dirty="0">
                <a:solidFill>
                  <a:schemeClr val="bg1"/>
                </a:solidFill>
                <a:latin typeface="Times New Roman" panose="02020603050405020304" pitchFamily="18" charset="0"/>
              </a:rPr>
              <a:t>active site</a:t>
            </a:r>
            <a:endParaRPr lang="zh-CN" altLang="en-US" dirty="0">
              <a:solidFill>
                <a:schemeClr val="bg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descr="未标题-190-4">
            <a:extLst>
              <a:ext uri="{FF2B5EF4-FFF2-40B4-BE49-F238E27FC236}">
                <a16:creationId xmlns:a16="http://schemas.microsoft.com/office/drawing/2014/main" id="{245CA08E-03FA-4A10-B9B6-073F26F059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125538"/>
            <a:ext cx="8893175" cy="1277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3" name="Text Box 3">
            <a:extLst>
              <a:ext uri="{FF2B5EF4-FFF2-40B4-BE49-F238E27FC236}">
                <a16:creationId xmlns:a16="http://schemas.microsoft.com/office/drawing/2014/main" id="{85B5CF45-67DA-4B4E-8300-6648309E7245}"/>
              </a:ext>
            </a:extLst>
          </p:cNvPr>
          <p:cNvSpPr txBox="1">
            <a:spLocks noChangeArrowheads="1"/>
          </p:cNvSpPr>
          <p:nvPr/>
        </p:nvSpPr>
        <p:spPr bwMode="auto">
          <a:xfrm>
            <a:off x="539750" y="260350"/>
            <a:ext cx="7169150" cy="558800"/>
          </a:xfrm>
          <a:prstGeom prst="rect">
            <a:avLst/>
          </a:prstGeom>
          <a:solidFill>
            <a:schemeClr val="bg1"/>
          </a:solidFill>
          <a:ln w="9525">
            <a:solidFill>
              <a:schemeClr val="bg1"/>
            </a:solidFill>
            <a:miter lim="800000"/>
            <a:headEnd/>
            <a:tailEnd/>
          </a:ln>
          <a:effectLst/>
        </p:spPr>
        <p:txBody>
          <a:bodyPr wrap="none">
            <a:spAutoFit/>
          </a:bodyPr>
          <a:lstStyle/>
          <a:p>
            <a:pPr>
              <a:defRPr/>
            </a:pPr>
            <a:r>
              <a:rPr kumimoji="1" lang="en-US" altLang="zh-CN" sz="3000" b="1">
                <a:solidFill>
                  <a:schemeClr val="tx2"/>
                </a:solidFill>
                <a:effectLst>
                  <a:outerShdw blurRad="38100" dist="38100" dir="2700000" algn="tl">
                    <a:srgbClr val="C0C0C0"/>
                  </a:outerShdw>
                </a:effectLst>
                <a:latin typeface="Times New Roman" pitchFamily="18" charset="0"/>
              </a:rPr>
              <a:t>5.1.3  Common Features of the Active Sites</a:t>
            </a:r>
          </a:p>
        </p:txBody>
      </p:sp>
      <p:sp>
        <p:nvSpPr>
          <p:cNvPr id="55300" name="Line 4">
            <a:extLst>
              <a:ext uri="{FF2B5EF4-FFF2-40B4-BE49-F238E27FC236}">
                <a16:creationId xmlns:a16="http://schemas.microsoft.com/office/drawing/2014/main" id="{BDB56129-D99F-43EB-B405-51770B96A434}"/>
              </a:ext>
            </a:extLst>
          </p:cNvPr>
          <p:cNvSpPr>
            <a:spLocks noChangeShapeType="1"/>
          </p:cNvSpPr>
          <p:nvPr/>
        </p:nvSpPr>
        <p:spPr bwMode="auto">
          <a:xfrm>
            <a:off x="623888" y="1766888"/>
            <a:ext cx="7981950" cy="1587"/>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01" name="Line 5">
            <a:extLst>
              <a:ext uri="{FF2B5EF4-FFF2-40B4-BE49-F238E27FC236}">
                <a16:creationId xmlns:a16="http://schemas.microsoft.com/office/drawing/2014/main" id="{0FF0C7E9-B160-4D33-BD07-B7DB758C7EFF}"/>
              </a:ext>
            </a:extLst>
          </p:cNvPr>
          <p:cNvSpPr>
            <a:spLocks noChangeShapeType="1"/>
          </p:cNvSpPr>
          <p:nvPr/>
        </p:nvSpPr>
        <p:spPr bwMode="auto">
          <a:xfrm>
            <a:off x="334963" y="2054225"/>
            <a:ext cx="839787" cy="1588"/>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pic>
        <p:nvPicPr>
          <p:cNvPr id="55302" name="Picture 6" descr="7-4">
            <a:extLst>
              <a:ext uri="{FF2B5EF4-FFF2-40B4-BE49-F238E27FC236}">
                <a16:creationId xmlns:a16="http://schemas.microsoft.com/office/drawing/2014/main" id="{D3DB5E8E-2BE1-4EFD-884A-E4A1C7F52C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525" y="2708275"/>
            <a:ext cx="5041900" cy="394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3" name="Picture 7" descr="35-10">
            <a:extLst>
              <a:ext uri="{FF2B5EF4-FFF2-40B4-BE49-F238E27FC236}">
                <a16:creationId xmlns:a16="http://schemas.microsoft.com/office/drawing/2014/main" id="{D3D5FCB9-9A10-434E-B767-DC227CD7ED5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86425" y="2720975"/>
            <a:ext cx="2879725"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4" name="Line 8">
            <a:extLst>
              <a:ext uri="{FF2B5EF4-FFF2-40B4-BE49-F238E27FC236}">
                <a16:creationId xmlns:a16="http://schemas.microsoft.com/office/drawing/2014/main" id="{4681F475-8D80-4075-A66B-14D9FD598E9E}"/>
              </a:ext>
            </a:extLst>
          </p:cNvPr>
          <p:cNvSpPr>
            <a:spLocks noChangeShapeType="1"/>
          </p:cNvSpPr>
          <p:nvPr/>
        </p:nvSpPr>
        <p:spPr bwMode="auto">
          <a:xfrm>
            <a:off x="5867400" y="5300663"/>
            <a:ext cx="2160588"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5305" name="Line 9">
            <a:extLst>
              <a:ext uri="{FF2B5EF4-FFF2-40B4-BE49-F238E27FC236}">
                <a16:creationId xmlns:a16="http://schemas.microsoft.com/office/drawing/2014/main" id="{61E7BB8F-E80F-4B99-85E0-A8E55E65CCC5}"/>
              </a:ext>
            </a:extLst>
          </p:cNvPr>
          <p:cNvSpPr>
            <a:spLocks noChangeShapeType="1"/>
          </p:cNvSpPr>
          <p:nvPr/>
        </p:nvSpPr>
        <p:spPr bwMode="auto">
          <a:xfrm>
            <a:off x="6816725" y="5635625"/>
            <a:ext cx="720725"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descr="未标题-190-3">
            <a:extLst>
              <a:ext uri="{FF2B5EF4-FFF2-40B4-BE49-F238E27FC236}">
                <a16:creationId xmlns:a16="http://schemas.microsoft.com/office/drawing/2014/main" id="{790A76ED-5378-4B60-9354-CB4F8AC8A0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576263"/>
            <a:ext cx="8915400"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3" name="Line 3">
            <a:extLst>
              <a:ext uri="{FF2B5EF4-FFF2-40B4-BE49-F238E27FC236}">
                <a16:creationId xmlns:a16="http://schemas.microsoft.com/office/drawing/2014/main" id="{D87B68F5-6F37-466F-94E2-146C8FFF2EBF}"/>
              </a:ext>
            </a:extLst>
          </p:cNvPr>
          <p:cNvSpPr>
            <a:spLocks noChangeShapeType="1"/>
          </p:cNvSpPr>
          <p:nvPr/>
        </p:nvSpPr>
        <p:spPr bwMode="auto">
          <a:xfrm>
            <a:off x="612775" y="1041400"/>
            <a:ext cx="8207375"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6324" name="Line 4">
            <a:extLst>
              <a:ext uri="{FF2B5EF4-FFF2-40B4-BE49-F238E27FC236}">
                <a16:creationId xmlns:a16="http://schemas.microsoft.com/office/drawing/2014/main" id="{54A6DBB1-01F8-4B67-AD83-C4BBED85100A}"/>
              </a:ext>
            </a:extLst>
          </p:cNvPr>
          <p:cNvSpPr>
            <a:spLocks noChangeShapeType="1"/>
          </p:cNvSpPr>
          <p:nvPr/>
        </p:nvSpPr>
        <p:spPr bwMode="auto">
          <a:xfrm>
            <a:off x="468313" y="1341438"/>
            <a:ext cx="619125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pic>
        <p:nvPicPr>
          <p:cNvPr id="56325" name="Picture 5" descr="未标题-39">
            <a:extLst>
              <a:ext uri="{FF2B5EF4-FFF2-40B4-BE49-F238E27FC236}">
                <a16:creationId xmlns:a16="http://schemas.microsoft.com/office/drawing/2014/main" id="{358E7313-8552-4548-A778-13DC707709B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388" y="1916113"/>
            <a:ext cx="8856662"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6" name="Line 6">
            <a:extLst>
              <a:ext uri="{FF2B5EF4-FFF2-40B4-BE49-F238E27FC236}">
                <a16:creationId xmlns:a16="http://schemas.microsoft.com/office/drawing/2014/main" id="{7BF34213-8D6F-4FD7-95E6-0C8C6065D55D}"/>
              </a:ext>
            </a:extLst>
          </p:cNvPr>
          <p:cNvSpPr>
            <a:spLocks noChangeShapeType="1"/>
          </p:cNvSpPr>
          <p:nvPr/>
        </p:nvSpPr>
        <p:spPr bwMode="auto">
          <a:xfrm>
            <a:off x="611188" y="4378325"/>
            <a:ext cx="2232025"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descr="未标题-190-2">
            <a:extLst>
              <a:ext uri="{FF2B5EF4-FFF2-40B4-BE49-F238E27FC236}">
                <a16:creationId xmlns:a16="http://schemas.microsoft.com/office/drawing/2014/main" id="{050BAF92-BA58-413A-A18E-51DE9A983A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555625"/>
            <a:ext cx="8991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7" name="Picture 3" descr="未标题-191-7">
            <a:extLst>
              <a:ext uri="{FF2B5EF4-FFF2-40B4-BE49-F238E27FC236}">
                <a16:creationId xmlns:a16="http://schemas.microsoft.com/office/drawing/2014/main" id="{5FA23509-560D-4085-BBC6-A7332D3D5F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838" y="2926432"/>
            <a:ext cx="8964612"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3" name="Text Box 5">
            <a:extLst>
              <a:ext uri="{FF2B5EF4-FFF2-40B4-BE49-F238E27FC236}">
                <a16:creationId xmlns:a16="http://schemas.microsoft.com/office/drawing/2014/main" id="{4FF36F19-2408-49EA-AC9B-3523F5095926}"/>
              </a:ext>
            </a:extLst>
          </p:cNvPr>
          <p:cNvSpPr txBox="1">
            <a:spLocks noChangeArrowheads="1"/>
          </p:cNvSpPr>
          <p:nvPr/>
        </p:nvSpPr>
        <p:spPr bwMode="auto">
          <a:xfrm>
            <a:off x="0" y="1828800"/>
            <a:ext cx="9182100" cy="519113"/>
          </a:xfrm>
          <a:prstGeom prst="rect">
            <a:avLst/>
          </a:prstGeom>
          <a:solidFill>
            <a:schemeClr val="bg1"/>
          </a:solidFill>
          <a:ln w="9525">
            <a:noFill/>
            <a:miter lim="800000"/>
            <a:headEnd/>
            <a:tailEnd/>
          </a:ln>
          <a:effectLst/>
        </p:spPr>
        <p:txBody>
          <a:bodyPr wrap="none">
            <a:spAutoFit/>
          </a:bodyPr>
          <a:lstStyle/>
          <a:p>
            <a:pPr>
              <a:defRPr/>
            </a:pPr>
            <a:r>
              <a:rPr kumimoji="1" lang="en-US" altLang="zh-CN" sz="2800" b="1">
                <a:solidFill>
                  <a:schemeClr val="tx2"/>
                </a:solidFill>
                <a:effectLst>
                  <a:outerShdw blurRad="38100" dist="38100" dir="2700000" algn="tl">
                    <a:srgbClr val="C0C0C0"/>
                  </a:outerShdw>
                </a:effectLst>
                <a:latin typeface="Times New Roman" pitchFamily="18" charset="0"/>
              </a:rPr>
              <a:t>5.1.4 What are the types of the multiple weak interactions?</a:t>
            </a:r>
            <a:r>
              <a:rPr kumimoji="1" lang="en-US" altLang="zh-CN" sz="2400">
                <a:latin typeface="Times New Roman" pitchFamily="18" charset="0"/>
              </a:rPr>
              <a:t> </a:t>
            </a:r>
          </a:p>
        </p:txBody>
      </p:sp>
      <p:sp>
        <p:nvSpPr>
          <p:cNvPr id="57352" name="Line 8">
            <a:extLst>
              <a:ext uri="{FF2B5EF4-FFF2-40B4-BE49-F238E27FC236}">
                <a16:creationId xmlns:a16="http://schemas.microsoft.com/office/drawing/2014/main" id="{DF0A3FD4-D827-4618-94F5-2714CBBB1639}"/>
              </a:ext>
            </a:extLst>
          </p:cNvPr>
          <p:cNvSpPr>
            <a:spLocks noChangeShapeType="1"/>
          </p:cNvSpPr>
          <p:nvPr/>
        </p:nvSpPr>
        <p:spPr bwMode="auto">
          <a:xfrm>
            <a:off x="5219700" y="3395663"/>
            <a:ext cx="223202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353" name="Line 9">
            <a:extLst>
              <a:ext uri="{FF2B5EF4-FFF2-40B4-BE49-F238E27FC236}">
                <a16:creationId xmlns:a16="http://schemas.microsoft.com/office/drawing/2014/main" id="{8117FED0-38D2-45DA-8A01-28F1EEB344D5}"/>
              </a:ext>
            </a:extLst>
          </p:cNvPr>
          <p:cNvSpPr>
            <a:spLocks noChangeShapeType="1"/>
          </p:cNvSpPr>
          <p:nvPr/>
        </p:nvSpPr>
        <p:spPr bwMode="auto">
          <a:xfrm>
            <a:off x="7667625" y="3429000"/>
            <a:ext cx="1081088"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354" name="Line 10">
            <a:extLst>
              <a:ext uri="{FF2B5EF4-FFF2-40B4-BE49-F238E27FC236}">
                <a16:creationId xmlns:a16="http://schemas.microsoft.com/office/drawing/2014/main" id="{2BB07E6F-FB96-44D5-AC26-76E578C46DB0}"/>
              </a:ext>
            </a:extLst>
          </p:cNvPr>
          <p:cNvSpPr>
            <a:spLocks noChangeShapeType="1"/>
          </p:cNvSpPr>
          <p:nvPr/>
        </p:nvSpPr>
        <p:spPr bwMode="auto">
          <a:xfrm>
            <a:off x="431800" y="3716338"/>
            <a:ext cx="57626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355" name="Line 11">
            <a:extLst>
              <a:ext uri="{FF2B5EF4-FFF2-40B4-BE49-F238E27FC236}">
                <a16:creationId xmlns:a16="http://schemas.microsoft.com/office/drawing/2014/main" id="{2EFAC548-6AC1-4950-A8FF-832BB2A5AF21}"/>
              </a:ext>
            </a:extLst>
          </p:cNvPr>
          <p:cNvSpPr>
            <a:spLocks noChangeShapeType="1"/>
          </p:cNvSpPr>
          <p:nvPr/>
        </p:nvSpPr>
        <p:spPr bwMode="auto">
          <a:xfrm>
            <a:off x="1211263" y="3716338"/>
            <a:ext cx="230346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356" name="Line 12">
            <a:extLst>
              <a:ext uri="{FF2B5EF4-FFF2-40B4-BE49-F238E27FC236}">
                <a16:creationId xmlns:a16="http://schemas.microsoft.com/office/drawing/2014/main" id="{53504F86-8046-4A5D-AF45-0443003BA17E}"/>
              </a:ext>
            </a:extLst>
          </p:cNvPr>
          <p:cNvSpPr>
            <a:spLocks noChangeShapeType="1"/>
          </p:cNvSpPr>
          <p:nvPr/>
        </p:nvSpPr>
        <p:spPr bwMode="auto">
          <a:xfrm>
            <a:off x="4140200" y="3716338"/>
            <a:ext cx="2879725"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7357" name="Text Box 13">
            <a:extLst>
              <a:ext uri="{FF2B5EF4-FFF2-40B4-BE49-F238E27FC236}">
                <a16:creationId xmlns:a16="http://schemas.microsoft.com/office/drawing/2014/main" id="{C12DD147-4AF1-49E2-85B7-ECF00012CCDE}"/>
              </a:ext>
            </a:extLst>
          </p:cNvPr>
          <p:cNvSpPr txBox="1">
            <a:spLocks noChangeArrowheads="1"/>
          </p:cNvSpPr>
          <p:nvPr/>
        </p:nvSpPr>
        <p:spPr bwMode="auto">
          <a:xfrm>
            <a:off x="249238" y="5716588"/>
            <a:ext cx="8656637"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100" b="1" dirty="0">
                <a:latin typeface="Times New Roman" panose="02020603050405020304" pitchFamily="18" charset="0"/>
              </a:rPr>
              <a:t>Note:  “electrostatic bonds” should be called as “electrostatic interactions”</a:t>
            </a:r>
          </a:p>
        </p:txBody>
      </p:sp>
      <p:sp>
        <p:nvSpPr>
          <p:cNvPr id="57358" name="Line 14">
            <a:extLst>
              <a:ext uri="{FF2B5EF4-FFF2-40B4-BE49-F238E27FC236}">
                <a16:creationId xmlns:a16="http://schemas.microsoft.com/office/drawing/2014/main" id="{C9B97DFD-7222-48DF-954E-234601D9B270}"/>
              </a:ext>
            </a:extLst>
          </p:cNvPr>
          <p:cNvSpPr>
            <a:spLocks noChangeShapeType="1"/>
          </p:cNvSpPr>
          <p:nvPr/>
        </p:nvSpPr>
        <p:spPr bwMode="auto">
          <a:xfrm>
            <a:off x="395288" y="4652963"/>
            <a:ext cx="69850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03" name="Text Box 15">
            <a:extLst>
              <a:ext uri="{FF2B5EF4-FFF2-40B4-BE49-F238E27FC236}">
                <a16:creationId xmlns:a16="http://schemas.microsoft.com/office/drawing/2014/main" id="{6EB48BA3-0CE0-4183-86BA-7D9E842D2605}"/>
              </a:ext>
            </a:extLst>
          </p:cNvPr>
          <p:cNvSpPr txBox="1">
            <a:spLocks noChangeArrowheads="1"/>
          </p:cNvSpPr>
          <p:nvPr/>
        </p:nvSpPr>
        <p:spPr bwMode="auto">
          <a:xfrm>
            <a:off x="4984750" y="2913063"/>
            <a:ext cx="311150" cy="396875"/>
          </a:xfrm>
          <a:prstGeom prst="rect">
            <a:avLst/>
          </a:prstGeom>
          <a:noFill/>
          <a:ln w="28575">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rgbClr val="FF0066"/>
                </a:solidFill>
                <a:effectLst>
                  <a:outerShdw blurRad="38100" dist="38100" dir="2700000" algn="tl">
                    <a:srgbClr val="C0C0C0"/>
                  </a:outerShdw>
                </a:effectLst>
                <a:latin typeface="Times New Roman" panose="02020603050405020304" pitchFamily="18" charset="0"/>
              </a:rPr>
              <a:t>1</a:t>
            </a:r>
          </a:p>
        </p:txBody>
      </p:sp>
      <p:sp>
        <p:nvSpPr>
          <p:cNvPr id="63504" name="Text Box 16">
            <a:extLst>
              <a:ext uri="{FF2B5EF4-FFF2-40B4-BE49-F238E27FC236}">
                <a16:creationId xmlns:a16="http://schemas.microsoft.com/office/drawing/2014/main" id="{2A6B3842-878B-4E1D-AA06-8F60BA505AD9}"/>
              </a:ext>
            </a:extLst>
          </p:cNvPr>
          <p:cNvSpPr txBox="1">
            <a:spLocks noChangeArrowheads="1"/>
          </p:cNvSpPr>
          <p:nvPr/>
        </p:nvSpPr>
        <p:spPr bwMode="auto">
          <a:xfrm>
            <a:off x="7404100" y="2924175"/>
            <a:ext cx="311150" cy="396875"/>
          </a:xfrm>
          <a:prstGeom prst="rect">
            <a:avLst/>
          </a:prstGeom>
          <a:noFill/>
          <a:ln w="28575">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rgbClr val="FF0066"/>
                </a:solidFill>
                <a:effectLst>
                  <a:outerShdw blurRad="38100" dist="38100" dir="2700000" algn="tl">
                    <a:srgbClr val="C0C0C0"/>
                  </a:outerShdw>
                </a:effectLst>
                <a:latin typeface="Times New Roman" panose="02020603050405020304" pitchFamily="18" charset="0"/>
              </a:rPr>
              <a:t>2</a:t>
            </a:r>
          </a:p>
        </p:txBody>
      </p:sp>
      <p:sp>
        <p:nvSpPr>
          <p:cNvPr id="63505" name="Text Box 17">
            <a:extLst>
              <a:ext uri="{FF2B5EF4-FFF2-40B4-BE49-F238E27FC236}">
                <a16:creationId xmlns:a16="http://schemas.microsoft.com/office/drawing/2014/main" id="{41D6DDEC-265B-424D-B247-57754299B6FF}"/>
              </a:ext>
            </a:extLst>
          </p:cNvPr>
          <p:cNvSpPr txBox="1">
            <a:spLocks noChangeArrowheads="1"/>
          </p:cNvSpPr>
          <p:nvPr/>
        </p:nvSpPr>
        <p:spPr bwMode="auto">
          <a:xfrm>
            <a:off x="941388" y="3260725"/>
            <a:ext cx="311150" cy="396875"/>
          </a:xfrm>
          <a:prstGeom prst="rect">
            <a:avLst/>
          </a:prstGeom>
          <a:noFill/>
          <a:ln w="28575">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rgbClr val="FF0066"/>
                </a:solidFill>
                <a:effectLst>
                  <a:outerShdw blurRad="38100" dist="38100" dir="2700000" algn="tl">
                    <a:srgbClr val="C0C0C0"/>
                  </a:outerShdw>
                </a:effectLst>
                <a:latin typeface="Times New Roman" panose="02020603050405020304" pitchFamily="18" charset="0"/>
              </a:rPr>
              <a:t>3</a:t>
            </a:r>
          </a:p>
        </p:txBody>
      </p:sp>
      <p:sp>
        <p:nvSpPr>
          <p:cNvPr id="63506" name="Text Box 18">
            <a:extLst>
              <a:ext uri="{FF2B5EF4-FFF2-40B4-BE49-F238E27FC236}">
                <a16:creationId xmlns:a16="http://schemas.microsoft.com/office/drawing/2014/main" id="{65D3C353-4EDA-47CE-8397-8E7B5CF02750}"/>
              </a:ext>
            </a:extLst>
          </p:cNvPr>
          <p:cNvSpPr txBox="1">
            <a:spLocks noChangeArrowheads="1"/>
          </p:cNvSpPr>
          <p:nvPr/>
        </p:nvSpPr>
        <p:spPr bwMode="auto">
          <a:xfrm>
            <a:off x="3898900" y="3222625"/>
            <a:ext cx="311150" cy="396875"/>
          </a:xfrm>
          <a:prstGeom prst="rect">
            <a:avLst/>
          </a:prstGeom>
          <a:noFill/>
          <a:ln w="28575">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000" b="1">
                <a:solidFill>
                  <a:srgbClr val="FF0066"/>
                </a:solidFill>
                <a:effectLst>
                  <a:outerShdw blurRad="38100" dist="38100" dir="2700000" algn="tl">
                    <a:srgbClr val="C0C0C0"/>
                  </a:outerShdw>
                </a:effectLst>
                <a:latin typeface="Times New Roman" panose="02020603050405020304" pitchFamily="18" charset="0"/>
              </a:rPr>
              <a:t>4</a:t>
            </a:r>
          </a:p>
        </p:txBody>
      </p:sp>
      <p:sp>
        <p:nvSpPr>
          <p:cNvPr id="57363" name="Line 19">
            <a:extLst>
              <a:ext uri="{FF2B5EF4-FFF2-40B4-BE49-F238E27FC236}">
                <a16:creationId xmlns:a16="http://schemas.microsoft.com/office/drawing/2014/main" id="{55DE04DE-49B2-44D2-9357-3ED0AC17E3FB}"/>
              </a:ext>
            </a:extLst>
          </p:cNvPr>
          <p:cNvSpPr>
            <a:spLocks noChangeShapeType="1"/>
          </p:cNvSpPr>
          <p:nvPr/>
        </p:nvSpPr>
        <p:spPr bwMode="auto">
          <a:xfrm>
            <a:off x="5257800" y="3429000"/>
            <a:ext cx="21336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64" name="Line 20">
            <a:extLst>
              <a:ext uri="{FF2B5EF4-FFF2-40B4-BE49-F238E27FC236}">
                <a16:creationId xmlns:a16="http://schemas.microsoft.com/office/drawing/2014/main" id="{DCEA0ED3-524A-4120-946A-39485B26B9FC}"/>
              </a:ext>
            </a:extLst>
          </p:cNvPr>
          <p:cNvSpPr>
            <a:spLocks noChangeShapeType="1"/>
          </p:cNvSpPr>
          <p:nvPr/>
        </p:nvSpPr>
        <p:spPr bwMode="auto">
          <a:xfrm>
            <a:off x="7696200" y="3429000"/>
            <a:ext cx="10668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66" name="Line 22">
            <a:extLst>
              <a:ext uri="{FF2B5EF4-FFF2-40B4-BE49-F238E27FC236}">
                <a16:creationId xmlns:a16="http://schemas.microsoft.com/office/drawing/2014/main" id="{DC5CF9E2-79EB-458B-9112-1A5D109EC4D9}"/>
              </a:ext>
            </a:extLst>
          </p:cNvPr>
          <p:cNvSpPr>
            <a:spLocks noChangeShapeType="1"/>
          </p:cNvSpPr>
          <p:nvPr/>
        </p:nvSpPr>
        <p:spPr bwMode="auto">
          <a:xfrm>
            <a:off x="1295400" y="3733800"/>
            <a:ext cx="21336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67" name="Line 23">
            <a:extLst>
              <a:ext uri="{FF2B5EF4-FFF2-40B4-BE49-F238E27FC236}">
                <a16:creationId xmlns:a16="http://schemas.microsoft.com/office/drawing/2014/main" id="{7037D132-4356-4F21-B5F0-D7A7A3B7AF86}"/>
              </a:ext>
            </a:extLst>
          </p:cNvPr>
          <p:cNvSpPr>
            <a:spLocks noChangeShapeType="1"/>
          </p:cNvSpPr>
          <p:nvPr/>
        </p:nvSpPr>
        <p:spPr bwMode="auto">
          <a:xfrm>
            <a:off x="4191000" y="3733800"/>
            <a:ext cx="28956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A0423D7-B88E-CDBB-C1CD-8B851047E0A0}"/>
              </a:ext>
            </a:extLst>
          </p:cNvPr>
          <p:cNvPicPr>
            <a:picLocks noChangeAspect="1"/>
          </p:cNvPicPr>
          <p:nvPr/>
        </p:nvPicPr>
        <p:blipFill>
          <a:blip r:embed="rId3"/>
          <a:stretch>
            <a:fillRect/>
          </a:stretch>
        </p:blipFill>
        <p:spPr>
          <a:xfrm>
            <a:off x="323528" y="1628800"/>
            <a:ext cx="2682114" cy="3161729"/>
          </a:xfrm>
          <a:prstGeom prst="rect">
            <a:avLst/>
          </a:prstGeom>
        </p:spPr>
      </p:pic>
      <p:pic>
        <p:nvPicPr>
          <p:cNvPr id="4" name="图片 3">
            <a:extLst>
              <a:ext uri="{FF2B5EF4-FFF2-40B4-BE49-F238E27FC236}">
                <a16:creationId xmlns:a16="http://schemas.microsoft.com/office/drawing/2014/main" id="{78FDBBB2-F273-F49D-5F8A-A284094A6148}"/>
              </a:ext>
            </a:extLst>
          </p:cNvPr>
          <p:cNvPicPr>
            <a:picLocks noChangeAspect="1"/>
          </p:cNvPicPr>
          <p:nvPr/>
        </p:nvPicPr>
        <p:blipFill>
          <a:blip r:embed="rId4"/>
          <a:stretch>
            <a:fillRect/>
          </a:stretch>
        </p:blipFill>
        <p:spPr>
          <a:xfrm>
            <a:off x="3491880" y="764704"/>
            <a:ext cx="4988813" cy="4509120"/>
          </a:xfrm>
          <a:prstGeom prst="rect">
            <a:avLst/>
          </a:prstGeom>
        </p:spPr>
      </p:pic>
      <p:sp>
        <p:nvSpPr>
          <p:cNvPr id="8" name="文本框 7">
            <a:extLst>
              <a:ext uri="{FF2B5EF4-FFF2-40B4-BE49-F238E27FC236}">
                <a16:creationId xmlns:a16="http://schemas.microsoft.com/office/drawing/2014/main" id="{4BAA319D-E5CA-009F-6472-241CC7F9E29E}"/>
              </a:ext>
            </a:extLst>
          </p:cNvPr>
          <p:cNvSpPr txBox="1"/>
          <p:nvPr/>
        </p:nvSpPr>
        <p:spPr>
          <a:xfrm>
            <a:off x="4427984" y="5589240"/>
            <a:ext cx="3024336" cy="369332"/>
          </a:xfrm>
          <a:prstGeom prst="rect">
            <a:avLst/>
          </a:prstGeom>
          <a:noFill/>
        </p:spPr>
        <p:txBody>
          <a:bodyPr wrap="square">
            <a:spAutoFit/>
          </a:bodyPr>
          <a:lstStyle/>
          <a:p>
            <a:r>
              <a:rPr lang="en-US" altLang="zh-CN" sz="1800" b="1" i="0" dirty="0">
                <a:solidFill>
                  <a:srgbClr val="000000"/>
                </a:solidFill>
                <a:effectLst/>
                <a:latin typeface="TimesNewRomanPS-BoldMT"/>
              </a:rPr>
              <a:t>Hydrogen bonding in ice </a:t>
            </a:r>
            <a:endParaRPr lang="zh-CN" altLang="en-US" dirty="0"/>
          </a:p>
        </p:txBody>
      </p:sp>
    </p:spTree>
    <p:extLst>
      <p:ext uri="{BB962C8B-B14F-4D97-AF65-F5344CB8AC3E}">
        <p14:creationId xmlns:p14="http://schemas.microsoft.com/office/powerpoint/2010/main" val="41150196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0041FE9-0B59-CB30-6604-68356A85BA93}"/>
              </a:ext>
            </a:extLst>
          </p:cNvPr>
          <p:cNvPicPr>
            <a:picLocks noChangeAspect="1"/>
          </p:cNvPicPr>
          <p:nvPr/>
        </p:nvPicPr>
        <p:blipFill>
          <a:blip r:embed="rId3"/>
          <a:stretch>
            <a:fillRect/>
          </a:stretch>
        </p:blipFill>
        <p:spPr>
          <a:xfrm>
            <a:off x="107504" y="1372333"/>
            <a:ext cx="8207896" cy="2576970"/>
          </a:xfrm>
          <a:prstGeom prst="rect">
            <a:avLst/>
          </a:prstGeom>
        </p:spPr>
      </p:pic>
      <p:sp>
        <p:nvSpPr>
          <p:cNvPr id="7" name="文本框 6">
            <a:extLst>
              <a:ext uri="{FF2B5EF4-FFF2-40B4-BE49-F238E27FC236}">
                <a16:creationId xmlns:a16="http://schemas.microsoft.com/office/drawing/2014/main" id="{7CD056FC-46E7-1D6C-5477-7FE3B025C99D}"/>
              </a:ext>
            </a:extLst>
          </p:cNvPr>
          <p:cNvSpPr txBox="1"/>
          <p:nvPr/>
        </p:nvSpPr>
        <p:spPr>
          <a:xfrm>
            <a:off x="2123728" y="5013176"/>
            <a:ext cx="5472608" cy="830997"/>
          </a:xfrm>
          <a:prstGeom prst="rect">
            <a:avLst/>
          </a:prstGeom>
          <a:noFill/>
        </p:spPr>
        <p:txBody>
          <a:bodyPr wrap="square">
            <a:spAutoFit/>
          </a:bodyPr>
          <a:lstStyle/>
          <a:p>
            <a:r>
              <a:rPr lang="en-US" altLang="zh-CN" sz="2400" b="1" i="0" dirty="0">
                <a:solidFill>
                  <a:srgbClr val="000000"/>
                </a:solidFill>
                <a:effectLst/>
                <a:latin typeface="TimesNewRomanPS-BoldMT"/>
              </a:rPr>
              <a:t>Common hydrogen bonds in biological systems</a:t>
            </a:r>
            <a:endParaRPr lang="zh-CN" altLang="en-US" sz="2400" dirty="0"/>
          </a:p>
        </p:txBody>
      </p:sp>
    </p:spTree>
    <p:extLst>
      <p:ext uri="{BB962C8B-B14F-4D97-AF65-F5344CB8AC3E}">
        <p14:creationId xmlns:p14="http://schemas.microsoft.com/office/powerpoint/2010/main" val="34293525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descr="未标题-7">
            <a:extLst>
              <a:ext uri="{FF2B5EF4-FFF2-40B4-BE49-F238E27FC236}">
                <a16:creationId xmlns:a16="http://schemas.microsoft.com/office/drawing/2014/main" id="{66667AC2-1371-43F8-ADCD-AB09B7051F9C}"/>
              </a:ext>
            </a:extLst>
          </p:cNvPr>
          <p:cNvPicPr>
            <a:picLocks noChangeAspect="1" noChangeArrowheads="1"/>
          </p:cNvPicPr>
          <p:nvPr/>
        </p:nvPicPr>
        <p:blipFill>
          <a:blip r:embed="rId3">
            <a:lum bright="-12000" contrast="24000"/>
            <a:extLst>
              <a:ext uri="{28A0092B-C50C-407E-A947-70E740481C1C}">
                <a14:useLocalDpi xmlns:a14="http://schemas.microsoft.com/office/drawing/2010/main" val="0"/>
              </a:ext>
            </a:extLst>
          </a:blip>
          <a:srcRect/>
          <a:stretch>
            <a:fillRect/>
          </a:stretch>
        </p:blipFill>
        <p:spPr bwMode="auto">
          <a:xfrm>
            <a:off x="2076450" y="76200"/>
            <a:ext cx="4846638"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1" name="Line 3">
            <a:extLst>
              <a:ext uri="{FF2B5EF4-FFF2-40B4-BE49-F238E27FC236}">
                <a16:creationId xmlns:a16="http://schemas.microsoft.com/office/drawing/2014/main" id="{71E844B6-938C-49A8-8C3A-1C0A89ECFDC2}"/>
              </a:ext>
            </a:extLst>
          </p:cNvPr>
          <p:cNvSpPr>
            <a:spLocks noChangeShapeType="1"/>
          </p:cNvSpPr>
          <p:nvPr/>
        </p:nvSpPr>
        <p:spPr bwMode="auto">
          <a:xfrm>
            <a:off x="2514600" y="5026025"/>
            <a:ext cx="288131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a:extLst>
              <a:ext uri="{FF2B5EF4-FFF2-40B4-BE49-F238E27FC236}">
                <a16:creationId xmlns:a16="http://schemas.microsoft.com/office/drawing/2014/main" id="{805B1D9B-9A8C-463C-BAA0-2EFB96759A31}"/>
              </a:ext>
            </a:extLst>
          </p:cNvPr>
          <p:cNvSpPr txBox="1">
            <a:spLocks noChangeArrowheads="1"/>
          </p:cNvSpPr>
          <p:nvPr/>
        </p:nvSpPr>
        <p:spPr bwMode="auto">
          <a:xfrm>
            <a:off x="533400" y="762000"/>
            <a:ext cx="8001000" cy="4322763"/>
          </a:xfrm>
          <a:prstGeom prst="rect">
            <a:avLst/>
          </a:prstGeom>
          <a:solidFill>
            <a:srgbClr val="FEFDD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30000"/>
              </a:spcBef>
            </a:pPr>
            <a:r>
              <a:rPr kumimoji="1" lang="en-US" altLang="zh-CN" sz="2400" dirty="0">
                <a:latin typeface="Times New Roman" panose="02020603050405020304" pitchFamily="18" charset="0"/>
              </a:rPr>
              <a:t>	</a:t>
            </a:r>
            <a:r>
              <a:rPr kumimoji="1" lang="en-US" altLang="zh-CN" sz="2800" b="1" dirty="0">
                <a:latin typeface="Times New Roman" panose="02020603050405020304" pitchFamily="18" charset="0"/>
              </a:rPr>
              <a:t>5.1.5 The active sites of some unbound enzymes are complementary in shape to those of their substrates (the </a:t>
            </a:r>
            <a:r>
              <a:rPr kumimoji="1" lang="en-US" altLang="zh-CN" sz="2800" b="1" dirty="0">
                <a:solidFill>
                  <a:schemeClr val="hlink"/>
                </a:solidFill>
                <a:latin typeface="Times New Roman" panose="02020603050405020304" pitchFamily="18" charset="0"/>
              </a:rPr>
              <a:t>lock-and-key</a:t>
            </a:r>
            <a:r>
              <a:rPr kumimoji="1" lang="en-US" altLang="zh-CN" sz="2800" b="1" dirty="0">
                <a:latin typeface="Times New Roman" panose="02020603050405020304" pitchFamily="18" charset="0"/>
              </a:rPr>
              <a:t> metaphor, Emil Fisher).</a:t>
            </a:r>
          </a:p>
          <a:p>
            <a:pPr eaLnBrk="1" hangingPunct="1">
              <a:lnSpc>
                <a:spcPct val="120000"/>
              </a:lnSpc>
              <a:spcBef>
                <a:spcPct val="30000"/>
              </a:spcBef>
            </a:pPr>
            <a:r>
              <a:rPr kumimoji="1" lang="en-US" altLang="zh-CN" sz="2800" b="1" dirty="0">
                <a:latin typeface="Times New Roman" panose="02020603050405020304" pitchFamily="18" charset="0"/>
              </a:rPr>
              <a:t>	5.1.6 In many enzymes, the active sites have shapes complementary to those of their substrates only after the substrates are bound (the </a:t>
            </a:r>
            <a:r>
              <a:rPr kumimoji="1" lang="en-US" altLang="zh-CN" sz="2800" b="1" dirty="0">
                <a:solidFill>
                  <a:schemeClr val="hlink"/>
                </a:solidFill>
                <a:latin typeface="Times New Roman" panose="02020603050405020304" pitchFamily="18" charset="0"/>
              </a:rPr>
              <a:t>induced-fit model</a:t>
            </a:r>
            <a:r>
              <a:rPr kumimoji="1" lang="en-US" altLang="zh-CN" sz="2800" b="1" dirty="0">
                <a:latin typeface="Times New Roman" panose="02020603050405020304" pitchFamily="18" charset="0"/>
              </a:rPr>
              <a:t>, Daniel </a:t>
            </a:r>
            <a:r>
              <a:rPr kumimoji="1" lang="en-US" altLang="zh-CN" sz="2800" b="1" dirty="0" err="1">
                <a:latin typeface="Times New Roman" panose="02020603050405020304" pitchFamily="18" charset="0"/>
              </a:rPr>
              <a:t>Koshland</a:t>
            </a:r>
            <a:r>
              <a:rPr kumimoji="1" lang="en-US" altLang="zh-CN" sz="2800" b="1" dirty="0">
                <a:latin typeface="Times New Roman" panose="02020603050405020304" pitchFamily="18" charset="0"/>
              </a:rPr>
              <a:t>).</a:t>
            </a:r>
            <a:endParaRPr kumimoji="1" lang="en-US" altLang="zh-CN" sz="2400" dirty="0">
              <a:latin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descr="0067">
            <a:extLst>
              <a:ext uri="{FF2B5EF4-FFF2-40B4-BE49-F238E27FC236}">
                <a16:creationId xmlns:a16="http://schemas.microsoft.com/office/drawing/2014/main" id="{E0968F4F-2952-4043-BE66-E552ADBD0D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28600"/>
            <a:ext cx="8077200" cy="605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CFB517F2-2BD6-41AC-8E18-96BBE54E3487}"/>
              </a:ext>
            </a:extLst>
          </p:cNvPr>
          <p:cNvSpPr>
            <a:spLocks noGrp="1" noChangeArrowheads="1"/>
          </p:cNvSpPr>
          <p:nvPr>
            <p:ph type="title"/>
          </p:nvPr>
        </p:nvSpPr>
        <p:spPr/>
        <p:txBody>
          <a:bodyPr/>
          <a:lstStyle/>
          <a:p>
            <a:pPr eaLnBrk="1" hangingPunct="1">
              <a:defRPr/>
            </a:pPr>
            <a:br>
              <a:rPr lang="en-US" altLang="zh-CN">
                <a:effectLst>
                  <a:outerShdw blurRad="38100" dist="38100" dir="2700000" algn="tl">
                    <a:srgbClr val="C0C0C0"/>
                  </a:outerShdw>
                </a:effectLst>
              </a:rPr>
            </a:br>
            <a:endParaRPr lang="en-US" altLang="zh-CN"/>
          </a:p>
        </p:txBody>
      </p:sp>
      <p:pic>
        <p:nvPicPr>
          <p:cNvPr id="60419" name="Picture 3" descr="scientists1">
            <a:extLst>
              <a:ext uri="{FF2B5EF4-FFF2-40B4-BE49-F238E27FC236}">
                <a16:creationId xmlns:a16="http://schemas.microsoft.com/office/drawing/2014/main" id="{EE60BE2B-676F-4B56-8D69-DAF6B5A281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76200"/>
            <a:ext cx="5159375"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0" name="Picture 4" descr="1b">
            <a:extLst>
              <a:ext uri="{FF2B5EF4-FFF2-40B4-BE49-F238E27FC236}">
                <a16:creationId xmlns:a16="http://schemas.microsoft.com/office/drawing/2014/main" id="{B36EAD89-9867-4327-A2D7-BDCD33365F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8025" y="5354638"/>
            <a:ext cx="5160963"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a:extLst>
              <a:ext uri="{FF2B5EF4-FFF2-40B4-BE49-F238E27FC236}">
                <a16:creationId xmlns:a16="http://schemas.microsoft.com/office/drawing/2014/main" id="{A2D40CFA-66AE-4B79-B062-FABE1721B6C1}"/>
              </a:ext>
            </a:extLst>
          </p:cNvPr>
          <p:cNvSpPr txBox="1">
            <a:spLocks noChangeArrowheads="1"/>
          </p:cNvSpPr>
          <p:nvPr/>
        </p:nvSpPr>
        <p:spPr bwMode="auto">
          <a:xfrm>
            <a:off x="685800" y="533400"/>
            <a:ext cx="8077200" cy="4364038"/>
          </a:xfrm>
          <a:prstGeom prst="rect">
            <a:avLst/>
          </a:prstGeom>
          <a:solidFill>
            <a:srgbClr val="FEFDD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rPr>
              <a:t>5.2 The existence of ES complexes has been shown in a variety of ways.</a:t>
            </a:r>
          </a:p>
          <a:p>
            <a:pPr eaLnBrk="1" hangingPunct="1">
              <a:spcBef>
                <a:spcPct val="50000"/>
              </a:spcBef>
            </a:pPr>
            <a:r>
              <a:rPr kumimoji="1" lang="en-US" altLang="zh-CN" sz="2800" b="1" dirty="0">
                <a:latin typeface="Times New Roman" panose="02020603050405020304" pitchFamily="18" charset="0"/>
              </a:rPr>
              <a:t>	5.2.1 The saturation effect: at a constant concentration of an enzyme, the reaction rate increases with increasing substrate concentrations until a Vmax is reached.</a:t>
            </a:r>
          </a:p>
          <a:p>
            <a:pPr eaLnBrk="1" hangingPunct="1">
              <a:spcBef>
                <a:spcPct val="50000"/>
              </a:spcBef>
            </a:pPr>
            <a:r>
              <a:rPr kumimoji="1" lang="en-US" altLang="zh-CN" sz="2800" b="1" dirty="0">
                <a:latin typeface="Times New Roman" panose="02020603050405020304" pitchFamily="18" charset="0"/>
              </a:rPr>
              <a:t>	5.2.2 ES complexes have been directly observed by electron microscopy and X-ray crystallography.</a:t>
            </a:r>
            <a:endParaRPr kumimoji="1" lang="en-US" altLang="zh-CN" sz="2400" dirty="0">
              <a:latin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a:extLst>
              <a:ext uri="{FF2B5EF4-FFF2-40B4-BE49-F238E27FC236}">
                <a16:creationId xmlns:a16="http://schemas.microsoft.com/office/drawing/2014/main" id="{17EEB564-9C7F-4C0D-8882-26D1648965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 y="711200"/>
            <a:ext cx="80010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ED37A26E-C972-B83F-38F9-7BBD0A35C9BC}"/>
              </a:ext>
            </a:extLst>
          </p:cNvPr>
          <p:cNvPicPr>
            <a:picLocks noChangeAspect="1"/>
          </p:cNvPicPr>
          <p:nvPr/>
        </p:nvPicPr>
        <p:blipFill rotWithShape="1">
          <a:blip r:embed="rId4"/>
          <a:srcRect t="40266" b="26179"/>
          <a:stretch/>
        </p:blipFill>
        <p:spPr>
          <a:xfrm>
            <a:off x="2087664" y="4869160"/>
            <a:ext cx="4968671" cy="36004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a:extLst>
              <a:ext uri="{FF2B5EF4-FFF2-40B4-BE49-F238E27FC236}">
                <a16:creationId xmlns:a16="http://schemas.microsoft.com/office/drawing/2014/main" id="{75B26628-79B8-41FE-8F6D-8B0BFFA02E04}"/>
              </a:ext>
            </a:extLst>
          </p:cNvPr>
          <p:cNvSpPr txBox="1">
            <a:spLocks noChangeArrowheads="1"/>
          </p:cNvSpPr>
          <p:nvPr/>
        </p:nvSpPr>
        <p:spPr bwMode="auto">
          <a:xfrm>
            <a:off x="304800" y="457200"/>
            <a:ext cx="8534400" cy="1800225"/>
          </a:xfrm>
          <a:prstGeom prst="rect">
            <a:avLst/>
          </a:prstGeom>
          <a:solidFill>
            <a:srgbClr val="FEFDD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solidFill>
                  <a:srgbClr val="FF0066"/>
                </a:solidFill>
                <a:latin typeface="Times New Roman" panose="02020603050405020304" pitchFamily="18" charset="0"/>
              </a:rPr>
              <a:t>6. Various factors leading to rate enhancements are </a:t>
            </a:r>
            <a:r>
              <a:rPr kumimoji="1" lang="en-US" altLang="zh-CN" sz="2800" b="1" dirty="0">
                <a:solidFill>
                  <a:srgbClr val="FF0000"/>
                </a:solidFill>
                <a:latin typeface="Times New Roman" panose="02020603050405020304" pitchFamily="18" charset="0"/>
              </a:rPr>
              <a:t>proximity and orientation effects, strain or distortion acid-base catalysis, covalent catalysis, and changes in environment.</a:t>
            </a:r>
          </a:p>
        </p:txBody>
      </p:sp>
      <p:sp>
        <p:nvSpPr>
          <p:cNvPr id="64515" name="Text Box 3">
            <a:extLst>
              <a:ext uri="{FF2B5EF4-FFF2-40B4-BE49-F238E27FC236}">
                <a16:creationId xmlns:a16="http://schemas.microsoft.com/office/drawing/2014/main" id="{E664CA0D-26A3-4F1A-97DA-E25931BF71D2}"/>
              </a:ext>
            </a:extLst>
          </p:cNvPr>
          <p:cNvSpPr txBox="1">
            <a:spLocks noChangeArrowheads="1"/>
          </p:cNvSpPr>
          <p:nvPr/>
        </p:nvSpPr>
        <p:spPr bwMode="auto">
          <a:xfrm>
            <a:off x="457200" y="2514600"/>
            <a:ext cx="8153400" cy="376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30000"/>
              </a:spcBef>
            </a:pPr>
            <a:r>
              <a:rPr kumimoji="1" lang="en-US" altLang="zh-CN" sz="2800" b="1" dirty="0">
                <a:solidFill>
                  <a:srgbClr val="FF0000"/>
                </a:solidFill>
                <a:latin typeface="Times New Roman" panose="02020603050405020304" pitchFamily="18" charset="0"/>
              </a:rPr>
              <a:t>6.1 Proximity and orientation effect</a:t>
            </a:r>
          </a:p>
          <a:p>
            <a:pPr eaLnBrk="1" hangingPunct="1">
              <a:spcBef>
                <a:spcPct val="30000"/>
              </a:spcBef>
            </a:pPr>
            <a:r>
              <a:rPr kumimoji="1" lang="en-US" altLang="zh-CN" sz="2800" b="1" dirty="0">
                <a:latin typeface="Times New Roman" panose="02020603050405020304" pitchFamily="18" charset="0"/>
              </a:rPr>
              <a:t>      An enzyme could increase the rate of a reaction involving more than one substrate by binding the substrates at adjacent sites and therefore bringing them into close proximity with each other.</a:t>
            </a:r>
          </a:p>
          <a:p>
            <a:pPr eaLnBrk="1" hangingPunct="1">
              <a:spcBef>
                <a:spcPct val="30000"/>
              </a:spcBef>
            </a:pPr>
            <a:r>
              <a:rPr kumimoji="1" lang="en-US" altLang="zh-CN" sz="2800" b="1" dirty="0">
                <a:latin typeface="Times New Roman" panose="02020603050405020304" pitchFamily="18" charset="0"/>
              </a:rPr>
              <a:t>     The orientation of the reacting molecules with respect to each other can greatly influence the rate of reaction.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a:extLst>
              <a:ext uri="{FF2B5EF4-FFF2-40B4-BE49-F238E27FC236}">
                <a16:creationId xmlns:a16="http://schemas.microsoft.com/office/drawing/2014/main" id="{FA7750B4-8ED6-4EFA-91F1-8243258F59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9000" t="8667" r="9000" b="7333"/>
          <a:stretch>
            <a:fillRect/>
          </a:stretch>
        </p:blipFill>
        <p:spPr bwMode="auto">
          <a:xfrm>
            <a:off x="1066800" y="533400"/>
            <a:ext cx="7467600" cy="573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a:extLst>
              <a:ext uri="{FF2B5EF4-FFF2-40B4-BE49-F238E27FC236}">
                <a16:creationId xmlns:a16="http://schemas.microsoft.com/office/drawing/2014/main" id="{EDB4DEF3-A43A-4E55-AB2A-915D473E63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750" t="18750" r="18750" b="18750"/>
          <a:stretch>
            <a:fillRect/>
          </a:stretch>
        </p:blipFill>
        <p:spPr bwMode="auto">
          <a:xfrm>
            <a:off x="1066800" y="533400"/>
            <a:ext cx="7620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a:extLst>
              <a:ext uri="{FF2B5EF4-FFF2-40B4-BE49-F238E27FC236}">
                <a16:creationId xmlns:a16="http://schemas.microsoft.com/office/drawing/2014/main" id="{C8B6CD46-6249-44E5-8380-DCDFD8C5ACE2}"/>
              </a:ext>
            </a:extLst>
          </p:cNvPr>
          <p:cNvSpPr txBox="1">
            <a:spLocks noChangeArrowheads="1"/>
          </p:cNvSpPr>
          <p:nvPr/>
        </p:nvSpPr>
        <p:spPr bwMode="auto">
          <a:xfrm>
            <a:off x="381000" y="685800"/>
            <a:ext cx="8458200" cy="363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30000"/>
              </a:spcBef>
            </a:pPr>
            <a:r>
              <a:rPr kumimoji="1" lang="en-US" altLang="zh-CN" sz="2800" b="1" dirty="0">
                <a:solidFill>
                  <a:srgbClr val="FF0000"/>
                </a:solidFill>
                <a:latin typeface="Times New Roman" panose="02020603050405020304" pitchFamily="18" charset="0"/>
              </a:rPr>
              <a:t>6.2 Strain or distortion</a:t>
            </a:r>
          </a:p>
          <a:p>
            <a:pPr eaLnBrk="1" hangingPunct="1">
              <a:lnSpc>
                <a:spcPct val="80000"/>
              </a:lnSpc>
              <a:spcBef>
                <a:spcPct val="30000"/>
              </a:spcBef>
            </a:pPr>
            <a:r>
              <a:rPr kumimoji="1" lang="en-US" altLang="zh-CN" sz="2800" b="1" dirty="0">
                <a:latin typeface="Times New Roman" panose="02020603050405020304" pitchFamily="18" charset="0"/>
              </a:rPr>
              <a:t>	</a:t>
            </a:r>
          </a:p>
          <a:p>
            <a:pPr eaLnBrk="1" hangingPunct="1">
              <a:lnSpc>
                <a:spcPct val="80000"/>
              </a:lnSpc>
              <a:spcBef>
                <a:spcPct val="30000"/>
              </a:spcBef>
            </a:pPr>
            <a:endParaRPr kumimoji="1" lang="en-US" altLang="zh-CN" sz="2800" b="1" dirty="0">
              <a:latin typeface="Times New Roman" panose="02020603050405020304" pitchFamily="18" charset="0"/>
            </a:endParaRPr>
          </a:p>
          <a:p>
            <a:pPr eaLnBrk="1" hangingPunct="1">
              <a:spcBef>
                <a:spcPct val="30000"/>
              </a:spcBef>
            </a:pPr>
            <a:r>
              <a:rPr kumimoji="1" lang="en-US" altLang="zh-CN" sz="2800" b="1" dirty="0">
                <a:latin typeface="Times New Roman" panose="02020603050405020304" pitchFamily="18" charset="0"/>
              </a:rPr>
              <a:t>       The bonds in a substrate may be distorted on binding to the appropriate enzyme. This would speed up the reaction if the distortion (or strain) lowered the free energy of activation by making the geometry and electronic structure of the substrate.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a:extLst>
              <a:ext uri="{FF2B5EF4-FFF2-40B4-BE49-F238E27FC236}">
                <a16:creationId xmlns:a16="http://schemas.microsoft.com/office/drawing/2014/main" id="{397FBFDF-9AF5-4238-88DB-3FD05C05BE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04788"/>
            <a:ext cx="8382000" cy="627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a:extLst>
              <a:ext uri="{FF2B5EF4-FFF2-40B4-BE49-F238E27FC236}">
                <a16:creationId xmlns:a16="http://schemas.microsoft.com/office/drawing/2014/main" id="{15F48F94-CC0C-42AC-8E0A-429250F49113}"/>
              </a:ext>
            </a:extLst>
          </p:cNvPr>
          <p:cNvSpPr txBox="1">
            <a:spLocks noChangeArrowheads="1"/>
          </p:cNvSpPr>
          <p:nvPr/>
        </p:nvSpPr>
        <p:spPr bwMode="auto">
          <a:xfrm>
            <a:off x="381000" y="533400"/>
            <a:ext cx="8458200" cy="406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30000"/>
              </a:spcBef>
            </a:pPr>
            <a:r>
              <a:rPr kumimoji="1" lang="en-US" altLang="zh-CN" sz="2800" b="1" dirty="0">
                <a:solidFill>
                  <a:srgbClr val="FF0000"/>
                </a:solidFill>
                <a:latin typeface="Times New Roman" panose="02020603050405020304" pitchFamily="18" charset="0"/>
              </a:rPr>
              <a:t>6.3 Acid-base catalysis</a:t>
            </a:r>
          </a:p>
          <a:p>
            <a:pPr eaLnBrk="1" hangingPunct="1">
              <a:lnSpc>
                <a:spcPct val="80000"/>
              </a:lnSpc>
              <a:spcBef>
                <a:spcPct val="30000"/>
              </a:spcBef>
            </a:pPr>
            <a:r>
              <a:rPr kumimoji="1" lang="en-US" altLang="zh-CN" sz="2800" b="1" dirty="0">
                <a:latin typeface="Times New Roman" panose="02020603050405020304" pitchFamily="18" charset="0"/>
              </a:rPr>
              <a:t>	</a:t>
            </a:r>
          </a:p>
          <a:p>
            <a:pPr eaLnBrk="1" hangingPunct="1">
              <a:lnSpc>
                <a:spcPct val="80000"/>
              </a:lnSpc>
              <a:spcBef>
                <a:spcPct val="30000"/>
              </a:spcBef>
            </a:pPr>
            <a:endParaRPr kumimoji="1" lang="en-US" altLang="zh-CN" sz="2800" b="1" dirty="0">
              <a:latin typeface="Times New Roman" panose="02020603050405020304" pitchFamily="18" charset="0"/>
            </a:endParaRPr>
          </a:p>
          <a:p>
            <a:pPr eaLnBrk="1" hangingPunct="1">
              <a:lnSpc>
                <a:spcPct val="120000"/>
              </a:lnSpc>
              <a:spcBef>
                <a:spcPct val="30000"/>
              </a:spcBef>
            </a:pPr>
            <a:r>
              <a:rPr kumimoji="1" lang="en-US" altLang="zh-CN" sz="2800" b="1" dirty="0">
                <a:latin typeface="Times New Roman" panose="02020603050405020304" pitchFamily="18" charset="0"/>
              </a:rPr>
              <a:t>      Since enzymes contain a number of amino acid side-chains that are capable of acting as proton donors or acceptors, it is reasonable to suppose that acid-base catalysis would be important in enzyme-</a:t>
            </a:r>
            <a:r>
              <a:rPr kumimoji="1" lang="en-US" altLang="zh-CN" sz="2800" b="1" dirty="0" err="1">
                <a:latin typeface="Times New Roman" panose="02020603050405020304" pitchFamily="18" charset="0"/>
              </a:rPr>
              <a:t>catalysed</a:t>
            </a:r>
            <a:r>
              <a:rPr kumimoji="1" lang="en-US" altLang="zh-CN" sz="2800" b="1" dirty="0">
                <a:latin typeface="Times New Roman" panose="02020603050405020304" pitchFamily="18" charset="0"/>
              </a:rPr>
              <a:t>  reaction.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a:extLst>
              <a:ext uri="{FF2B5EF4-FFF2-40B4-BE49-F238E27FC236}">
                <a16:creationId xmlns:a16="http://schemas.microsoft.com/office/drawing/2014/main" id="{1A589152-8953-4B50-A4C7-D289B56F93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3300" y="711200"/>
            <a:ext cx="71374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descr="49033-14-12 copy">
            <a:extLst>
              <a:ext uri="{FF2B5EF4-FFF2-40B4-BE49-F238E27FC236}">
                <a16:creationId xmlns:a16="http://schemas.microsoft.com/office/drawing/2014/main" id="{EAAAA5ED-29A5-485B-BE4F-9137D467C221}"/>
              </a:ext>
            </a:extLst>
          </p:cNvPr>
          <p:cNvPicPr>
            <a:picLocks noChangeAspect="1" noChangeArrowheads="1"/>
          </p:cNvPicPr>
          <p:nvPr/>
        </p:nvPicPr>
        <p:blipFill>
          <a:blip r:embed="rId3">
            <a:lum bright="-12000" contrast="18000"/>
            <a:extLst>
              <a:ext uri="{28A0092B-C50C-407E-A947-70E740481C1C}">
                <a14:useLocalDpi xmlns:a14="http://schemas.microsoft.com/office/drawing/2010/main" val="0"/>
              </a:ext>
            </a:extLst>
          </a:blip>
          <a:srcRect/>
          <a:stretch>
            <a:fillRect/>
          </a:stretch>
        </p:blipFill>
        <p:spPr bwMode="auto">
          <a:xfrm>
            <a:off x="179388" y="2205038"/>
            <a:ext cx="8785225" cy="241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a:extLst>
              <a:ext uri="{FF2B5EF4-FFF2-40B4-BE49-F238E27FC236}">
                <a16:creationId xmlns:a16="http://schemas.microsoft.com/office/drawing/2014/main" id="{3732D89F-30B1-480D-8A5E-03B5DDF442C8}"/>
              </a:ext>
            </a:extLst>
          </p:cNvPr>
          <p:cNvSpPr txBox="1">
            <a:spLocks noChangeArrowheads="1"/>
          </p:cNvSpPr>
          <p:nvPr/>
        </p:nvSpPr>
        <p:spPr bwMode="auto">
          <a:xfrm>
            <a:off x="381000" y="533400"/>
            <a:ext cx="8458200"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30000"/>
              </a:spcBef>
            </a:pPr>
            <a:r>
              <a:rPr kumimoji="1" lang="en-US" altLang="zh-CN" sz="2800" b="1">
                <a:solidFill>
                  <a:srgbClr val="FF0000"/>
                </a:solidFill>
                <a:latin typeface="Times New Roman" panose="02020603050405020304" pitchFamily="18" charset="0"/>
              </a:rPr>
              <a:t>6.4 Covalent catalysis (intermediate formation)</a:t>
            </a:r>
          </a:p>
          <a:p>
            <a:pPr eaLnBrk="1" hangingPunct="1">
              <a:lnSpc>
                <a:spcPct val="80000"/>
              </a:lnSpc>
              <a:spcBef>
                <a:spcPct val="30000"/>
              </a:spcBef>
            </a:pPr>
            <a:r>
              <a:rPr kumimoji="1" lang="en-US" altLang="zh-CN" sz="2800" b="1">
                <a:latin typeface="Times New Roman" panose="02020603050405020304" pitchFamily="18" charset="0"/>
              </a:rPr>
              <a:t>	</a:t>
            </a:r>
          </a:p>
          <a:p>
            <a:pPr eaLnBrk="1" hangingPunct="1">
              <a:lnSpc>
                <a:spcPct val="80000"/>
              </a:lnSpc>
              <a:spcBef>
                <a:spcPct val="30000"/>
              </a:spcBef>
            </a:pPr>
            <a:endParaRPr kumimoji="1" lang="en-US" altLang="zh-CN" sz="2800" b="1">
              <a:latin typeface="Times New Roman" panose="02020603050405020304" pitchFamily="18" charset="0"/>
            </a:endParaRPr>
          </a:p>
          <a:p>
            <a:pPr eaLnBrk="1" hangingPunct="1">
              <a:lnSpc>
                <a:spcPct val="120000"/>
              </a:lnSpc>
              <a:spcBef>
                <a:spcPct val="30000"/>
              </a:spcBef>
            </a:pPr>
            <a:r>
              <a:rPr kumimoji="1" lang="en-US" altLang="zh-CN" sz="2800" b="1">
                <a:latin typeface="Times New Roman" panose="02020603050405020304" pitchFamily="18" charset="0"/>
              </a:rPr>
              <a:t>	In this type catalysis, a transient covalent bond is formed between the enzyme and the substrate. </a:t>
            </a:r>
          </a:p>
          <a:p>
            <a:pPr eaLnBrk="1" hangingPunct="1">
              <a:lnSpc>
                <a:spcPct val="120000"/>
              </a:lnSpc>
              <a:spcBef>
                <a:spcPct val="30000"/>
              </a:spcBef>
            </a:pPr>
            <a:r>
              <a:rPr kumimoji="1" lang="en-US" altLang="zh-CN" sz="2800" b="1">
                <a:latin typeface="Times New Roman" panose="02020603050405020304" pitchFamily="18" charset="0"/>
              </a:rPr>
              <a:t>         Reactions can be speed up by the formation of intermediates, provided that such intermediates are both rapidly formed and rapidly broken down.</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a:extLst>
              <a:ext uri="{FF2B5EF4-FFF2-40B4-BE49-F238E27FC236}">
                <a16:creationId xmlns:a16="http://schemas.microsoft.com/office/drawing/2014/main" id="{5F07F947-261F-4F04-B10A-364E21163A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1016000"/>
            <a:ext cx="8026400" cy="482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a:extLst>
              <a:ext uri="{FF2B5EF4-FFF2-40B4-BE49-F238E27FC236}">
                <a16:creationId xmlns:a16="http://schemas.microsoft.com/office/drawing/2014/main" id="{6357B3B3-0473-4608-B4C5-3A05877F24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816" t="18684" r="19009" b="19128"/>
          <a:stretch>
            <a:fillRect/>
          </a:stretch>
        </p:blipFill>
        <p:spPr bwMode="auto">
          <a:xfrm>
            <a:off x="1116013" y="404813"/>
            <a:ext cx="7775575" cy="58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a:extLst>
              <a:ext uri="{FF2B5EF4-FFF2-40B4-BE49-F238E27FC236}">
                <a16:creationId xmlns:a16="http://schemas.microsoft.com/office/drawing/2014/main" id="{4D04D34D-C6C9-4383-8965-C32F75F47E38}"/>
              </a:ext>
            </a:extLst>
          </p:cNvPr>
          <p:cNvSpPr txBox="1">
            <a:spLocks noChangeArrowheads="1"/>
          </p:cNvSpPr>
          <p:nvPr/>
        </p:nvSpPr>
        <p:spPr bwMode="auto">
          <a:xfrm>
            <a:off x="381000" y="457200"/>
            <a:ext cx="8458200" cy="560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30000"/>
              </a:spcBef>
            </a:pPr>
            <a:r>
              <a:rPr kumimoji="1" lang="en-US" altLang="zh-CN" sz="2800" b="1" dirty="0">
                <a:solidFill>
                  <a:srgbClr val="FF0000"/>
                </a:solidFill>
                <a:latin typeface="Times New Roman" panose="02020603050405020304" pitchFamily="18" charset="0"/>
              </a:rPr>
              <a:t>6.5 Changes in environment</a:t>
            </a:r>
          </a:p>
          <a:p>
            <a:pPr eaLnBrk="1" hangingPunct="1">
              <a:lnSpc>
                <a:spcPct val="80000"/>
              </a:lnSpc>
              <a:spcBef>
                <a:spcPct val="30000"/>
              </a:spcBef>
            </a:pPr>
            <a:endParaRPr kumimoji="1" lang="en-US" altLang="zh-CN" sz="2800" b="1" dirty="0">
              <a:latin typeface="Times New Roman" panose="02020603050405020304" pitchFamily="18" charset="0"/>
            </a:endParaRPr>
          </a:p>
          <a:p>
            <a:pPr eaLnBrk="1" hangingPunct="1">
              <a:lnSpc>
                <a:spcPct val="80000"/>
              </a:lnSpc>
              <a:spcBef>
                <a:spcPct val="30000"/>
              </a:spcBef>
            </a:pPr>
            <a:endParaRPr kumimoji="1" lang="en-US" altLang="zh-CN" sz="2800" b="1" dirty="0">
              <a:latin typeface="Times New Roman" panose="02020603050405020304" pitchFamily="18" charset="0"/>
            </a:endParaRPr>
          </a:p>
          <a:p>
            <a:pPr eaLnBrk="1" hangingPunct="1">
              <a:lnSpc>
                <a:spcPct val="120000"/>
              </a:lnSpc>
              <a:spcBef>
                <a:spcPct val="30000"/>
              </a:spcBef>
            </a:pPr>
            <a:r>
              <a:rPr kumimoji="1" lang="en-US" altLang="zh-CN" sz="2800" b="1" dirty="0">
                <a:latin typeface="Times New Roman" panose="02020603050405020304" pitchFamily="18" charset="0"/>
              </a:rPr>
              <a:t>	X-ray crystallographic studies show that enzymes are capable of providing unusual environments for reactions. For instance, in the case of lysozyme, the cleft in the molecule that forms the substrate-binding site is lined by a number of non-polar amino acid side-chains; these clearly provide an environment markedly different from that of the solvent water.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descr="49033-14-05 copy">
            <a:extLst>
              <a:ext uri="{FF2B5EF4-FFF2-40B4-BE49-F238E27FC236}">
                <a16:creationId xmlns:a16="http://schemas.microsoft.com/office/drawing/2014/main" id="{1F594695-4364-4DBD-BFAC-D2A538DF1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060575"/>
            <a:ext cx="7620000"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descr="49033-14-06 copy">
            <a:extLst>
              <a:ext uri="{FF2B5EF4-FFF2-40B4-BE49-F238E27FC236}">
                <a16:creationId xmlns:a16="http://schemas.microsoft.com/office/drawing/2014/main" id="{F9079238-243F-4F51-AF21-6A80F3CA39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2349500"/>
            <a:ext cx="7620000" cy="348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a:extLst>
              <a:ext uri="{FF2B5EF4-FFF2-40B4-BE49-F238E27FC236}">
                <a16:creationId xmlns:a16="http://schemas.microsoft.com/office/drawing/2014/main" id="{6E0DC0CA-51E8-497D-B836-51C44A510B94}"/>
              </a:ext>
            </a:extLst>
          </p:cNvPr>
          <p:cNvSpPr txBox="1">
            <a:spLocks noChangeArrowheads="1"/>
          </p:cNvSpPr>
          <p:nvPr/>
        </p:nvSpPr>
        <p:spPr bwMode="auto">
          <a:xfrm>
            <a:off x="533400" y="2286000"/>
            <a:ext cx="7924800"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rPr>
              <a:t>An enzyme may use a </a:t>
            </a:r>
            <a:r>
              <a:rPr kumimoji="1" lang="en-US" altLang="zh-CN" sz="2800" b="1" dirty="0">
                <a:solidFill>
                  <a:srgbClr val="FF0066"/>
                </a:solidFill>
                <a:latin typeface="Times New Roman" panose="02020603050405020304" pitchFamily="18" charset="0"/>
              </a:rPr>
              <a:t>combination of several catalytic strategies</a:t>
            </a:r>
            <a:r>
              <a:rPr kumimoji="1" lang="en-US" altLang="zh-CN" sz="2800" b="1" dirty="0">
                <a:latin typeface="Times New Roman" panose="02020603050405020304" pitchFamily="18" charset="0"/>
              </a:rPr>
              <a:t> to bring about a rate enhancement.</a:t>
            </a:r>
          </a:p>
          <a:p>
            <a:pPr eaLnBrk="1" hangingPunct="1">
              <a:spcBef>
                <a:spcPct val="50000"/>
              </a:spcBef>
            </a:pPr>
            <a:r>
              <a:rPr kumimoji="1" lang="en-US" altLang="zh-CN" sz="2800" b="1" dirty="0">
                <a:latin typeface="Times New Roman" panose="02020603050405020304" pitchFamily="18" charset="0"/>
              </a:rPr>
              <a:t>	Chymotrypsin uses both covalent catalysis and general acid-base catalysis.</a:t>
            </a:r>
            <a:endParaRPr kumimoji="1" lang="en-US" altLang="zh-CN" sz="2400" dirty="0">
              <a:latin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a:extLst>
              <a:ext uri="{FF2B5EF4-FFF2-40B4-BE49-F238E27FC236}">
                <a16:creationId xmlns:a16="http://schemas.microsoft.com/office/drawing/2014/main" id="{CFC2E555-36F9-45B9-AFD6-A436CF9F3C8B}"/>
              </a:ext>
            </a:extLst>
          </p:cNvPr>
          <p:cNvSpPr txBox="1">
            <a:spLocks noChangeArrowheads="1"/>
          </p:cNvSpPr>
          <p:nvPr/>
        </p:nvSpPr>
        <p:spPr bwMode="auto">
          <a:xfrm>
            <a:off x="914400" y="228600"/>
            <a:ext cx="7772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3600" dirty="0">
                <a:solidFill>
                  <a:srgbClr val="FF0000"/>
                </a:solidFill>
                <a:latin typeface="Tahoma" panose="020B0604030504040204" pitchFamily="34" charset="0"/>
                <a:ea typeface="华文中宋" panose="02010600040101010101" pitchFamily="2" charset="-122"/>
              </a:rPr>
              <a:t>作用机理实例</a:t>
            </a:r>
            <a:r>
              <a:rPr kumimoji="1" lang="en-US" altLang="zh-CN" sz="3600" dirty="0">
                <a:solidFill>
                  <a:srgbClr val="FF0000"/>
                </a:solidFill>
                <a:latin typeface="Times New Roman" panose="02020603050405020304" pitchFamily="18" charset="0"/>
                <a:ea typeface="华文中宋" panose="02010600040101010101" pitchFamily="2" charset="-122"/>
              </a:rPr>
              <a:t>——</a:t>
            </a:r>
            <a:r>
              <a:rPr kumimoji="1" lang="zh-CN" altLang="en-US" sz="3600" dirty="0">
                <a:solidFill>
                  <a:srgbClr val="FF0000"/>
                </a:solidFill>
                <a:latin typeface="Tahoma" panose="020B0604030504040204" pitchFamily="34" charset="0"/>
                <a:ea typeface="华文中宋" panose="02010600040101010101" pitchFamily="2" charset="-122"/>
              </a:rPr>
              <a:t>胰凝乳蛋白酶</a:t>
            </a:r>
          </a:p>
        </p:txBody>
      </p:sp>
      <p:pic>
        <p:nvPicPr>
          <p:cNvPr id="81923" name="Picture 3" descr="8-21-1">
            <a:extLst>
              <a:ext uri="{FF2B5EF4-FFF2-40B4-BE49-F238E27FC236}">
                <a16:creationId xmlns:a16="http://schemas.microsoft.com/office/drawing/2014/main" id="{724D01E9-3DD7-4C48-A478-AE41141BC276}"/>
              </a:ext>
            </a:extLst>
          </p:cNvPr>
          <p:cNvPicPr>
            <a:picLocks noChangeAspect="1" noChangeArrowheads="1"/>
          </p:cNvPicPr>
          <p:nvPr/>
        </p:nvPicPr>
        <p:blipFill>
          <a:blip r:embed="rId3">
            <a:lum contrast="48000"/>
            <a:extLst>
              <a:ext uri="{28A0092B-C50C-407E-A947-70E740481C1C}">
                <a14:useLocalDpi xmlns:a14="http://schemas.microsoft.com/office/drawing/2010/main" val="0"/>
              </a:ext>
            </a:extLst>
          </a:blip>
          <a:srcRect t="2409" b="4819"/>
          <a:stretch>
            <a:fillRect/>
          </a:stretch>
        </p:blipFill>
        <p:spPr bwMode="auto">
          <a:xfrm>
            <a:off x="2547938" y="962025"/>
            <a:ext cx="49530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6FCD584-0447-4BCE-BC1C-0E524C3D2289}"/>
              </a:ext>
            </a:extLst>
          </p:cNvPr>
          <p:cNvPicPr>
            <a:picLocks noChangeAspect="1"/>
          </p:cNvPicPr>
          <p:nvPr/>
        </p:nvPicPr>
        <p:blipFill>
          <a:blip r:embed="rId2"/>
          <a:stretch>
            <a:fillRect/>
          </a:stretch>
        </p:blipFill>
        <p:spPr>
          <a:xfrm>
            <a:off x="899592" y="0"/>
            <a:ext cx="1639201" cy="6858000"/>
          </a:xfrm>
          <a:prstGeom prst="rect">
            <a:avLst/>
          </a:prstGeom>
        </p:spPr>
      </p:pic>
      <p:pic>
        <p:nvPicPr>
          <p:cNvPr id="3" name="图片 2">
            <a:extLst>
              <a:ext uri="{FF2B5EF4-FFF2-40B4-BE49-F238E27FC236}">
                <a16:creationId xmlns:a16="http://schemas.microsoft.com/office/drawing/2014/main" id="{1F476EB4-00F3-49AB-BD2E-E33C709666BC}"/>
              </a:ext>
            </a:extLst>
          </p:cNvPr>
          <p:cNvPicPr>
            <a:picLocks noChangeAspect="1"/>
          </p:cNvPicPr>
          <p:nvPr/>
        </p:nvPicPr>
        <p:blipFill>
          <a:blip r:embed="rId3"/>
          <a:stretch>
            <a:fillRect/>
          </a:stretch>
        </p:blipFill>
        <p:spPr>
          <a:xfrm>
            <a:off x="2722343" y="197171"/>
            <a:ext cx="1849657" cy="2966977"/>
          </a:xfrm>
          <a:prstGeom prst="rect">
            <a:avLst/>
          </a:prstGeom>
        </p:spPr>
      </p:pic>
      <p:pic>
        <p:nvPicPr>
          <p:cNvPr id="4" name="图片 3">
            <a:extLst>
              <a:ext uri="{FF2B5EF4-FFF2-40B4-BE49-F238E27FC236}">
                <a16:creationId xmlns:a16="http://schemas.microsoft.com/office/drawing/2014/main" id="{FF9C867C-C126-4ECF-89FF-346EB95010A2}"/>
              </a:ext>
            </a:extLst>
          </p:cNvPr>
          <p:cNvPicPr>
            <a:picLocks noChangeAspect="1"/>
          </p:cNvPicPr>
          <p:nvPr/>
        </p:nvPicPr>
        <p:blipFill>
          <a:blip r:embed="rId4"/>
          <a:stretch>
            <a:fillRect/>
          </a:stretch>
        </p:blipFill>
        <p:spPr>
          <a:xfrm>
            <a:off x="2564507" y="3429000"/>
            <a:ext cx="2520280" cy="2670200"/>
          </a:xfrm>
          <a:prstGeom prst="rect">
            <a:avLst/>
          </a:prstGeom>
        </p:spPr>
      </p:pic>
    </p:spTree>
    <p:extLst>
      <p:ext uri="{BB962C8B-B14F-4D97-AF65-F5344CB8AC3E}">
        <p14:creationId xmlns:p14="http://schemas.microsoft.com/office/powerpoint/2010/main" val="9115868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a:extLst>
              <a:ext uri="{FF2B5EF4-FFF2-40B4-BE49-F238E27FC236}">
                <a16:creationId xmlns:a16="http://schemas.microsoft.com/office/drawing/2014/main" id="{C3F815A7-B7F1-4A83-9431-0A2E60213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813" t="1042" r="26563" b="23958"/>
          <a:stretch>
            <a:fillRect/>
          </a:stretch>
        </p:blipFill>
        <p:spPr bwMode="auto">
          <a:xfrm>
            <a:off x="1447800" y="762000"/>
            <a:ext cx="6781800" cy="581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2">
            <a:extLst>
              <a:ext uri="{FF2B5EF4-FFF2-40B4-BE49-F238E27FC236}">
                <a16:creationId xmlns:a16="http://schemas.microsoft.com/office/drawing/2014/main" id="{99F238E1-0DF6-4849-A47C-B949C2D2D178}"/>
              </a:ext>
            </a:extLst>
          </p:cNvPr>
          <p:cNvPicPr>
            <a:picLocks noChangeAspect="1" noChangeArrowheads="1"/>
          </p:cNvPicPr>
          <p:nvPr/>
        </p:nvPicPr>
        <p:blipFill>
          <a:blip r:embed="rId2">
            <a:lum bright="-12000" contrast="24000"/>
            <a:extLst>
              <a:ext uri="{28A0092B-C50C-407E-A947-70E740481C1C}">
                <a14:useLocalDpi xmlns:a14="http://schemas.microsoft.com/office/drawing/2010/main" val="0"/>
              </a:ext>
            </a:extLst>
          </a:blip>
          <a:srcRect l="9375" t="3125" r="29688" b="26042"/>
          <a:stretch>
            <a:fillRect/>
          </a:stretch>
        </p:blipFill>
        <p:spPr bwMode="auto">
          <a:xfrm>
            <a:off x="1981200" y="1447800"/>
            <a:ext cx="59436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1" name="Text Box 3">
            <a:extLst>
              <a:ext uri="{FF2B5EF4-FFF2-40B4-BE49-F238E27FC236}">
                <a16:creationId xmlns:a16="http://schemas.microsoft.com/office/drawing/2014/main" id="{76384185-A7BD-407D-B86D-1263BDC4DD71}"/>
              </a:ext>
            </a:extLst>
          </p:cNvPr>
          <p:cNvSpPr txBox="1">
            <a:spLocks noChangeArrowheads="1"/>
          </p:cNvSpPr>
          <p:nvPr/>
        </p:nvSpPr>
        <p:spPr bwMode="auto">
          <a:xfrm>
            <a:off x="1143000" y="533400"/>
            <a:ext cx="693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华文中宋" panose="02010600040101010101" pitchFamily="2" charset="-122"/>
                <a:ea typeface="华文中宋" panose="02010600040101010101" pitchFamily="2" charset="-122"/>
              </a:rPr>
              <a:t>1. </a:t>
            </a:r>
            <a:r>
              <a:rPr kumimoji="1" lang="zh-CN" altLang="en-US" sz="2400">
                <a:latin typeface="华文中宋" panose="02010600040101010101" pitchFamily="2" charset="-122"/>
                <a:ea typeface="华文中宋" panose="02010600040101010101" pitchFamily="2" charset="-122"/>
              </a:rPr>
              <a:t>通过电荷转移，使</a:t>
            </a:r>
            <a:r>
              <a:rPr kumimoji="1" lang="en-US" altLang="zh-CN" sz="2400">
                <a:latin typeface="华文中宋" panose="02010600040101010101" pitchFamily="2" charset="-122"/>
                <a:ea typeface="华文中宋" panose="02010600040101010101" pitchFamily="2" charset="-122"/>
              </a:rPr>
              <a:t>Ser</a:t>
            </a:r>
            <a:r>
              <a:rPr kumimoji="1" lang="zh-CN" altLang="en-US" sz="2400">
                <a:latin typeface="华文中宋" panose="02010600040101010101" pitchFamily="2" charset="-122"/>
                <a:ea typeface="华文中宋" panose="02010600040101010101" pitchFamily="2" charset="-122"/>
              </a:rPr>
              <a:t>有更强的亲核力</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2">
            <a:extLst>
              <a:ext uri="{FF2B5EF4-FFF2-40B4-BE49-F238E27FC236}">
                <a16:creationId xmlns:a16="http://schemas.microsoft.com/office/drawing/2014/main" id="{F106DCF6-DAAD-4FEE-AECA-67B8733A728E}"/>
              </a:ext>
            </a:extLst>
          </p:cNvPr>
          <p:cNvSpPr txBox="1">
            <a:spLocks noChangeArrowheads="1"/>
          </p:cNvSpPr>
          <p:nvPr/>
        </p:nvSpPr>
        <p:spPr bwMode="auto">
          <a:xfrm>
            <a:off x="1371600" y="990600"/>
            <a:ext cx="640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华文中宋" panose="02010600040101010101" pitchFamily="2" charset="-122"/>
                <a:ea typeface="华文中宋" panose="02010600040101010101" pitchFamily="2" charset="-122"/>
              </a:rPr>
              <a:t>2. </a:t>
            </a:r>
            <a:r>
              <a:rPr kumimoji="1" lang="zh-CN" altLang="en-US" sz="2400">
                <a:latin typeface="华文中宋" panose="02010600040101010101" pitchFamily="2" charset="-122"/>
                <a:ea typeface="华文中宋" panose="02010600040101010101" pitchFamily="2" charset="-122"/>
              </a:rPr>
              <a:t>形成酰化酶，放出产物</a:t>
            </a:r>
            <a:r>
              <a:rPr kumimoji="1" lang="en-US" altLang="zh-CN" sz="2400">
                <a:latin typeface="华文中宋" panose="02010600040101010101" pitchFamily="2" charset="-122"/>
                <a:ea typeface="华文中宋" panose="02010600040101010101" pitchFamily="2" charset="-122"/>
              </a:rPr>
              <a:t>P1</a:t>
            </a:r>
          </a:p>
        </p:txBody>
      </p:sp>
      <p:pic>
        <p:nvPicPr>
          <p:cNvPr id="84995" name="Picture 3">
            <a:extLst>
              <a:ext uri="{FF2B5EF4-FFF2-40B4-BE49-F238E27FC236}">
                <a16:creationId xmlns:a16="http://schemas.microsoft.com/office/drawing/2014/main" id="{16E7C25C-7A4B-4543-A082-6106160FD4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0938" r="20313" b="27605"/>
          <a:stretch>
            <a:fillRect/>
          </a:stretch>
        </p:blipFill>
        <p:spPr bwMode="auto">
          <a:xfrm>
            <a:off x="685800" y="1752600"/>
            <a:ext cx="8382000" cy="484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a:extLst>
              <a:ext uri="{FF2B5EF4-FFF2-40B4-BE49-F238E27FC236}">
                <a16:creationId xmlns:a16="http://schemas.microsoft.com/office/drawing/2014/main" id="{A948FD18-61D9-4766-A70C-B88F1A32A170}"/>
              </a:ext>
            </a:extLst>
          </p:cNvPr>
          <p:cNvSpPr txBox="1">
            <a:spLocks noChangeArrowheads="1"/>
          </p:cNvSpPr>
          <p:nvPr/>
        </p:nvSpPr>
        <p:spPr bwMode="auto">
          <a:xfrm>
            <a:off x="1371600" y="990600"/>
            <a:ext cx="647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华文中宋" panose="02010600040101010101" pitchFamily="2" charset="-122"/>
                <a:ea typeface="华文中宋" panose="02010600040101010101" pitchFamily="2" charset="-122"/>
              </a:rPr>
              <a:t>3. </a:t>
            </a:r>
            <a:r>
              <a:rPr kumimoji="1" lang="zh-CN" altLang="en-US" sz="2400">
                <a:latin typeface="华文中宋" panose="02010600040101010101" pitchFamily="2" charset="-122"/>
                <a:ea typeface="华文中宋" panose="02010600040101010101" pitchFamily="2" charset="-122"/>
              </a:rPr>
              <a:t>脱酰（水解），形成产物</a:t>
            </a:r>
            <a:r>
              <a:rPr kumimoji="1" lang="en-US" altLang="zh-CN" sz="2400">
                <a:latin typeface="华文中宋" panose="02010600040101010101" pitchFamily="2" charset="-122"/>
                <a:ea typeface="华文中宋" panose="02010600040101010101" pitchFamily="2" charset="-122"/>
              </a:rPr>
              <a:t>P2</a:t>
            </a:r>
          </a:p>
        </p:txBody>
      </p:sp>
      <p:pic>
        <p:nvPicPr>
          <p:cNvPr id="86019" name="Picture 3">
            <a:extLst>
              <a:ext uri="{FF2B5EF4-FFF2-40B4-BE49-F238E27FC236}">
                <a16:creationId xmlns:a16="http://schemas.microsoft.com/office/drawing/2014/main" id="{1E72F608-E15D-4CDF-846B-DDD9C65AACA5}"/>
              </a:ext>
            </a:extLst>
          </p:cNvPr>
          <p:cNvPicPr>
            <a:picLocks noChangeAspect="1" noChangeArrowheads="1"/>
          </p:cNvPicPr>
          <p:nvPr/>
        </p:nvPicPr>
        <p:blipFill>
          <a:blip r:embed="rId3">
            <a:lum bright="-30000" contrast="42000"/>
            <a:extLst>
              <a:ext uri="{28A0092B-C50C-407E-A947-70E740481C1C}">
                <a14:useLocalDpi xmlns:a14="http://schemas.microsoft.com/office/drawing/2010/main" val="0"/>
              </a:ext>
            </a:extLst>
          </a:blip>
          <a:srcRect t="8333" r="21875" b="33333"/>
          <a:stretch>
            <a:fillRect/>
          </a:stretch>
        </p:blipFill>
        <p:spPr bwMode="auto">
          <a:xfrm>
            <a:off x="609600" y="1752600"/>
            <a:ext cx="8382000" cy="469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a:extLst>
              <a:ext uri="{FF2B5EF4-FFF2-40B4-BE49-F238E27FC236}">
                <a16:creationId xmlns:a16="http://schemas.microsoft.com/office/drawing/2014/main" id="{390D0527-6033-42B9-B8B8-03B76B0DD1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7525" y="327025"/>
            <a:ext cx="5568950" cy="615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2">
            <a:extLst>
              <a:ext uri="{FF2B5EF4-FFF2-40B4-BE49-F238E27FC236}">
                <a16:creationId xmlns:a16="http://schemas.microsoft.com/office/drawing/2014/main" id="{EA456859-3425-43A5-AA86-E6AE3C5395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476250"/>
            <a:ext cx="5935663" cy="581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a:extLst>
              <a:ext uri="{FF2B5EF4-FFF2-40B4-BE49-F238E27FC236}">
                <a16:creationId xmlns:a16="http://schemas.microsoft.com/office/drawing/2014/main" id="{3C0B8F04-0427-458E-A8C7-2FF6F1548DB1}"/>
              </a:ext>
            </a:extLst>
          </p:cNvPr>
          <p:cNvSpPr txBox="1">
            <a:spLocks noChangeArrowheads="1"/>
          </p:cNvSpPr>
          <p:nvPr/>
        </p:nvSpPr>
        <p:spPr bwMode="auto">
          <a:xfrm>
            <a:off x="228600" y="1524000"/>
            <a:ext cx="8610600" cy="47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AutoNum type="arabicPeriod"/>
            </a:pPr>
            <a:r>
              <a:rPr kumimoji="1" lang="en-US" altLang="zh-CN" sz="3200" b="1" dirty="0">
                <a:solidFill>
                  <a:srgbClr val="FF0066"/>
                </a:solidFill>
                <a:latin typeface="Times New Roman" panose="02020603050405020304" pitchFamily="18" charset="0"/>
              </a:rPr>
              <a:t>Michaelis-Menten equation reflects the kinetic behavior of many enzymes</a:t>
            </a:r>
          </a:p>
          <a:p>
            <a:pPr eaLnBrk="1" hangingPunct="1">
              <a:spcBef>
                <a:spcPct val="50000"/>
              </a:spcBef>
            </a:pPr>
            <a:r>
              <a:rPr kumimoji="1" lang="en-US" altLang="zh-CN" sz="3200" b="1" dirty="0">
                <a:latin typeface="Times New Roman" panose="02020603050405020304" pitchFamily="18" charset="0"/>
              </a:rPr>
              <a:t>            1.1 Saturation effect was observed in enzyme catalysis when plotting the </a:t>
            </a:r>
            <a:r>
              <a:rPr kumimoji="1" lang="en-US" altLang="zh-CN" sz="3200" b="1" dirty="0">
                <a:solidFill>
                  <a:srgbClr val="FF0066"/>
                </a:solidFill>
                <a:latin typeface="Times New Roman" panose="02020603050405020304" pitchFamily="18" charset="0"/>
              </a:rPr>
              <a:t>initial velocity (V</a:t>
            </a:r>
            <a:r>
              <a:rPr kumimoji="1" lang="en-US" altLang="zh-CN" sz="3200" b="1" baseline="-25000" dirty="0">
                <a:solidFill>
                  <a:srgbClr val="FF0066"/>
                </a:solidFill>
                <a:latin typeface="Times New Roman" panose="02020603050405020304" pitchFamily="18" charset="0"/>
              </a:rPr>
              <a:t>o</a:t>
            </a:r>
            <a:r>
              <a:rPr kumimoji="1" lang="en-US" altLang="zh-CN" sz="3200" b="1" dirty="0">
                <a:solidFill>
                  <a:srgbClr val="FF0066"/>
                </a:solidFill>
                <a:latin typeface="Times New Roman" panose="02020603050405020304" pitchFamily="18" charset="0"/>
              </a:rPr>
              <a:t>) </a:t>
            </a:r>
            <a:r>
              <a:rPr kumimoji="1" lang="en-US" altLang="zh-CN" sz="3200" b="1" dirty="0">
                <a:latin typeface="Times New Roman" panose="02020603050405020304" pitchFamily="18" charset="0"/>
              </a:rPr>
              <a:t>against the substrate concentration ([S]).</a:t>
            </a:r>
          </a:p>
          <a:p>
            <a:pPr eaLnBrk="1" hangingPunct="1">
              <a:lnSpc>
                <a:spcPct val="85000"/>
              </a:lnSpc>
              <a:spcBef>
                <a:spcPct val="50000"/>
              </a:spcBef>
            </a:pPr>
            <a:r>
              <a:rPr kumimoji="1" lang="en-US" altLang="zh-CN" sz="2800" b="1" dirty="0">
                <a:latin typeface="Times New Roman" panose="02020603050405020304" pitchFamily="18" charset="0"/>
              </a:rPr>
              <a:t>             </a:t>
            </a:r>
            <a:r>
              <a:rPr kumimoji="1" lang="en-US" altLang="zh-CN" sz="3200" b="1" dirty="0">
                <a:latin typeface="Times New Roman" panose="02020603050405020304" pitchFamily="18" charset="0"/>
              </a:rPr>
              <a:t>1.2 The ES complex was proposed to be </a:t>
            </a:r>
            <a:r>
              <a:rPr kumimoji="1" lang="en-US" altLang="zh-CN" sz="3200" b="1" dirty="0">
                <a:solidFill>
                  <a:srgbClr val="FF0066"/>
                </a:solidFill>
                <a:latin typeface="Times New Roman" panose="02020603050405020304" pitchFamily="18" charset="0"/>
              </a:rPr>
              <a:t>a necessary step</a:t>
            </a:r>
            <a:r>
              <a:rPr kumimoji="1" lang="en-US" altLang="zh-CN" sz="3200" b="1" dirty="0">
                <a:latin typeface="Times New Roman" panose="02020603050405020304" pitchFamily="18" charset="0"/>
              </a:rPr>
              <a:t> in enzyme catalysis based on this kinetic pattern.</a:t>
            </a:r>
            <a:endParaRPr kumimoji="1" lang="en-US" altLang="zh-CN" sz="3200" dirty="0">
              <a:latin typeface="Times New Roman" panose="02020603050405020304" pitchFamily="18" charset="0"/>
            </a:endParaRPr>
          </a:p>
        </p:txBody>
      </p:sp>
      <p:sp>
        <p:nvSpPr>
          <p:cNvPr id="89091" name="Text Box 3">
            <a:extLst>
              <a:ext uri="{FF2B5EF4-FFF2-40B4-BE49-F238E27FC236}">
                <a16:creationId xmlns:a16="http://schemas.microsoft.com/office/drawing/2014/main" id="{0863CEC1-5E0F-4C38-9030-61B676289267}"/>
              </a:ext>
            </a:extLst>
          </p:cNvPr>
          <p:cNvSpPr txBox="1">
            <a:spLocks noChangeArrowheads="1"/>
          </p:cNvSpPr>
          <p:nvPr/>
        </p:nvSpPr>
        <p:spPr bwMode="auto">
          <a:xfrm>
            <a:off x="381000" y="609600"/>
            <a:ext cx="8077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4000" dirty="0">
                <a:latin typeface="Times New Roman" panose="02020603050405020304" pitchFamily="18" charset="0"/>
              </a:rPr>
              <a:t>C3  Enzyme Kinetics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C39D104-D70B-4A0E-9D92-5AC3E80AAAF7}"/>
              </a:ext>
            </a:extLst>
          </p:cNvPr>
          <p:cNvSpPr>
            <a:spLocks noGrp="1" noChangeArrowheads="1"/>
          </p:cNvSpPr>
          <p:nvPr>
            <p:ph type="title"/>
          </p:nvPr>
        </p:nvSpPr>
        <p:spPr>
          <a:xfrm>
            <a:off x="323850" y="260350"/>
            <a:ext cx="8540750" cy="1143000"/>
          </a:xfrm>
        </p:spPr>
        <p:txBody>
          <a:bodyPr/>
          <a:lstStyle/>
          <a:p>
            <a:pPr eaLnBrk="1" hangingPunct="1"/>
            <a:r>
              <a:rPr lang="zh-CN" altLang="en-US" sz="2800" b="1" dirty="0">
                <a:solidFill>
                  <a:schemeClr val="tx1"/>
                </a:solidFill>
              </a:rPr>
              <a:t>酶促反应速度的测量</a:t>
            </a:r>
            <a:br>
              <a:rPr lang="en-US" altLang="zh-CN" sz="2800" b="1" dirty="0">
                <a:solidFill>
                  <a:schemeClr val="tx1"/>
                </a:solidFill>
              </a:rPr>
            </a:br>
            <a:r>
              <a:rPr lang="zh-CN" altLang="en-US" sz="2800" b="1" dirty="0">
                <a:solidFill>
                  <a:srgbClr val="FF0000"/>
                </a:solidFill>
              </a:rPr>
              <a:t>（酶促反应初始速率</a:t>
            </a:r>
            <a:r>
              <a:rPr lang="en-US" altLang="zh-CN" sz="2800" b="1" dirty="0">
                <a:solidFill>
                  <a:srgbClr val="FF0000"/>
                </a:solidFill>
              </a:rPr>
              <a:t>initial rate or initial velocity</a:t>
            </a:r>
            <a:r>
              <a:rPr lang="zh-CN" altLang="en-US" sz="2800" b="1" dirty="0">
                <a:solidFill>
                  <a:srgbClr val="FF0000"/>
                </a:solidFill>
              </a:rPr>
              <a:t>）</a:t>
            </a:r>
          </a:p>
        </p:txBody>
      </p:sp>
      <p:grpSp>
        <p:nvGrpSpPr>
          <p:cNvPr id="90115" name="Group 3">
            <a:extLst>
              <a:ext uri="{FF2B5EF4-FFF2-40B4-BE49-F238E27FC236}">
                <a16:creationId xmlns:a16="http://schemas.microsoft.com/office/drawing/2014/main" id="{6A1C00B0-DE7B-4550-A9B8-29808694F1F7}"/>
              </a:ext>
            </a:extLst>
          </p:cNvPr>
          <p:cNvGrpSpPr>
            <a:grpSpLocks/>
          </p:cNvGrpSpPr>
          <p:nvPr/>
        </p:nvGrpSpPr>
        <p:grpSpPr bwMode="auto">
          <a:xfrm>
            <a:off x="1187450" y="1484313"/>
            <a:ext cx="6985000" cy="5040312"/>
            <a:chOff x="748" y="935"/>
            <a:chExt cx="4400" cy="3175"/>
          </a:xfrm>
        </p:grpSpPr>
        <p:sp>
          <p:nvSpPr>
            <p:cNvPr id="90116" name="Rectangle 4">
              <a:extLst>
                <a:ext uri="{FF2B5EF4-FFF2-40B4-BE49-F238E27FC236}">
                  <a16:creationId xmlns:a16="http://schemas.microsoft.com/office/drawing/2014/main" id="{B4A1695B-5B25-4D4E-8941-2C6B7E4B35E1}"/>
                </a:ext>
              </a:extLst>
            </p:cNvPr>
            <p:cNvSpPr>
              <a:spLocks noChangeArrowheads="1"/>
            </p:cNvSpPr>
            <p:nvPr/>
          </p:nvSpPr>
          <p:spPr bwMode="auto">
            <a:xfrm>
              <a:off x="748" y="935"/>
              <a:ext cx="4400" cy="3175"/>
            </a:xfrm>
            <a:prstGeom prst="rect">
              <a:avLst/>
            </a:prstGeom>
            <a:solidFill>
              <a:schemeClr val="accent1"/>
            </a:solidFill>
            <a:ln w="9525">
              <a:solidFill>
                <a:schemeClr val="accent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0117" name="Line 5">
              <a:extLst>
                <a:ext uri="{FF2B5EF4-FFF2-40B4-BE49-F238E27FC236}">
                  <a16:creationId xmlns:a16="http://schemas.microsoft.com/office/drawing/2014/main" id="{F13FBB89-09EC-4F5C-8804-9294C9B4A498}"/>
                </a:ext>
              </a:extLst>
            </p:cNvPr>
            <p:cNvSpPr>
              <a:spLocks noChangeShapeType="1"/>
            </p:cNvSpPr>
            <p:nvPr/>
          </p:nvSpPr>
          <p:spPr bwMode="auto">
            <a:xfrm>
              <a:off x="1610" y="1207"/>
              <a:ext cx="12" cy="2383"/>
            </a:xfrm>
            <a:prstGeom prst="line">
              <a:avLst/>
            </a:prstGeom>
            <a:noFill/>
            <a:ln w="19050">
              <a:solidFill>
                <a:schemeClr val="tx1"/>
              </a:solidFill>
              <a:miter lim="800000"/>
              <a:headEnd type="arrow"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0118" name="Line 6">
              <a:extLst>
                <a:ext uri="{FF2B5EF4-FFF2-40B4-BE49-F238E27FC236}">
                  <a16:creationId xmlns:a16="http://schemas.microsoft.com/office/drawing/2014/main" id="{71D5D914-FA87-49E8-B24D-041E26718668}"/>
                </a:ext>
              </a:extLst>
            </p:cNvPr>
            <p:cNvSpPr>
              <a:spLocks noChangeShapeType="1"/>
            </p:cNvSpPr>
            <p:nvPr/>
          </p:nvSpPr>
          <p:spPr bwMode="auto">
            <a:xfrm>
              <a:off x="1622" y="3590"/>
              <a:ext cx="2544" cy="0"/>
            </a:xfrm>
            <a:prstGeom prst="line">
              <a:avLst/>
            </a:prstGeom>
            <a:noFill/>
            <a:ln w="19050">
              <a:solidFill>
                <a:schemeClr val="tx1"/>
              </a:solidFill>
              <a:miter lim="800000"/>
              <a:headE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19" name="Text Box 7">
              <a:extLst>
                <a:ext uri="{FF2B5EF4-FFF2-40B4-BE49-F238E27FC236}">
                  <a16:creationId xmlns:a16="http://schemas.microsoft.com/office/drawing/2014/main" id="{D420E5E1-B384-4663-8A5E-AE10F997CE4D}"/>
                </a:ext>
              </a:extLst>
            </p:cNvPr>
            <p:cNvSpPr txBox="1">
              <a:spLocks noChangeArrowheads="1"/>
            </p:cNvSpPr>
            <p:nvPr/>
          </p:nvSpPr>
          <p:spPr bwMode="auto">
            <a:xfrm>
              <a:off x="1247" y="102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ahoma" panose="020B0604030504040204" pitchFamily="34" charset="0"/>
                </a:rPr>
                <a:t>[P]</a:t>
              </a:r>
              <a:endParaRPr kumimoji="1" lang="en-US" altLang="zh-CN" sz="2400">
                <a:latin typeface="Times New Roman" panose="02020603050405020304" pitchFamily="18" charset="0"/>
              </a:endParaRPr>
            </a:p>
          </p:txBody>
        </p:sp>
        <p:sp>
          <p:nvSpPr>
            <p:cNvPr id="90120" name="Text Box 8">
              <a:extLst>
                <a:ext uri="{FF2B5EF4-FFF2-40B4-BE49-F238E27FC236}">
                  <a16:creationId xmlns:a16="http://schemas.microsoft.com/office/drawing/2014/main" id="{6F21B12B-0BB2-4334-9563-719B39A6E0C5}"/>
                </a:ext>
              </a:extLst>
            </p:cNvPr>
            <p:cNvSpPr txBox="1">
              <a:spLocks noChangeArrowheads="1"/>
            </p:cNvSpPr>
            <p:nvPr/>
          </p:nvSpPr>
          <p:spPr bwMode="auto">
            <a:xfrm>
              <a:off x="4310" y="339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ahoma" panose="020B0604030504040204" pitchFamily="34" charset="0"/>
                </a:rPr>
                <a:t>[t]</a:t>
              </a:r>
              <a:endParaRPr kumimoji="1" lang="en-US" altLang="zh-CN" sz="2400">
                <a:latin typeface="Times New Roman" panose="02020603050405020304" pitchFamily="18" charset="0"/>
              </a:endParaRPr>
            </a:p>
          </p:txBody>
        </p:sp>
        <p:sp>
          <p:nvSpPr>
            <p:cNvPr id="90121" name="Freeform 9">
              <a:extLst>
                <a:ext uri="{FF2B5EF4-FFF2-40B4-BE49-F238E27FC236}">
                  <a16:creationId xmlns:a16="http://schemas.microsoft.com/office/drawing/2014/main" id="{7CFB80E8-9F7E-496E-9B80-07377F59E020}"/>
                </a:ext>
              </a:extLst>
            </p:cNvPr>
            <p:cNvSpPr>
              <a:spLocks/>
            </p:cNvSpPr>
            <p:nvPr/>
          </p:nvSpPr>
          <p:spPr bwMode="auto">
            <a:xfrm>
              <a:off x="1634" y="1634"/>
              <a:ext cx="2064" cy="1968"/>
            </a:xfrm>
            <a:custGeom>
              <a:avLst/>
              <a:gdLst>
                <a:gd name="T0" fmla="*/ 0 w 2064"/>
                <a:gd name="T1" fmla="*/ 1968 h 1968"/>
                <a:gd name="T2" fmla="*/ 816 w 2064"/>
                <a:gd name="T3" fmla="*/ 768 h 1968"/>
                <a:gd name="T4" fmla="*/ 1392 w 2064"/>
                <a:gd name="T5" fmla="*/ 240 h 1968"/>
                <a:gd name="T6" fmla="*/ 2064 w 2064"/>
                <a:gd name="T7" fmla="*/ 0 h 1968"/>
                <a:gd name="T8" fmla="*/ 0 60000 65536"/>
                <a:gd name="T9" fmla="*/ 0 60000 65536"/>
                <a:gd name="T10" fmla="*/ 0 60000 65536"/>
                <a:gd name="T11" fmla="*/ 0 60000 65536"/>
                <a:gd name="T12" fmla="*/ 0 w 2064"/>
                <a:gd name="T13" fmla="*/ 0 h 1968"/>
                <a:gd name="T14" fmla="*/ 2064 w 2064"/>
                <a:gd name="T15" fmla="*/ 1968 h 1968"/>
              </a:gdLst>
              <a:ahLst/>
              <a:cxnLst>
                <a:cxn ang="T8">
                  <a:pos x="T0" y="T1"/>
                </a:cxn>
                <a:cxn ang="T9">
                  <a:pos x="T2" y="T3"/>
                </a:cxn>
                <a:cxn ang="T10">
                  <a:pos x="T4" y="T5"/>
                </a:cxn>
                <a:cxn ang="T11">
                  <a:pos x="T6" y="T7"/>
                </a:cxn>
              </a:cxnLst>
              <a:rect l="T12" t="T13" r="T14" b="T15"/>
              <a:pathLst>
                <a:path w="2064" h="1968">
                  <a:moveTo>
                    <a:pt x="0" y="1968"/>
                  </a:moveTo>
                  <a:cubicBezTo>
                    <a:pt x="292" y="1512"/>
                    <a:pt x="584" y="1056"/>
                    <a:pt x="816" y="768"/>
                  </a:cubicBezTo>
                  <a:cubicBezTo>
                    <a:pt x="1048" y="480"/>
                    <a:pt x="1184" y="368"/>
                    <a:pt x="1392" y="240"/>
                  </a:cubicBezTo>
                  <a:cubicBezTo>
                    <a:pt x="1600" y="112"/>
                    <a:pt x="1952" y="40"/>
                    <a:pt x="2064" y="0"/>
                  </a:cubicBezTo>
                </a:path>
              </a:pathLst>
            </a:cu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0122" name="Line 10">
              <a:extLst>
                <a:ext uri="{FF2B5EF4-FFF2-40B4-BE49-F238E27FC236}">
                  <a16:creationId xmlns:a16="http://schemas.microsoft.com/office/drawing/2014/main" id="{587F70D4-55B1-4529-9A3C-A9E9B807BD70}"/>
                </a:ext>
              </a:extLst>
            </p:cNvPr>
            <p:cNvSpPr>
              <a:spLocks noChangeShapeType="1"/>
            </p:cNvSpPr>
            <p:nvPr/>
          </p:nvSpPr>
          <p:spPr bwMode="auto">
            <a:xfrm flipV="1">
              <a:off x="1625" y="1298"/>
              <a:ext cx="1440" cy="2304"/>
            </a:xfrm>
            <a:prstGeom prst="line">
              <a:avLst/>
            </a:prstGeom>
            <a:noFill/>
            <a:ln w="38100">
              <a:solidFill>
                <a:srgbClr val="0033CC"/>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0123" name="Text Box 11">
              <a:extLst>
                <a:ext uri="{FF2B5EF4-FFF2-40B4-BE49-F238E27FC236}">
                  <a16:creationId xmlns:a16="http://schemas.microsoft.com/office/drawing/2014/main" id="{C1D98B0C-99EF-424F-952B-136B59F883EB}"/>
                </a:ext>
              </a:extLst>
            </p:cNvPr>
            <p:cNvSpPr txBox="1">
              <a:spLocks noChangeArrowheads="1"/>
            </p:cNvSpPr>
            <p:nvPr/>
          </p:nvSpPr>
          <p:spPr bwMode="auto">
            <a:xfrm>
              <a:off x="2054" y="3686"/>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ahoma" panose="020B0604030504040204" pitchFamily="34" charset="0"/>
                </a:rPr>
                <a:t>[t1]</a:t>
              </a:r>
              <a:endParaRPr kumimoji="1" lang="en-US" altLang="zh-CN" sz="2400">
                <a:latin typeface="Times New Roman" panose="02020603050405020304" pitchFamily="18" charset="0"/>
              </a:endParaRPr>
            </a:p>
          </p:txBody>
        </p:sp>
        <p:sp>
          <p:nvSpPr>
            <p:cNvPr id="90124" name="Line 12">
              <a:extLst>
                <a:ext uri="{FF2B5EF4-FFF2-40B4-BE49-F238E27FC236}">
                  <a16:creationId xmlns:a16="http://schemas.microsoft.com/office/drawing/2014/main" id="{BA3A0ADF-2005-4319-9314-36D7A64F82D3}"/>
                </a:ext>
              </a:extLst>
            </p:cNvPr>
            <p:cNvSpPr>
              <a:spLocks noChangeShapeType="1"/>
            </p:cNvSpPr>
            <p:nvPr/>
          </p:nvSpPr>
          <p:spPr bwMode="auto">
            <a:xfrm>
              <a:off x="2246" y="2678"/>
              <a:ext cx="0" cy="912"/>
            </a:xfrm>
            <a:prstGeom prst="line">
              <a:avLst/>
            </a:prstGeom>
            <a:noFill/>
            <a:ln w="9525">
              <a:solidFill>
                <a:srgbClr val="990000"/>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descr="0050203904">
            <a:extLst>
              <a:ext uri="{FF2B5EF4-FFF2-40B4-BE49-F238E27FC236}">
                <a16:creationId xmlns:a16="http://schemas.microsoft.com/office/drawing/2014/main" id="{59EBB0AA-1561-40A0-A247-F5579002E4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773238"/>
            <a:ext cx="8129587"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9502066B-E2DA-45E1-AB75-D7B2FD06B3F3}"/>
              </a:ext>
            </a:extLst>
          </p:cNvPr>
          <p:cNvSpPr txBox="1"/>
          <p:nvPr/>
        </p:nvSpPr>
        <p:spPr>
          <a:xfrm>
            <a:off x="2699792" y="5301208"/>
            <a:ext cx="4572000" cy="584775"/>
          </a:xfrm>
          <a:prstGeom prst="rect">
            <a:avLst/>
          </a:prstGeom>
          <a:noFill/>
        </p:spPr>
        <p:txBody>
          <a:bodyPr wrap="square">
            <a:spAutoFit/>
          </a:bodyPr>
          <a:lstStyle/>
          <a:p>
            <a:r>
              <a:rPr lang="en-US" altLang="zh-CN" sz="3200" b="1" dirty="0"/>
              <a:t>Saturation effect </a:t>
            </a:r>
            <a:endParaRPr lang="zh-CN" altLang="en-US" sz="3200" b="1" dirty="0"/>
          </a:p>
        </p:txBody>
      </p:sp>
      <p:sp>
        <p:nvSpPr>
          <p:cNvPr id="2" name="文本框 1">
            <a:extLst>
              <a:ext uri="{FF2B5EF4-FFF2-40B4-BE49-F238E27FC236}">
                <a16:creationId xmlns:a16="http://schemas.microsoft.com/office/drawing/2014/main" id="{418A89EB-DD0B-50C6-623B-CC08719B8F80}"/>
              </a:ext>
            </a:extLst>
          </p:cNvPr>
          <p:cNvSpPr txBox="1"/>
          <p:nvPr/>
        </p:nvSpPr>
        <p:spPr>
          <a:xfrm>
            <a:off x="6481776" y="5445224"/>
            <a:ext cx="777777" cy="461665"/>
          </a:xfrm>
          <a:prstGeom prst="rect">
            <a:avLst/>
          </a:prstGeom>
          <a:noFill/>
        </p:spPr>
        <p:txBody>
          <a:bodyPr wrap="none" rtlCol="0">
            <a:spAutoFit/>
          </a:bodyPr>
          <a:lstStyle/>
          <a:p>
            <a:r>
              <a:rPr lang="en-US" altLang="zh-CN" sz="2400" i="1" dirty="0"/>
              <a:t>V</a:t>
            </a:r>
            <a:r>
              <a:rPr lang="en-US" altLang="zh-CN" sz="2400" baseline="-25000" dirty="0"/>
              <a:t>max</a:t>
            </a:r>
            <a:endParaRPr lang="zh-CN" altLang="en-US" sz="2400" baseline="-25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2">
            <a:extLst>
              <a:ext uri="{FF2B5EF4-FFF2-40B4-BE49-F238E27FC236}">
                <a16:creationId xmlns:a16="http://schemas.microsoft.com/office/drawing/2014/main" id="{DF44FDAA-2186-4E56-848D-3EBA26738D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050" y="552450"/>
            <a:ext cx="8089900" cy="576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descr="index_1">
            <a:extLst>
              <a:ext uri="{FF2B5EF4-FFF2-40B4-BE49-F238E27FC236}">
                <a16:creationId xmlns:a16="http://schemas.microsoft.com/office/drawing/2014/main" id="{C346C867-58D3-4654-B33E-AD4CD55505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692150"/>
            <a:ext cx="7197725" cy="550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2" descr="lEONOR MICHAELIS">
            <a:extLst>
              <a:ext uri="{FF2B5EF4-FFF2-40B4-BE49-F238E27FC236}">
                <a16:creationId xmlns:a16="http://schemas.microsoft.com/office/drawing/2014/main" id="{E8F9356C-9D59-4E06-B79D-A9DD5E5E54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150813"/>
            <a:ext cx="4692650"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2" descr="Maud MENTEN">
            <a:extLst>
              <a:ext uri="{FF2B5EF4-FFF2-40B4-BE49-F238E27FC236}">
                <a16:creationId xmlns:a16="http://schemas.microsoft.com/office/drawing/2014/main" id="{2A66C78D-06B8-4B56-AD06-B1E6835CE9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141288"/>
            <a:ext cx="4540250" cy="648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a:extLst>
              <a:ext uri="{FF2B5EF4-FFF2-40B4-BE49-F238E27FC236}">
                <a16:creationId xmlns:a16="http://schemas.microsoft.com/office/drawing/2014/main" id="{07EC1C5B-9C0A-4C64-B34E-833B1D72F1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711200"/>
            <a:ext cx="67056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2">
            <a:extLst>
              <a:ext uri="{FF2B5EF4-FFF2-40B4-BE49-F238E27FC236}">
                <a16:creationId xmlns:a16="http://schemas.microsoft.com/office/drawing/2014/main" id="{7143A5CA-514C-4CFA-BBC0-9345859CB1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200" y="1651000"/>
            <a:ext cx="7721600" cy="355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a:extLst>
              <a:ext uri="{FF2B5EF4-FFF2-40B4-BE49-F238E27FC236}">
                <a16:creationId xmlns:a16="http://schemas.microsoft.com/office/drawing/2014/main" id="{1A59A4B5-D7A0-4475-8A74-89F2D5CB3476}"/>
              </a:ext>
            </a:extLst>
          </p:cNvPr>
          <p:cNvSpPr txBox="1">
            <a:spLocks noChangeArrowheads="1"/>
          </p:cNvSpPr>
          <p:nvPr/>
        </p:nvSpPr>
        <p:spPr bwMode="auto">
          <a:xfrm>
            <a:off x="228600" y="420688"/>
            <a:ext cx="8763000" cy="339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5000"/>
              </a:lnSpc>
              <a:spcBef>
                <a:spcPct val="50000"/>
              </a:spcBef>
            </a:pPr>
            <a:r>
              <a:rPr kumimoji="1" lang="en-US" altLang="zh-CN" sz="2400" dirty="0">
                <a:latin typeface="Times New Roman" panose="02020603050405020304" pitchFamily="18" charset="0"/>
              </a:rPr>
              <a:t>	</a:t>
            </a:r>
            <a:endParaRPr kumimoji="1" lang="en-US" altLang="zh-CN" sz="2800" b="1" dirty="0">
              <a:latin typeface="Times New Roman" panose="02020603050405020304" pitchFamily="18" charset="0"/>
            </a:endParaRPr>
          </a:p>
          <a:p>
            <a:pPr eaLnBrk="1" hangingPunct="1">
              <a:lnSpc>
                <a:spcPct val="120000"/>
              </a:lnSpc>
              <a:spcBef>
                <a:spcPct val="50000"/>
              </a:spcBef>
            </a:pPr>
            <a:r>
              <a:rPr kumimoji="1" lang="en-US" altLang="zh-CN" sz="2800" b="1" dirty="0">
                <a:latin typeface="Times New Roman" panose="02020603050405020304" pitchFamily="18" charset="0"/>
              </a:rPr>
              <a:t>	1.3 The </a:t>
            </a:r>
            <a:r>
              <a:rPr kumimoji="1" lang="en-US" altLang="zh-CN" sz="2800" b="1" dirty="0">
                <a:solidFill>
                  <a:srgbClr val="FF0000"/>
                </a:solidFill>
                <a:latin typeface="Times New Roman" panose="02020603050405020304" pitchFamily="18" charset="0"/>
              </a:rPr>
              <a:t>Michaelis-Menten equation </a:t>
            </a:r>
            <a:r>
              <a:rPr kumimoji="1" lang="en-US" altLang="zh-CN" sz="2800" b="1" dirty="0">
                <a:latin typeface="Times New Roman" panose="02020603050405020304" pitchFamily="18" charset="0"/>
              </a:rPr>
              <a:t>was established to account for the observed relationship between Vo and [S].</a:t>
            </a:r>
          </a:p>
          <a:p>
            <a:pPr eaLnBrk="1" hangingPunct="1">
              <a:lnSpc>
                <a:spcPct val="120000"/>
              </a:lnSpc>
              <a:spcBef>
                <a:spcPct val="50000"/>
              </a:spcBef>
            </a:pPr>
            <a:r>
              <a:rPr kumimoji="1" lang="en-US" altLang="zh-CN" sz="2800" b="1" dirty="0">
                <a:latin typeface="Times New Roman" panose="02020603050405020304" pitchFamily="18" charset="0"/>
              </a:rPr>
              <a:t>	1.3.1 A single-substrate, single-product reaction is considered for simplicity.</a:t>
            </a:r>
          </a:p>
        </p:txBody>
      </p:sp>
      <p:sp>
        <p:nvSpPr>
          <p:cNvPr id="2" name="文本框 1">
            <a:extLst>
              <a:ext uri="{FF2B5EF4-FFF2-40B4-BE49-F238E27FC236}">
                <a16:creationId xmlns:a16="http://schemas.microsoft.com/office/drawing/2014/main" id="{4DEB06EB-1CCA-477B-8B59-27D62FC6A33B}"/>
              </a:ext>
            </a:extLst>
          </p:cNvPr>
          <p:cNvSpPr txBox="1"/>
          <p:nvPr/>
        </p:nvSpPr>
        <p:spPr>
          <a:xfrm>
            <a:off x="2987824" y="4437112"/>
            <a:ext cx="2549096" cy="461665"/>
          </a:xfrm>
          <a:prstGeom prst="rect">
            <a:avLst/>
          </a:prstGeom>
          <a:noFill/>
        </p:spPr>
        <p:txBody>
          <a:bodyPr wrap="none" rtlCol="0">
            <a:spAutoFit/>
          </a:bodyPr>
          <a:lstStyle/>
          <a:p>
            <a:r>
              <a:rPr lang="en-US" altLang="zh-CN" sz="2400" dirty="0"/>
              <a:t>S                       P</a:t>
            </a:r>
            <a:endParaRPr lang="zh-CN" altLang="en-US" sz="2400" dirty="0"/>
          </a:p>
        </p:txBody>
      </p:sp>
      <p:cxnSp>
        <p:nvCxnSpPr>
          <p:cNvPr id="4" name="直接箭头连接符 3">
            <a:extLst>
              <a:ext uri="{FF2B5EF4-FFF2-40B4-BE49-F238E27FC236}">
                <a16:creationId xmlns:a16="http://schemas.microsoft.com/office/drawing/2014/main" id="{81251A81-AE42-4EEA-97BE-6534FAC2C32F}"/>
              </a:ext>
            </a:extLst>
          </p:cNvPr>
          <p:cNvCxnSpPr/>
          <p:nvPr/>
        </p:nvCxnSpPr>
        <p:spPr>
          <a:xfrm>
            <a:off x="3628824" y="4581128"/>
            <a:ext cx="115920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0" name="直接箭头连接符 9">
            <a:extLst>
              <a:ext uri="{FF2B5EF4-FFF2-40B4-BE49-F238E27FC236}">
                <a16:creationId xmlns:a16="http://schemas.microsoft.com/office/drawing/2014/main" id="{2CEBC158-0C3E-4E3A-88EF-079EEF228C7C}"/>
              </a:ext>
            </a:extLst>
          </p:cNvPr>
          <p:cNvCxnSpPr>
            <a:cxnSpLocks/>
          </p:cNvCxnSpPr>
          <p:nvPr/>
        </p:nvCxnSpPr>
        <p:spPr>
          <a:xfrm flipH="1">
            <a:off x="3627512" y="4733528"/>
            <a:ext cx="1160512"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a:extLst>
              <a:ext uri="{FF2B5EF4-FFF2-40B4-BE49-F238E27FC236}">
                <a16:creationId xmlns:a16="http://schemas.microsoft.com/office/drawing/2014/main" id="{DEE35B8B-052D-476B-B899-94103827AC07}"/>
              </a:ext>
            </a:extLst>
          </p:cNvPr>
          <p:cNvSpPr txBox="1">
            <a:spLocks noChangeArrowheads="1"/>
          </p:cNvSpPr>
          <p:nvPr/>
        </p:nvSpPr>
        <p:spPr bwMode="auto">
          <a:xfrm>
            <a:off x="228600" y="296863"/>
            <a:ext cx="8686800" cy="5444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30000"/>
              </a:spcBef>
            </a:pPr>
            <a:r>
              <a:rPr kumimoji="1" lang="en-US" altLang="zh-CN" sz="2800" b="1" dirty="0">
                <a:latin typeface="Times New Roman" panose="02020603050405020304" pitchFamily="18" charset="0"/>
              </a:rPr>
              <a:t>	1.3.2 At early times in the reaction, the concentration of the product ([P]) is and the overall reaction can be written as (</a:t>
            </a:r>
            <a:r>
              <a:rPr kumimoji="1" lang="en-US" altLang="zh-CN" sz="2800" b="1" dirty="0">
                <a:solidFill>
                  <a:srgbClr val="FF0066"/>
                </a:solidFill>
                <a:latin typeface="Times New Roman" panose="02020603050405020304" pitchFamily="18" charset="0"/>
              </a:rPr>
              <a:t>no reverse reaction</a:t>
            </a:r>
            <a:r>
              <a:rPr kumimoji="1" lang="en-US" altLang="zh-CN" sz="2800" b="1" dirty="0">
                <a:latin typeface="Times New Roman" panose="02020603050405020304" pitchFamily="18" charset="0"/>
              </a:rPr>
              <a:t>)</a:t>
            </a:r>
          </a:p>
          <a:p>
            <a:pPr eaLnBrk="1" hangingPunct="1">
              <a:lnSpc>
                <a:spcPct val="110000"/>
              </a:lnSpc>
              <a:spcBef>
                <a:spcPct val="30000"/>
              </a:spcBef>
            </a:pPr>
            <a:endParaRPr kumimoji="1" lang="en-US" altLang="zh-CN" sz="2800" b="1" dirty="0">
              <a:latin typeface="Times New Roman" panose="02020603050405020304" pitchFamily="18" charset="0"/>
              <a:sym typeface="Symbol" panose="05050102010706020507" pitchFamily="18" charset="2"/>
            </a:endParaRPr>
          </a:p>
          <a:p>
            <a:pPr eaLnBrk="1" hangingPunct="1">
              <a:lnSpc>
                <a:spcPct val="110000"/>
              </a:lnSpc>
              <a:spcBef>
                <a:spcPct val="30000"/>
              </a:spcBef>
            </a:pPr>
            <a:endParaRPr kumimoji="1" lang="en-US" altLang="zh-CN" sz="2800" b="1" dirty="0">
              <a:latin typeface="Times New Roman" panose="02020603050405020304" pitchFamily="18" charset="0"/>
              <a:sym typeface="Symbol" panose="05050102010706020507" pitchFamily="18" charset="2"/>
            </a:endParaRPr>
          </a:p>
          <a:p>
            <a:pPr eaLnBrk="1" hangingPunct="1">
              <a:lnSpc>
                <a:spcPct val="110000"/>
              </a:lnSpc>
              <a:spcBef>
                <a:spcPct val="30000"/>
              </a:spcBef>
            </a:pPr>
            <a:endParaRPr kumimoji="1" lang="en-US" altLang="zh-CN" sz="2800" b="1" dirty="0">
              <a:latin typeface="Times New Roman" panose="02020603050405020304" pitchFamily="18" charset="0"/>
              <a:sym typeface="Symbol" panose="05050102010706020507" pitchFamily="18" charset="2"/>
            </a:endParaRPr>
          </a:p>
          <a:p>
            <a:pPr eaLnBrk="1" hangingPunct="1">
              <a:lnSpc>
                <a:spcPct val="110000"/>
              </a:lnSpc>
              <a:spcBef>
                <a:spcPct val="30000"/>
              </a:spcBef>
            </a:pPr>
            <a:r>
              <a:rPr kumimoji="1" lang="en-US" altLang="zh-CN" sz="2800" b="1" dirty="0">
                <a:latin typeface="Times New Roman" panose="02020603050405020304" pitchFamily="18" charset="0"/>
                <a:sym typeface="Symbol" panose="05050102010706020507" pitchFamily="18" charset="2"/>
              </a:rPr>
              <a:t>	1.3.3 It is hypothesized that </a:t>
            </a:r>
            <a:r>
              <a:rPr kumimoji="1" lang="en-US" altLang="zh-CN" sz="2800" b="1" dirty="0">
                <a:solidFill>
                  <a:srgbClr val="FF0000"/>
                </a:solidFill>
                <a:latin typeface="Times New Roman" panose="02020603050405020304" pitchFamily="18" charset="0"/>
                <a:sym typeface="Symbol" panose="05050102010706020507" pitchFamily="18" charset="2"/>
              </a:rPr>
              <a:t>the rate-limiting step   </a:t>
            </a:r>
            <a:r>
              <a:rPr kumimoji="1" lang="en-US" altLang="zh-CN" sz="2800" b="1" dirty="0">
                <a:latin typeface="Times New Roman" panose="02020603050405020304" pitchFamily="18" charset="0"/>
                <a:sym typeface="Symbol" panose="05050102010706020507" pitchFamily="18" charset="2"/>
              </a:rPr>
              <a:t>in enzymatic reactions is the breakdown of the ES complex to form the product and the free enzyme:</a:t>
            </a:r>
          </a:p>
          <a:p>
            <a:pPr eaLnBrk="1" hangingPunct="1">
              <a:lnSpc>
                <a:spcPct val="110000"/>
              </a:lnSpc>
              <a:spcBef>
                <a:spcPct val="30000"/>
              </a:spcBef>
            </a:pPr>
            <a:r>
              <a:rPr kumimoji="1" lang="en-US" altLang="zh-CN" sz="2800" b="1" dirty="0">
                <a:latin typeface="Times New Roman" panose="02020603050405020304" pitchFamily="18" charset="0"/>
                <a:sym typeface="Symbol" panose="05050102010706020507" pitchFamily="18" charset="2"/>
              </a:rPr>
              <a:t>			</a:t>
            </a:r>
            <a:endParaRPr kumimoji="1" lang="en-US" altLang="zh-CN" sz="2800" b="1" dirty="0">
              <a:latin typeface="Times New Roman" panose="02020603050405020304" pitchFamily="18" charset="0"/>
            </a:endParaRPr>
          </a:p>
        </p:txBody>
      </p:sp>
      <p:grpSp>
        <p:nvGrpSpPr>
          <p:cNvPr id="100355" name="Group 3">
            <a:extLst>
              <a:ext uri="{FF2B5EF4-FFF2-40B4-BE49-F238E27FC236}">
                <a16:creationId xmlns:a16="http://schemas.microsoft.com/office/drawing/2014/main" id="{ECC9614F-9DE8-4D00-8D6F-282E1B7B4B30}"/>
              </a:ext>
            </a:extLst>
          </p:cNvPr>
          <p:cNvGrpSpPr>
            <a:grpSpLocks/>
          </p:cNvGrpSpPr>
          <p:nvPr/>
        </p:nvGrpSpPr>
        <p:grpSpPr bwMode="auto">
          <a:xfrm>
            <a:off x="1763688" y="1916833"/>
            <a:ext cx="4968875" cy="4104456"/>
            <a:chOff x="1111" y="1162"/>
            <a:chExt cx="3130" cy="2994"/>
          </a:xfrm>
        </p:grpSpPr>
        <p:grpSp>
          <p:nvGrpSpPr>
            <p:cNvPr id="100356" name="Group 4">
              <a:extLst>
                <a:ext uri="{FF2B5EF4-FFF2-40B4-BE49-F238E27FC236}">
                  <a16:creationId xmlns:a16="http://schemas.microsoft.com/office/drawing/2014/main" id="{FBD266DB-9B35-4DC4-97AA-01AA717FAFDF}"/>
                </a:ext>
              </a:extLst>
            </p:cNvPr>
            <p:cNvGrpSpPr>
              <a:grpSpLocks/>
            </p:cNvGrpSpPr>
            <p:nvPr/>
          </p:nvGrpSpPr>
          <p:grpSpPr bwMode="auto">
            <a:xfrm>
              <a:off x="1111" y="1162"/>
              <a:ext cx="3130" cy="779"/>
              <a:chOff x="1111" y="1434"/>
              <a:chExt cx="3130" cy="779"/>
            </a:xfrm>
          </p:grpSpPr>
          <p:pic>
            <p:nvPicPr>
              <p:cNvPr id="100360" name="Picture 5">
                <a:extLst>
                  <a:ext uri="{FF2B5EF4-FFF2-40B4-BE49-F238E27FC236}">
                    <a16:creationId xmlns:a16="http://schemas.microsoft.com/office/drawing/2014/main" id="{84E8F0FE-9662-4F72-9656-EFB0D1BE19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 y="1434"/>
                <a:ext cx="3130" cy="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61" name="Picture 6">
                <a:extLst>
                  <a:ext uri="{FF2B5EF4-FFF2-40B4-BE49-F238E27FC236}">
                    <a16:creationId xmlns:a16="http://schemas.microsoft.com/office/drawing/2014/main" id="{0BA178E5-4B08-4A60-B548-1972BE0F51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976" t="5777" r="57988" b="59178"/>
              <a:stretch>
                <a:fillRect/>
              </a:stretch>
            </p:blipFill>
            <p:spPr bwMode="auto">
              <a:xfrm>
                <a:off x="2018" y="1933"/>
                <a:ext cx="408"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62" name="Picture 7">
                <a:extLst>
                  <a:ext uri="{FF2B5EF4-FFF2-40B4-BE49-F238E27FC236}">
                    <a16:creationId xmlns:a16="http://schemas.microsoft.com/office/drawing/2014/main" id="{2E3F4B91-70DF-4038-B5FB-AA527142A3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0447" t="64056" r="57956"/>
              <a:stretch>
                <a:fillRect/>
              </a:stretch>
            </p:blipFill>
            <p:spPr bwMode="auto">
              <a:xfrm>
                <a:off x="2018" y="1480"/>
                <a:ext cx="363"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0357" name="Picture 8">
              <a:extLst>
                <a:ext uri="{FF2B5EF4-FFF2-40B4-BE49-F238E27FC236}">
                  <a16:creationId xmlns:a16="http://schemas.microsoft.com/office/drawing/2014/main" id="{8B0857A2-7960-4809-978B-52AB4E51D5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1" y="3595"/>
              <a:ext cx="1905" cy="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 name="文本框 2">
            <a:extLst>
              <a:ext uri="{FF2B5EF4-FFF2-40B4-BE49-F238E27FC236}">
                <a16:creationId xmlns:a16="http://schemas.microsoft.com/office/drawing/2014/main" id="{F984C7F4-8F34-427E-8BE3-E3CDF7D135C1}"/>
              </a:ext>
            </a:extLst>
          </p:cNvPr>
          <p:cNvSpPr txBox="1"/>
          <p:nvPr/>
        </p:nvSpPr>
        <p:spPr>
          <a:xfrm>
            <a:off x="2890129" y="5978082"/>
            <a:ext cx="1681871" cy="523220"/>
          </a:xfrm>
          <a:prstGeom prst="rect">
            <a:avLst/>
          </a:prstGeom>
          <a:noFill/>
        </p:spPr>
        <p:txBody>
          <a:bodyPr wrap="none" rtlCol="0">
            <a:spAutoFit/>
          </a:bodyPr>
          <a:lstStyle/>
          <a:p>
            <a:r>
              <a:rPr lang="en-US" altLang="zh-CN" sz="2800" dirty="0">
                <a:latin typeface="Arial" panose="020B0604020202020204" pitchFamily="34" charset="0"/>
                <a:cs typeface="Arial" panose="020B0604020202020204" pitchFamily="34" charset="0"/>
              </a:rPr>
              <a:t>V=K</a:t>
            </a:r>
            <a:r>
              <a:rPr lang="en-US" altLang="zh-CN" sz="2800" baseline="-25000" dirty="0">
                <a:latin typeface="Arial" panose="020B0604020202020204" pitchFamily="34" charset="0"/>
                <a:cs typeface="Arial" panose="020B0604020202020204" pitchFamily="34" charset="0"/>
              </a:rPr>
              <a:t>2</a:t>
            </a:r>
            <a:r>
              <a:rPr lang="en-US" altLang="zh-CN" sz="2800" dirty="0">
                <a:latin typeface="Arial" panose="020B0604020202020204" pitchFamily="34" charset="0"/>
                <a:cs typeface="Arial" panose="020B0604020202020204" pitchFamily="34" charset="0"/>
              </a:rPr>
              <a:t>[ES]</a:t>
            </a:r>
            <a:endParaRPr lang="zh-CN" altLang="en-US" sz="2800" dirty="0">
              <a:latin typeface="Arial" panose="020B0604020202020204" pitchFamily="34" charset="0"/>
              <a:cs typeface="Arial" panose="020B0604020202020204" pitchFamily="34"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Text Box 2">
            <a:extLst>
              <a:ext uri="{FF2B5EF4-FFF2-40B4-BE49-F238E27FC236}">
                <a16:creationId xmlns:a16="http://schemas.microsoft.com/office/drawing/2014/main" id="{24C28C80-2D6E-453D-BF52-BCBB3D8DD5D8}"/>
              </a:ext>
            </a:extLst>
          </p:cNvPr>
          <p:cNvSpPr txBox="1">
            <a:spLocks noChangeArrowheads="1"/>
          </p:cNvSpPr>
          <p:nvPr/>
        </p:nvSpPr>
        <p:spPr bwMode="auto">
          <a:xfrm>
            <a:off x="228600" y="1253547"/>
            <a:ext cx="9239944" cy="1649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1200"/>
              </a:lnSpc>
              <a:spcBef>
                <a:spcPct val="20000"/>
              </a:spcBef>
            </a:pPr>
            <a:r>
              <a:rPr kumimoji="1" lang="en-US" altLang="zh-CN" sz="2800" b="1" dirty="0">
                <a:latin typeface="Times New Roman" panose="02020603050405020304" pitchFamily="18" charset="0"/>
              </a:rPr>
              <a:t>1.3.4 </a:t>
            </a:r>
          </a:p>
          <a:p>
            <a:pPr eaLnBrk="1" hangingPunct="1">
              <a:lnSpc>
                <a:spcPts val="2400"/>
              </a:lnSpc>
              <a:spcBef>
                <a:spcPct val="20000"/>
              </a:spcBef>
            </a:pPr>
            <a:r>
              <a:rPr kumimoji="1" lang="en-US" altLang="zh-CN" sz="2800" b="1" dirty="0">
                <a:latin typeface="Times New Roman" panose="02020603050405020304" pitchFamily="18" charset="0"/>
              </a:rPr>
              <a:t>    the rate of ES formation </a:t>
            </a:r>
            <a:r>
              <a:rPr kumimoji="1" lang="en-US" altLang="zh-CN" sz="3200" b="1" dirty="0">
                <a:latin typeface="Times New Roman" panose="02020603050405020304" pitchFamily="18" charset="0"/>
              </a:rPr>
              <a:t>=</a:t>
            </a:r>
            <a:r>
              <a:rPr kumimoji="1" lang="en-US" altLang="zh-CN" sz="2800" b="1" dirty="0">
                <a:latin typeface="Times New Roman" panose="02020603050405020304" pitchFamily="18" charset="0"/>
              </a:rPr>
              <a:t> the rate of ES breakdown </a:t>
            </a:r>
          </a:p>
          <a:p>
            <a:pPr eaLnBrk="1" hangingPunct="1">
              <a:lnSpc>
                <a:spcPts val="1200"/>
              </a:lnSpc>
              <a:spcBef>
                <a:spcPct val="20000"/>
              </a:spcBef>
            </a:pPr>
            <a:r>
              <a:rPr kumimoji="1" lang="en-US" altLang="zh-CN" sz="2800" b="1" dirty="0">
                <a:latin typeface="Times New Roman" panose="02020603050405020304" pitchFamily="18" charset="0"/>
              </a:rPr>
              <a:t>           </a:t>
            </a:r>
          </a:p>
          <a:p>
            <a:pPr eaLnBrk="1" hangingPunct="1">
              <a:lnSpc>
                <a:spcPts val="1200"/>
              </a:lnSpc>
              <a:spcBef>
                <a:spcPct val="20000"/>
              </a:spcBef>
            </a:pPr>
            <a:r>
              <a:rPr kumimoji="1" lang="en-US" altLang="zh-CN" sz="2800" b="1" dirty="0">
                <a:latin typeface="Times New Roman" panose="02020603050405020304" pitchFamily="18" charset="0"/>
              </a:rPr>
              <a:t>          the rate of ES formation = k</a:t>
            </a:r>
            <a:r>
              <a:rPr kumimoji="1" lang="en-US" altLang="zh-CN" sz="2800" b="1" baseline="-25000" dirty="0">
                <a:latin typeface="Times New Roman" panose="02020603050405020304" pitchFamily="18" charset="0"/>
              </a:rPr>
              <a:t>1</a:t>
            </a:r>
            <a:r>
              <a:rPr kumimoji="1" lang="en-US" altLang="zh-CN" sz="2800" b="1" dirty="0">
                <a:latin typeface="Times New Roman" panose="02020603050405020304" pitchFamily="18" charset="0"/>
              </a:rPr>
              <a:t>([Et]-[ES])[S],</a:t>
            </a:r>
          </a:p>
          <a:p>
            <a:pPr eaLnBrk="1" hangingPunct="1">
              <a:spcBef>
                <a:spcPct val="20000"/>
              </a:spcBef>
            </a:pPr>
            <a:r>
              <a:rPr kumimoji="1" lang="en-US" altLang="zh-CN" sz="2800" b="1" dirty="0">
                <a:latin typeface="Times New Roman" panose="02020603050405020304" pitchFamily="18" charset="0"/>
              </a:rPr>
              <a:t>	the rate of ES breakdown = k</a:t>
            </a:r>
            <a:r>
              <a:rPr kumimoji="1" lang="en-US" altLang="zh-CN" sz="2800" b="1" baseline="-25000" dirty="0">
                <a:latin typeface="Times New Roman" panose="02020603050405020304" pitchFamily="18" charset="0"/>
              </a:rPr>
              <a:t>-1</a:t>
            </a:r>
            <a:r>
              <a:rPr kumimoji="1" lang="en-US" altLang="zh-CN" sz="2800" b="1" dirty="0">
                <a:latin typeface="Times New Roman" panose="02020603050405020304" pitchFamily="18" charset="0"/>
              </a:rPr>
              <a:t>[ES]+k</a:t>
            </a:r>
            <a:r>
              <a:rPr kumimoji="1" lang="en-US" altLang="zh-CN" sz="2800" b="1" baseline="-25000" dirty="0">
                <a:latin typeface="Times New Roman" panose="02020603050405020304" pitchFamily="18" charset="0"/>
              </a:rPr>
              <a:t>2</a:t>
            </a:r>
            <a:r>
              <a:rPr kumimoji="1" lang="en-US" altLang="zh-CN" sz="2800" b="1" dirty="0">
                <a:latin typeface="Times New Roman" panose="02020603050405020304" pitchFamily="18" charset="0"/>
              </a:rPr>
              <a:t>[ES].	</a:t>
            </a:r>
          </a:p>
        </p:txBody>
      </p:sp>
      <p:sp>
        <p:nvSpPr>
          <p:cNvPr id="3" name="Text Box 2">
            <a:extLst>
              <a:ext uri="{FF2B5EF4-FFF2-40B4-BE49-F238E27FC236}">
                <a16:creationId xmlns:a16="http://schemas.microsoft.com/office/drawing/2014/main" id="{EE0A5ED0-EBEB-4C82-AC4C-041CD21D7059}"/>
              </a:ext>
            </a:extLst>
          </p:cNvPr>
          <p:cNvSpPr txBox="1">
            <a:spLocks noChangeArrowheads="1"/>
          </p:cNvSpPr>
          <p:nvPr/>
        </p:nvSpPr>
        <p:spPr bwMode="auto">
          <a:xfrm>
            <a:off x="228600" y="3084249"/>
            <a:ext cx="8382000" cy="1856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30000"/>
              </a:spcBef>
            </a:pPr>
            <a:r>
              <a:rPr kumimoji="1" lang="en-US" altLang="zh-CN" sz="2800" b="1" dirty="0">
                <a:latin typeface="Times New Roman" panose="02020603050405020304" pitchFamily="18" charset="0"/>
                <a:sym typeface="Symbol" panose="05050102010706020507" pitchFamily="18" charset="2"/>
              </a:rPr>
              <a:t>1.3.5 The free enzyme concentration</a:t>
            </a:r>
          </a:p>
          <a:p>
            <a:pPr eaLnBrk="1" hangingPunct="1">
              <a:lnSpc>
                <a:spcPct val="120000"/>
              </a:lnSpc>
              <a:spcBef>
                <a:spcPct val="30000"/>
              </a:spcBef>
            </a:pPr>
            <a:r>
              <a:rPr kumimoji="1" lang="en-US" altLang="zh-CN" sz="2800" b="1" dirty="0">
                <a:latin typeface="Times New Roman" panose="02020603050405020304" pitchFamily="18" charset="0"/>
                <a:sym typeface="Symbol" panose="05050102010706020507" pitchFamily="18" charset="2"/>
              </a:rPr>
              <a:t>                     [E]=[E</a:t>
            </a:r>
            <a:r>
              <a:rPr kumimoji="1" lang="en-US" altLang="zh-CN" sz="2800" b="1" baseline="-25000" dirty="0">
                <a:latin typeface="Times New Roman" panose="02020603050405020304" pitchFamily="18" charset="0"/>
                <a:sym typeface="Symbol" panose="05050102010706020507" pitchFamily="18" charset="2"/>
              </a:rPr>
              <a:t>t</a:t>
            </a:r>
            <a:r>
              <a:rPr kumimoji="1" lang="en-US" altLang="zh-CN" sz="2800" b="1" dirty="0">
                <a:latin typeface="Times New Roman" panose="02020603050405020304" pitchFamily="18" charset="0"/>
                <a:sym typeface="Symbol" panose="05050102010706020507" pitchFamily="18" charset="2"/>
              </a:rPr>
              <a:t>]-[ES] </a:t>
            </a:r>
          </a:p>
          <a:p>
            <a:pPr eaLnBrk="1" hangingPunct="1">
              <a:lnSpc>
                <a:spcPct val="120000"/>
              </a:lnSpc>
              <a:spcBef>
                <a:spcPct val="30000"/>
              </a:spcBef>
            </a:pPr>
            <a:r>
              <a:rPr kumimoji="1" lang="en-US" altLang="zh-CN" sz="2800" b="1" dirty="0">
                <a:latin typeface="Times New Roman" panose="02020603050405020304" pitchFamily="18" charset="0"/>
                <a:sym typeface="Symbol" panose="05050102010706020507" pitchFamily="18" charset="2"/>
              </a:rPr>
              <a:t>([E</a:t>
            </a:r>
            <a:r>
              <a:rPr kumimoji="1" lang="en-US" altLang="zh-CN" sz="2800" b="1" baseline="-25000" dirty="0">
                <a:latin typeface="Times New Roman" panose="02020603050405020304" pitchFamily="18" charset="0"/>
                <a:sym typeface="Symbol" panose="05050102010706020507" pitchFamily="18" charset="2"/>
              </a:rPr>
              <a:t>t</a:t>
            </a:r>
            <a:r>
              <a:rPr kumimoji="1" lang="en-US" altLang="zh-CN" sz="2800" b="1" dirty="0">
                <a:latin typeface="Times New Roman" panose="02020603050405020304" pitchFamily="18" charset="0"/>
                <a:sym typeface="Symbol" panose="05050102010706020507" pitchFamily="18" charset="2"/>
              </a:rPr>
              <a:t>] is the total enzyme concentration).</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2">
            <a:extLst>
              <a:ext uri="{FF2B5EF4-FFF2-40B4-BE49-F238E27FC236}">
                <a16:creationId xmlns:a16="http://schemas.microsoft.com/office/drawing/2014/main" id="{324C9E48-D367-48FD-8702-127DDA784F62}"/>
              </a:ext>
            </a:extLst>
          </p:cNvPr>
          <p:cNvSpPr txBox="1">
            <a:spLocks noChangeArrowheads="1"/>
          </p:cNvSpPr>
          <p:nvPr/>
        </p:nvSpPr>
        <p:spPr bwMode="auto">
          <a:xfrm>
            <a:off x="304800" y="228600"/>
            <a:ext cx="8534400" cy="5909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rPr>
              <a:t>	</a:t>
            </a:r>
            <a:endParaRPr kumimoji="1" lang="en-US" altLang="zh-CN" sz="2800" b="1" dirty="0">
              <a:latin typeface="Times New Roman" panose="02020603050405020304" pitchFamily="18" charset="0"/>
              <a:sym typeface="Symbol" panose="05050102010706020507" pitchFamily="18" charset="2"/>
            </a:endParaRPr>
          </a:p>
          <a:p>
            <a:pPr eaLnBrk="1" hangingPunct="1">
              <a:spcBef>
                <a:spcPct val="50000"/>
              </a:spcBef>
            </a:pPr>
            <a:r>
              <a:rPr kumimoji="1" lang="en-US" altLang="zh-CN" sz="2800" b="1" dirty="0">
                <a:latin typeface="Times New Roman" panose="02020603050405020304" pitchFamily="18" charset="0"/>
                <a:sym typeface="Symbol" panose="05050102010706020507" pitchFamily="18" charset="2"/>
              </a:rPr>
              <a:t>1.3.6 The amount of substrate bound by the enzyme at any given time is negligible compared with the total [S], because [S] is usually far greater than [E</a:t>
            </a:r>
            <a:r>
              <a:rPr kumimoji="1" lang="en-US" altLang="zh-CN" sz="2800" b="1" baseline="-25000" dirty="0">
                <a:latin typeface="Times New Roman" panose="02020603050405020304" pitchFamily="18" charset="0"/>
                <a:sym typeface="Symbol" panose="05050102010706020507" pitchFamily="18" charset="2"/>
              </a:rPr>
              <a:t>t</a:t>
            </a:r>
            <a:r>
              <a:rPr kumimoji="1" lang="en-US" altLang="zh-CN" sz="2800" b="1" dirty="0">
                <a:latin typeface="Times New Roman" panose="02020603050405020304" pitchFamily="18" charset="0"/>
                <a:sym typeface="Symbol" panose="05050102010706020507" pitchFamily="18" charset="2"/>
              </a:rPr>
              <a:t>] </a:t>
            </a:r>
            <a:r>
              <a:rPr kumimoji="1" lang="en-US" altLang="zh-CN" sz="2800" b="1" dirty="0">
                <a:solidFill>
                  <a:srgbClr val="FF0066"/>
                </a:solidFill>
                <a:latin typeface="Times New Roman" panose="02020603050405020304" pitchFamily="18" charset="0"/>
                <a:sym typeface="Symbol" panose="05050102010706020507" pitchFamily="18" charset="2"/>
              </a:rPr>
              <a:t>([S]&gt;&gt;[Et], still true for low [S]);</a:t>
            </a:r>
            <a:r>
              <a:rPr kumimoji="1" lang="en-US" altLang="zh-CN" sz="2800" b="1" dirty="0">
                <a:latin typeface="Times New Roman" panose="02020603050405020304" pitchFamily="18" charset="0"/>
                <a:sym typeface="Symbol" panose="05050102010706020507" pitchFamily="18" charset="2"/>
              </a:rPr>
              <a:t> therefore, the free substrate concentration is [S].</a:t>
            </a:r>
            <a:endParaRPr kumimoji="1" lang="en-US" altLang="zh-CN" sz="2400" dirty="0">
              <a:latin typeface="Times New Roman" panose="02020603050405020304" pitchFamily="18" charset="0"/>
            </a:endParaRPr>
          </a:p>
          <a:p>
            <a:pPr eaLnBrk="1" hangingPunct="1">
              <a:spcBef>
                <a:spcPct val="50000"/>
              </a:spcBef>
            </a:pPr>
            <a:endParaRPr kumimoji="1" lang="en-US" altLang="zh-CN" sz="2800" b="1" dirty="0">
              <a:latin typeface="Times New Roman" panose="02020603050405020304" pitchFamily="18" charset="0"/>
              <a:sym typeface="Symbol" panose="05050102010706020507" pitchFamily="18" charset="2"/>
            </a:endParaRPr>
          </a:p>
          <a:p>
            <a:pPr eaLnBrk="1" hangingPunct="1">
              <a:spcBef>
                <a:spcPct val="50000"/>
              </a:spcBef>
            </a:pPr>
            <a:r>
              <a:rPr kumimoji="1" lang="en-US" altLang="zh-CN" sz="2800" b="1" dirty="0">
                <a:latin typeface="Times New Roman" panose="02020603050405020304" pitchFamily="18" charset="0"/>
                <a:sym typeface="Symbol" panose="05050102010706020507" pitchFamily="18" charset="2"/>
              </a:rPr>
              <a:t>1.3.7  K</a:t>
            </a:r>
            <a:r>
              <a:rPr kumimoji="1" lang="en-US" altLang="zh-CN" sz="2800" b="1" baseline="-25000" dirty="0">
                <a:latin typeface="Times New Roman" panose="02020603050405020304" pitchFamily="18" charset="0"/>
                <a:sym typeface="Symbol" panose="05050102010706020507" pitchFamily="18" charset="2"/>
              </a:rPr>
              <a:t>m</a:t>
            </a:r>
            <a:r>
              <a:rPr kumimoji="1" lang="en-US" altLang="zh-CN" sz="2800" b="1" dirty="0">
                <a:latin typeface="Times New Roman" panose="02020603050405020304" pitchFamily="18" charset="0"/>
                <a:sym typeface="Symbol" panose="05050102010706020507" pitchFamily="18" charset="2"/>
              </a:rPr>
              <a:t> =(k</a:t>
            </a:r>
            <a:r>
              <a:rPr kumimoji="1" lang="en-US" altLang="zh-CN" sz="2800" b="1" baseline="-25000" dirty="0">
                <a:latin typeface="Times New Roman" panose="02020603050405020304" pitchFamily="18" charset="0"/>
                <a:sym typeface="Symbol" panose="05050102010706020507" pitchFamily="18" charset="2"/>
              </a:rPr>
              <a:t>-1</a:t>
            </a:r>
            <a:r>
              <a:rPr kumimoji="1" lang="en-US" altLang="zh-CN" sz="2800" b="1" dirty="0">
                <a:latin typeface="Times New Roman" panose="02020603050405020304" pitchFamily="18" charset="0"/>
                <a:sym typeface="Symbol" panose="05050102010706020507" pitchFamily="18" charset="2"/>
              </a:rPr>
              <a:t>+k</a:t>
            </a:r>
            <a:r>
              <a:rPr kumimoji="1" lang="en-US" altLang="zh-CN" sz="2800" b="1" baseline="-25000" dirty="0">
                <a:latin typeface="Times New Roman" panose="02020603050405020304" pitchFamily="18" charset="0"/>
                <a:sym typeface="Symbol" panose="05050102010706020507" pitchFamily="18" charset="2"/>
              </a:rPr>
              <a:t>2</a:t>
            </a:r>
            <a:r>
              <a:rPr kumimoji="1" lang="en-US" altLang="zh-CN" sz="2800" b="1" dirty="0">
                <a:latin typeface="Times New Roman" panose="02020603050405020304" pitchFamily="18" charset="0"/>
                <a:sym typeface="Symbol" panose="05050102010706020507" pitchFamily="18" charset="2"/>
              </a:rPr>
              <a:t>)/k</a:t>
            </a:r>
            <a:r>
              <a:rPr kumimoji="1" lang="en-US" altLang="zh-CN" sz="2800" b="1" baseline="-25000" dirty="0">
                <a:latin typeface="Times New Roman" panose="02020603050405020304" pitchFamily="18" charset="0"/>
                <a:sym typeface="Symbol" panose="05050102010706020507" pitchFamily="18" charset="2"/>
              </a:rPr>
              <a:t>1</a:t>
            </a:r>
            <a:r>
              <a:rPr kumimoji="1" lang="en-US" altLang="zh-CN" sz="2800" b="1" dirty="0">
                <a:latin typeface="Times New Roman" panose="02020603050405020304" pitchFamily="18" charset="0"/>
                <a:sym typeface="Symbol" panose="05050102010706020507" pitchFamily="18" charset="2"/>
              </a:rPr>
              <a:t>, is the Michaelis-Menten constant.</a:t>
            </a:r>
          </a:p>
          <a:p>
            <a:pPr eaLnBrk="1" hangingPunct="1">
              <a:spcBef>
                <a:spcPct val="50000"/>
              </a:spcBef>
            </a:pPr>
            <a:r>
              <a:rPr kumimoji="1" lang="en-US" altLang="zh-CN" sz="2800" b="1" dirty="0">
                <a:latin typeface="Times New Roman" panose="02020603050405020304" pitchFamily="18" charset="0"/>
                <a:sym typeface="Symbol" panose="05050102010706020507" pitchFamily="18" charset="2"/>
              </a:rPr>
              <a:t>         </a:t>
            </a:r>
          </a:p>
          <a:p>
            <a:pPr eaLnBrk="1" hangingPunct="1">
              <a:spcBef>
                <a:spcPct val="50000"/>
              </a:spcBef>
            </a:pPr>
            <a:r>
              <a:rPr kumimoji="1" lang="en-US" altLang="zh-CN" sz="2800" b="1" dirty="0">
                <a:latin typeface="Times New Roman" panose="02020603050405020304" pitchFamily="18" charset="0"/>
                <a:sym typeface="Symbol" panose="05050102010706020507" pitchFamily="18" charset="2"/>
              </a:rPr>
              <a:t>           </a:t>
            </a:r>
            <a:endParaRPr kumimoji="1" lang="en-US" altLang="zh-CN" sz="2800" b="1" dirty="0">
              <a:solidFill>
                <a:srgbClr val="FF0000"/>
              </a:solidFill>
              <a:latin typeface="Times New Roman" panose="02020603050405020304" pitchFamily="18" charset="0"/>
              <a:sym typeface="Symbol" panose="05050102010706020507" pitchFamily="18" charset="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Text Box 2">
            <a:extLst>
              <a:ext uri="{FF2B5EF4-FFF2-40B4-BE49-F238E27FC236}">
                <a16:creationId xmlns:a16="http://schemas.microsoft.com/office/drawing/2014/main" id="{24C28C80-2D6E-453D-BF52-BCBB3D8DD5D8}"/>
              </a:ext>
            </a:extLst>
          </p:cNvPr>
          <p:cNvSpPr txBox="1">
            <a:spLocks noChangeArrowheads="1"/>
          </p:cNvSpPr>
          <p:nvPr/>
        </p:nvSpPr>
        <p:spPr bwMode="auto">
          <a:xfrm>
            <a:off x="152400" y="44624"/>
            <a:ext cx="86868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kumimoji="1" lang="en-US" altLang="zh-CN" sz="2800" b="1" dirty="0">
                <a:latin typeface="Times New Roman" panose="02020603050405020304" pitchFamily="18" charset="0"/>
              </a:rPr>
              <a:t>1.3.8 </a:t>
            </a:r>
            <a:r>
              <a:rPr kumimoji="1" lang="zh-CN" altLang="en-US" sz="2800" b="1" dirty="0">
                <a:latin typeface="Times New Roman" panose="02020603050405020304" pitchFamily="18" charset="0"/>
              </a:rPr>
              <a:t>米氏方程推导过程</a:t>
            </a:r>
            <a:r>
              <a:rPr kumimoji="1" lang="en-US" altLang="zh-CN" sz="2800" b="1" dirty="0">
                <a:latin typeface="Times New Roman" panose="02020603050405020304" pitchFamily="18" charset="0"/>
              </a:rPr>
              <a:t> </a:t>
            </a:r>
          </a:p>
          <a:p>
            <a:pPr eaLnBrk="1" hangingPunct="1">
              <a:spcBef>
                <a:spcPct val="20000"/>
              </a:spcBef>
            </a:pPr>
            <a:r>
              <a:rPr kumimoji="1" lang="en-US" altLang="zh-CN" sz="2800" b="1" dirty="0">
                <a:latin typeface="Times New Roman" panose="02020603050405020304" pitchFamily="18" charset="0"/>
              </a:rPr>
              <a:t>           the rate of ES formation = k</a:t>
            </a:r>
            <a:r>
              <a:rPr kumimoji="1" lang="en-US" altLang="zh-CN" sz="2800" b="1" baseline="-25000" dirty="0">
                <a:latin typeface="Times New Roman" panose="02020603050405020304" pitchFamily="18" charset="0"/>
              </a:rPr>
              <a:t>1</a:t>
            </a:r>
            <a:r>
              <a:rPr kumimoji="1" lang="en-US" altLang="zh-CN" sz="2800" b="1" dirty="0">
                <a:latin typeface="Times New Roman" panose="02020603050405020304" pitchFamily="18" charset="0"/>
              </a:rPr>
              <a:t>([Et]-[ES])[S],</a:t>
            </a:r>
          </a:p>
          <a:p>
            <a:pPr eaLnBrk="1" hangingPunct="1">
              <a:spcBef>
                <a:spcPct val="20000"/>
              </a:spcBef>
            </a:pPr>
            <a:r>
              <a:rPr kumimoji="1" lang="en-US" altLang="zh-CN" sz="2800" b="1" dirty="0">
                <a:latin typeface="Times New Roman" panose="02020603050405020304" pitchFamily="18" charset="0"/>
              </a:rPr>
              <a:t>	the rate of ES breakdown = k</a:t>
            </a:r>
            <a:r>
              <a:rPr kumimoji="1" lang="en-US" altLang="zh-CN" sz="2800" b="1" baseline="-25000" dirty="0">
                <a:latin typeface="Times New Roman" panose="02020603050405020304" pitchFamily="18" charset="0"/>
              </a:rPr>
              <a:t>-1</a:t>
            </a:r>
            <a:r>
              <a:rPr kumimoji="1" lang="en-US" altLang="zh-CN" sz="2800" b="1" dirty="0">
                <a:latin typeface="Times New Roman" panose="02020603050405020304" pitchFamily="18" charset="0"/>
              </a:rPr>
              <a:t>[ES]+k</a:t>
            </a:r>
            <a:r>
              <a:rPr kumimoji="1" lang="en-US" altLang="zh-CN" sz="2800" b="1" baseline="-25000" dirty="0">
                <a:latin typeface="Times New Roman" panose="02020603050405020304" pitchFamily="18" charset="0"/>
              </a:rPr>
              <a:t>2</a:t>
            </a:r>
            <a:r>
              <a:rPr kumimoji="1" lang="en-US" altLang="zh-CN" sz="2800" b="1" dirty="0">
                <a:latin typeface="Times New Roman" panose="02020603050405020304" pitchFamily="18" charset="0"/>
              </a:rPr>
              <a:t>[ES].</a:t>
            </a:r>
          </a:p>
          <a:p>
            <a:pPr eaLnBrk="1" hangingPunct="1">
              <a:spcBef>
                <a:spcPct val="20000"/>
              </a:spcBef>
            </a:pPr>
            <a:r>
              <a:rPr kumimoji="1" lang="en-US" altLang="zh-CN" sz="2800" b="1" dirty="0">
                <a:latin typeface="Times New Roman" panose="02020603050405020304" pitchFamily="18" charset="0"/>
              </a:rPr>
              <a:t>		 k</a:t>
            </a:r>
            <a:r>
              <a:rPr kumimoji="1" lang="en-US" altLang="zh-CN" sz="2800" b="1" baseline="-25000" dirty="0">
                <a:latin typeface="Times New Roman" panose="02020603050405020304" pitchFamily="18" charset="0"/>
              </a:rPr>
              <a:t>1</a:t>
            </a:r>
            <a:r>
              <a:rPr kumimoji="1" lang="en-US" altLang="zh-CN" sz="2800" b="1" dirty="0">
                <a:latin typeface="Times New Roman" panose="02020603050405020304" pitchFamily="18" charset="0"/>
              </a:rPr>
              <a:t>([Et]-[ES])[S]= k</a:t>
            </a:r>
            <a:r>
              <a:rPr kumimoji="1" lang="en-US" altLang="zh-CN" sz="2800" b="1" baseline="-25000" dirty="0">
                <a:latin typeface="Times New Roman" panose="02020603050405020304" pitchFamily="18" charset="0"/>
              </a:rPr>
              <a:t>-1</a:t>
            </a:r>
            <a:r>
              <a:rPr kumimoji="1" lang="en-US" altLang="zh-CN" sz="2800" b="1" dirty="0">
                <a:latin typeface="Times New Roman" panose="02020603050405020304" pitchFamily="18" charset="0"/>
              </a:rPr>
              <a:t>[ES]+k</a:t>
            </a:r>
            <a:r>
              <a:rPr kumimoji="1" lang="en-US" altLang="zh-CN" sz="2800" b="1" baseline="-25000" dirty="0">
                <a:latin typeface="Times New Roman" panose="02020603050405020304" pitchFamily="18" charset="0"/>
              </a:rPr>
              <a:t>2</a:t>
            </a:r>
            <a:r>
              <a:rPr kumimoji="1" lang="en-US" altLang="zh-CN" sz="2800" b="1" dirty="0">
                <a:latin typeface="Times New Roman" panose="02020603050405020304" pitchFamily="18" charset="0"/>
              </a:rPr>
              <a:t>[ES]</a:t>
            </a:r>
          </a:p>
          <a:p>
            <a:pPr eaLnBrk="1" hangingPunct="1">
              <a:spcBef>
                <a:spcPct val="20000"/>
              </a:spcBef>
            </a:pPr>
            <a:r>
              <a:rPr kumimoji="1" lang="en-US" altLang="zh-CN" sz="2800" b="1" dirty="0">
                <a:latin typeface="Times New Roman" panose="02020603050405020304" pitchFamily="18" charset="0"/>
              </a:rPr>
              <a:t>                         ([Et]-[ES])[S]=( k</a:t>
            </a:r>
            <a:r>
              <a:rPr kumimoji="1" lang="en-US" altLang="zh-CN" sz="2800" b="1" baseline="-25000" dirty="0">
                <a:latin typeface="Times New Roman" panose="02020603050405020304" pitchFamily="18" charset="0"/>
              </a:rPr>
              <a:t>-1 </a:t>
            </a:r>
            <a:r>
              <a:rPr kumimoji="1" lang="en-US" altLang="zh-CN" sz="2800" b="1" dirty="0">
                <a:latin typeface="Times New Roman" panose="02020603050405020304" pitchFamily="18" charset="0"/>
              </a:rPr>
              <a:t>+k</a:t>
            </a:r>
            <a:r>
              <a:rPr kumimoji="1" lang="en-US" altLang="zh-CN" sz="2800" b="1" baseline="-25000" dirty="0">
                <a:latin typeface="Times New Roman" panose="02020603050405020304" pitchFamily="18" charset="0"/>
              </a:rPr>
              <a:t>2</a:t>
            </a:r>
            <a:r>
              <a:rPr kumimoji="1" lang="en-US" altLang="zh-CN" sz="2800" b="1" dirty="0">
                <a:latin typeface="Times New Roman" panose="02020603050405020304" pitchFamily="18" charset="0"/>
              </a:rPr>
              <a:t>)/ k</a:t>
            </a:r>
            <a:r>
              <a:rPr kumimoji="1" lang="en-US" altLang="zh-CN" sz="2800" b="1" baseline="-25000" dirty="0">
                <a:latin typeface="Times New Roman" panose="02020603050405020304" pitchFamily="18" charset="0"/>
              </a:rPr>
              <a:t>1  </a:t>
            </a:r>
            <a:r>
              <a:rPr kumimoji="1" lang="en-US" altLang="zh-CN" sz="2800" b="1" dirty="0">
                <a:latin typeface="Times New Roman" panose="02020603050405020304" pitchFamily="18" charset="0"/>
              </a:rPr>
              <a:t>[ES]</a:t>
            </a:r>
          </a:p>
          <a:p>
            <a:pPr eaLnBrk="1" hangingPunct="1">
              <a:spcBef>
                <a:spcPct val="20000"/>
              </a:spcBef>
            </a:pPr>
            <a:endParaRPr kumimoji="1" lang="en-US" altLang="zh-CN" sz="2800" b="1" dirty="0">
              <a:latin typeface="Times New Roman" panose="02020603050405020304" pitchFamily="18" charset="0"/>
            </a:endParaRPr>
          </a:p>
        </p:txBody>
      </p:sp>
      <p:graphicFrame>
        <p:nvGraphicFramePr>
          <p:cNvPr id="2050" name="Object 3">
            <a:extLst>
              <a:ext uri="{FF2B5EF4-FFF2-40B4-BE49-F238E27FC236}">
                <a16:creationId xmlns:a16="http://schemas.microsoft.com/office/drawing/2014/main" id="{F9C20F83-BB8D-4FC0-97BE-C44B13122A15}"/>
              </a:ext>
            </a:extLst>
          </p:cNvPr>
          <p:cNvGraphicFramePr>
            <a:graphicFrameLocks noChangeAspect="1"/>
          </p:cNvGraphicFramePr>
          <p:nvPr/>
        </p:nvGraphicFramePr>
        <p:xfrm>
          <a:off x="2286000" y="2709664"/>
          <a:ext cx="2590800" cy="1295400"/>
        </p:xfrm>
        <a:graphic>
          <a:graphicData uri="http://schemas.openxmlformats.org/presentationml/2006/ole">
            <mc:AlternateContent xmlns:mc="http://schemas.openxmlformats.org/markup-compatibility/2006">
              <mc:Choice xmlns:v="urn:schemas-microsoft-com:vml" Requires="v">
                <p:oleObj name="Equation" r:id="rId2" imgW="863280" imgH="431640" progId="Equation.DSMT4">
                  <p:embed/>
                </p:oleObj>
              </mc:Choice>
              <mc:Fallback>
                <p:oleObj name="Equation" r:id="rId2" imgW="863280" imgH="431640" progId="Equation.DSMT4">
                  <p:embed/>
                  <p:pic>
                    <p:nvPicPr>
                      <p:cNvPr id="2050" name="Object 3">
                        <a:extLst>
                          <a:ext uri="{FF2B5EF4-FFF2-40B4-BE49-F238E27FC236}">
                            <a16:creationId xmlns:a16="http://schemas.microsoft.com/office/drawing/2014/main" id="{F9C20F83-BB8D-4FC0-97BE-C44B13122A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709664"/>
                        <a:ext cx="2590800" cy="1295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4">
            <a:extLst>
              <a:ext uri="{FF2B5EF4-FFF2-40B4-BE49-F238E27FC236}">
                <a16:creationId xmlns:a16="http://schemas.microsoft.com/office/drawing/2014/main" id="{2BB62EDF-0B86-40C7-9491-B78069AA98E1}"/>
              </a:ext>
            </a:extLst>
          </p:cNvPr>
          <p:cNvGraphicFramePr>
            <a:graphicFrameLocks noChangeAspect="1"/>
          </p:cNvGraphicFramePr>
          <p:nvPr/>
        </p:nvGraphicFramePr>
        <p:xfrm>
          <a:off x="2247900" y="3874178"/>
          <a:ext cx="5257800" cy="701675"/>
        </p:xfrm>
        <a:graphic>
          <a:graphicData uri="http://schemas.openxmlformats.org/presentationml/2006/ole">
            <mc:AlternateContent xmlns:mc="http://schemas.openxmlformats.org/markup-compatibility/2006">
              <mc:Choice xmlns:v="urn:schemas-microsoft-com:vml" Requires="v">
                <p:oleObj name="Equation" r:id="rId4" imgW="1714320" imgH="228600" progId="Equation.DSMT4">
                  <p:embed/>
                </p:oleObj>
              </mc:Choice>
              <mc:Fallback>
                <p:oleObj name="Equation" r:id="rId4" imgW="1714320" imgH="228600" progId="Equation.DSMT4">
                  <p:embed/>
                  <p:pic>
                    <p:nvPicPr>
                      <p:cNvPr id="2051" name="Object 4">
                        <a:extLst>
                          <a:ext uri="{FF2B5EF4-FFF2-40B4-BE49-F238E27FC236}">
                            <a16:creationId xmlns:a16="http://schemas.microsoft.com/office/drawing/2014/main" id="{2BB62EDF-0B86-40C7-9491-B78069AA98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7900" y="3874178"/>
                        <a:ext cx="525780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2" name="Object 5">
            <a:extLst>
              <a:ext uri="{FF2B5EF4-FFF2-40B4-BE49-F238E27FC236}">
                <a16:creationId xmlns:a16="http://schemas.microsoft.com/office/drawing/2014/main" id="{513FFF51-104C-4143-A188-B23CC7D3476C}"/>
              </a:ext>
            </a:extLst>
          </p:cNvPr>
          <p:cNvGraphicFramePr>
            <a:graphicFrameLocks noChangeAspect="1"/>
          </p:cNvGraphicFramePr>
          <p:nvPr/>
        </p:nvGraphicFramePr>
        <p:xfrm>
          <a:off x="2362200" y="4590008"/>
          <a:ext cx="2133600" cy="711200"/>
        </p:xfrm>
        <a:graphic>
          <a:graphicData uri="http://schemas.openxmlformats.org/presentationml/2006/ole">
            <mc:AlternateContent xmlns:mc="http://schemas.openxmlformats.org/markup-compatibility/2006">
              <mc:Choice xmlns:v="urn:schemas-microsoft-com:vml" Requires="v">
                <p:oleObj name="Equation" r:id="rId6" imgW="685800" imgH="228600" progId="Equation.DSMT4">
                  <p:embed/>
                </p:oleObj>
              </mc:Choice>
              <mc:Fallback>
                <p:oleObj name="Equation" r:id="rId6" imgW="685800" imgH="228600" progId="Equation.DSMT4">
                  <p:embed/>
                  <p:pic>
                    <p:nvPicPr>
                      <p:cNvPr id="2052" name="Object 5">
                        <a:extLst>
                          <a:ext uri="{FF2B5EF4-FFF2-40B4-BE49-F238E27FC236}">
                            <a16:creationId xmlns:a16="http://schemas.microsoft.com/office/drawing/2014/main" id="{513FFF51-104C-4143-A188-B23CC7D347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2200" y="4590008"/>
                        <a:ext cx="2133600"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3" name="Object 6">
            <a:extLst>
              <a:ext uri="{FF2B5EF4-FFF2-40B4-BE49-F238E27FC236}">
                <a16:creationId xmlns:a16="http://schemas.microsoft.com/office/drawing/2014/main" id="{C60FB1AA-0685-4790-B557-5B2245077C1B}"/>
              </a:ext>
            </a:extLst>
          </p:cNvPr>
          <p:cNvGraphicFramePr>
            <a:graphicFrameLocks noChangeAspect="1"/>
          </p:cNvGraphicFramePr>
          <p:nvPr/>
        </p:nvGraphicFramePr>
        <p:xfrm>
          <a:off x="2362200" y="5334000"/>
          <a:ext cx="4648200" cy="1293813"/>
        </p:xfrm>
        <a:graphic>
          <a:graphicData uri="http://schemas.openxmlformats.org/presentationml/2006/ole">
            <mc:AlternateContent xmlns:mc="http://schemas.openxmlformats.org/markup-compatibility/2006">
              <mc:Choice xmlns:v="urn:schemas-microsoft-com:vml" Requires="v">
                <p:oleObj name="Equation" r:id="rId8" imgW="1549080" imgH="431640" progId="Equation.DSMT4">
                  <p:embed/>
                </p:oleObj>
              </mc:Choice>
              <mc:Fallback>
                <p:oleObj name="Equation" r:id="rId8" imgW="1549080" imgH="431640" progId="Equation.DSMT4">
                  <p:embed/>
                  <p:pic>
                    <p:nvPicPr>
                      <p:cNvPr id="2053" name="Object 6">
                        <a:extLst>
                          <a:ext uri="{FF2B5EF4-FFF2-40B4-BE49-F238E27FC236}">
                            <a16:creationId xmlns:a16="http://schemas.microsoft.com/office/drawing/2014/main" id="{C60FB1AA-0685-4790-B557-5B2245077C1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62200" y="5334000"/>
                        <a:ext cx="4648200" cy="1293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a:extLst>
              <a:ext uri="{FF2B5EF4-FFF2-40B4-BE49-F238E27FC236}">
                <a16:creationId xmlns:a16="http://schemas.microsoft.com/office/drawing/2014/main" id="{E152C183-AA43-403C-A8BD-932C68A647A6}"/>
              </a:ext>
            </a:extLst>
          </p:cNvPr>
          <p:cNvSpPr/>
          <p:nvPr/>
        </p:nvSpPr>
        <p:spPr>
          <a:xfrm>
            <a:off x="133429" y="2886771"/>
            <a:ext cx="4572000" cy="646331"/>
          </a:xfrm>
          <a:prstGeom prst="rect">
            <a:avLst/>
          </a:prstGeom>
        </p:spPr>
        <p:txBody>
          <a:bodyPr>
            <a:spAutoFit/>
          </a:bodyPr>
          <a:lstStyle/>
          <a:p>
            <a:r>
              <a:rPr lang="en-US" altLang="zh-CN" dirty="0"/>
              <a:t>Michaelis constant</a:t>
            </a:r>
          </a:p>
          <a:p>
            <a:r>
              <a:rPr lang="zh-CN" altLang="en-US" dirty="0"/>
              <a:t>米氏常数</a:t>
            </a:r>
          </a:p>
        </p:txBody>
      </p:sp>
    </p:spTree>
    <p:extLst>
      <p:ext uri="{BB962C8B-B14F-4D97-AF65-F5344CB8AC3E}">
        <p14:creationId xmlns:p14="http://schemas.microsoft.com/office/powerpoint/2010/main" val="122741072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4C886D8-C0C7-45E2-B357-080545848E88}"/>
              </a:ext>
            </a:extLst>
          </p:cNvPr>
          <p:cNvSpPr txBox="1"/>
          <p:nvPr/>
        </p:nvSpPr>
        <p:spPr>
          <a:xfrm>
            <a:off x="611560" y="980728"/>
            <a:ext cx="7704856" cy="2862322"/>
          </a:xfrm>
          <a:prstGeom prst="rect">
            <a:avLst/>
          </a:prstGeom>
          <a:noFill/>
        </p:spPr>
        <p:txBody>
          <a:bodyPr wrap="square">
            <a:spAutoFit/>
          </a:bodyPr>
          <a:lstStyle/>
          <a:p>
            <a:r>
              <a:rPr kumimoji="1" lang="en-US" altLang="zh-CN" sz="2400" b="1" dirty="0">
                <a:latin typeface="Times New Roman" panose="02020603050405020304" pitchFamily="18" charset="0"/>
                <a:sym typeface="Symbol" panose="05050102010706020507" pitchFamily="18" charset="2"/>
              </a:rPr>
              <a:t>This is the Michaelis-Menten equation.</a:t>
            </a:r>
          </a:p>
          <a:p>
            <a:endParaRPr kumimoji="1" lang="en-US" altLang="zh-CN" sz="2400" b="1" dirty="0">
              <a:latin typeface="Times New Roman" panose="02020603050405020304" pitchFamily="18" charset="0"/>
              <a:sym typeface="Symbol" panose="05050102010706020507" pitchFamily="18" charset="2"/>
            </a:endParaRPr>
          </a:p>
          <a:p>
            <a:pPr eaLnBrk="1" hangingPunct="1">
              <a:spcBef>
                <a:spcPct val="50000"/>
              </a:spcBef>
            </a:pPr>
            <a:r>
              <a:rPr kumimoji="1" lang="en-US" altLang="zh-CN" sz="2400" b="1" dirty="0">
                <a:solidFill>
                  <a:srgbClr val="FF0000"/>
                </a:solidFill>
                <a:latin typeface="Times New Roman" panose="02020603050405020304" pitchFamily="18" charset="0"/>
                <a:sym typeface="Symbol" panose="05050102010706020507" pitchFamily="18" charset="2"/>
              </a:rPr>
              <a:t>The equation fits the observed curve very well.</a:t>
            </a:r>
          </a:p>
          <a:p>
            <a:pPr eaLnBrk="1" hangingPunct="1">
              <a:spcBef>
                <a:spcPct val="50000"/>
              </a:spcBef>
            </a:pPr>
            <a:r>
              <a:rPr kumimoji="1" lang="en-US" altLang="zh-CN" sz="2400" b="1" dirty="0">
                <a:solidFill>
                  <a:srgbClr val="FF0000"/>
                </a:solidFill>
                <a:latin typeface="Times New Roman" panose="02020603050405020304" pitchFamily="18" charset="0"/>
                <a:sym typeface="Symbol" panose="05050102010706020507" pitchFamily="18" charset="2"/>
              </a:rPr>
              <a:t>	When [S] is very low (&lt;&lt;Km), Vo=Vmax[S]/Km</a:t>
            </a:r>
          </a:p>
          <a:p>
            <a:pPr eaLnBrk="1" hangingPunct="1">
              <a:spcBef>
                <a:spcPct val="50000"/>
              </a:spcBef>
            </a:pPr>
            <a:r>
              <a:rPr kumimoji="1" lang="en-US" altLang="zh-CN" sz="2400" b="1" dirty="0">
                <a:solidFill>
                  <a:srgbClr val="FF0000"/>
                </a:solidFill>
                <a:latin typeface="Times New Roman" panose="02020603050405020304" pitchFamily="18" charset="0"/>
                <a:sym typeface="Symbol" panose="05050102010706020507" pitchFamily="18" charset="2"/>
              </a:rPr>
              <a:t>	when [S] is very high (&gt;&gt;Km), Vo=Vmax</a:t>
            </a:r>
          </a:p>
          <a:p>
            <a:r>
              <a:rPr kumimoji="1" lang="en-US" altLang="zh-CN" sz="2400" b="1" dirty="0">
                <a:latin typeface="Times New Roman" panose="02020603050405020304" pitchFamily="18" charset="0"/>
                <a:sym typeface="Symbol" panose="05050102010706020507" pitchFamily="18" charset="2"/>
              </a:rPr>
              <a:t> </a:t>
            </a:r>
            <a:endParaRPr lang="zh-CN" altLang="en-US" sz="2400" dirty="0"/>
          </a:p>
        </p:txBody>
      </p:sp>
    </p:spTree>
    <p:extLst>
      <p:ext uri="{BB962C8B-B14F-4D97-AF65-F5344CB8AC3E}">
        <p14:creationId xmlns:p14="http://schemas.microsoft.com/office/powerpoint/2010/main" val="351098541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a:extLst>
              <a:ext uri="{FF2B5EF4-FFF2-40B4-BE49-F238E27FC236}">
                <a16:creationId xmlns:a16="http://schemas.microsoft.com/office/drawing/2014/main" id="{D4AC57F8-A654-4773-9D1A-C3431CE8A3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711200"/>
            <a:ext cx="67056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7" name="Text Box 3">
            <a:extLst>
              <a:ext uri="{FF2B5EF4-FFF2-40B4-BE49-F238E27FC236}">
                <a16:creationId xmlns:a16="http://schemas.microsoft.com/office/drawing/2014/main" id="{6ED15756-C840-40E1-83FB-2C3B42D306A6}"/>
              </a:ext>
            </a:extLst>
          </p:cNvPr>
          <p:cNvSpPr txBox="1">
            <a:spLocks noChangeArrowheads="1"/>
          </p:cNvSpPr>
          <p:nvPr/>
        </p:nvSpPr>
        <p:spPr bwMode="auto">
          <a:xfrm>
            <a:off x="2955925" y="269875"/>
            <a:ext cx="1712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solidFill>
                  <a:srgbClr val="FF0066"/>
                </a:solidFill>
                <a:latin typeface="Times New Roman" panose="02020603050405020304" pitchFamily="18" charset="0"/>
              </a:rPr>
              <a:t>If [S]&lt;&lt;Km,</a:t>
            </a:r>
            <a:endParaRPr kumimoji="1" lang="en-US" altLang="zh-CN" sz="2400" dirty="0">
              <a:latin typeface="Times New Roman" panose="02020603050405020304" pitchFamily="18" charset="0"/>
            </a:endParaRPr>
          </a:p>
        </p:txBody>
      </p:sp>
      <p:sp>
        <p:nvSpPr>
          <p:cNvPr id="4" name="Text Box 3">
            <a:extLst>
              <a:ext uri="{FF2B5EF4-FFF2-40B4-BE49-F238E27FC236}">
                <a16:creationId xmlns:a16="http://schemas.microsoft.com/office/drawing/2014/main" id="{FB01852F-1A0B-4EE4-B994-A835DCD73F47}"/>
              </a:ext>
            </a:extLst>
          </p:cNvPr>
          <p:cNvSpPr txBox="1">
            <a:spLocks noChangeArrowheads="1"/>
          </p:cNvSpPr>
          <p:nvPr/>
        </p:nvSpPr>
        <p:spPr bwMode="auto">
          <a:xfrm>
            <a:off x="6012160" y="231031"/>
            <a:ext cx="17283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solidFill>
                  <a:srgbClr val="FF0066"/>
                </a:solidFill>
                <a:latin typeface="Times New Roman" panose="02020603050405020304" pitchFamily="18" charset="0"/>
              </a:rPr>
              <a:t>If [S]&gt;&gt;Km,</a:t>
            </a:r>
            <a:endParaRPr kumimoji="1" lang="en-US" altLang="zh-CN" sz="2400" dirty="0">
              <a:latin typeface="Times New Roman" panose="02020603050405020304" pitchFamily="18" charset="0"/>
            </a:endParaRPr>
          </a:p>
        </p:txBody>
      </p:sp>
      <p:pic>
        <p:nvPicPr>
          <p:cNvPr id="5" name="Picture 2">
            <a:extLst>
              <a:ext uri="{FF2B5EF4-FFF2-40B4-BE49-F238E27FC236}">
                <a16:creationId xmlns:a16="http://schemas.microsoft.com/office/drawing/2014/main" id="{6A15518B-59CC-42FD-AD8A-7B59DEBCA476}"/>
              </a:ext>
            </a:extLst>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332072" y="223368"/>
            <a:ext cx="1935672" cy="891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3">
            <a:extLst>
              <a:ext uri="{FF2B5EF4-FFF2-40B4-BE49-F238E27FC236}">
                <a16:creationId xmlns:a16="http://schemas.microsoft.com/office/drawing/2014/main" id="{E55A8869-6046-40E2-AA67-1EB794D09D56}"/>
              </a:ext>
            </a:extLst>
          </p:cNvPr>
          <p:cNvSpPr txBox="1">
            <a:spLocks noChangeArrowheads="1"/>
          </p:cNvSpPr>
          <p:nvPr/>
        </p:nvSpPr>
        <p:spPr bwMode="auto">
          <a:xfrm>
            <a:off x="3419872" y="3068960"/>
            <a:ext cx="207787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solidFill>
                  <a:srgbClr val="FF0066"/>
                </a:solidFill>
                <a:latin typeface="Times New Roman" panose="02020603050405020304" pitchFamily="18" charset="0"/>
              </a:rPr>
              <a:t>If V</a:t>
            </a:r>
            <a:r>
              <a:rPr kumimoji="1" lang="en-US" altLang="zh-CN" sz="2400" baseline="-25000" dirty="0">
                <a:solidFill>
                  <a:srgbClr val="FF0066"/>
                </a:solidFill>
                <a:latin typeface="Times New Roman" panose="02020603050405020304" pitchFamily="18" charset="0"/>
              </a:rPr>
              <a:t>0</a:t>
            </a:r>
            <a:r>
              <a:rPr kumimoji="1" lang="en-US" altLang="zh-CN" sz="2400" dirty="0">
                <a:solidFill>
                  <a:srgbClr val="FF0066"/>
                </a:solidFill>
                <a:latin typeface="Times New Roman" panose="02020603050405020304" pitchFamily="18" charset="0"/>
              </a:rPr>
              <a:t>=1/2 V</a:t>
            </a:r>
            <a:r>
              <a:rPr kumimoji="1" lang="en-US" altLang="zh-CN" sz="2400" baseline="-25000" dirty="0">
                <a:solidFill>
                  <a:srgbClr val="FF0066"/>
                </a:solidFill>
                <a:latin typeface="Times New Roman" panose="02020603050405020304" pitchFamily="18" charset="0"/>
              </a:rPr>
              <a:t>max</a:t>
            </a:r>
            <a:endParaRPr kumimoji="1" lang="en-US" altLang="zh-CN" sz="2400" dirty="0">
              <a:solidFill>
                <a:srgbClr val="FF0066"/>
              </a:solidFill>
              <a:latin typeface="Times New Roman" panose="02020603050405020304" pitchFamily="18" charset="0"/>
            </a:endParaRPr>
          </a:p>
          <a:p>
            <a:pPr eaLnBrk="1" hangingPunct="1"/>
            <a:r>
              <a:rPr kumimoji="1" lang="en-US" altLang="zh-CN" sz="2400" dirty="0">
                <a:latin typeface="Times New Roman" panose="02020603050405020304" pitchFamily="18" charset="0"/>
              </a:rPr>
              <a:t>Km=[S]</a:t>
            </a:r>
          </a:p>
        </p:txBody>
      </p:sp>
      <p:sp>
        <p:nvSpPr>
          <p:cNvPr id="2" name="矩形 1">
            <a:extLst>
              <a:ext uri="{FF2B5EF4-FFF2-40B4-BE49-F238E27FC236}">
                <a16:creationId xmlns:a16="http://schemas.microsoft.com/office/drawing/2014/main" id="{A357D0E7-95B0-4898-8C1C-9F4DE0091396}"/>
              </a:ext>
            </a:extLst>
          </p:cNvPr>
          <p:cNvSpPr/>
          <p:nvPr/>
        </p:nvSpPr>
        <p:spPr>
          <a:xfrm>
            <a:off x="5868144" y="1556792"/>
            <a:ext cx="2719527" cy="369332"/>
          </a:xfrm>
          <a:prstGeom prst="rect">
            <a:avLst/>
          </a:prstGeom>
        </p:spPr>
        <p:txBody>
          <a:bodyPr wrap="none">
            <a:spAutoFit/>
          </a:bodyPr>
          <a:lstStyle/>
          <a:p>
            <a:r>
              <a:rPr lang="en-US" altLang="zh-CN" dirty="0">
                <a:solidFill>
                  <a:srgbClr val="C00000"/>
                </a:solidFill>
              </a:rPr>
              <a:t>maximum velocity, Vmax</a:t>
            </a:r>
            <a:endParaRPr lang="zh-CN" altLang="en-US" dirty="0">
              <a:solidFill>
                <a:srgbClr val="C00000"/>
              </a:solidFill>
            </a:endParaRPr>
          </a:p>
        </p:txBody>
      </p:sp>
      <p:sp>
        <p:nvSpPr>
          <p:cNvPr id="3" name="文本框 2">
            <a:extLst>
              <a:ext uri="{FF2B5EF4-FFF2-40B4-BE49-F238E27FC236}">
                <a16:creationId xmlns:a16="http://schemas.microsoft.com/office/drawing/2014/main" id="{2B3B9B3B-466A-4C2B-A46F-84ABF34C95CF}"/>
              </a:ext>
            </a:extLst>
          </p:cNvPr>
          <p:cNvSpPr txBox="1"/>
          <p:nvPr/>
        </p:nvSpPr>
        <p:spPr>
          <a:xfrm>
            <a:off x="2584939" y="3768020"/>
            <a:ext cx="5894562" cy="1631216"/>
          </a:xfrm>
          <a:prstGeom prst="rect">
            <a:avLst/>
          </a:prstGeom>
          <a:noFill/>
        </p:spPr>
        <p:txBody>
          <a:bodyPr wrap="none" rtlCol="0">
            <a:spAutoFit/>
          </a:bodyPr>
          <a:lstStyle/>
          <a:p>
            <a:r>
              <a:rPr lang="en-US" altLang="zh-CN" sz="2000" dirty="0">
                <a:solidFill>
                  <a:srgbClr val="C00000"/>
                </a:solidFill>
              </a:rPr>
              <a:t>Km</a:t>
            </a:r>
            <a:r>
              <a:rPr lang="zh-CN" altLang="en-US" sz="2000" dirty="0">
                <a:solidFill>
                  <a:srgbClr val="C00000"/>
                </a:solidFill>
              </a:rPr>
              <a:t>（</a:t>
            </a:r>
            <a:r>
              <a:rPr lang="en-US" altLang="zh-CN" sz="2000" dirty="0">
                <a:solidFill>
                  <a:srgbClr val="C00000"/>
                </a:solidFill>
              </a:rPr>
              <a:t>Michaelis constant</a:t>
            </a:r>
            <a:r>
              <a:rPr lang="zh-CN" altLang="en-US" sz="2000" dirty="0">
                <a:solidFill>
                  <a:srgbClr val="C00000"/>
                </a:solidFill>
              </a:rPr>
              <a:t>，</a:t>
            </a:r>
            <a:r>
              <a:rPr lang="zh-CN" altLang="en-US" sz="2000" dirty="0">
                <a:solidFill>
                  <a:srgbClr val="C00000"/>
                </a:solidFill>
                <a:latin typeface="楷体_GB2312" pitchFamily="49" charset="-122"/>
                <a:ea typeface="楷体_GB2312" pitchFamily="49" charset="-122"/>
              </a:rPr>
              <a:t>米氏常数</a:t>
            </a:r>
            <a:r>
              <a:rPr lang="zh-CN" altLang="en-US" sz="2000" dirty="0">
                <a:solidFill>
                  <a:srgbClr val="C00000"/>
                </a:solidFill>
              </a:rPr>
              <a:t>）</a:t>
            </a:r>
            <a:endParaRPr lang="en-US" altLang="zh-CN" sz="2000" dirty="0">
              <a:solidFill>
                <a:srgbClr val="C00000"/>
              </a:solidFill>
            </a:endParaRPr>
          </a:p>
          <a:p>
            <a:r>
              <a:rPr lang="zh-CN" altLang="en-US" sz="2000" dirty="0">
                <a:solidFill>
                  <a:srgbClr val="C00000"/>
                </a:solidFill>
                <a:latin typeface="楷体_GB2312" pitchFamily="49" charset="-122"/>
                <a:ea typeface="楷体_GB2312" pitchFamily="49" charset="-122"/>
              </a:rPr>
              <a:t>是反应速度为最大值的一半时的底物浓度。</a:t>
            </a:r>
            <a:endParaRPr lang="en-US" altLang="zh-CN" sz="2000" dirty="0">
              <a:solidFill>
                <a:srgbClr val="C00000"/>
              </a:solidFill>
              <a:latin typeface="楷体_GB2312" pitchFamily="49" charset="-122"/>
              <a:ea typeface="楷体_GB2312" pitchFamily="49" charset="-122"/>
            </a:endParaRPr>
          </a:p>
          <a:p>
            <a:r>
              <a:rPr lang="zh-CN" altLang="en-US" sz="2000" dirty="0">
                <a:solidFill>
                  <a:srgbClr val="C00000"/>
                </a:solidFill>
                <a:latin typeface="楷体_GB2312" pitchFamily="49" charset="-122"/>
                <a:ea typeface="楷体_GB2312" pitchFamily="49" charset="-122"/>
              </a:rPr>
              <a:t>米氏常数的单位为</a:t>
            </a:r>
            <a:r>
              <a:rPr lang="en-US" altLang="zh-CN" sz="2000" dirty="0">
                <a:solidFill>
                  <a:srgbClr val="C00000"/>
                </a:solidFill>
                <a:latin typeface="黑体" panose="02010609060101010101" pitchFamily="49" charset="-122"/>
                <a:ea typeface="黑体" panose="02010609060101010101" pitchFamily="49" charset="-122"/>
              </a:rPr>
              <a:t>mol/L</a:t>
            </a:r>
            <a:r>
              <a:rPr lang="zh-CN" altLang="en-US" sz="2000" dirty="0">
                <a:solidFill>
                  <a:srgbClr val="C00000"/>
                </a:solidFill>
                <a:latin typeface="黑体" panose="02010609060101010101" pitchFamily="49" charset="-122"/>
                <a:ea typeface="黑体" panose="02010609060101010101" pitchFamily="49" charset="-122"/>
              </a:rPr>
              <a:t>。</a:t>
            </a:r>
            <a:endParaRPr lang="en-US" altLang="zh-CN" sz="2000" dirty="0">
              <a:solidFill>
                <a:srgbClr val="C00000"/>
              </a:solidFill>
              <a:latin typeface="黑体" panose="02010609060101010101" pitchFamily="49" charset="-122"/>
              <a:ea typeface="黑体" panose="02010609060101010101" pitchFamily="49" charset="-122"/>
            </a:endParaRPr>
          </a:p>
          <a:p>
            <a:r>
              <a:rPr lang="en-US" altLang="zh-CN" sz="2000" dirty="0">
                <a:solidFill>
                  <a:srgbClr val="C00000"/>
                </a:solidFill>
              </a:rPr>
              <a:t>Km equals to the substrate concentration </a:t>
            </a:r>
          </a:p>
          <a:p>
            <a:r>
              <a:rPr lang="en-US" altLang="zh-CN" sz="2000" dirty="0">
                <a:solidFill>
                  <a:srgbClr val="C00000"/>
                </a:solidFill>
              </a:rPr>
              <a:t>at which the reaction rate is half its maximal value </a:t>
            </a:r>
            <a:endParaRPr lang="zh-CN" altLang="en-US" sz="2000" dirty="0">
              <a:solidFill>
                <a:srgbClr val="C00000"/>
              </a:solidFill>
            </a:endParaRPr>
          </a:p>
        </p:txBody>
      </p:sp>
    </p:spTree>
    <p:extLst>
      <p:ext uri="{BB962C8B-B14F-4D97-AF65-F5344CB8AC3E}">
        <p14:creationId xmlns:p14="http://schemas.microsoft.com/office/powerpoint/2010/main" val="327712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2" grpId="0"/>
      <p:bldP spid="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5394" name="Rectangle 2"/>
          <p:cNvSpPr>
            <a:spLocks noGrp="1" noChangeArrowheads="1"/>
          </p:cNvSpPr>
          <p:nvPr>
            <p:ph type="title"/>
          </p:nvPr>
        </p:nvSpPr>
        <p:spPr bwMode="auto">
          <a:xfrm>
            <a:off x="900113" y="404813"/>
            <a:ext cx="3817938" cy="647700"/>
          </a:xfrm>
          <a:gradFill rotWithShape="1">
            <a:gsLst>
              <a:gs pos="0">
                <a:srgbClr val="996600"/>
              </a:gs>
              <a:gs pos="50000">
                <a:schemeClr val="tx1"/>
              </a:gs>
              <a:gs pos="100000">
                <a:srgbClr val="996600"/>
              </a:gs>
            </a:gsLst>
            <a:lin ang="5400000" scaled="1"/>
          </a:gradFill>
          <a:ln>
            <a:solidFill>
              <a:srgbClr val="000000"/>
            </a:solidFill>
            <a:miter lim="800000"/>
          </a:ln>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j-cs"/>
              </a:rPr>
              <a:t>米氏常数</a:t>
            </a:r>
            <a:r>
              <a:rPr kumimoji="1" lang="en-US" altLang="zh-CN" sz="2800" b="1" i="1"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j-cs"/>
              </a:rPr>
              <a:t>Km </a:t>
            </a:r>
            <a:r>
              <a:rPr kumimoji="1" lang="zh-CN" altLang="zh-CN" sz="2800" b="1"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j-cs"/>
              </a:rPr>
              <a:t>的意义</a:t>
            </a:r>
            <a:endParaRPr kumimoji="1" lang="zh-CN" altLang="en-US" sz="2800" b="0" i="0" u="none" strike="noStrike" kern="1200" cap="none" spc="0" normalizeH="0" baseline="0" noProof="0" dirty="0">
              <a:ln>
                <a:noFill/>
              </a:ln>
              <a:solidFill>
                <a:schemeClr val="bg1"/>
              </a:solidFill>
              <a:effectLst/>
              <a:uLnTx/>
              <a:uFillTx/>
              <a:latin typeface="楷体_GB2312" pitchFamily="49" charset="-122"/>
              <a:ea typeface="楷体_GB2312" pitchFamily="49" charset="-122"/>
              <a:cs typeface="+mj-cs"/>
            </a:endParaRPr>
          </a:p>
        </p:txBody>
      </p:sp>
      <p:sp>
        <p:nvSpPr>
          <p:cNvPr id="104451" name="Rectangle 3"/>
          <p:cNvSpPr>
            <a:spLocks noGrp="1"/>
          </p:cNvSpPr>
          <p:nvPr>
            <p:ph idx="1" hasCustomPrompt="1"/>
          </p:nvPr>
        </p:nvSpPr>
        <p:spPr>
          <a:xfrm>
            <a:off x="611188" y="1268413"/>
            <a:ext cx="7921625" cy="5256212"/>
          </a:xfrm>
          <a:noFill/>
          <a:ln>
            <a:noFill/>
          </a:ln>
        </p:spPr>
        <p:txBody>
          <a:bodyPr/>
          <a:lstStyle/>
          <a:p>
            <a:pPr eaLnBrk="1" hangingPunct="1">
              <a:lnSpc>
                <a:spcPct val="125000"/>
              </a:lnSpc>
            </a:pPr>
            <a:r>
              <a:rPr lang="zh-CN" altLang="en-US" sz="2400" b="1" dirty="0">
                <a:solidFill>
                  <a:srgbClr val="C00000"/>
                </a:solidFill>
                <a:latin typeface="楷体_GB2312" pitchFamily="49" charset="-122"/>
                <a:ea typeface="楷体_GB2312" pitchFamily="49" charset="-122"/>
              </a:rPr>
              <a:t>重要特征物理常数，与酶浓度无关</a:t>
            </a:r>
            <a:r>
              <a:rPr lang="zh-CN" altLang="en-US" sz="2400" b="1" dirty="0">
                <a:latin typeface="楷体_GB2312" pitchFamily="49" charset="-122"/>
                <a:ea typeface="楷体_GB2312" pitchFamily="49" charset="-122"/>
              </a:rPr>
              <a:t>。不同的酶具有不同</a:t>
            </a:r>
            <a:r>
              <a:rPr lang="en-US" altLang="zh-CN" sz="2400" b="1" dirty="0">
                <a:latin typeface="楷体_GB2312" pitchFamily="49" charset="-122"/>
                <a:ea typeface="楷体_GB2312" pitchFamily="49" charset="-122"/>
              </a:rPr>
              <a:t>Km</a:t>
            </a:r>
            <a:r>
              <a:rPr lang="zh-CN" altLang="en-US" sz="2400" b="1" dirty="0">
                <a:latin typeface="楷体_GB2312" pitchFamily="49" charset="-122"/>
                <a:ea typeface="楷体_GB2312" pitchFamily="49" charset="-122"/>
              </a:rPr>
              <a:t>值，</a:t>
            </a:r>
            <a:r>
              <a:rPr lang="en-US" altLang="zh-CN" sz="2400" b="1" dirty="0">
                <a:latin typeface="楷体_GB2312" pitchFamily="49" charset="-122"/>
                <a:ea typeface="楷体_GB2312" pitchFamily="49" charset="-122"/>
              </a:rPr>
              <a:t>Km=10</a:t>
            </a:r>
            <a:r>
              <a:rPr lang="en-US" altLang="zh-CN" sz="2400" b="1" baseline="30000" dirty="0">
                <a:latin typeface="楷体_GB2312" pitchFamily="49" charset="-122"/>
                <a:ea typeface="楷体_GB2312" pitchFamily="49" charset="-122"/>
              </a:rPr>
              <a:t>-3 </a:t>
            </a:r>
            <a:r>
              <a:rPr lang="en-US" altLang="zh-CN" sz="2400" b="1" dirty="0">
                <a:latin typeface="楷体_GB2312" pitchFamily="49" charset="-122"/>
                <a:ea typeface="楷体_GB2312" pitchFamily="49" charset="-122"/>
              </a:rPr>
              <a:t>- 10</a:t>
            </a:r>
            <a:r>
              <a:rPr lang="en-US" altLang="zh-CN" sz="2400" b="1" baseline="30000" dirty="0">
                <a:latin typeface="楷体_GB2312" pitchFamily="49" charset="-122"/>
                <a:ea typeface="楷体_GB2312" pitchFamily="49" charset="-122"/>
              </a:rPr>
              <a:t>-5 </a:t>
            </a:r>
            <a:r>
              <a:rPr lang="en-US" altLang="zh-CN" sz="2400" dirty="0">
                <a:solidFill>
                  <a:srgbClr val="000066"/>
                </a:solidFill>
              </a:rPr>
              <a:t>mol/L.</a:t>
            </a:r>
            <a:endParaRPr lang="en-US" altLang="zh-CN" sz="2400" b="1" baseline="30000" dirty="0">
              <a:latin typeface="楷体_GB2312" pitchFamily="49" charset="-122"/>
              <a:ea typeface="楷体_GB2312" pitchFamily="49" charset="-122"/>
            </a:endParaRPr>
          </a:p>
          <a:p>
            <a:pPr eaLnBrk="1" hangingPunct="1">
              <a:lnSpc>
                <a:spcPct val="125000"/>
              </a:lnSpc>
            </a:pPr>
            <a:r>
              <a:rPr lang="en-US" altLang="zh-CN" sz="2400" b="1" dirty="0">
                <a:latin typeface="楷体_GB2312" pitchFamily="49" charset="-122"/>
                <a:ea typeface="楷体_GB2312" pitchFamily="49" charset="-122"/>
              </a:rPr>
              <a:t>Km</a:t>
            </a:r>
            <a:r>
              <a:rPr lang="zh-CN" altLang="zh-CN" sz="2400" b="1" dirty="0">
                <a:latin typeface="楷体_GB2312" pitchFamily="49" charset="-122"/>
                <a:ea typeface="楷体_GB2312" pitchFamily="49" charset="-122"/>
              </a:rPr>
              <a:t>值是在固定的底物，一定的温度和</a:t>
            </a:r>
            <a:r>
              <a:rPr lang="en-US" altLang="zh-CN" sz="2400" b="1" dirty="0">
                <a:latin typeface="楷体_GB2312" pitchFamily="49" charset="-122"/>
                <a:ea typeface="楷体_GB2312" pitchFamily="49" charset="-122"/>
              </a:rPr>
              <a:t>pH</a:t>
            </a:r>
            <a:r>
              <a:rPr lang="zh-CN" altLang="zh-CN" sz="2400" b="1" dirty="0">
                <a:latin typeface="楷体_GB2312" pitchFamily="49" charset="-122"/>
                <a:ea typeface="楷体_GB2312" pitchFamily="49" charset="-122"/>
              </a:rPr>
              <a:t>，一定的缓冲体系中测</a:t>
            </a:r>
            <a:r>
              <a:rPr lang="zh-CN" altLang="en-US" sz="2400" b="1" dirty="0">
                <a:latin typeface="楷体_GB2312" pitchFamily="49" charset="-122"/>
                <a:ea typeface="楷体_GB2312" pitchFamily="49" charset="-122"/>
              </a:rPr>
              <a:t>得</a:t>
            </a:r>
            <a:r>
              <a:rPr lang="zh-CN" altLang="zh-CN" sz="2400" b="1" dirty="0">
                <a:latin typeface="楷体_GB2312" pitchFamily="49" charset="-122"/>
                <a:ea typeface="楷体_GB2312" pitchFamily="49" charset="-122"/>
              </a:rPr>
              <a:t>的，不同条件下具有不同的</a:t>
            </a:r>
            <a:r>
              <a:rPr lang="en-US" altLang="zh-CN" sz="2400" b="1" dirty="0">
                <a:latin typeface="楷体_GB2312" pitchFamily="49" charset="-122"/>
                <a:ea typeface="楷体_GB2312" pitchFamily="49" charset="-122"/>
              </a:rPr>
              <a:t>Km</a:t>
            </a:r>
            <a:r>
              <a:rPr lang="zh-CN" altLang="zh-CN" sz="2400" b="1" dirty="0">
                <a:latin typeface="楷体_GB2312" pitchFamily="49" charset="-122"/>
                <a:ea typeface="楷体_GB2312" pitchFamily="49" charset="-122"/>
              </a:rPr>
              <a:t>值。</a:t>
            </a:r>
            <a:endParaRPr lang="zh-CN" altLang="en-US" sz="2400" b="1" dirty="0">
              <a:latin typeface="楷体_GB2312" pitchFamily="49" charset="-122"/>
              <a:ea typeface="楷体_GB2312" pitchFamily="49" charset="-122"/>
            </a:endParaRPr>
          </a:p>
          <a:p>
            <a:pPr eaLnBrk="1" hangingPunct="1">
              <a:lnSpc>
                <a:spcPct val="125000"/>
              </a:lnSpc>
            </a:pPr>
            <a:r>
              <a:rPr lang="en-US" altLang="zh-CN" sz="2400" b="1" dirty="0">
                <a:solidFill>
                  <a:srgbClr val="C00000"/>
                </a:solidFill>
                <a:latin typeface="楷体_GB2312" pitchFamily="49" charset="-122"/>
                <a:ea typeface="楷体_GB2312" pitchFamily="49" charset="-122"/>
              </a:rPr>
              <a:t>Km</a:t>
            </a:r>
            <a:r>
              <a:rPr lang="zh-CN" altLang="en-US" sz="2400" b="1" dirty="0">
                <a:solidFill>
                  <a:srgbClr val="C00000"/>
                </a:solidFill>
                <a:latin typeface="楷体_GB2312" pitchFamily="49" charset="-122"/>
                <a:ea typeface="楷体_GB2312" pitchFamily="49" charset="-122"/>
              </a:rPr>
              <a:t>值可表示酶与底物之间的亲和力</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Km</a:t>
            </a:r>
            <a:r>
              <a:rPr lang="zh-CN" altLang="en-US" sz="2400" b="1" dirty="0">
                <a:latin typeface="楷体_GB2312" pitchFamily="49" charset="-122"/>
                <a:ea typeface="楷体_GB2312" pitchFamily="49" charset="-122"/>
              </a:rPr>
              <a:t>值大表示亲和程度小，酶的催化活性低</a:t>
            </a:r>
            <a:r>
              <a:rPr lang="en-US" altLang="zh-CN" sz="2400" b="1" dirty="0">
                <a:latin typeface="楷体_GB2312" pitchFamily="49" charset="-122"/>
                <a:ea typeface="楷体_GB2312" pitchFamily="49" charset="-122"/>
              </a:rPr>
              <a:t>; Km</a:t>
            </a:r>
            <a:r>
              <a:rPr lang="zh-CN" altLang="en-US" sz="2400" b="1" dirty="0">
                <a:latin typeface="楷体_GB2312" pitchFamily="49" charset="-122"/>
                <a:ea typeface="楷体_GB2312" pitchFamily="49" charset="-122"/>
              </a:rPr>
              <a:t>值小表示亲和程度大</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酶的催化活性高</a:t>
            </a:r>
          </a:p>
          <a:p>
            <a:pPr eaLnBrk="1" hangingPunct="1">
              <a:lnSpc>
                <a:spcPct val="125000"/>
              </a:lnSpc>
            </a:pPr>
            <a:r>
              <a:rPr lang="zh-CN" altLang="en-US" sz="2400" b="1" dirty="0">
                <a:latin typeface="楷体_GB2312" pitchFamily="49" charset="-122"/>
                <a:ea typeface="楷体_GB2312" pitchFamily="49" charset="-122"/>
              </a:rPr>
              <a:t>同一种酶有几种底物就有几个</a:t>
            </a:r>
            <a:r>
              <a:rPr lang="en-US" altLang="zh-CN" sz="2400" b="1" dirty="0">
                <a:latin typeface="楷体_GB2312" pitchFamily="49" charset="-122"/>
                <a:ea typeface="楷体_GB2312" pitchFamily="49" charset="-122"/>
              </a:rPr>
              <a:t>Km</a:t>
            </a:r>
            <a:r>
              <a:rPr lang="zh-CN" altLang="en-US" sz="2400" b="1" dirty="0">
                <a:latin typeface="楷体_GB2312" pitchFamily="49" charset="-122"/>
                <a:ea typeface="楷体_GB2312" pitchFamily="49" charset="-122"/>
              </a:rPr>
              <a:t>值，其中</a:t>
            </a:r>
            <a:r>
              <a:rPr lang="en-US" altLang="zh-CN" sz="2400" b="1" dirty="0">
                <a:latin typeface="楷体_GB2312" pitchFamily="49" charset="-122"/>
                <a:ea typeface="楷体_GB2312" pitchFamily="49" charset="-122"/>
              </a:rPr>
              <a:t>Km</a:t>
            </a:r>
            <a:r>
              <a:rPr lang="zh-CN" altLang="en-US" sz="2400" b="1" dirty="0">
                <a:latin typeface="楷体_GB2312" pitchFamily="49" charset="-122"/>
                <a:ea typeface="楷体_GB2312" pitchFamily="49" charset="-122"/>
              </a:rPr>
              <a:t>值最小的底物一般称为该酶的</a:t>
            </a:r>
            <a:r>
              <a:rPr lang="zh-CN" altLang="en-US" sz="2400" b="1" dirty="0">
                <a:solidFill>
                  <a:schemeClr val="hlink"/>
                </a:solidFill>
                <a:latin typeface="楷体_GB2312" pitchFamily="49" charset="-122"/>
                <a:ea typeface="楷体_GB2312" pitchFamily="49" charset="-122"/>
              </a:rPr>
              <a:t>最适底物或天然底物</a:t>
            </a:r>
          </a:p>
        </p:txBody>
      </p:sp>
    </p:spTree>
    <p:extLst>
      <p:ext uri="{BB962C8B-B14F-4D97-AF65-F5344CB8AC3E}">
        <p14:creationId xmlns:p14="http://schemas.microsoft.com/office/powerpoint/2010/main" val="57881112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
            <a:extLst>
              <a:ext uri="{FF2B5EF4-FFF2-40B4-BE49-F238E27FC236}">
                <a16:creationId xmlns:a16="http://schemas.microsoft.com/office/drawing/2014/main" id="{FD71DB29-1739-4698-BDBB-E5C57F207CE3}"/>
              </a:ext>
            </a:extLst>
          </p:cNvPr>
          <p:cNvSpPr txBox="1">
            <a:spLocks noChangeArrowheads="1"/>
          </p:cNvSpPr>
          <p:nvPr/>
        </p:nvSpPr>
        <p:spPr bwMode="auto">
          <a:xfrm>
            <a:off x="228600" y="228600"/>
            <a:ext cx="8915400" cy="4696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30000"/>
              </a:spcBef>
            </a:pPr>
            <a:r>
              <a:rPr kumimoji="1" lang="en-US" altLang="zh-CN" sz="2800" b="1" dirty="0">
                <a:latin typeface="Times New Roman" panose="02020603050405020304" pitchFamily="18" charset="0"/>
              </a:rPr>
              <a:t>1.4 </a:t>
            </a:r>
            <a:r>
              <a:rPr kumimoji="1" lang="en-US" altLang="zh-CN" sz="2800" b="1" dirty="0">
                <a:solidFill>
                  <a:srgbClr val="FF0000"/>
                </a:solidFill>
                <a:latin typeface="Times New Roman" panose="02020603050405020304" pitchFamily="18" charset="0"/>
              </a:rPr>
              <a:t>Km equals to the substrate concentration at which the reaction rate is half its maximal value (Vo=Vmax/2)</a:t>
            </a:r>
            <a:r>
              <a:rPr kumimoji="1" lang="en-US" altLang="zh-CN" sz="2800" b="1" dirty="0">
                <a:latin typeface="Times New Roman" panose="02020603050405020304" pitchFamily="18" charset="0"/>
              </a:rPr>
              <a:t>.</a:t>
            </a:r>
          </a:p>
          <a:p>
            <a:pPr eaLnBrk="1" hangingPunct="1">
              <a:spcBef>
                <a:spcPct val="30000"/>
              </a:spcBef>
            </a:pPr>
            <a:r>
              <a:rPr kumimoji="1" lang="en-US" altLang="zh-CN" sz="2800" b="1" dirty="0">
                <a:latin typeface="Times New Roman" panose="02020603050405020304" pitchFamily="18" charset="0"/>
              </a:rPr>
              <a:t>	Km and Vmax can be determined by varying the substrate concentrations--The Michaelis-Menten equation can be transformed by taking </a:t>
            </a:r>
            <a:r>
              <a:rPr kumimoji="1" lang="en-US" altLang="zh-CN" sz="2800" b="1" dirty="0">
                <a:solidFill>
                  <a:srgbClr val="FF0000"/>
                </a:solidFill>
                <a:latin typeface="Times New Roman" panose="02020603050405020304" pitchFamily="18" charset="0"/>
              </a:rPr>
              <a:t>double reciprocal </a:t>
            </a:r>
            <a:r>
              <a:rPr kumimoji="1" lang="en-US" altLang="zh-CN" sz="2800" b="1" dirty="0">
                <a:latin typeface="Times New Roman" panose="02020603050405020304" pitchFamily="18" charset="0"/>
              </a:rPr>
              <a:t>of both sides into the following form:</a:t>
            </a:r>
          </a:p>
          <a:p>
            <a:pPr eaLnBrk="1" hangingPunct="1"/>
            <a:r>
              <a:rPr kumimoji="1" lang="en-US" altLang="zh-CN" sz="2800" b="1" dirty="0">
                <a:latin typeface="Times New Roman" panose="02020603050405020304" pitchFamily="18" charset="0"/>
              </a:rPr>
              <a:t>	    1         K</a:t>
            </a:r>
            <a:r>
              <a:rPr kumimoji="1" lang="en-US" altLang="zh-CN" sz="2800" b="1" baseline="-25000" dirty="0">
                <a:latin typeface="Times New Roman" panose="02020603050405020304" pitchFamily="18" charset="0"/>
              </a:rPr>
              <a:t>m</a:t>
            </a:r>
            <a:r>
              <a:rPr kumimoji="1" lang="en-US" altLang="zh-CN" sz="2800" b="1" dirty="0">
                <a:latin typeface="Times New Roman" panose="02020603050405020304" pitchFamily="18" charset="0"/>
              </a:rPr>
              <a:t>          1                  1</a:t>
            </a:r>
          </a:p>
          <a:p>
            <a:pPr eaLnBrk="1" hangingPunct="1"/>
            <a:r>
              <a:rPr kumimoji="1" lang="en-US" altLang="zh-CN" sz="2800" b="1" dirty="0">
                <a:latin typeface="Times New Roman" panose="02020603050405020304" pitchFamily="18" charset="0"/>
              </a:rPr>
              <a:t>	------ = ------ </a:t>
            </a:r>
            <a:r>
              <a:rPr kumimoji="1" lang="zh-CN" altLang="en-US" sz="3600" b="1" dirty="0">
                <a:latin typeface="等线" panose="02010600030101010101" pitchFamily="2" charset="-122"/>
                <a:ea typeface="等线" panose="02010600030101010101" pitchFamily="2" charset="-122"/>
              </a:rPr>
              <a:t>．</a:t>
            </a:r>
            <a:r>
              <a:rPr kumimoji="1" lang="en-US" altLang="zh-CN" sz="2800" b="1" dirty="0">
                <a:latin typeface="Times New Roman" panose="02020603050405020304" pitchFamily="18" charset="0"/>
              </a:rPr>
              <a:t> ------     +    --------</a:t>
            </a:r>
          </a:p>
          <a:p>
            <a:pPr eaLnBrk="1" hangingPunct="1"/>
            <a:r>
              <a:rPr kumimoji="1" lang="en-US" altLang="zh-CN" sz="2800" b="1" dirty="0">
                <a:latin typeface="Times New Roman" panose="02020603050405020304" pitchFamily="18" charset="0"/>
              </a:rPr>
              <a:t>              V</a:t>
            </a:r>
            <a:r>
              <a:rPr kumimoji="1" lang="en-US" altLang="zh-CN" sz="2800" b="1" baseline="-25000" dirty="0">
                <a:latin typeface="Times New Roman" panose="02020603050405020304" pitchFamily="18" charset="0"/>
              </a:rPr>
              <a:t>o</a:t>
            </a:r>
            <a:r>
              <a:rPr kumimoji="1" lang="en-US" altLang="zh-CN" sz="2800" b="1" dirty="0">
                <a:latin typeface="Times New Roman" panose="02020603050405020304" pitchFamily="18" charset="0"/>
              </a:rPr>
              <a:t>        V</a:t>
            </a:r>
            <a:r>
              <a:rPr kumimoji="1" lang="en-US" altLang="zh-CN" sz="2800" b="1" baseline="-25000" dirty="0">
                <a:latin typeface="Times New Roman" panose="02020603050405020304" pitchFamily="18" charset="0"/>
              </a:rPr>
              <a:t>max           </a:t>
            </a:r>
            <a:r>
              <a:rPr kumimoji="1" lang="en-US" altLang="zh-CN" sz="2800" b="1" dirty="0">
                <a:latin typeface="Times New Roman" panose="02020603050405020304" pitchFamily="18" charset="0"/>
              </a:rPr>
              <a:t>[S]              V</a:t>
            </a:r>
            <a:r>
              <a:rPr kumimoji="1" lang="en-US" altLang="zh-CN" sz="2800" b="1" baseline="-25000" dirty="0">
                <a:latin typeface="Times New Roman" panose="02020603050405020304" pitchFamily="18" charset="0"/>
              </a:rPr>
              <a:t>max</a:t>
            </a:r>
            <a:endParaRPr kumimoji="1" lang="en-US" altLang="zh-CN" sz="2800" b="1" dirty="0">
              <a:latin typeface="Times New Roman" panose="02020603050405020304" pitchFamily="18" charset="0"/>
            </a:endParaRPr>
          </a:p>
          <a:p>
            <a:pPr eaLnBrk="1" hangingPunct="1">
              <a:lnSpc>
                <a:spcPct val="80000"/>
              </a:lnSpc>
              <a:spcBef>
                <a:spcPct val="30000"/>
              </a:spcBef>
            </a:pPr>
            <a:r>
              <a:rPr kumimoji="1" lang="en-US" altLang="zh-CN" sz="2800" b="1" dirty="0">
                <a:latin typeface="Times New Roman" panose="02020603050405020304" pitchFamily="18" charset="0"/>
              </a:rPr>
              <a:t>	</a:t>
            </a:r>
            <a:endParaRPr kumimoji="1" lang="en-US" altLang="zh-CN" sz="2400" dirty="0">
              <a:latin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Picture 2">
            <a:extLst>
              <a:ext uri="{FF2B5EF4-FFF2-40B4-BE49-F238E27FC236}">
                <a16:creationId xmlns:a16="http://schemas.microsoft.com/office/drawing/2014/main" id="{CEF9110F-7C39-447B-830C-D868B8A1B3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790" y="2284413"/>
            <a:ext cx="80264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7" name="Text Box 3">
            <a:extLst>
              <a:ext uri="{FF2B5EF4-FFF2-40B4-BE49-F238E27FC236}">
                <a16:creationId xmlns:a16="http://schemas.microsoft.com/office/drawing/2014/main" id="{F65AD5B7-DDBA-404A-A884-2AA6CF1943B4}"/>
              </a:ext>
            </a:extLst>
          </p:cNvPr>
          <p:cNvSpPr txBox="1">
            <a:spLocks noChangeArrowheads="1"/>
          </p:cNvSpPr>
          <p:nvPr/>
        </p:nvSpPr>
        <p:spPr bwMode="auto">
          <a:xfrm>
            <a:off x="457200" y="457200"/>
            <a:ext cx="81534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rPr>
              <a:t>1.4.1 A plot of 1/Vo versus 1/[S] yields a straight line, </a:t>
            </a:r>
            <a:r>
              <a:rPr kumimoji="1" lang="en-US" altLang="zh-CN" sz="2800" b="1" dirty="0">
                <a:solidFill>
                  <a:srgbClr val="FF0066"/>
                </a:solidFill>
                <a:latin typeface="Times New Roman" panose="02020603050405020304" pitchFamily="18" charset="0"/>
              </a:rPr>
              <a:t>The double reciprocal plot </a:t>
            </a:r>
            <a:r>
              <a:rPr kumimoji="1" lang="en-US" altLang="zh-CN" sz="2800" b="1" dirty="0">
                <a:latin typeface="Times New Roman" panose="02020603050405020304" pitchFamily="18" charset="0"/>
              </a:rPr>
              <a:t>is called the </a:t>
            </a:r>
            <a:r>
              <a:rPr kumimoji="1" lang="en-US" altLang="zh-CN" sz="2800" b="1" dirty="0">
                <a:solidFill>
                  <a:srgbClr val="FF0000"/>
                </a:solidFill>
                <a:latin typeface="Times New Roman" panose="02020603050405020304" pitchFamily="18" charset="0"/>
              </a:rPr>
              <a:t>Lineweaver-Burk plot.</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2">
            <a:extLst>
              <a:ext uri="{FF2B5EF4-FFF2-40B4-BE49-F238E27FC236}">
                <a16:creationId xmlns:a16="http://schemas.microsoft.com/office/drawing/2014/main" id="{66B68C60-CA2F-4E27-B320-6961184D352E}"/>
              </a:ext>
            </a:extLst>
          </p:cNvPr>
          <p:cNvPicPr>
            <a:picLocks noChangeAspect="1" noChangeArrowheads="1"/>
          </p:cNvPicPr>
          <p:nvPr/>
        </p:nvPicPr>
        <p:blipFill>
          <a:blip r:embed="rId2">
            <a:lum contrast="6000"/>
            <a:extLst>
              <a:ext uri="{28A0092B-C50C-407E-A947-70E740481C1C}">
                <a14:useLocalDpi xmlns:a14="http://schemas.microsoft.com/office/drawing/2010/main" val="0"/>
              </a:ext>
            </a:extLst>
          </a:blip>
          <a:srcRect/>
          <a:stretch>
            <a:fillRect/>
          </a:stretch>
        </p:blipFill>
        <p:spPr bwMode="auto">
          <a:xfrm>
            <a:off x="468313" y="1268413"/>
            <a:ext cx="8583612" cy="429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a:extLst>
              <a:ext uri="{FF2B5EF4-FFF2-40B4-BE49-F238E27FC236}">
                <a16:creationId xmlns:a16="http://schemas.microsoft.com/office/drawing/2014/main" id="{F9723E29-B60F-4780-B8D9-CA5C351473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901700"/>
            <a:ext cx="7053263" cy="475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a:extLst>
              <a:ext uri="{FF2B5EF4-FFF2-40B4-BE49-F238E27FC236}">
                <a16:creationId xmlns:a16="http://schemas.microsoft.com/office/drawing/2014/main" id="{3243B018-AFF0-4BBC-BC0A-D07AB57450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685800"/>
            <a:ext cx="60960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619" name="Picture 3">
            <a:extLst>
              <a:ext uri="{FF2B5EF4-FFF2-40B4-BE49-F238E27FC236}">
                <a16:creationId xmlns:a16="http://schemas.microsoft.com/office/drawing/2014/main" id="{46AC325F-BAA2-4200-9727-A49327BD9E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3810000" cy="130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2">
            <a:extLst>
              <a:ext uri="{FF2B5EF4-FFF2-40B4-BE49-F238E27FC236}">
                <a16:creationId xmlns:a16="http://schemas.microsoft.com/office/drawing/2014/main" id="{B4AEC1EE-EEB2-4D1C-9721-595D9D07C3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685800"/>
            <a:ext cx="8839200" cy="470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3" name="Text Box 3">
            <a:extLst>
              <a:ext uri="{FF2B5EF4-FFF2-40B4-BE49-F238E27FC236}">
                <a16:creationId xmlns:a16="http://schemas.microsoft.com/office/drawing/2014/main" id="{130048B8-ABA5-4A72-BAE2-A60E1CB450FE}"/>
              </a:ext>
            </a:extLst>
          </p:cNvPr>
          <p:cNvSpPr txBox="1">
            <a:spLocks noChangeArrowheads="1"/>
          </p:cNvSpPr>
          <p:nvPr/>
        </p:nvSpPr>
        <p:spPr bwMode="auto">
          <a:xfrm>
            <a:off x="684213" y="5516563"/>
            <a:ext cx="8064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latin typeface="Times New Roman" panose="02020603050405020304" pitchFamily="18" charset="0"/>
              </a:rPr>
              <a:t>K</a:t>
            </a:r>
            <a:r>
              <a:rPr kumimoji="1" lang="en-US" altLang="zh-CN" sz="2400" b="1" baseline="-25000">
                <a:latin typeface="Times New Roman" panose="02020603050405020304" pitchFamily="18" charset="0"/>
              </a:rPr>
              <a:t>m</a:t>
            </a:r>
            <a:r>
              <a:rPr kumimoji="1" lang="zh-CN" altLang="en-US" sz="2400" b="1">
                <a:latin typeface="Times New Roman" panose="02020603050405020304" pitchFamily="18" charset="0"/>
              </a:rPr>
              <a:t>是酶的特征常数，</a:t>
            </a:r>
            <a:r>
              <a:rPr kumimoji="1" lang="en-US" altLang="zh-CN" sz="2400" b="1">
                <a:latin typeface="Times New Roman" panose="02020603050405020304" pitchFamily="18" charset="0"/>
              </a:rPr>
              <a:t>1/K</a:t>
            </a:r>
            <a:r>
              <a:rPr kumimoji="1" lang="en-US" altLang="zh-CN" sz="2400" b="1" baseline="-25000">
                <a:latin typeface="Times New Roman" panose="02020603050405020304" pitchFamily="18" charset="0"/>
              </a:rPr>
              <a:t>m</a:t>
            </a:r>
            <a:r>
              <a:rPr kumimoji="1" lang="zh-CN" altLang="en-US" sz="2400" b="1">
                <a:latin typeface="Times New Roman" panose="02020603050405020304" pitchFamily="18" charset="0"/>
              </a:rPr>
              <a:t>近似表示酶与底物的亲和力</a:t>
            </a:r>
          </a:p>
        </p:txBody>
      </p:sp>
      <p:sp>
        <p:nvSpPr>
          <p:cNvPr id="2" name="矩形: 圆角 1">
            <a:extLst>
              <a:ext uri="{FF2B5EF4-FFF2-40B4-BE49-F238E27FC236}">
                <a16:creationId xmlns:a16="http://schemas.microsoft.com/office/drawing/2014/main" id="{065488CB-AA50-8792-9EE0-D6E782EB053F}"/>
              </a:ext>
            </a:extLst>
          </p:cNvPr>
          <p:cNvSpPr/>
          <p:nvPr/>
        </p:nvSpPr>
        <p:spPr>
          <a:xfrm>
            <a:off x="4139952" y="2780928"/>
            <a:ext cx="4608761" cy="64807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31E672EA-B338-42F3-82DD-0CD4EC468F3B}"/>
              </a:ext>
            </a:extLst>
          </p:cNvPr>
          <p:cNvSpPr>
            <a:spLocks noChangeArrowheads="1"/>
          </p:cNvSpPr>
          <p:nvPr/>
        </p:nvSpPr>
        <p:spPr bwMode="auto">
          <a:xfrm>
            <a:off x="914400" y="1676400"/>
            <a:ext cx="4876800" cy="4267200"/>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667" name="Text Box 3">
            <a:extLst>
              <a:ext uri="{FF2B5EF4-FFF2-40B4-BE49-F238E27FC236}">
                <a16:creationId xmlns:a16="http://schemas.microsoft.com/office/drawing/2014/main" id="{6C87E481-F19E-4144-83E6-19DAD69C7D8B}"/>
              </a:ext>
            </a:extLst>
          </p:cNvPr>
          <p:cNvSpPr txBox="1">
            <a:spLocks noChangeArrowheads="1"/>
          </p:cNvSpPr>
          <p:nvPr/>
        </p:nvSpPr>
        <p:spPr bwMode="auto">
          <a:xfrm>
            <a:off x="0" y="304800"/>
            <a:ext cx="9144000" cy="161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a:solidFill>
                  <a:srgbClr val="FF0066"/>
                </a:solidFill>
                <a:latin typeface="Times New Roman" panose="02020603050405020304" pitchFamily="18" charset="0"/>
              </a:rPr>
              <a:t>2.  When [S] is saturating, a doubling of the enzyme concentration leads to a doubling of Vo.</a:t>
            </a:r>
          </a:p>
          <a:p>
            <a:pPr eaLnBrk="1" hangingPunct="1">
              <a:spcBef>
                <a:spcPct val="50000"/>
              </a:spcBef>
            </a:pPr>
            <a:endParaRPr kumimoji="1" lang="en-US" altLang="zh-CN" sz="2400">
              <a:latin typeface="Times New Roman" panose="02020603050405020304" pitchFamily="18" charset="0"/>
            </a:endParaRPr>
          </a:p>
        </p:txBody>
      </p:sp>
      <p:sp>
        <p:nvSpPr>
          <p:cNvPr id="113668" name="Line 4">
            <a:extLst>
              <a:ext uri="{FF2B5EF4-FFF2-40B4-BE49-F238E27FC236}">
                <a16:creationId xmlns:a16="http://schemas.microsoft.com/office/drawing/2014/main" id="{AF3384CC-4857-4E64-8620-4D89720B8033}"/>
              </a:ext>
            </a:extLst>
          </p:cNvPr>
          <p:cNvSpPr>
            <a:spLocks noChangeShapeType="1"/>
          </p:cNvSpPr>
          <p:nvPr/>
        </p:nvSpPr>
        <p:spPr bwMode="auto">
          <a:xfrm>
            <a:off x="1447800" y="2209800"/>
            <a:ext cx="0" cy="289560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13669" name="Line 5">
            <a:extLst>
              <a:ext uri="{FF2B5EF4-FFF2-40B4-BE49-F238E27FC236}">
                <a16:creationId xmlns:a16="http://schemas.microsoft.com/office/drawing/2014/main" id="{AE96C7E7-E045-46FC-9BB0-E6C906EBD1F7}"/>
              </a:ext>
            </a:extLst>
          </p:cNvPr>
          <p:cNvSpPr>
            <a:spLocks noChangeShapeType="1"/>
          </p:cNvSpPr>
          <p:nvPr/>
        </p:nvSpPr>
        <p:spPr bwMode="auto">
          <a:xfrm>
            <a:off x="1447800" y="5105400"/>
            <a:ext cx="32004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670" name="Line 6">
            <a:extLst>
              <a:ext uri="{FF2B5EF4-FFF2-40B4-BE49-F238E27FC236}">
                <a16:creationId xmlns:a16="http://schemas.microsoft.com/office/drawing/2014/main" id="{10CE388C-B0B9-4D86-87E1-B5CAA91D43E4}"/>
              </a:ext>
            </a:extLst>
          </p:cNvPr>
          <p:cNvSpPr>
            <a:spLocks noChangeShapeType="1"/>
          </p:cNvSpPr>
          <p:nvPr/>
        </p:nvSpPr>
        <p:spPr bwMode="auto">
          <a:xfrm flipV="1">
            <a:off x="1447800" y="2590800"/>
            <a:ext cx="3048000" cy="25146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3671" name="Text Box 7">
            <a:extLst>
              <a:ext uri="{FF2B5EF4-FFF2-40B4-BE49-F238E27FC236}">
                <a16:creationId xmlns:a16="http://schemas.microsoft.com/office/drawing/2014/main" id="{065EC763-CBB4-412D-9D4A-49CF85E4C53E}"/>
              </a:ext>
            </a:extLst>
          </p:cNvPr>
          <p:cNvSpPr txBox="1">
            <a:spLocks noChangeArrowheads="1"/>
          </p:cNvSpPr>
          <p:nvPr/>
        </p:nvSpPr>
        <p:spPr bwMode="auto">
          <a:xfrm>
            <a:off x="1295400" y="1752600"/>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Vo</a:t>
            </a:r>
          </a:p>
        </p:txBody>
      </p:sp>
      <p:sp>
        <p:nvSpPr>
          <p:cNvPr id="113672" name="Text Box 8">
            <a:extLst>
              <a:ext uri="{FF2B5EF4-FFF2-40B4-BE49-F238E27FC236}">
                <a16:creationId xmlns:a16="http://schemas.microsoft.com/office/drawing/2014/main" id="{B33FDC35-4681-4381-B92B-FCF0B1E17846}"/>
              </a:ext>
            </a:extLst>
          </p:cNvPr>
          <p:cNvSpPr txBox="1">
            <a:spLocks noChangeArrowheads="1"/>
          </p:cNvSpPr>
          <p:nvPr/>
        </p:nvSpPr>
        <p:spPr bwMode="auto">
          <a:xfrm>
            <a:off x="4800600" y="4953000"/>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[E]</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2">
            <a:extLst>
              <a:ext uri="{FF2B5EF4-FFF2-40B4-BE49-F238E27FC236}">
                <a16:creationId xmlns:a16="http://schemas.microsoft.com/office/drawing/2014/main" id="{75AED42F-6278-439E-8CB8-AEADFDA9AD10}"/>
              </a:ext>
            </a:extLst>
          </p:cNvPr>
          <p:cNvSpPr txBox="1">
            <a:spLocks noChangeArrowheads="1"/>
          </p:cNvSpPr>
          <p:nvPr/>
        </p:nvSpPr>
        <p:spPr bwMode="auto">
          <a:xfrm>
            <a:off x="609600" y="304800"/>
            <a:ext cx="7620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a:solidFill>
                  <a:srgbClr val="FF0066"/>
                </a:solidFill>
                <a:latin typeface="Times New Roman" panose="02020603050405020304" pitchFamily="18" charset="0"/>
              </a:rPr>
              <a:t>3. Effects of temperature on the rate</a:t>
            </a:r>
            <a:endParaRPr kumimoji="1" lang="en-US" altLang="zh-CN" sz="2400">
              <a:latin typeface="Times New Roman" panose="02020603050405020304" pitchFamily="18" charset="0"/>
            </a:endParaRPr>
          </a:p>
        </p:txBody>
      </p:sp>
      <p:pic>
        <p:nvPicPr>
          <p:cNvPr id="114691" name="Picture 3" descr="0081">
            <a:extLst>
              <a:ext uri="{FF2B5EF4-FFF2-40B4-BE49-F238E27FC236}">
                <a16:creationId xmlns:a16="http://schemas.microsoft.com/office/drawing/2014/main" id="{C737193D-9AE1-4759-A8DA-2AD1904A26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066800"/>
            <a:ext cx="73152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a:extLst>
              <a:ext uri="{FF2B5EF4-FFF2-40B4-BE49-F238E27FC236}">
                <a16:creationId xmlns:a16="http://schemas.microsoft.com/office/drawing/2014/main" id="{98E003C6-2988-47E8-BB98-F821421C4287}"/>
              </a:ext>
            </a:extLst>
          </p:cNvPr>
          <p:cNvSpPr txBox="1">
            <a:spLocks noChangeArrowheads="1"/>
          </p:cNvSpPr>
          <p:nvPr/>
        </p:nvSpPr>
        <p:spPr bwMode="auto">
          <a:xfrm>
            <a:off x="152400" y="228600"/>
            <a:ext cx="807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a:solidFill>
                  <a:srgbClr val="FF0066"/>
                </a:solidFill>
                <a:latin typeface="Times New Roman" panose="02020603050405020304" pitchFamily="18" charset="0"/>
              </a:rPr>
              <a:t>4. Enzyme activity is affected by pH</a:t>
            </a:r>
            <a:endParaRPr kumimoji="1" lang="en-US" altLang="zh-CN" sz="3200">
              <a:latin typeface="Times New Roman" panose="02020603050405020304" pitchFamily="18" charset="0"/>
            </a:endParaRPr>
          </a:p>
        </p:txBody>
      </p:sp>
      <p:sp>
        <p:nvSpPr>
          <p:cNvPr id="115715" name="Text Box 3">
            <a:extLst>
              <a:ext uri="{FF2B5EF4-FFF2-40B4-BE49-F238E27FC236}">
                <a16:creationId xmlns:a16="http://schemas.microsoft.com/office/drawing/2014/main" id="{8F2B5725-7C89-447A-A329-1C041C328EC0}"/>
              </a:ext>
            </a:extLst>
          </p:cNvPr>
          <p:cNvSpPr txBox="1">
            <a:spLocks noChangeArrowheads="1"/>
          </p:cNvSpPr>
          <p:nvPr/>
        </p:nvSpPr>
        <p:spPr bwMode="auto">
          <a:xfrm>
            <a:off x="381000" y="990600"/>
            <a:ext cx="8610600"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20000"/>
              </a:spcBef>
            </a:pPr>
            <a:r>
              <a:rPr kumimoji="1" lang="en-US" altLang="zh-CN" sz="3200" b="1" dirty="0">
                <a:latin typeface="Times New Roman" panose="02020603050405020304" pitchFamily="18" charset="0"/>
              </a:rPr>
              <a:t>4.1 Each enzyme has an </a:t>
            </a:r>
            <a:r>
              <a:rPr kumimoji="1" lang="en-US" altLang="zh-CN" sz="3200" b="1" dirty="0">
                <a:solidFill>
                  <a:srgbClr val="FF0000"/>
                </a:solidFill>
                <a:latin typeface="Times New Roman" panose="02020603050405020304" pitchFamily="18" charset="0"/>
              </a:rPr>
              <a:t>optimal pH or pH range </a:t>
            </a:r>
            <a:r>
              <a:rPr kumimoji="1" lang="en-US" altLang="zh-CN" sz="3200" b="1" dirty="0">
                <a:latin typeface="Times New Roman" panose="02020603050405020304" pitchFamily="18" charset="0"/>
              </a:rPr>
              <a:t>(where the enzyme has maximal activity).</a:t>
            </a:r>
          </a:p>
          <a:p>
            <a:pPr eaLnBrk="1" hangingPunct="1">
              <a:lnSpc>
                <a:spcPct val="80000"/>
              </a:lnSpc>
              <a:spcBef>
                <a:spcPct val="20000"/>
              </a:spcBef>
            </a:pPr>
            <a:r>
              <a:rPr kumimoji="1" lang="en-US" altLang="zh-CN" sz="3200" b="1" dirty="0">
                <a:latin typeface="Times New Roman" panose="02020603050405020304" pitchFamily="18" charset="0"/>
              </a:rPr>
              <a:t>	4.1.1 Requirements for the catalytic groups in the </a:t>
            </a:r>
            <a:r>
              <a:rPr kumimoji="1" lang="en-US" altLang="zh-CN" sz="3200" b="1" dirty="0">
                <a:solidFill>
                  <a:srgbClr val="FF0066"/>
                </a:solidFill>
                <a:latin typeface="Times New Roman" panose="02020603050405020304" pitchFamily="18" charset="0"/>
              </a:rPr>
              <a:t>active site </a:t>
            </a:r>
            <a:r>
              <a:rPr kumimoji="1" lang="en-US" altLang="zh-CN" sz="3200" b="1" dirty="0">
                <a:solidFill>
                  <a:srgbClr val="FF0000"/>
                </a:solidFill>
                <a:latin typeface="Times New Roman" panose="02020603050405020304" pitchFamily="18" charset="0"/>
              </a:rPr>
              <a:t>in appropriate ionization </a:t>
            </a:r>
            <a:r>
              <a:rPr kumimoji="1" lang="en-US" altLang="zh-CN" sz="3200" b="1" dirty="0">
                <a:latin typeface="Times New Roman" panose="02020603050405020304" pitchFamily="18" charset="0"/>
              </a:rPr>
              <a:t>state is a common reason for this phenomenon.</a:t>
            </a:r>
          </a:p>
          <a:p>
            <a:pPr eaLnBrk="1" hangingPunct="1">
              <a:lnSpc>
                <a:spcPct val="80000"/>
              </a:lnSpc>
              <a:spcBef>
                <a:spcPct val="20000"/>
              </a:spcBef>
            </a:pPr>
            <a:r>
              <a:rPr kumimoji="1" lang="en-US" altLang="zh-CN" sz="3200" b="1" dirty="0">
                <a:latin typeface="Times New Roman" panose="02020603050405020304" pitchFamily="18" charset="0"/>
              </a:rPr>
              <a:t>	4.1.2 Change of </a:t>
            </a:r>
            <a:r>
              <a:rPr kumimoji="1" lang="en-US" altLang="zh-CN" sz="3200" b="1" dirty="0">
                <a:solidFill>
                  <a:srgbClr val="FF0000"/>
                </a:solidFill>
                <a:latin typeface="Times New Roman" panose="02020603050405020304" pitchFamily="18" charset="0"/>
              </a:rPr>
              <a:t>ionization state of surface groups </a:t>
            </a:r>
            <a:r>
              <a:rPr kumimoji="1" lang="en-US" altLang="zh-CN" sz="3200" b="1" dirty="0">
                <a:latin typeface="Times New Roman" panose="02020603050405020304" pitchFamily="18" charset="0"/>
              </a:rPr>
              <a:t>(which may affect the protein structure) sometimes is responsible for this phenomenon.</a:t>
            </a:r>
          </a:p>
          <a:p>
            <a:pPr eaLnBrk="1" hangingPunct="1">
              <a:lnSpc>
                <a:spcPct val="80000"/>
              </a:lnSpc>
              <a:spcBef>
                <a:spcPct val="20000"/>
              </a:spcBef>
            </a:pPr>
            <a:r>
              <a:rPr kumimoji="1" lang="en-US" altLang="zh-CN" sz="3200" b="1" dirty="0">
                <a:latin typeface="Times New Roman" panose="02020603050405020304" pitchFamily="18" charset="0"/>
              </a:rPr>
              <a:t>	4.1.3 In rare cases, it is the change of </a:t>
            </a:r>
            <a:r>
              <a:rPr kumimoji="1" lang="en-US" altLang="zh-CN" sz="3200" b="1" dirty="0">
                <a:solidFill>
                  <a:srgbClr val="FF0000"/>
                </a:solidFill>
                <a:latin typeface="Times New Roman" panose="02020603050405020304" pitchFamily="18" charset="0"/>
              </a:rPr>
              <a:t>ionization state of substrate </a:t>
            </a:r>
            <a:r>
              <a:rPr kumimoji="1" lang="en-US" altLang="zh-CN" sz="3200" b="1" dirty="0">
                <a:latin typeface="Times New Roman" panose="02020603050405020304" pitchFamily="18" charset="0"/>
              </a:rPr>
              <a:t>that is responsible for this phenomenon.</a:t>
            </a:r>
            <a:endParaRPr kumimoji="1" lang="en-US" altLang="zh-CN" sz="2400" dirty="0">
              <a:latin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8" name="Picture 2" descr="0082">
            <a:extLst>
              <a:ext uri="{FF2B5EF4-FFF2-40B4-BE49-F238E27FC236}">
                <a16:creationId xmlns:a16="http://schemas.microsoft.com/office/drawing/2014/main" id="{65E91FEB-9BED-4BE8-8CC0-7E753E11CC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28600"/>
            <a:ext cx="8153400" cy="611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2">
            <a:extLst>
              <a:ext uri="{FF2B5EF4-FFF2-40B4-BE49-F238E27FC236}">
                <a16:creationId xmlns:a16="http://schemas.microsoft.com/office/drawing/2014/main" id="{53D9A35A-F53B-4873-A35D-4020586C1CB3}"/>
              </a:ext>
            </a:extLst>
          </p:cNvPr>
          <p:cNvSpPr txBox="1">
            <a:spLocks noChangeArrowheads="1"/>
          </p:cNvSpPr>
          <p:nvPr/>
        </p:nvSpPr>
        <p:spPr bwMode="auto">
          <a:xfrm>
            <a:off x="304800" y="228600"/>
            <a:ext cx="853440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dirty="0">
                <a:latin typeface="Times New Roman" panose="02020603050405020304" pitchFamily="18" charset="0"/>
              </a:rPr>
              <a:t>4.2 The pH range over which activity changes can provide a clue to what amino acid residues are involved.</a:t>
            </a:r>
          </a:p>
          <a:p>
            <a:pPr eaLnBrk="1" hangingPunct="1">
              <a:spcBef>
                <a:spcPct val="50000"/>
              </a:spcBef>
            </a:pPr>
            <a:r>
              <a:rPr kumimoji="1" lang="en-US" altLang="zh-CN" sz="3200" b="1" dirty="0">
                <a:latin typeface="Times New Roman" panose="02020603050405020304" pitchFamily="18" charset="0"/>
              </a:rPr>
              <a:t>	4.2.1 This has to be treated with great caution, because in a closely packed environment of a protein, the </a:t>
            </a:r>
            <a:r>
              <a:rPr kumimoji="1" lang="en-US" altLang="zh-CN" sz="3200" b="1" dirty="0" err="1">
                <a:latin typeface="Times New Roman" panose="02020603050405020304" pitchFamily="18" charset="0"/>
              </a:rPr>
              <a:t>pK</a:t>
            </a:r>
            <a:r>
              <a:rPr kumimoji="1" lang="en-US" altLang="zh-CN" sz="3200" b="1" dirty="0">
                <a:latin typeface="Times New Roman" panose="02020603050405020304" pitchFamily="18" charset="0"/>
              </a:rPr>
              <a:t> values of amino acid side chains can change significantly (e.g., a nearby positive charge will increase the </a:t>
            </a:r>
            <a:r>
              <a:rPr kumimoji="1" lang="en-US" altLang="zh-CN" sz="3200" b="1" dirty="0" err="1">
                <a:latin typeface="Times New Roman" panose="02020603050405020304" pitchFamily="18" charset="0"/>
              </a:rPr>
              <a:t>pK</a:t>
            </a:r>
            <a:r>
              <a:rPr kumimoji="1" lang="en-US" altLang="zh-CN" sz="3200" b="1" dirty="0">
                <a:latin typeface="Times New Roman" panose="02020603050405020304" pitchFamily="18" charset="0"/>
              </a:rPr>
              <a:t> value of a Lys residue, and a negative one will decrease the </a:t>
            </a:r>
            <a:r>
              <a:rPr kumimoji="1" lang="en-US" altLang="zh-CN" sz="3200" b="1" dirty="0" err="1">
                <a:latin typeface="Times New Roman" panose="02020603050405020304" pitchFamily="18" charset="0"/>
              </a:rPr>
              <a:t>pK</a:t>
            </a:r>
            <a:r>
              <a:rPr kumimoji="1" lang="en-US" altLang="zh-CN" sz="3200" b="1" dirty="0">
                <a:latin typeface="Times New Roman" panose="02020603050405020304" pitchFamily="18" charset="0"/>
              </a:rPr>
              <a:t>!).</a:t>
            </a:r>
            <a:endParaRPr kumimoji="1" lang="en-US" altLang="zh-CN" sz="2400" dirty="0">
              <a:latin typeface="Times New Roman" panose="02020603050405020304" pitchFamily="18"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 Box 2">
            <a:extLst>
              <a:ext uri="{FF2B5EF4-FFF2-40B4-BE49-F238E27FC236}">
                <a16:creationId xmlns:a16="http://schemas.microsoft.com/office/drawing/2014/main" id="{0C3EA443-73A6-491A-A4F7-FED1BB39FF01}"/>
              </a:ext>
            </a:extLst>
          </p:cNvPr>
          <p:cNvSpPr txBox="1">
            <a:spLocks noChangeArrowheads="1"/>
          </p:cNvSpPr>
          <p:nvPr/>
        </p:nvSpPr>
        <p:spPr bwMode="auto">
          <a:xfrm>
            <a:off x="914400" y="304800"/>
            <a:ext cx="77620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dirty="0">
                <a:solidFill>
                  <a:srgbClr val="FF0066"/>
                </a:solidFill>
                <a:latin typeface="Times New Roman" panose="02020603050405020304" pitchFamily="18" charset="0"/>
              </a:rPr>
              <a:t>5. Enzyme assays </a:t>
            </a:r>
            <a:r>
              <a:rPr kumimoji="1" lang="en-US" altLang="zh-CN" sz="2000" b="1" dirty="0">
                <a:solidFill>
                  <a:srgbClr val="FF0066"/>
                </a:solidFill>
                <a:latin typeface="Times New Roman" panose="02020603050405020304" pitchFamily="18" charset="0"/>
              </a:rPr>
              <a:t>(quantification of enzyme (activity) )</a:t>
            </a:r>
            <a:endParaRPr kumimoji="1" lang="en-US" altLang="zh-CN" sz="2000" dirty="0">
              <a:latin typeface="Times New Roman" panose="02020603050405020304" pitchFamily="18" charset="0"/>
            </a:endParaRPr>
          </a:p>
        </p:txBody>
      </p:sp>
      <p:sp>
        <p:nvSpPr>
          <p:cNvPr id="118787" name="Text Box 3">
            <a:extLst>
              <a:ext uri="{FF2B5EF4-FFF2-40B4-BE49-F238E27FC236}">
                <a16:creationId xmlns:a16="http://schemas.microsoft.com/office/drawing/2014/main" id="{3FDBDF13-C40F-4BCE-9E65-EDDC31E9C25F}"/>
              </a:ext>
            </a:extLst>
          </p:cNvPr>
          <p:cNvSpPr txBox="1">
            <a:spLocks noChangeArrowheads="1"/>
          </p:cNvSpPr>
          <p:nvPr/>
        </p:nvSpPr>
        <p:spPr bwMode="auto">
          <a:xfrm>
            <a:off x="1066800" y="914400"/>
            <a:ext cx="7467600" cy="564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Char char="•"/>
            </a:pPr>
            <a:r>
              <a:rPr kumimoji="1" lang="en-US" altLang="zh-CN" sz="2800" b="1" dirty="0">
                <a:latin typeface="Times New Roman" panose="02020603050405020304" pitchFamily="18" charset="0"/>
              </a:rPr>
              <a:t>An enzyme assay measures the conversion of substrate to product, under conditions of cofactors, pH and temperature at which the enzyme is optimally active. </a:t>
            </a:r>
          </a:p>
          <a:p>
            <a:pPr eaLnBrk="1" hangingPunct="1">
              <a:spcBef>
                <a:spcPct val="50000"/>
              </a:spcBef>
              <a:buFontTx/>
              <a:buChar char="•"/>
            </a:pPr>
            <a:r>
              <a:rPr kumimoji="1" lang="en-US" altLang="zh-CN" sz="2800" b="1" dirty="0">
                <a:latin typeface="Times New Roman" panose="02020603050405020304" pitchFamily="18" charset="0"/>
              </a:rPr>
              <a:t>High substrate concentrations are used so that the initial reaction rate is proportional to the enzyme concentration.</a:t>
            </a:r>
          </a:p>
          <a:p>
            <a:pPr eaLnBrk="1" hangingPunct="1">
              <a:spcBef>
                <a:spcPct val="50000"/>
              </a:spcBef>
              <a:buFontTx/>
              <a:buChar char="•"/>
            </a:pPr>
            <a:r>
              <a:rPr kumimoji="1" lang="en-US" altLang="zh-CN" sz="2800" b="1" dirty="0">
                <a:solidFill>
                  <a:srgbClr val="FF0000"/>
                </a:solidFill>
                <a:latin typeface="Times New Roman" panose="02020603050405020304" pitchFamily="18" charset="0"/>
              </a:rPr>
              <a:t>Enzyme activity</a:t>
            </a:r>
            <a:r>
              <a:rPr kumimoji="1" lang="en-US" altLang="zh-CN" sz="2800" b="1" dirty="0">
                <a:latin typeface="Times New Roman" panose="02020603050405020304" pitchFamily="18" charset="0"/>
              </a:rPr>
              <a:t> is commonly expressed by the initial rate (Vo). The units of Vo are </a:t>
            </a:r>
            <a:r>
              <a:rPr kumimoji="1" lang="en-US" altLang="zh-CN" sz="2800" b="1" dirty="0">
                <a:latin typeface="Times New Roman" panose="02020603050405020304" pitchFamily="18" charset="0"/>
                <a:sym typeface="Symbol" panose="05050102010706020507" pitchFamily="18" charset="2"/>
              </a:rPr>
              <a:t></a:t>
            </a:r>
            <a:r>
              <a:rPr kumimoji="1" lang="en-US" altLang="zh-CN" sz="2800" b="1" dirty="0">
                <a:latin typeface="Times New Roman" panose="02020603050405020304" pitchFamily="18" charset="0"/>
              </a:rPr>
              <a:t>mol min</a:t>
            </a:r>
            <a:r>
              <a:rPr kumimoji="1" lang="en-US" altLang="zh-CN" sz="2800" b="1" baseline="30000" dirty="0">
                <a:latin typeface="Times New Roman" panose="02020603050405020304" pitchFamily="18" charset="0"/>
              </a:rPr>
              <a:t>-1</a:t>
            </a:r>
            <a:endParaRPr kumimoji="1" lang="en-US" altLang="zh-CN" sz="2800" b="1" dirty="0">
              <a:latin typeface="Times New Roman" panose="02020603050405020304" pitchFamily="18" charset="0"/>
            </a:endParaRPr>
          </a:p>
          <a:p>
            <a:pPr eaLnBrk="1" hangingPunct="1">
              <a:spcBef>
                <a:spcPct val="50000"/>
              </a:spcBef>
              <a:buFontTx/>
              <a:buChar char="•"/>
            </a:pPr>
            <a:r>
              <a:rPr kumimoji="1" lang="en-US" altLang="zh-CN" sz="2800" b="1" dirty="0">
                <a:latin typeface="Times New Roman" panose="02020603050405020304" pitchFamily="18" charset="0"/>
              </a:rPr>
              <a:t>1 U=1 </a:t>
            </a:r>
            <a:r>
              <a:rPr kumimoji="1" lang="en-US" altLang="zh-CN" sz="2800" b="1" dirty="0">
                <a:latin typeface="Times New Roman" panose="02020603050405020304" pitchFamily="18" charset="0"/>
                <a:sym typeface="Symbol" panose="05050102010706020507" pitchFamily="18" charset="2"/>
              </a:rPr>
              <a:t></a:t>
            </a:r>
            <a:r>
              <a:rPr kumimoji="1" lang="en-US" altLang="zh-CN" sz="2800" b="1" dirty="0">
                <a:latin typeface="Times New Roman" panose="02020603050405020304" pitchFamily="18" charset="0"/>
              </a:rPr>
              <a:t>mol min</a:t>
            </a:r>
            <a:r>
              <a:rPr kumimoji="1" lang="en-US" altLang="zh-CN" sz="2800" b="1" baseline="30000" dirty="0">
                <a:latin typeface="Times New Roman" panose="02020603050405020304" pitchFamily="18" charset="0"/>
              </a:rPr>
              <a:t>-1</a:t>
            </a:r>
            <a:endParaRPr kumimoji="1" lang="en-US" altLang="zh-CN" sz="2800" b="1" dirty="0">
              <a:latin typeface="Times New Roman" panose="02020603050405020304" pitchFamily="18" charset="0"/>
            </a:endParaRPr>
          </a:p>
          <a:p>
            <a:pPr eaLnBrk="1" hangingPunct="1">
              <a:spcBef>
                <a:spcPct val="50000"/>
              </a:spcBef>
              <a:buFontTx/>
              <a:buChar char="•"/>
            </a:pPr>
            <a:r>
              <a:rPr kumimoji="1" lang="en-US" altLang="zh-CN" sz="2800" b="1" dirty="0">
                <a:latin typeface="Times New Roman" panose="02020603050405020304" pitchFamily="18" charset="0"/>
              </a:rPr>
              <a:t>1 </a:t>
            </a:r>
            <a:r>
              <a:rPr kumimoji="1" lang="en-US" altLang="zh-CN" sz="2800" b="1" dirty="0" err="1">
                <a:latin typeface="Times New Roman" panose="02020603050405020304" pitchFamily="18" charset="0"/>
              </a:rPr>
              <a:t>kat</a:t>
            </a:r>
            <a:r>
              <a:rPr kumimoji="1" lang="en-US" altLang="zh-CN" sz="2800" b="1" dirty="0">
                <a:latin typeface="Times New Roman" panose="02020603050405020304" pitchFamily="18" charset="0"/>
              </a:rPr>
              <a:t> = 1 mol s</a:t>
            </a:r>
            <a:r>
              <a:rPr kumimoji="1" lang="en-US" altLang="zh-CN" sz="2800" b="1" baseline="30000" dirty="0">
                <a:latin typeface="Times New Roman" panose="02020603050405020304" pitchFamily="18" charset="0"/>
              </a:rPr>
              <a:t>-1  </a:t>
            </a:r>
            <a:r>
              <a:rPr kumimoji="1" lang="en-US" altLang="zh-CN" sz="2800" b="1" dirty="0">
                <a:latin typeface="Times New Roman" panose="02020603050405020304" pitchFamily="18" charset="0"/>
              </a:rPr>
              <a:t>      1 </a:t>
            </a:r>
            <a:r>
              <a:rPr kumimoji="1" lang="en-US" altLang="zh-CN" sz="2800" b="1" dirty="0" err="1">
                <a:latin typeface="Times New Roman" panose="02020603050405020304" pitchFamily="18" charset="0"/>
              </a:rPr>
              <a:t>kat</a:t>
            </a:r>
            <a:r>
              <a:rPr kumimoji="1" lang="en-US" altLang="zh-CN" sz="2800" b="1" dirty="0">
                <a:latin typeface="Times New Roman" panose="02020603050405020304" pitchFamily="18" charset="0"/>
              </a:rPr>
              <a:t> = 6 x 10</a:t>
            </a:r>
            <a:r>
              <a:rPr kumimoji="1" lang="en-US" altLang="zh-CN" sz="2800" b="1" baseline="30000" dirty="0">
                <a:latin typeface="Times New Roman" panose="02020603050405020304" pitchFamily="18" charset="0"/>
              </a:rPr>
              <a:t>7</a:t>
            </a:r>
            <a:r>
              <a:rPr kumimoji="1" lang="en-US" altLang="zh-CN" sz="2800" b="1" dirty="0">
                <a:latin typeface="Times New Roman" panose="02020603050405020304" pitchFamily="18" charset="0"/>
              </a:rPr>
              <a:t> U</a:t>
            </a:r>
            <a:endParaRPr kumimoji="1" lang="en-US" altLang="zh-CN" sz="2800" b="1" baseline="30000" dirty="0">
              <a:latin typeface="Times New Roman" panose="02020603050405020304" pitchFamily="18"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8BFFC8A-824F-45D2-ACA1-04F6F44E415A}"/>
              </a:ext>
            </a:extLst>
          </p:cNvPr>
          <p:cNvSpPr txBox="1"/>
          <p:nvPr/>
        </p:nvSpPr>
        <p:spPr>
          <a:xfrm>
            <a:off x="971600" y="1412776"/>
            <a:ext cx="7344816" cy="3416320"/>
          </a:xfrm>
          <a:prstGeom prst="rect">
            <a:avLst/>
          </a:prstGeom>
          <a:noFill/>
        </p:spPr>
        <p:txBody>
          <a:bodyPr wrap="square">
            <a:spAutoFit/>
          </a:bodyPr>
          <a:lstStyle/>
          <a:p>
            <a:r>
              <a:rPr lang="en-US" altLang="zh-CN" sz="2400" b="1" i="0" dirty="0">
                <a:solidFill>
                  <a:srgbClr val="FF0000"/>
                </a:solidFill>
                <a:effectLst/>
                <a:latin typeface="CenturyStd-Bold"/>
              </a:rPr>
              <a:t>Specific activity (</a:t>
            </a:r>
            <a:r>
              <a:rPr kumimoji="1" lang="en-US" altLang="zh-CN" sz="2400" b="1" dirty="0">
                <a:solidFill>
                  <a:srgbClr val="FF0000"/>
                </a:solidFill>
                <a:latin typeface="Times New Roman" panose="02020603050405020304" pitchFamily="18" charset="0"/>
                <a:sym typeface="Symbol" panose="05050102010706020507" pitchFamily="18" charset="2"/>
              </a:rPr>
              <a:t></a:t>
            </a:r>
            <a:r>
              <a:rPr kumimoji="1" lang="en-US" altLang="zh-CN" sz="2400" b="1" dirty="0">
                <a:solidFill>
                  <a:srgbClr val="FF0000"/>
                </a:solidFill>
                <a:latin typeface="Times New Roman" panose="02020603050405020304" pitchFamily="18" charset="0"/>
              </a:rPr>
              <a:t>mol min</a:t>
            </a:r>
            <a:r>
              <a:rPr kumimoji="1" lang="en-US" altLang="zh-CN" sz="2400" b="1" baseline="30000" dirty="0">
                <a:solidFill>
                  <a:srgbClr val="FF0000"/>
                </a:solidFill>
                <a:latin typeface="Times New Roman" panose="02020603050405020304" pitchFamily="18" charset="0"/>
              </a:rPr>
              <a:t>-1 </a:t>
            </a:r>
            <a:r>
              <a:rPr lang="en-US" altLang="zh-CN" sz="2400" b="1" i="0" dirty="0">
                <a:solidFill>
                  <a:srgbClr val="FF0000"/>
                </a:solidFill>
                <a:effectLst/>
                <a:latin typeface="CenturyStd-Light"/>
              </a:rPr>
              <a:t>mg</a:t>
            </a:r>
            <a:r>
              <a:rPr kumimoji="1" lang="en-US" altLang="zh-CN" sz="2400" b="1" baseline="30000" dirty="0">
                <a:solidFill>
                  <a:srgbClr val="FF0000"/>
                </a:solidFill>
                <a:latin typeface="Times New Roman" panose="02020603050405020304" pitchFamily="18" charset="0"/>
              </a:rPr>
              <a:t>-1</a:t>
            </a:r>
            <a:r>
              <a:rPr lang="en-US" altLang="zh-CN" sz="2400" b="1" i="0" dirty="0">
                <a:solidFill>
                  <a:srgbClr val="FF0000"/>
                </a:solidFill>
                <a:effectLst/>
                <a:latin typeface="CenturyStd-Bold"/>
              </a:rPr>
              <a:t>) </a:t>
            </a:r>
            <a:r>
              <a:rPr lang="zh-CN" altLang="en-US" sz="2400" b="1" i="0" dirty="0">
                <a:solidFill>
                  <a:srgbClr val="FF0000"/>
                </a:solidFill>
                <a:effectLst/>
                <a:latin typeface="CenturyStd-Bold"/>
              </a:rPr>
              <a:t>比活力</a:t>
            </a:r>
            <a:r>
              <a:rPr lang="en-US" altLang="zh-CN" sz="2400" b="1" i="0" dirty="0">
                <a:solidFill>
                  <a:srgbClr val="242021"/>
                </a:solidFill>
                <a:effectLst/>
                <a:latin typeface="CenturyStd-Bold"/>
              </a:rPr>
              <a:t>: </a:t>
            </a:r>
            <a:r>
              <a:rPr lang="en-US" altLang="zh-CN" sz="2400" b="0" i="0" dirty="0">
                <a:solidFill>
                  <a:srgbClr val="242021"/>
                </a:solidFill>
                <a:effectLst/>
                <a:latin typeface="CenturyStd-Light"/>
              </a:rPr>
              <a:t>The number of micromoles (mol) of a substrate transformed by an enzyme preparation per minute per milligram of protein at 25</a:t>
            </a:r>
            <a:r>
              <a:rPr lang="zh-CN" altLang="en-US" sz="2400" b="0" i="0" dirty="0">
                <a:solidFill>
                  <a:srgbClr val="242021"/>
                </a:solidFill>
                <a:effectLst/>
                <a:latin typeface="CenturyStd-Light"/>
              </a:rPr>
              <a:t>℃</a:t>
            </a:r>
            <a:r>
              <a:rPr lang="en-US" altLang="zh-CN" sz="2400" b="0" i="0" dirty="0">
                <a:solidFill>
                  <a:srgbClr val="242021"/>
                </a:solidFill>
                <a:effectLst/>
                <a:latin typeface="CenturyStd-Light"/>
              </a:rPr>
              <a:t>; a measure of </a:t>
            </a:r>
            <a:r>
              <a:rPr lang="en-US" altLang="zh-CN" sz="2400" b="1" i="0" dirty="0">
                <a:solidFill>
                  <a:srgbClr val="FF0000"/>
                </a:solidFill>
                <a:effectLst/>
                <a:latin typeface="CenturyStd-Light"/>
              </a:rPr>
              <a:t>enzyme purity</a:t>
            </a:r>
            <a:r>
              <a:rPr lang="en-US" altLang="zh-CN" sz="2400" b="0" i="0" dirty="0">
                <a:solidFill>
                  <a:srgbClr val="242021"/>
                </a:solidFill>
                <a:effectLst/>
                <a:latin typeface="CenturyStd-Light"/>
              </a:rPr>
              <a:t>.</a:t>
            </a:r>
          </a:p>
          <a:p>
            <a:br>
              <a:rPr lang="en-US" altLang="zh-CN" sz="2400" b="0" i="0" dirty="0">
                <a:solidFill>
                  <a:srgbClr val="242021"/>
                </a:solidFill>
                <a:effectLst/>
                <a:latin typeface="CenturyStd-Light"/>
              </a:rPr>
            </a:br>
            <a:r>
              <a:rPr lang="en-US" altLang="zh-CN" sz="2400" b="1" i="0" dirty="0">
                <a:solidFill>
                  <a:srgbClr val="242021"/>
                </a:solidFill>
                <a:effectLst/>
                <a:latin typeface="CenturyStd-Bold"/>
              </a:rPr>
              <a:t>Specificity: </a:t>
            </a:r>
            <a:r>
              <a:rPr lang="en-US" altLang="zh-CN" sz="2400" b="0" i="0" dirty="0">
                <a:solidFill>
                  <a:srgbClr val="242021"/>
                </a:solidFill>
                <a:effectLst/>
                <a:latin typeface="CenturyStd-Light"/>
              </a:rPr>
              <a:t>The ability of an enzyme or</a:t>
            </a:r>
            <a:br>
              <a:rPr lang="en-US" altLang="zh-CN" sz="2400" b="0" i="0" dirty="0">
                <a:solidFill>
                  <a:srgbClr val="242021"/>
                </a:solidFill>
                <a:effectLst/>
                <a:latin typeface="CenturyStd-Light"/>
              </a:rPr>
            </a:br>
            <a:r>
              <a:rPr lang="en-US" altLang="zh-CN" sz="2400" b="0" i="0" dirty="0">
                <a:solidFill>
                  <a:srgbClr val="242021"/>
                </a:solidFill>
                <a:effectLst/>
                <a:latin typeface="CenturyStd-Light"/>
              </a:rPr>
              <a:t>receptor to discriminate among competing</a:t>
            </a:r>
            <a:br>
              <a:rPr lang="en-US" altLang="zh-CN" sz="2400" b="0" i="0" dirty="0">
                <a:solidFill>
                  <a:srgbClr val="242021"/>
                </a:solidFill>
                <a:effectLst/>
                <a:latin typeface="CenturyStd-Light"/>
              </a:rPr>
            </a:br>
            <a:r>
              <a:rPr lang="en-US" altLang="zh-CN" sz="2400" b="0" i="0" dirty="0">
                <a:solidFill>
                  <a:srgbClr val="242021"/>
                </a:solidFill>
                <a:effectLst/>
                <a:latin typeface="CenturyStd-Light"/>
              </a:rPr>
              <a:t>substrates or ligands.</a:t>
            </a:r>
            <a:r>
              <a:rPr lang="en-US" altLang="zh-CN" sz="2400" dirty="0"/>
              <a:t> </a:t>
            </a:r>
            <a:br>
              <a:rPr lang="en-US" altLang="zh-CN" sz="2400" dirty="0"/>
            </a:br>
            <a:endParaRPr lang="zh-CN" altLang="en-US" sz="2400" dirty="0"/>
          </a:p>
        </p:txBody>
      </p:sp>
    </p:spTree>
    <p:extLst>
      <p:ext uri="{BB962C8B-B14F-4D97-AF65-F5344CB8AC3E}">
        <p14:creationId xmlns:p14="http://schemas.microsoft.com/office/powerpoint/2010/main" val="309555037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
            <a:extLst>
              <a:ext uri="{FF2B5EF4-FFF2-40B4-BE49-F238E27FC236}">
                <a16:creationId xmlns:a16="http://schemas.microsoft.com/office/drawing/2014/main" id="{8F010BF4-69BB-4C4E-AB91-545AFC7DA411}"/>
              </a:ext>
            </a:extLst>
          </p:cNvPr>
          <p:cNvSpPr txBox="1">
            <a:spLocks noChangeArrowheads="1"/>
          </p:cNvSpPr>
          <p:nvPr/>
        </p:nvSpPr>
        <p:spPr bwMode="auto">
          <a:xfrm>
            <a:off x="1258888" y="692150"/>
            <a:ext cx="6477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Char char="•"/>
            </a:pPr>
            <a:r>
              <a:rPr kumimoji="1" lang="zh-CN" altLang="en-US" sz="3200">
                <a:latin typeface="Tahoma" panose="020B0604030504040204" pitchFamily="34" charset="0"/>
                <a:ea typeface="华文中宋" panose="02010600040101010101" pitchFamily="2" charset="-122"/>
              </a:rPr>
              <a:t>酶偶联法</a:t>
            </a:r>
          </a:p>
        </p:txBody>
      </p:sp>
      <p:sp>
        <p:nvSpPr>
          <p:cNvPr id="119811" name="Text Box 3">
            <a:extLst>
              <a:ext uri="{FF2B5EF4-FFF2-40B4-BE49-F238E27FC236}">
                <a16:creationId xmlns:a16="http://schemas.microsoft.com/office/drawing/2014/main" id="{3BDA8493-0CEE-4635-8F9B-FAF6E65E818B}"/>
              </a:ext>
            </a:extLst>
          </p:cNvPr>
          <p:cNvSpPr txBox="1">
            <a:spLocks noChangeArrowheads="1"/>
          </p:cNvSpPr>
          <p:nvPr/>
        </p:nvSpPr>
        <p:spPr bwMode="auto">
          <a:xfrm>
            <a:off x="1066800" y="2286000"/>
            <a:ext cx="6934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a:latin typeface="CG Times (W1)" pitchFamily="18" charset="0"/>
              </a:rPr>
              <a:t>S            P1            P2</a:t>
            </a:r>
          </a:p>
        </p:txBody>
      </p:sp>
      <p:sp>
        <p:nvSpPr>
          <p:cNvPr id="119812" name="Line 4">
            <a:extLst>
              <a:ext uri="{FF2B5EF4-FFF2-40B4-BE49-F238E27FC236}">
                <a16:creationId xmlns:a16="http://schemas.microsoft.com/office/drawing/2014/main" id="{FF76B8F4-23E0-4A14-A3F7-3B973BFA3856}"/>
              </a:ext>
            </a:extLst>
          </p:cNvPr>
          <p:cNvSpPr>
            <a:spLocks noChangeShapeType="1"/>
          </p:cNvSpPr>
          <p:nvPr/>
        </p:nvSpPr>
        <p:spPr bwMode="auto">
          <a:xfrm>
            <a:off x="1600200" y="2590800"/>
            <a:ext cx="914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13" name="Line 5">
            <a:extLst>
              <a:ext uri="{FF2B5EF4-FFF2-40B4-BE49-F238E27FC236}">
                <a16:creationId xmlns:a16="http://schemas.microsoft.com/office/drawing/2014/main" id="{9EA39B16-073A-4282-9A25-DE126836E67B}"/>
              </a:ext>
            </a:extLst>
          </p:cNvPr>
          <p:cNvSpPr>
            <a:spLocks noChangeShapeType="1"/>
          </p:cNvSpPr>
          <p:nvPr/>
        </p:nvSpPr>
        <p:spPr bwMode="auto">
          <a:xfrm>
            <a:off x="3295650" y="2590800"/>
            <a:ext cx="89535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14" name="Text Box 6">
            <a:extLst>
              <a:ext uri="{FF2B5EF4-FFF2-40B4-BE49-F238E27FC236}">
                <a16:creationId xmlns:a16="http://schemas.microsoft.com/office/drawing/2014/main" id="{8504D761-56D7-425E-A82D-10502814CA28}"/>
              </a:ext>
            </a:extLst>
          </p:cNvPr>
          <p:cNvSpPr txBox="1">
            <a:spLocks noChangeArrowheads="1"/>
          </p:cNvSpPr>
          <p:nvPr/>
        </p:nvSpPr>
        <p:spPr bwMode="auto">
          <a:xfrm>
            <a:off x="1676400" y="19812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solidFill>
                  <a:srgbClr val="FF0000"/>
                </a:solidFill>
                <a:latin typeface="Tahoma" panose="020B0604030504040204" pitchFamily="34" charset="0"/>
              </a:rPr>
              <a:t>E1</a:t>
            </a:r>
          </a:p>
        </p:txBody>
      </p:sp>
      <p:sp>
        <p:nvSpPr>
          <p:cNvPr id="119815" name="Text Box 7">
            <a:extLst>
              <a:ext uri="{FF2B5EF4-FFF2-40B4-BE49-F238E27FC236}">
                <a16:creationId xmlns:a16="http://schemas.microsoft.com/office/drawing/2014/main" id="{79076BD9-20E5-43BC-B5CE-DDD13297BA64}"/>
              </a:ext>
            </a:extLst>
          </p:cNvPr>
          <p:cNvSpPr txBox="1">
            <a:spLocks noChangeArrowheads="1"/>
          </p:cNvSpPr>
          <p:nvPr/>
        </p:nvSpPr>
        <p:spPr bwMode="auto">
          <a:xfrm>
            <a:off x="3657600" y="19812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solidFill>
                  <a:srgbClr val="FF0000"/>
                </a:solidFill>
                <a:latin typeface="Tahoma" panose="020B0604030504040204" pitchFamily="34" charset="0"/>
              </a:rPr>
              <a:t>E2</a:t>
            </a:r>
          </a:p>
        </p:txBody>
      </p:sp>
      <p:sp>
        <p:nvSpPr>
          <p:cNvPr id="119816" name="Text Box 8">
            <a:extLst>
              <a:ext uri="{FF2B5EF4-FFF2-40B4-BE49-F238E27FC236}">
                <a16:creationId xmlns:a16="http://schemas.microsoft.com/office/drawing/2014/main" id="{DEDD0798-1516-4759-9A27-54B7390086AE}"/>
              </a:ext>
            </a:extLst>
          </p:cNvPr>
          <p:cNvSpPr txBox="1">
            <a:spLocks noChangeArrowheads="1"/>
          </p:cNvSpPr>
          <p:nvPr/>
        </p:nvSpPr>
        <p:spPr bwMode="auto">
          <a:xfrm>
            <a:off x="304800" y="3048000"/>
            <a:ext cx="86106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50000"/>
              </a:spcBef>
            </a:pPr>
            <a:r>
              <a:rPr kumimoji="1" lang="zh-CN" altLang="en-US" sz="2800">
                <a:latin typeface="Tahoma" panose="020B0604030504040204" pitchFamily="34" charset="0"/>
                <a:ea typeface="华文中宋" panose="02010600040101010101" pitchFamily="2" charset="-122"/>
              </a:rPr>
              <a:t>条件：</a:t>
            </a:r>
            <a:r>
              <a:rPr kumimoji="1" lang="en-US" altLang="zh-CN" sz="2800">
                <a:latin typeface="Tahoma" panose="020B0604030504040204" pitchFamily="34" charset="0"/>
                <a:ea typeface="华文中宋" panose="02010600040101010101" pitchFamily="2" charset="-122"/>
              </a:rPr>
              <a:t>S         P1</a:t>
            </a:r>
            <a:r>
              <a:rPr kumimoji="1" lang="zh-CN" altLang="en-US" sz="2800">
                <a:latin typeface="Tahoma" panose="020B0604030504040204" pitchFamily="34" charset="0"/>
                <a:ea typeface="华文中宋" panose="02010600040101010101" pitchFamily="2" charset="-122"/>
              </a:rPr>
              <a:t>反应很慢，</a:t>
            </a:r>
            <a:r>
              <a:rPr kumimoji="1" lang="en-US" altLang="zh-CN" sz="2800">
                <a:latin typeface="Tahoma" panose="020B0604030504040204" pitchFamily="34" charset="0"/>
                <a:ea typeface="华文中宋" panose="02010600040101010101" pitchFamily="2" charset="-122"/>
              </a:rPr>
              <a:t>P1           P2</a:t>
            </a:r>
            <a:r>
              <a:rPr kumimoji="1" lang="zh-CN" altLang="en-US" sz="2800">
                <a:latin typeface="Tahoma" panose="020B0604030504040204" pitchFamily="34" charset="0"/>
                <a:ea typeface="华文中宋" panose="02010600040101010101" pitchFamily="2" charset="-122"/>
              </a:rPr>
              <a:t>反应很快</a:t>
            </a:r>
          </a:p>
          <a:p>
            <a:pPr eaLnBrk="1" hangingPunct="1">
              <a:lnSpc>
                <a:spcPct val="150000"/>
              </a:lnSpc>
              <a:spcBef>
                <a:spcPct val="50000"/>
              </a:spcBef>
            </a:pPr>
            <a:r>
              <a:rPr kumimoji="1" lang="zh-CN" altLang="en-US" sz="2800">
                <a:latin typeface="Tahoma" panose="020B0604030504040204" pitchFamily="34" charset="0"/>
                <a:ea typeface="华文中宋" panose="02010600040101010101" pitchFamily="2" charset="-122"/>
              </a:rPr>
              <a:t>         偶联工具酶</a:t>
            </a:r>
            <a:r>
              <a:rPr kumimoji="1" lang="en-US" altLang="zh-CN" sz="2800">
                <a:latin typeface="Tahoma" panose="020B0604030504040204" pitchFamily="34" charset="0"/>
                <a:ea typeface="华文中宋" panose="02010600040101010101" pitchFamily="2" charset="-122"/>
              </a:rPr>
              <a:t>E2</a:t>
            </a:r>
            <a:r>
              <a:rPr kumimoji="1" lang="zh-CN" altLang="en-US" sz="2800">
                <a:latin typeface="Tahoma" panose="020B0604030504040204" pitchFamily="34" charset="0"/>
                <a:ea typeface="华文中宋" panose="02010600040101010101" pitchFamily="2" charset="-122"/>
              </a:rPr>
              <a:t>纯度高，加入酶量过量</a:t>
            </a:r>
          </a:p>
          <a:p>
            <a:pPr eaLnBrk="1" hangingPunct="1">
              <a:lnSpc>
                <a:spcPct val="150000"/>
              </a:lnSpc>
              <a:spcBef>
                <a:spcPct val="50000"/>
              </a:spcBef>
            </a:pPr>
            <a:r>
              <a:rPr kumimoji="1" lang="zh-CN" altLang="en-US" sz="2800">
                <a:latin typeface="Tahoma" panose="020B0604030504040204" pitchFamily="34" charset="0"/>
                <a:ea typeface="华文中宋" panose="02010600040101010101" pitchFamily="2" charset="-122"/>
              </a:rPr>
              <a:t>         </a:t>
            </a:r>
            <a:r>
              <a:rPr kumimoji="1" lang="en-US" altLang="zh-CN" sz="2800">
                <a:latin typeface="Tahoma" panose="020B0604030504040204" pitchFamily="34" charset="0"/>
                <a:ea typeface="华文中宋" panose="02010600040101010101" pitchFamily="2" charset="-122"/>
              </a:rPr>
              <a:t>P2</a:t>
            </a:r>
            <a:r>
              <a:rPr kumimoji="1" lang="zh-CN" altLang="en-US" sz="2800">
                <a:latin typeface="Tahoma" panose="020B0604030504040204" pitchFamily="34" charset="0"/>
                <a:ea typeface="华文中宋" panose="02010600040101010101" pitchFamily="2" charset="-122"/>
              </a:rPr>
              <a:t>有光吸收或荧光变化         </a:t>
            </a:r>
          </a:p>
          <a:p>
            <a:pPr eaLnBrk="1" hangingPunct="1">
              <a:spcBef>
                <a:spcPct val="50000"/>
              </a:spcBef>
            </a:pPr>
            <a:r>
              <a:rPr kumimoji="1" lang="zh-CN" altLang="en-US" sz="2800">
                <a:latin typeface="Tahoma" panose="020B0604030504040204" pitchFamily="34" charset="0"/>
                <a:ea typeface="华文中宋" panose="02010600040101010101" pitchFamily="2" charset="-122"/>
              </a:rPr>
              <a:t>          </a:t>
            </a:r>
          </a:p>
        </p:txBody>
      </p:sp>
      <p:sp>
        <p:nvSpPr>
          <p:cNvPr id="119817" name="Line 9">
            <a:extLst>
              <a:ext uri="{FF2B5EF4-FFF2-40B4-BE49-F238E27FC236}">
                <a16:creationId xmlns:a16="http://schemas.microsoft.com/office/drawing/2014/main" id="{1561B887-0172-4510-AD41-5D2C87BE3902}"/>
              </a:ext>
            </a:extLst>
          </p:cNvPr>
          <p:cNvSpPr>
            <a:spLocks noChangeShapeType="1"/>
          </p:cNvSpPr>
          <p:nvPr/>
        </p:nvSpPr>
        <p:spPr bwMode="auto">
          <a:xfrm>
            <a:off x="1828800" y="3448050"/>
            <a:ext cx="6858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9818" name="Line 10">
            <a:extLst>
              <a:ext uri="{FF2B5EF4-FFF2-40B4-BE49-F238E27FC236}">
                <a16:creationId xmlns:a16="http://schemas.microsoft.com/office/drawing/2014/main" id="{58B21085-7B09-4A47-B286-23B8DEE67D12}"/>
              </a:ext>
            </a:extLst>
          </p:cNvPr>
          <p:cNvSpPr>
            <a:spLocks noChangeShapeType="1"/>
          </p:cNvSpPr>
          <p:nvPr/>
        </p:nvSpPr>
        <p:spPr bwMode="auto">
          <a:xfrm>
            <a:off x="5372100" y="3486150"/>
            <a:ext cx="914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pic>
        <p:nvPicPr>
          <p:cNvPr id="119819" name="Picture 11" descr="j0293234">
            <a:hlinkClick r:id="rId2" action="ppaction://hlinkfile"/>
            <a:extLst>
              <a:ext uri="{FF2B5EF4-FFF2-40B4-BE49-F238E27FC236}">
                <a16:creationId xmlns:a16="http://schemas.microsoft.com/office/drawing/2014/main" id="{3F4523AD-5289-44A2-8636-63E14A6108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805488"/>
            <a:ext cx="1042987"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20" name="Text Box 12">
            <a:extLst>
              <a:ext uri="{FF2B5EF4-FFF2-40B4-BE49-F238E27FC236}">
                <a16:creationId xmlns:a16="http://schemas.microsoft.com/office/drawing/2014/main" id="{02AA41F8-E8EE-4C23-9581-022F56D6CFD9}"/>
              </a:ext>
            </a:extLst>
          </p:cNvPr>
          <p:cNvSpPr txBox="1">
            <a:spLocks noChangeArrowheads="1"/>
          </p:cNvSpPr>
          <p:nvPr/>
        </p:nvSpPr>
        <p:spPr bwMode="auto">
          <a:xfrm>
            <a:off x="3348038" y="692150"/>
            <a:ext cx="419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a:solidFill>
                  <a:srgbClr val="2308EA"/>
                </a:solidFill>
                <a:latin typeface="Times New Roman" panose="02020603050405020304" pitchFamily="18" charset="0"/>
              </a:rPr>
              <a:t>Linked enzyme assays</a:t>
            </a:r>
            <a:endParaRPr kumimoji="1" lang="en-US" altLang="zh-CN" sz="2400">
              <a:solidFill>
                <a:srgbClr val="2308EA"/>
              </a:solidFill>
              <a:latin typeface="Times New Roman" panose="02020603050405020304" pitchFamily="18" charset="0"/>
            </a:endParaRPr>
          </a:p>
        </p:txBody>
      </p:sp>
    </p:spTree>
  </p:cSld>
  <p:clrMapOvr>
    <a:masterClrMapping/>
  </p:clrMapOvr>
  <p:transition spd="med">
    <p:pull dir="rd"/>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926A89DA-9A08-42AE-9619-D112B3B4DF4D}"/>
              </a:ext>
            </a:extLst>
          </p:cNvPr>
          <p:cNvSpPr>
            <a:spLocks noGrp="1" noChangeArrowheads="1"/>
          </p:cNvSpPr>
          <p:nvPr>
            <p:ph type="title"/>
          </p:nvPr>
        </p:nvSpPr>
        <p:spPr/>
        <p:txBody>
          <a:bodyPr/>
          <a:lstStyle/>
          <a:p>
            <a:pPr eaLnBrk="1" hangingPunct="1"/>
            <a:r>
              <a:rPr lang="en-US" altLang="zh-CN" b="1" dirty="0">
                <a:solidFill>
                  <a:srgbClr val="2308EA"/>
                </a:solidFill>
              </a:rPr>
              <a:t>Isoenzymes</a:t>
            </a:r>
          </a:p>
        </p:txBody>
      </p:sp>
      <p:sp>
        <p:nvSpPr>
          <p:cNvPr id="120835" name="Rectangle 3">
            <a:extLst>
              <a:ext uri="{FF2B5EF4-FFF2-40B4-BE49-F238E27FC236}">
                <a16:creationId xmlns:a16="http://schemas.microsoft.com/office/drawing/2014/main" id="{C0A82B06-4CC3-4B51-8AAC-8A537867688F}"/>
              </a:ext>
            </a:extLst>
          </p:cNvPr>
          <p:cNvSpPr>
            <a:spLocks noGrp="1" noChangeArrowheads="1"/>
          </p:cNvSpPr>
          <p:nvPr>
            <p:ph type="body" idx="1"/>
          </p:nvPr>
        </p:nvSpPr>
        <p:spPr>
          <a:xfrm>
            <a:off x="457200" y="1219200"/>
            <a:ext cx="8229600" cy="4525963"/>
          </a:xfrm>
        </p:spPr>
        <p:txBody>
          <a:bodyPr/>
          <a:lstStyle/>
          <a:p>
            <a:pPr eaLnBrk="1" hangingPunct="1">
              <a:lnSpc>
                <a:spcPct val="130000"/>
              </a:lnSpc>
            </a:pPr>
            <a:r>
              <a:rPr lang="en-US" altLang="zh-CN" b="1" dirty="0"/>
              <a:t>Isoenzymes are different forms of an enzyme which catalyze the same reaction, but which exhibit different physical or kinetic properties. The isoenzymes of </a:t>
            </a:r>
            <a:r>
              <a:rPr lang="en-US" altLang="zh-CN" b="1" dirty="0">
                <a:latin typeface="Times New Roman" panose="02020603050405020304" pitchFamily="18" charset="0"/>
                <a:cs typeface="Times New Roman" panose="02020603050405020304" pitchFamily="18" charset="0"/>
              </a:rPr>
              <a:t>Lactate</a:t>
            </a:r>
            <a:r>
              <a:rPr lang="en-US" altLang="zh-CN" b="1" dirty="0"/>
              <a:t> </a:t>
            </a:r>
            <a:r>
              <a:rPr lang="en-US" altLang="zh-CN" b="1" dirty="0" err="1"/>
              <a:t>DeHydrogenase</a:t>
            </a:r>
            <a:r>
              <a:rPr lang="en-US" altLang="zh-CN" b="1" dirty="0"/>
              <a:t> (LDH) can be separated </a:t>
            </a:r>
            <a:r>
              <a:rPr lang="en-US" altLang="zh-CN" b="1" dirty="0" err="1"/>
              <a:t>electrophoretically</a:t>
            </a:r>
            <a:r>
              <a:rPr lang="en-US" altLang="zh-CN" b="1" dirty="0"/>
              <a:t> and can be used clinically to diagnose a myocardial infarction.</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C046F483-157A-4CD5-BE81-F9B0C01629E0}"/>
              </a:ext>
            </a:extLst>
          </p:cNvPr>
          <p:cNvSpPr>
            <a:spLocks noChangeArrowheads="1"/>
          </p:cNvSpPr>
          <p:nvPr/>
        </p:nvSpPr>
        <p:spPr bwMode="auto">
          <a:xfrm>
            <a:off x="533400" y="914400"/>
            <a:ext cx="8305800" cy="426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048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kumimoji="1" lang="zh-CN" altLang="en-US" sz="4000" b="1" dirty="0">
                <a:latin typeface="Times New Roman" panose="02020603050405020304" pitchFamily="18" charset="0"/>
                <a:ea typeface="仿宋_GB2312" pitchFamily="49" charset="-122"/>
              </a:rPr>
              <a:t>同工酶（</a:t>
            </a:r>
            <a:r>
              <a:rPr kumimoji="1" lang="en-US" altLang="zh-CN" sz="4000" b="1" dirty="0">
                <a:latin typeface="Times New Roman" panose="02020603050405020304" pitchFamily="18" charset="0"/>
                <a:ea typeface="仿宋_GB2312" pitchFamily="49" charset="-122"/>
              </a:rPr>
              <a:t>isozyme</a:t>
            </a:r>
            <a:r>
              <a:rPr kumimoji="1" lang="zh-CN" altLang="en-US" sz="4000" b="1" dirty="0">
                <a:latin typeface="Times New Roman" panose="02020603050405020304" pitchFamily="18" charset="0"/>
                <a:ea typeface="仿宋_GB2312" pitchFamily="49" charset="-122"/>
              </a:rPr>
              <a:t>）</a:t>
            </a:r>
          </a:p>
          <a:p>
            <a:pPr eaLnBrk="1" hangingPunct="1">
              <a:lnSpc>
                <a:spcPct val="120000"/>
              </a:lnSpc>
            </a:pPr>
            <a:endParaRPr kumimoji="1" lang="zh-CN" altLang="en-US" sz="3600" b="1" dirty="0">
              <a:latin typeface="Times New Roman" panose="02020603050405020304" pitchFamily="18" charset="0"/>
            </a:endParaRPr>
          </a:p>
          <a:p>
            <a:pPr eaLnBrk="1" hangingPunct="1">
              <a:lnSpc>
                <a:spcPct val="150000"/>
              </a:lnSpc>
            </a:pPr>
            <a:r>
              <a:rPr kumimoji="1" lang="zh-CN" altLang="en-US" sz="3200" dirty="0">
                <a:latin typeface="华文中宋" panose="02010600040101010101" pitchFamily="2" charset="-122"/>
                <a:ea typeface="华文中宋" panose="02010600040101010101" pitchFamily="2" charset="-122"/>
              </a:rPr>
              <a:t>概念：催化同一化学反应，但其酶蛋白本身的组成、分子结构有所不同的一组酶，一般由</a:t>
            </a:r>
            <a:r>
              <a:rPr kumimoji="1" lang="en-US" altLang="zh-CN" sz="3200" dirty="0">
                <a:latin typeface="华文中宋" panose="02010600040101010101" pitchFamily="2" charset="-122"/>
                <a:ea typeface="华文中宋" panose="02010600040101010101" pitchFamily="2" charset="-122"/>
              </a:rPr>
              <a:t>2</a:t>
            </a:r>
            <a:r>
              <a:rPr kumimoji="1" lang="zh-CN" altLang="en-US" sz="3200" dirty="0">
                <a:latin typeface="华文中宋" panose="02010600040101010101" pitchFamily="2" charset="-122"/>
                <a:ea typeface="华文中宋" panose="02010600040101010101" pitchFamily="2" charset="-122"/>
              </a:rPr>
              <a:t>个或以上的亚基构成。</a:t>
            </a:r>
          </a:p>
          <a:p>
            <a:pPr>
              <a:lnSpc>
                <a:spcPct val="120000"/>
              </a:lnSpc>
            </a:pPr>
            <a:r>
              <a:rPr kumimoji="1" lang="zh-CN" altLang="en-US" sz="3200" dirty="0">
                <a:latin typeface="Times New Roman" panose="02020603050405020304" pitchFamily="18" charset="0"/>
              </a:rPr>
              <a:t>     </a:t>
            </a:r>
            <a:endParaRPr kumimoji="1" lang="zh-CN" altLang="en-US" sz="6000" dirty="0">
              <a:latin typeface="Times New Roman" panose="02020603050405020304" pitchFamily="18" charset="0"/>
            </a:endParaRP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219635F1-713C-4C53-BD24-2102C3085BCB}"/>
              </a:ext>
            </a:extLst>
          </p:cNvPr>
          <p:cNvSpPr>
            <a:spLocks noChangeArrowheads="1"/>
          </p:cNvSpPr>
          <p:nvPr/>
        </p:nvSpPr>
        <p:spPr bwMode="auto">
          <a:xfrm>
            <a:off x="251520" y="1916832"/>
            <a:ext cx="8382000" cy="316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pPr>
            <a:r>
              <a:rPr kumimoji="1" lang="en-US" altLang="zh-CN" sz="3200" dirty="0">
                <a:latin typeface="Times New Roman" panose="02020603050405020304" pitchFamily="18" charset="0"/>
              </a:rPr>
              <a:t>        </a:t>
            </a:r>
            <a:r>
              <a:rPr kumimoji="1" lang="zh-CN" altLang="en-US" sz="3200" dirty="0">
                <a:latin typeface="华文中宋" panose="02010600040101010101" pitchFamily="2" charset="-122"/>
                <a:ea typeface="华文中宋" panose="02010600040101010101" pitchFamily="2" charset="-122"/>
              </a:rPr>
              <a:t>同工酶技术的应用，与酶制剂应用不同，不是将酶单纯的作为催化剂，追求酶的高效而专一的催化功能，它更多是把同工酶作为一组分子标记物，利用酶灵敏而专一的检测之便，显示生物物种或个别体基因型的共性和个性。</a:t>
            </a:r>
            <a:r>
              <a:rPr kumimoji="1" lang="zh-CN" altLang="en-US" sz="4000" dirty="0">
                <a:latin typeface="华文中宋" panose="02010600040101010101" pitchFamily="2" charset="-122"/>
                <a:ea typeface="华文中宋" panose="02010600040101010101" pitchFamily="2" charset="-122"/>
              </a:rPr>
              <a:t> </a:t>
            </a: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906" name="Group 2">
            <a:extLst>
              <a:ext uri="{FF2B5EF4-FFF2-40B4-BE49-F238E27FC236}">
                <a16:creationId xmlns:a16="http://schemas.microsoft.com/office/drawing/2014/main" id="{F80C5CC1-4136-46B5-94C5-2C234D151831}"/>
              </a:ext>
            </a:extLst>
          </p:cNvPr>
          <p:cNvGrpSpPr>
            <a:grpSpLocks/>
          </p:cNvGrpSpPr>
          <p:nvPr/>
        </p:nvGrpSpPr>
        <p:grpSpPr bwMode="auto">
          <a:xfrm>
            <a:off x="685800" y="1066800"/>
            <a:ext cx="8458200" cy="5556250"/>
            <a:chOff x="432" y="672"/>
            <a:chExt cx="5328" cy="3500"/>
          </a:xfrm>
        </p:grpSpPr>
        <p:sp>
          <p:nvSpPr>
            <p:cNvPr id="123907" name="Text Box 3">
              <a:extLst>
                <a:ext uri="{FF2B5EF4-FFF2-40B4-BE49-F238E27FC236}">
                  <a16:creationId xmlns:a16="http://schemas.microsoft.com/office/drawing/2014/main" id="{5FEE4AF7-ED93-44A9-BD6A-8B767F950237}"/>
                </a:ext>
              </a:extLst>
            </p:cNvPr>
            <p:cNvSpPr txBox="1">
              <a:spLocks noChangeArrowheads="1"/>
            </p:cNvSpPr>
            <p:nvPr/>
          </p:nvSpPr>
          <p:spPr bwMode="auto">
            <a:xfrm>
              <a:off x="912" y="672"/>
              <a:ext cx="129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3200">
                  <a:solidFill>
                    <a:schemeClr val="hlink"/>
                  </a:solidFill>
                  <a:latin typeface="Tahoma" panose="020B0604030504040204" pitchFamily="34" charset="0"/>
                  <a:ea typeface="华文中宋" panose="02010600040101010101" pitchFamily="2" charset="-122"/>
                </a:rPr>
                <a:t>命名</a:t>
              </a:r>
            </a:p>
          </p:txBody>
        </p:sp>
        <p:sp>
          <p:nvSpPr>
            <p:cNvPr id="123908" name="Text Box 4">
              <a:extLst>
                <a:ext uri="{FF2B5EF4-FFF2-40B4-BE49-F238E27FC236}">
                  <a16:creationId xmlns:a16="http://schemas.microsoft.com/office/drawing/2014/main" id="{75DA63B6-64B1-4700-BF79-8C463819D22C}"/>
                </a:ext>
              </a:extLst>
            </p:cNvPr>
            <p:cNvSpPr txBox="1">
              <a:spLocks noChangeArrowheads="1"/>
            </p:cNvSpPr>
            <p:nvPr/>
          </p:nvSpPr>
          <p:spPr bwMode="auto">
            <a:xfrm>
              <a:off x="528" y="1152"/>
              <a:ext cx="5232" cy="3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a:solidFill>
                    <a:srgbClr val="FF0000"/>
                  </a:solidFill>
                  <a:latin typeface="华文中宋" panose="02010600040101010101" pitchFamily="2" charset="-122"/>
                  <a:ea typeface="华文中宋" panose="02010600040101010101" pitchFamily="2" charset="-122"/>
                </a:rPr>
                <a:t>1.</a:t>
              </a:r>
              <a:r>
                <a:rPr kumimoji="1" lang="zh-CN" altLang="en-US" sz="2800">
                  <a:solidFill>
                    <a:srgbClr val="FF0000"/>
                  </a:solidFill>
                  <a:latin typeface="华文中宋" panose="02010600040101010101" pitchFamily="2" charset="-122"/>
                  <a:ea typeface="华文中宋" panose="02010600040101010101" pitchFamily="2" charset="-122"/>
                </a:rPr>
                <a:t>组织命名：</a:t>
              </a:r>
              <a:r>
                <a:rPr kumimoji="1" lang="zh-CN" altLang="en-US" sz="2800">
                  <a:latin typeface="华文中宋" panose="02010600040101010101" pitchFamily="2" charset="-122"/>
                  <a:ea typeface="华文中宋" panose="02010600040101010101" pitchFamily="2" charset="-122"/>
                </a:rPr>
                <a:t>酶名称前加组织名称</a:t>
              </a:r>
            </a:p>
            <a:p>
              <a:pPr eaLnBrk="1" hangingPunct="1">
                <a:spcBef>
                  <a:spcPct val="50000"/>
                </a:spcBef>
              </a:pPr>
              <a:r>
                <a:rPr kumimoji="1" lang="zh-CN" altLang="en-US" sz="2800">
                  <a:latin typeface="华文中宋" panose="02010600040101010101" pitchFamily="2" charset="-122"/>
                  <a:ea typeface="华文中宋" panose="02010600040101010101" pitchFamily="2" charset="-122"/>
                </a:rPr>
                <a:t>肝（</a:t>
              </a:r>
              <a:r>
                <a:rPr kumimoji="1" lang="en-US" altLang="zh-CN" sz="2800">
                  <a:latin typeface="华文中宋" panose="02010600040101010101" pitchFamily="2" charset="-122"/>
                  <a:ea typeface="华文中宋" panose="02010600040101010101" pitchFamily="2" charset="-122"/>
                </a:rPr>
                <a:t>L</a:t>
              </a:r>
              <a:r>
                <a:rPr kumimoji="1" lang="zh-CN" altLang="en-US" sz="2800">
                  <a:latin typeface="华文中宋" panose="02010600040101010101" pitchFamily="2" charset="-122"/>
                  <a:ea typeface="华文中宋" panose="02010600040101010101" pitchFamily="2" charset="-122"/>
                </a:rPr>
                <a:t>）  肌（</a:t>
              </a:r>
              <a:r>
                <a:rPr kumimoji="1" lang="en-US" altLang="zh-CN" sz="2800">
                  <a:latin typeface="华文中宋" panose="02010600040101010101" pitchFamily="2" charset="-122"/>
                  <a:ea typeface="华文中宋" panose="02010600040101010101" pitchFamily="2" charset="-122"/>
                </a:rPr>
                <a:t>M</a:t>
              </a:r>
              <a:r>
                <a:rPr kumimoji="1" lang="zh-CN" altLang="en-US" sz="2800">
                  <a:latin typeface="华文中宋" panose="02010600040101010101" pitchFamily="2" charset="-122"/>
                  <a:ea typeface="华文中宋" panose="02010600040101010101" pitchFamily="2" charset="-122"/>
                </a:rPr>
                <a:t>）  肾（</a:t>
              </a:r>
              <a:r>
                <a:rPr kumimoji="1" lang="en-US" altLang="zh-CN" sz="2800">
                  <a:latin typeface="华文中宋" panose="02010600040101010101" pitchFamily="2" charset="-122"/>
                  <a:ea typeface="华文中宋" panose="02010600040101010101" pitchFamily="2" charset="-122"/>
                </a:rPr>
                <a:t>K</a:t>
              </a:r>
              <a:r>
                <a:rPr kumimoji="1" lang="zh-CN" altLang="en-US" sz="2800">
                  <a:latin typeface="华文中宋" panose="02010600040101010101" pitchFamily="2" charset="-122"/>
                  <a:ea typeface="华文中宋" panose="02010600040101010101" pitchFamily="2" charset="-122"/>
                </a:rPr>
                <a:t>）   心（</a:t>
              </a:r>
              <a:r>
                <a:rPr kumimoji="1" lang="en-US" altLang="zh-CN" sz="2800">
                  <a:latin typeface="华文中宋" panose="02010600040101010101" pitchFamily="2" charset="-122"/>
                  <a:ea typeface="华文中宋" panose="02010600040101010101" pitchFamily="2" charset="-122"/>
                </a:rPr>
                <a:t>H</a:t>
              </a:r>
              <a:r>
                <a:rPr kumimoji="1" lang="zh-CN" altLang="en-US" sz="2800">
                  <a:latin typeface="华文中宋" panose="02010600040101010101" pitchFamily="2" charset="-122"/>
                  <a:ea typeface="华文中宋" panose="02010600040101010101" pitchFamily="2" charset="-122"/>
                </a:rPr>
                <a:t>）   脑（</a:t>
              </a:r>
              <a:r>
                <a:rPr kumimoji="1" lang="en-US" altLang="zh-CN" sz="2800">
                  <a:latin typeface="华文中宋" panose="02010600040101010101" pitchFamily="2" charset="-122"/>
                  <a:ea typeface="华文中宋" panose="02010600040101010101" pitchFamily="2" charset="-122"/>
                </a:rPr>
                <a:t>B)</a:t>
              </a:r>
            </a:p>
            <a:p>
              <a:pPr eaLnBrk="1" hangingPunct="1">
                <a:spcBef>
                  <a:spcPct val="50000"/>
                </a:spcBef>
              </a:pPr>
              <a:r>
                <a:rPr kumimoji="1" lang="en-US" altLang="zh-CN" sz="2800">
                  <a:latin typeface="华文中宋" panose="02010600040101010101" pitchFamily="2" charset="-122"/>
                  <a:ea typeface="华文中宋" panose="02010600040101010101" pitchFamily="2" charset="-122"/>
                </a:rPr>
                <a:t>LDH   M</a:t>
              </a:r>
              <a:r>
                <a:rPr kumimoji="1" lang="zh-CN" altLang="en-US" sz="2800">
                  <a:latin typeface="华文中宋" panose="02010600040101010101" pitchFamily="2" charset="-122"/>
                  <a:ea typeface="华文中宋" panose="02010600040101010101" pitchFamily="2" charset="-122"/>
                </a:rPr>
                <a:t>型   </a:t>
              </a:r>
              <a:r>
                <a:rPr kumimoji="1" lang="en-US" altLang="zh-CN" sz="2800">
                  <a:latin typeface="华文中宋" panose="02010600040101010101" pitchFamily="2" charset="-122"/>
                  <a:ea typeface="华文中宋" panose="02010600040101010101" pitchFamily="2" charset="-122"/>
                </a:rPr>
                <a:t>H</a:t>
              </a:r>
              <a:r>
                <a:rPr kumimoji="1" lang="zh-CN" altLang="en-US" sz="2800">
                  <a:latin typeface="华文中宋" panose="02010600040101010101" pitchFamily="2" charset="-122"/>
                  <a:ea typeface="华文中宋" panose="02010600040101010101" pitchFamily="2" charset="-122"/>
                </a:rPr>
                <a:t>型</a:t>
              </a:r>
            </a:p>
            <a:p>
              <a:pPr eaLnBrk="1" hangingPunct="1">
                <a:spcBef>
                  <a:spcPct val="50000"/>
                </a:spcBef>
              </a:pPr>
              <a:r>
                <a:rPr kumimoji="1" lang="en-US" altLang="zh-CN" sz="2800">
                  <a:solidFill>
                    <a:srgbClr val="FF0000"/>
                  </a:solidFill>
                  <a:latin typeface="华文中宋" panose="02010600040101010101" pitchFamily="2" charset="-122"/>
                  <a:ea typeface="华文中宋" panose="02010600040101010101" pitchFamily="2" charset="-122"/>
                </a:rPr>
                <a:t>2.</a:t>
              </a:r>
              <a:r>
                <a:rPr kumimoji="1" lang="zh-CN" altLang="en-US" sz="2800">
                  <a:solidFill>
                    <a:srgbClr val="FF0000"/>
                  </a:solidFill>
                  <a:latin typeface="华文中宋" panose="02010600040101010101" pitchFamily="2" charset="-122"/>
                  <a:ea typeface="华文中宋" panose="02010600040101010101" pitchFamily="2" charset="-122"/>
                </a:rPr>
                <a:t>数字命名</a:t>
              </a:r>
            </a:p>
            <a:p>
              <a:pPr eaLnBrk="1" hangingPunct="1">
                <a:spcBef>
                  <a:spcPct val="50000"/>
                </a:spcBef>
              </a:pPr>
              <a:r>
                <a:rPr kumimoji="1" lang="en-US" altLang="zh-CN" sz="2800">
                  <a:latin typeface="华文中宋" panose="02010600040101010101" pitchFamily="2" charset="-122"/>
                  <a:ea typeface="华文中宋" panose="02010600040101010101" pitchFamily="2" charset="-122"/>
                </a:rPr>
                <a:t>1976</a:t>
              </a:r>
              <a:r>
                <a:rPr kumimoji="1" lang="zh-CN" altLang="en-US" sz="2800">
                  <a:latin typeface="华文中宋" panose="02010600040101010101" pitchFamily="2" charset="-122"/>
                  <a:ea typeface="华文中宋" panose="02010600040101010101" pitchFamily="2" charset="-122"/>
                </a:rPr>
                <a:t>年  </a:t>
              </a:r>
              <a:r>
                <a:rPr kumimoji="1" lang="en-US" altLang="zh-CN" sz="2800">
                  <a:latin typeface="华文中宋" panose="02010600040101010101" pitchFamily="2" charset="-122"/>
                  <a:ea typeface="华文中宋" panose="02010600040101010101" pitchFamily="2" charset="-122"/>
                </a:rPr>
                <a:t>IUB</a:t>
              </a:r>
              <a:r>
                <a:rPr kumimoji="1" lang="zh-CN" altLang="en-US" sz="2800">
                  <a:latin typeface="华文中宋" panose="02010600040101010101" pitchFamily="2" charset="-122"/>
                  <a:ea typeface="华文中宋" panose="02010600040101010101" pitchFamily="2" charset="-122"/>
                </a:rPr>
                <a:t>：在规定条件下，按向阳极移动速度快慢，用数字依次给同工酶的各条电泳区带编号。</a:t>
              </a:r>
            </a:p>
            <a:p>
              <a:pPr eaLnBrk="1" hangingPunct="1">
                <a:spcBef>
                  <a:spcPct val="50000"/>
                </a:spcBef>
              </a:pPr>
              <a:endParaRPr kumimoji="1" lang="zh-CN" altLang="en-US" sz="2800">
                <a:latin typeface="华文中宋" panose="02010600040101010101" pitchFamily="2" charset="-122"/>
                <a:ea typeface="华文中宋" panose="02010600040101010101" pitchFamily="2" charset="-122"/>
              </a:endParaRPr>
            </a:p>
            <a:p>
              <a:pPr eaLnBrk="1" hangingPunct="1">
                <a:spcBef>
                  <a:spcPct val="50000"/>
                </a:spcBef>
              </a:pPr>
              <a:r>
                <a:rPr kumimoji="1" lang="zh-CN" altLang="en-US" sz="2800">
                  <a:latin typeface="华文中宋" panose="02010600040101010101" pitchFamily="2" charset="-122"/>
                  <a:ea typeface="华文中宋" panose="02010600040101010101" pitchFamily="2" charset="-122"/>
                </a:rPr>
                <a:t>         </a:t>
              </a:r>
              <a:r>
                <a:rPr kumimoji="1" lang="en-US" altLang="zh-CN" sz="2800">
                  <a:latin typeface="华文中宋" panose="02010600040101010101" pitchFamily="2" charset="-122"/>
                  <a:ea typeface="华文中宋" panose="02010600040101010101" pitchFamily="2" charset="-122"/>
                </a:rPr>
                <a:t>4      3     2     1</a:t>
              </a:r>
            </a:p>
          </p:txBody>
        </p:sp>
        <p:sp>
          <p:nvSpPr>
            <p:cNvPr id="123909" name="Rectangle 5">
              <a:extLst>
                <a:ext uri="{FF2B5EF4-FFF2-40B4-BE49-F238E27FC236}">
                  <a16:creationId xmlns:a16="http://schemas.microsoft.com/office/drawing/2014/main" id="{4ACE26E7-649B-466F-A125-F726A54444A2}"/>
                </a:ext>
              </a:extLst>
            </p:cNvPr>
            <p:cNvSpPr>
              <a:spLocks noChangeArrowheads="1"/>
            </p:cNvSpPr>
            <p:nvPr/>
          </p:nvSpPr>
          <p:spPr bwMode="auto">
            <a:xfrm>
              <a:off x="816" y="3504"/>
              <a:ext cx="3408" cy="336"/>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3910" name="Line 6">
              <a:extLst>
                <a:ext uri="{FF2B5EF4-FFF2-40B4-BE49-F238E27FC236}">
                  <a16:creationId xmlns:a16="http://schemas.microsoft.com/office/drawing/2014/main" id="{5C741137-293D-45F6-A641-63F019DE3490}"/>
                </a:ext>
              </a:extLst>
            </p:cNvPr>
            <p:cNvSpPr>
              <a:spLocks noChangeShapeType="1"/>
            </p:cNvSpPr>
            <p:nvPr/>
          </p:nvSpPr>
          <p:spPr bwMode="auto">
            <a:xfrm>
              <a:off x="1680" y="3504"/>
              <a:ext cx="0" cy="336"/>
            </a:xfrm>
            <a:prstGeom prst="line">
              <a:avLst/>
            </a:prstGeom>
            <a:noFill/>
            <a:ln w="3810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911" name="Line 7">
              <a:extLst>
                <a:ext uri="{FF2B5EF4-FFF2-40B4-BE49-F238E27FC236}">
                  <a16:creationId xmlns:a16="http://schemas.microsoft.com/office/drawing/2014/main" id="{5C9F49F3-4277-4437-9923-C642672AF0D2}"/>
                </a:ext>
              </a:extLst>
            </p:cNvPr>
            <p:cNvSpPr>
              <a:spLocks noChangeShapeType="1"/>
            </p:cNvSpPr>
            <p:nvPr/>
          </p:nvSpPr>
          <p:spPr bwMode="auto">
            <a:xfrm>
              <a:off x="2448" y="3504"/>
              <a:ext cx="0" cy="336"/>
            </a:xfrm>
            <a:prstGeom prst="line">
              <a:avLst/>
            </a:prstGeom>
            <a:noFill/>
            <a:ln w="3810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912" name="Line 8">
              <a:extLst>
                <a:ext uri="{FF2B5EF4-FFF2-40B4-BE49-F238E27FC236}">
                  <a16:creationId xmlns:a16="http://schemas.microsoft.com/office/drawing/2014/main" id="{3597442B-7BE1-4674-B570-F8C3CB05CD50}"/>
                </a:ext>
              </a:extLst>
            </p:cNvPr>
            <p:cNvSpPr>
              <a:spLocks noChangeShapeType="1"/>
            </p:cNvSpPr>
            <p:nvPr/>
          </p:nvSpPr>
          <p:spPr bwMode="auto">
            <a:xfrm>
              <a:off x="3120" y="3504"/>
              <a:ext cx="0" cy="336"/>
            </a:xfrm>
            <a:prstGeom prst="line">
              <a:avLst/>
            </a:prstGeom>
            <a:noFill/>
            <a:ln w="3810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913" name="Line 9">
              <a:extLst>
                <a:ext uri="{FF2B5EF4-FFF2-40B4-BE49-F238E27FC236}">
                  <a16:creationId xmlns:a16="http://schemas.microsoft.com/office/drawing/2014/main" id="{D089D3D5-1472-4636-A4E6-6EC46642C507}"/>
                </a:ext>
              </a:extLst>
            </p:cNvPr>
            <p:cNvSpPr>
              <a:spLocks noChangeShapeType="1"/>
            </p:cNvSpPr>
            <p:nvPr/>
          </p:nvSpPr>
          <p:spPr bwMode="auto">
            <a:xfrm>
              <a:off x="3792" y="3504"/>
              <a:ext cx="0" cy="336"/>
            </a:xfrm>
            <a:prstGeom prst="line">
              <a:avLst/>
            </a:prstGeom>
            <a:noFill/>
            <a:ln w="38100">
              <a:solidFill>
                <a:srgbClr val="FF00FF"/>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3914" name="Oval 10">
              <a:extLst>
                <a:ext uri="{FF2B5EF4-FFF2-40B4-BE49-F238E27FC236}">
                  <a16:creationId xmlns:a16="http://schemas.microsoft.com/office/drawing/2014/main" id="{0551935E-1C76-4AB4-A54D-BC8734CF1B15}"/>
                </a:ext>
              </a:extLst>
            </p:cNvPr>
            <p:cNvSpPr>
              <a:spLocks noChangeArrowheads="1"/>
            </p:cNvSpPr>
            <p:nvPr/>
          </p:nvSpPr>
          <p:spPr bwMode="auto">
            <a:xfrm>
              <a:off x="4416" y="3600"/>
              <a:ext cx="192" cy="240"/>
            </a:xfrm>
            <a:prstGeom prst="ellipse">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3915" name="Oval 11">
              <a:extLst>
                <a:ext uri="{FF2B5EF4-FFF2-40B4-BE49-F238E27FC236}">
                  <a16:creationId xmlns:a16="http://schemas.microsoft.com/office/drawing/2014/main" id="{5B51F50A-FDD1-4D6E-BDA4-685F8F9F29C0}"/>
                </a:ext>
              </a:extLst>
            </p:cNvPr>
            <p:cNvSpPr>
              <a:spLocks noChangeArrowheads="1"/>
            </p:cNvSpPr>
            <p:nvPr/>
          </p:nvSpPr>
          <p:spPr bwMode="auto">
            <a:xfrm>
              <a:off x="432" y="3600"/>
              <a:ext cx="192" cy="240"/>
            </a:xfrm>
            <a:prstGeom prst="ellipse">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3916" name="Text Box 12">
              <a:extLst>
                <a:ext uri="{FF2B5EF4-FFF2-40B4-BE49-F238E27FC236}">
                  <a16:creationId xmlns:a16="http://schemas.microsoft.com/office/drawing/2014/main" id="{C8FBF7F8-AF2F-41A7-B797-64F3293B6C56}"/>
                </a:ext>
              </a:extLst>
            </p:cNvPr>
            <p:cNvSpPr txBox="1">
              <a:spLocks noChangeArrowheads="1"/>
            </p:cNvSpPr>
            <p:nvPr/>
          </p:nvSpPr>
          <p:spPr bwMode="auto">
            <a:xfrm>
              <a:off x="4392" y="355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ahoma" panose="020B0604030504040204" pitchFamily="34" charset="0"/>
                </a:rPr>
                <a:t>+</a:t>
              </a:r>
            </a:p>
          </p:txBody>
        </p:sp>
        <p:sp>
          <p:nvSpPr>
            <p:cNvPr id="123917" name="Text Box 13">
              <a:extLst>
                <a:ext uri="{FF2B5EF4-FFF2-40B4-BE49-F238E27FC236}">
                  <a16:creationId xmlns:a16="http://schemas.microsoft.com/office/drawing/2014/main" id="{AA9FF95F-BE80-4197-BCCE-5422522F6964}"/>
                </a:ext>
              </a:extLst>
            </p:cNvPr>
            <p:cNvSpPr txBox="1">
              <a:spLocks noChangeArrowheads="1"/>
            </p:cNvSpPr>
            <p:nvPr/>
          </p:nvSpPr>
          <p:spPr bwMode="auto">
            <a:xfrm>
              <a:off x="432" y="355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ahoma" panose="020B0604030504040204" pitchFamily="34" charset="0"/>
                </a:rPr>
                <a:t>-</a:t>
              </a:r>
            </a:p>
          </p:txBody>
        </p:sp>
      </p:gr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a:extLst>
              <a:ext uri="{FF2B5EF4-FFF2-40B4-BE49-F238E27FC236}">
                <a16:creationId xmlns:a16="http://schemas.microsoft.com/office/drawing/2014/main" id="{7728EC92-2DF5-4A9C-8F0F-9BE4EC239209}"/>
              </a:ext>
            </a:extLst>
          </p:cNvPr>
          <p:cNvSpPr txBox="1">
            <a:spLocks noChangeArrowheads="1"/>
          </p:cNvSpPr>
          <p:nvPr/>
        </p:nvSpPr>
        <p:spPr bwMode="auto">
          <a:xfrm>
            <a:off x="1447800" y="381000"/>
            <a:ext cx="6629400" cy="122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AutoNum type="arabicPeriod" startAt="3"/>
            </a:pPr>
            <a:r>
              <a:rPr kumimoji="1" lang="en-US" altLang="zh-CN" sz="3200">
                <a:latin typeface="华文中宋" panose="02010600040101010101" pitchFamily="2" charset="-122"/>
                <a:ea typeface="华文中宋" panose="02010600040101010101" pitchFamily="2" charset="-122"/>
              </a:rPr>
              <a:t>A</a:t>
            </a:r>
            <a:r>
              <a:rPr kumimoji="1" lang="zh-CN" altLang="en-US" sz="3200">
                <a:latin typeface="华文中宋" panose="02010600040101010101" pitchFamily="2" charset="-122"/>
                <a:ea typeface="华文中宋" panose="02010600040101010101" pitchFamily="2" charset="-122"/>
              </a:rPr>
              <a:t>、</a:t>
            </a:r>
            <a:r>
              <a:rPr kumimoji="1" lang="en-US" altLang="zh-CN" sz="3200">
                <a:latin typeface="华文中宋" panose="02010600040101010101" pitchFamily="2" charset="-122"/>
                <a:ea typeface="华文中宋" panose="02010600040101010101" pitchFamily="2" charset="-122"/>
              </a:rPr>
              <a:t>B</a:t>
            </a:r>
            <a:r>
              <a:rPr kumimoji="1" lang="zh-CN" altLang="en-US" sz="3200">
                <a:latin typeface="华文中宋" panose="02010600040101010101" pitchFamily="2" charset="-122"/>
                <a:ea typeface="华文中宋" panose="02010600040101010101" pitchFamily="2" charset="-122"/>
              </a:rPr>
              <a:t>、</a:t>
            </a:r>
            <a:r>
              <a:rPr kumimoji="1" lang="en-US" altLang="zh-CN" sz="3200">
                <a:latin typeface="华文中宋" panose="02010600040101010101" pitchFamily="2" charset="-122"/>
                <a:ea typeface="华文中宋" panose="02010600040101010101" pitchFamily="2" charset="-122"/>
              </a:rPr>
              <a:t>C</a:t>
            </a:r>
            <a:r>
              <a:rPr kumimoji="1" lang="zh-CN" altLang="en-US" sz="3200">
                <a:latin typeface="华文中宋" panose="02010600040101010101" pitchFamily="2" charset="-122"/>
                <a:ea typeface="华文中宋" panose="02010600040101010101" pitchFamily="2" charset="-122"/>
              </a:rPr>
              <a:t>命名法</a:t>
            </a:r>
          </a:p>
          <a:p>
            <a:pPr eaLnBrk="1" hangingPunct="1">
              <a:spcBef>
                <a:spcPct val="50000"/>
              </a:spcBef>
            </a:pPr>
            <a:r>
              <a:rPr kumimoji="1" lang="zh-CN" altLang="en-US" sz="2800">
                <a:latin typeface="华文中宋" panose="02010600040101010101" pitchFamily="2" charset="-122"/>
                <a:ea typeface="华文中宋" panose="02010600040101010101" pitchFamily="2" charset="-122"/>
              </a:rPr>
              <a:t>不同亚基用</a:t>
            </a:r>
            <a:r>
              <a:rPr kumimoji="1" lang="en-US" altLang="zh-CN" sz="2800">
                <a:latin typeface="华文中宋" panose="02010600040101010101" pitchFamily="2" charset="-122"/>
                <a:ea typeface="华文中宋" panose="02010600040101010101" pitchFamily="2" charset="-122"/>
              </a:rPr>
              <a:t>A</a:t>
            </a:r>
            <a:r>
              <a:rPr kumimoji="1" lang="zh-CN" altLang="en-US" sz="2800">
                <a:latin typeface="华文中宋" panose="02010600040101010101" pitchFamily="2" charset="-122"/>
                <a:ea typeface="华文中宋" panose="02010600040101010101" pitchFamily="2" charset="-122"/>
              </a:rPr>
              <a:t>、</a:t>
            </a:r>
            <a:r>
              <a:rPr kumimoji="1" lang="en-US" altLang="zh-CN" sz="2800">
                <a:latin typeface="华文中宋" panose="02010600040101010101" pitchFamily="2" charset="-122"/>
                <a:ea typeface="华文中宋" panose="02010600040101010101" pitchFamily="2" charset="-122"/>
              </a:rPr>
              <a:t>B</a:t>
            </a:r>
            <a:r>
              <a:rPr kumimoji="1" lang="zh-CN" altLang="en-US" sz="2800">
                <a:latin typeface="华文中宋" panose="02010600040101010101" pitchFamily="2" charset="-122"/>
                <a:ea typeface="华文中宋" panose="02010600040101010101" pitchFamily="2" charset="-122"/>
              </a:rPr>
              <a:t>、</a:t>
            </a:r>
            <a:r>
              <a:rPr kumimoji="1" lang="en-US" altLang="zh-CN" sz="2800">
                <a:latin typeface="华文中宋" panose="02010600040101010101" pitchFamily="2" charset="-122"/>
                <a:ea typeface="华文中宋" panose="02010600040101010101" pitchFamily="2" charset="-122"/>
              </a:rPr>
              <a:t>C</a:t>
            </a:r>
            <a:r>
              <a:rPr kumimoji="1" lang="zh-CN" altLang="en-US" sz="2800">
                <a:latin typeface="华文中宋" panose="02010600040101010101" pitchFamily="2" charset="-122"/>
                <a:ea typeface="华文中宋" panose="02010600040101010101" pitchFamily="2" charset="-122"/>
              </a:rPr>
              <a:t>表示</a:t>
            </a:r>
          </a:p>
        </p:txBody>
      </p:sp>
      <p:sp>
        <p:nvSpPr>
          <p:cNvPr id="124931" name="Text Box 3">
            <a:extLst>
              <a:ext uri="{FF2B5EF4-FFF2-40B4-BE49-F238E27FC236}">
                <a16:creationId xmlns:a16="http://schemas.microsoft.com/office/drawing/2014/main" id="{DE50391F-87A0-47BA-BC39-51F2369FFD1C}"/>
              </a:ext>
            </a:extLst>
          </p:cNvPr>
          <p:cNvSpPr txBox="1">
            <a:spLocks noChangeArrowheads="1"/>
          </p:cNvSpPr>
          <p:nvPr/>
        </p:nvSpPr>
        <p:spPr bwMode="auto">
          <a:xfrm>
            <a:off x="838200" y="1905000"/>
            <a:ext cx="8001000" cy="372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dirty="0">
                <a:latin typeface="华文中宋" panose="02010600040101010101" pitchFamily="2" charset="-122"/>
                <a:ea typeface="华文中宋" panose="02010600040101010101" pitchFamily="2" charset="-122"/>
              </a:rPr>
              <a:t>LDH</a:t>
            </a:r>
            <a:r>
              <a:rPr kumimoji="1" lang="zh-CN" altLang="en-US" sz="2800" dirty="0">
                <a:latin typeface="华文中宋" panose="02010600040101010101" pitchFamily="2" charset="-122"/>
                <a:ea typeface="华文中宋" panose="02010600040101010101" pitchFamily="2" charset="-122"/>
              </a:rPr>
              <a:t>亚基分为</a:t>
            </a:r>
            <a:r>
              <a:rPr kumimoji="1" lang="en-US" altLang="zh-CN" sz="2800" dirty="0">
                <a:latin typeface="华文中宋" panose="02010600040101010101" pitchFamily="2" charset="-122"/>
                <a:ea typeface="华文中宋" panose="02010600040101010101" pitchFamily="2" charset="-122"/>
              </a:rPr>
              <a:t>M</a:t>
            </a:r>
            <a:r>
              <a:rPr kumimoji="1" lang="zh-CN" altLang="en-US" sz="2800" dirty="0">
                <a:latin typeface="华文中宋" panose="02010600040101010101" pitchFamily="2" charset="-122"/>
                <a:ea typeface="华文中宋" panose="02010600040101010101" pitchFamily="2" charset="-122"/>
              </a:rPr>
              <a:t>型和</a:t>
            </a:r>
            <a:r>
              <a:rPr kumimoji="1" lang="en-US" altLang="zh-CN" sz="2800" dirty="0">
                <a:latin typeface="华文中宋" panose="02010600040101010101" pitchFamily="2" charset="-122"/>
                <a:ea typeface="华文中宋" panose="02010600040101010101" pitchFamily="2" charset="-122"/>
              </a:rPr>
              <a:t>H</a:t>
            </a:r>
            <a:r>
              <a:rPr kumimoji="1" lang="zh-CN" altLang="en-US" sz="2800" dirty="0">
                <a:latin typeface="华文中宋" panose="02010600040101010101" pitchFamily="2" charset="-122"/>
                <a:ea typeface="华文中宋" panose="02010600040101010101" pitchFamily="2" charset="-122"/>
              </a:rPr>
              <a:t>型，</a:t>
            </a:r>
            <a:r>
              <a:rPr kumimoji="1" lang="en-US" altLang="zh-CN" sz="2800" dirty="0">
                <a:latin typeface="华文中宋" panose="02010600040101010101" pitchFamily="2" charset="-122"/>
                <a:ea typeface="华文中宋" panose="02010600040101010101" pitchFamily="2" charset="-122"/>
              </a:rPr>
              <a:t>4</a:t>
            </a:r>
            <a:r>
              <a:rPr kumimoji="1" lang="zh-CN" altLang="en-US" sz="2800" dirty="0">
                <a:latin typeface="华文中宋" panose="02010600040101010101" pitchFamily="2" charset="-122"/>
                <a:ea typeface="华文中宋" panose="02010600040101010101" pitchFamily="2" charset="-122"/>
              </a:rPr>
              <a:t>个亚基组成</a:t>
            </a:r>
          </a:p>
          <a:p>
            <a:pPr eaLnBrk="1" hangingPunct="1">
              <a:spcBef>
                <a:spcPct val="50000"/>
              </a:spcBef>
            </a:pPr>
            <a:r>
              <a:rPr kumimoji="1" lang="en-US" altLang="zh-CN" sz="2800" dirty="0">
                <a:latin typeface="华文中宋" panose="02010600040101010101" pitchFamily="2" charset="-122"/>
                <a:ea typeface="华文中宋" panose="02010600040101010101" pitchFamily="2" charset="-122"/>
              </a:rPr>
              <a:t>M</a:t>
            </a:r>
            <a:r>
              <a:rPr kumimoji="1" lang="zh-CN" altLang="en-US" sz="2800" dirty="0">
                <a:latin typeface="华文中宋" panose="02010600040101010101" pitchFamily="2" charset="-122"/>
                <a:ea typeface="华文中宋" panose="02010600040101010101" pitchFamily="2" charset="-122"/>
              </a:rPr>
              <a:t>型（肌型）</a:t>
            </a:r>
            <a:r>
              <a:rPr kumimoji="1" lang="en-US" altLang="zh-CN" sz="2800" dirty="0">
                <a:latin typeface="Times New Roman" panose="02020603050405020304" pitchFamily="18" charset="0"/>
                <a:ea typeface="华文中宋" panose="02010600040101010101" pitchFamily="2" charset="-122"/>
              </a:rPr>
              <a:t>——</a:t>
            </a:r>
            <a:r>
              <a:rPr kumimoji="1" lang="zh-CN" altLang="en-US" sz="2800" dirty="0">
                <a:latin typeface="华文中宋" panose="02010600040101010101" pitchFamily="2" charset="-122"/>
                <a:ea typeface="华文中宋" panose="02010600040101010101" pitchFamily="2" charset="-122"/>
              </a:rPr>
              <a:t>含碱性氨基酸</a:t>
            </a:r>
          </a:p>
          <a:p>
            <a:pPr eaLnBrk="1" hangingPunct="1">
              <a:spcBef>
                <a:spcPct val="50000"/>
              </a:spcBef>
            </a:pPr>
            <a:r>
              <a:rPr kumimoji="1" lang="en-US" altLang="zh-CN" sz="2800" dirty="0">
                <a:latin typeface="华文中宋" panose="02010600040101010101" pitchFamily="2" charset="-122"/>
                <a:ea typeface="华文中宋" panose="02010600040101010101" pitchFamily="2" charset="-122"/>
              </a:rPr>
              <a:t>H</a:t>
            </a:r>
            <a:r>
              <a:rPr kumimoji="1" lang="zh-CN" altLang="en-US" sz="2800" dirty="0">
                <a:latin typeface="华文中宋" panose="02010600040101010101" pitchFamily="2" charset="-122"/>
                <a:ea typeface="华文中宋" panose="02010600040101010101" pitchFamily="2" charset="-122"/>
              </a:rPr>
              <a:t>型（心型）</a:t>
            </a:r>
            <a:r>
              <a:rPr kumimoji="1" lang="en-US" altLang="zh-CN" sz="2800" dirty="0">
                <a:latin typeface="Times New Roman" panose="02020603050405020304" pitchFamily="18" charset="0"/>
                <a:ea typeface="华文中宋" panose="02010600040101010101" pitchFamily="2" charset="-122"/>
              </a:rPr>
              <a:t>——</a:t>
            </a:r>
            <a:r>
              <a:rPr kumimoji="1" lang="zh-CN" altLang="en-US" sz="2800" dirty="0">
                <a:latin typeface="华文中宋" panose="02010600040101010101" pitchFamily="2" charset="-122"/>
                <a:ea typeface="华文中宋" panose="02010600040101010101" pitchFamily="2" charset="-122"/>
              </a:rPr>
              <a:t>含酸性氨基酸</a:t>
            </a:r>
          </a:p>
          <a:p>
            <a:pPr eaLnBrk="1" hangingPunct="1">
              <a:spcBef>
                <a:spcPct val="50000"/>
              </a:spcBef>
            </a:pPr>
            <a:r>
              <a:rPr kumimoji="1" lang="en-US" altLang="zh-CN" sz="2800" dirty="0">
                <a:latin typeface="华文中宋" panose="02010600040101010101" pitchFamily="2" charset="-122"/>
                <a:ea typeface="华文中宋" panose="02010600040101010101" pitchFamily="2" charset="-122"/>
              </a:rPr>
              <a:t>LDH</a:t>
            </a:r>
            <a:r>
              <a:rPr kumimoji="1" lang="zh-CN" altLang="en-US" sz="2800" dirty="0">
                <a:latin typeface="华文中宋" panose="02010600040101010101" pitchFamily="2" charset="-122"/>
                <a:ea typeface="华文中宋" panose="02010600040101010101" pitchFamily="2" charset="-122"/>
              </a:rPr>
              <a:t>的</a:t>
            </a:r>
            <a:r>
              <a:rPr kumimoji="1" lang="en-US" altLang="zh-CN" sz="2800" dirty="0">
                <a:latin typeface="华文中宋" panose="02010600040101010101" pitchFamily="2" charset="-122"/>
                <a:ea typeface="华文中宋" panose="02010600040101010101" pitchFamily="2" charset="-122"/>
              </a:rPr>
              <a:t>5</a:t>
            </a:r>
            <a:r>
              <a:rPr kumimoji="1" lang="zh-CN" altLang="en-US" sz="2800" dirty="0">
                <a:latin typeface="华文中宋" panose="02010600040101010101" pitchFamily="2" charset="-122"/>
                <a:ea typeface="华文中宋" panose="02010600040101010101" pitchFamily="2" charset="-122"/>
              </a:rPr>
              <a:t>种组分：</a:t>
            </a:r>
          </a:p>
          <a:p>
            <a:pPr eaLnBrk="1" hangingPunct="1">
              <a:spcBef>
                <a:spcPct val="50000"/>
              </a:spcBef>
            </a:pPr>
            <a:r>
              <a:rPr kumimoji="1" lang="en-US" altLang="zh-CN" sz="2800" dirty="0">
                <a:latin typeface="华文中宋" panose="02010600040101010101" pitchFamily="2" charset="-122"/>
                <a:ea typeface="华文中宋" panose="02010600040101010101" pitchFamily="2" charset="-122"/>
              </a:rPr>
              <a:t>LDH</a:t>
            </a:r>
            <a:r>
              <a:rPr kumimoji="1" lang="en-US" altLang="zh-CN" sz="2000" dirty="0">
                <a:latin typeface="华文中宋" panose="02010600040101010101" pitchFamily="2" charset="-122"/>
                <a:ea typeface="华文中宋" panose="02010600040101010101" pitchFamily="2" charset="-122"/>
              </a:rPr>
              <a:t>1</a:t>
            </a:r>
            <a:r>
              <a:rPr kumimoji="1" lang="en-US" altLang="zh-CN" sz="2800" dirty="0">
                <a:latin typeface="华文中宋" panose="02010600040101010101" pitchFamily="2" charset="-122"/>
                <a:ea typeface="华文中宋" panose="02010600040101010101" pitchFamily="2" charset="-122"/>
              </a:rPr>
              <a:t>     LDH</a:t>
            </a:r>
            <a:r>
              <a:rPr kumimoji="1" lang="en-US" altLang="zh-CN" sz="2000" dirty="0">
                <a:latin typeface="华文中宋" panose="02010600040101010101" pitchFamily="2" charset="-122"/>
                <a:ea typeface="华文中宋" panose="02010600040101010101" pitchFamily="2" charset="-122"/>
              </a:rPr>
              <a:t>2 </a:t>
            </a:r>
            <a:r>
              <a:rPr kumimoji="1" lang="en-US" altLang="zh-CN" sz="2800" dirty="0">
                <a:latin typeface="华文中宋" panose="02010600040101010101" pitchFamily="2" charset="-122"/>
                <a:ea typeface="华文中宋" panose="02010600040101010101" pitchFamily="2" charset="-122"/>
              </a:rPr>
              <a:t>     LDH</a:t>
            </a:r>
            <a:r>
              <a:rPr kumimoji="1" lang="en-US" altLang="zh-CN" sz="2000" dirty="0">
                <a:latin typeface="华文中宋" panose="02010600040101010101" pitchFamily="2" charset="-122"/>
                <a:ea typeface="华文中宋" panose="02010600040101010101" pitchFamily="2" charset="-122"/>
              </a:rPr>
              <a:t>3</a:t>
            </a:r>
            <a:r>
              <a:rPr kumimoji="1" lang="en-US" altLang="zh-CN" sz="2800" dirty="0">
                <a:latin typeface="华文中宋" panose="02010600040101010101" pitchFamily="2" charset="-122"/>
                <a:ea typeface="华文中宋" panose="02010600040101010101" pitchFamily="2" charset="-122"/>
              </a:rPr>
              <a:t>     LDH</a:t>
            </a:r>
            <a:r>
              <a:rPr kumimoji="1" lang="en-US" altLang="zh-CN" sz="2000" dirty="0">
                <a:latin typeface="华文中宋" panose="02010600040101010101" pitchFamily="2" charset="-122"/>
                <a:ea typeface="华文中宋" panose="02010600040101010101" pitchFamily="2" charset="-122"/>
              </a:rPr>
              <a:t>4</a:t>
            </a:r>
            <a:r>
              <a:rPr kumimoji="1" lang="en-US" altLang="zh-CN" sz="2800" dirty="0">
                <a:latin typeface="华文中宋" panose="02010600040101010101" pitchFamily="2" charset="-122"/>
                <a:ea typeface="华文中宋" panose="02010600040101010101" pitchFamily="2" charset="-122"/>
              </a:rPr>
              <a:t>     LDH</a:t>
            </a:r>
            <a:r>
              <a:rPr kumimoji="1" lang="en-US" altLang="zh-CN" sz="2000" dirty="0">
                <a:latin typeface="华文中宋" panose="02010600040101010101" pitchFamily="2" charset="-122"/>
                <a:ea typeface="华文中宋" panose="02010600040101010101" pitchFamily="2" charset="-122"/>
              </a:rPr>
              <a:t>5</a:t>
            </a:r>
          </a:p>
          <a:p>
            <a:pPr eaLnBrk="1" hangingPunct="1">
              <a:spcBef>
                <a:spcPct val="50000"/>
              </a:spcBef>
            </a:pPr>
            <a:r>
              <a:rPr kumimoji="1" lang="en-US" altLang="zh-CN" sz="2800" dirty="0">
                <a:latin typeface="华文中宋" panose="02010600040101010101" pitchFamily="2" charset="-122"/>
                <a:ea typeface="华文中宋" panose="02010600040101010101" pitchFamily="2" charset="-122"/>
              </a:rPr>
              <a:t>  H</a:t>
            </a:r>
            <a:r>
              <a:rPr kumimoji="1" lang="en-US" altLang="zh-CN" sz="2000" dirty="0">
                <a:latin typeface="华文中宋" panose="02010600040101010101" pitchFamily="2" charset="-122"/>
                <a:ea typeface="华文中宋" panose="02010600040101010101" pitchFamily="2" charset="-122"/>
              </a:rPr>
              <a:t>4</a:t>
            </a:r>
            <a:r>
              <a:rPr kumimoji="1" lang="en-US" altLang="zh-CN" sz="2800" dirty="0">
                <a:latin typeface="华文中宋" panose="02010600040101010101" pitchFamily="2" charset="-122"/>
                <a:ea typeface="华文中宋" panose="02010600040101010101" pitchFamily="2" charset="-122"/>
              </a:rPr>
              <a:t>       H</a:t>
            </a:r>
            <a:r>
              <a:rPr kumimoji="1" lang="en-US" altLang="zh-CN" sz="2000" dirty="0">
                <a:latin typeface="华文中宋" panose="02010600040101010101" pitchFamily="2" charset="-122"/>
                <a:ea typeface="华文中宋" panose="02010600040101010101" pitchFamily="2" charset="-122"/>
              </a:rPr>
              <a:t>3</a:t>
            </a:r>
            <a:r>
              <a:rPr kumimoji="1" lang="en-US" altLang="zh-CN" sz="2800" dirty="0">
                <a:latin typeface="华文中宋" panose="02010600040101010101" pitchFamily="2" charset="-122"/>
                <a:ea typeface="华文中宋" panose="02010600040101010101" pitchFamily="2" charset="-122"/>
              </a:rPr>
              <a:t>M      H</a:t>
            </a:r>
            <a:r>
              <a:rPr kumimoji="1" lang="en-US" altLang="zh-CN" sz="2000" dirty="0">
                <a:latin typeface="华文中宋" panose="02010600040101010101" pitchFamily="2" charset="-122"/>
                <a:ea typeface="华文中宋" panose="02010600040101010101" pitchFamily="2" charset="-122"/>
              </a:rPr>
              <a:t>2</a:t>
            </a:r>
            <a:r>
              <a:rPr kumimoji="1" lang="en-US" altLang="zh-CN" sz="2800" dirty="0">
                <a:latin typeface="华文中宋" panose="02010600040101010101" pitchFamily="2" charset="-122"/>
                <a:ea typeface="华文中宋" panose="02010600040101010101" pitchFamily="2" charset="-122"/>
              </a:rPr>
              <a:t>M</a:t>
            </a:r>
            <a:r>
              <a:rPr kumimoji="1" lang="en-US" altLang="zh-CN" sz="2000" dirty="0">
                <a:latin typeface="华文中宋" panose="02010600040101010101" pitchFamily="2" charset="-122"/>
                <a:ea typeface="华文中宋" panose="02010600040101010101" pitchFamily="2" charset="-122"/>
              </a:rPr>
              <a:t>2</a:t>
            </a:r>
            <a:r>
              <a:rPr kumimoji="1" lang="en-US" altLang="zh-CN" sz="2800" dirty="0">
                <a:latin typeface="华文中宋" panose="02010600040101010101" pitchFamily="2" charset="-122"/>
                <a:ea typeface="华文中宋" panose="02010600040101010101" pitchFamily="2" charset="-122"/>
              </a:rPr>
              <a:t>           HM</a:t>
            </a:r>
            <a:r>
              <a:rPr kumimoji="1" lang="en-US" altLang="zh-CN" sz="2000" dirty="0">
                <a:latin typeface="华文中宋" panose="02010600040101010101" pitchFamily="2" charset="-122"/>
                <a:ea typeface="华文中宋" panose="02010600040101010101" pitchFamily="2" charset="-122"/>
              </a:rPr>
              <a:t>3</a:t>
            </a:r>
            <a:r>
              <a:rPr kumimoji="1" lang="en-US" altLang="zh-CN" sz="2800" dirty="0">
                <a:latin typeface="华文中宋" panose="02010600040101010101" pitchFamily="2" charset="-122"/>
                <a:ea typeface="华文中宋" panose="02010600040101010101" pitchFamily="2" charset="-122"/>
              </a:rPr>
              <a:t>        M</a:t>
            </a:r>
            <a:r>
              <a:rPr kumimoji="1" lang="en-US" altLang="zh-CN" sz="2000" dirty="0">
                <a:latin typeface="华文中宋" panose="02010600040101010101" pitchFamily="2" charset="-122"/>
                <a:ea typeface="华文中宋" panose="02010600040101010101" pitchFamily="2" charset="-122"/>
              </a:rPr>
              <a:t>4</a:t>
            </a:r>
          </a:p>
        </p:txBody>
      </p:sp>
      <p:grpSp>
        <p:nvGrpSpPr>
          <p:cNvPr id="124932" name="Group 4">
            <a:extLst>
              <a:ext uri="{FF2B5EF4-FFF2-40B4-BE49-F238E27FC236}">
                <a16:creationId xmlns:a16="http://schemas.microsoft.com/office/drawing/2014/main" id="{685D7A3E-FD7D-4154-8088-3A874AF41E37}"/>
              </a:ext>
            </a:extLst>
          </p:cNvPr>
          <p:cNvGrpSpPr>
            <a:grpSpLocks/>
          </p:cNvGrpSpPr>
          <p:nvPr/>
        </p:nvGrpSpPr>
        <p:grpSpPr bwMode="auto">
          <a:xfrm>
            <a:off x="1066800" y="5562600"/>
            <a:ext cx="7086600" cy="685800"/>
            <a:chOff x="864" y="3696"/>
            <a:chExt cx="4464" cy="432"/>
          </a:xfrm>
        </p:grpSpPr>
        <p:sp>
          <p:nvSpPr>
            <p:cNvPr id="124933" name="Oval 5">
              <a:extLst>
                <a:ext uri="{FF2B5EF4-FFF2-40B4-BE49-F238E27FC236}">
                  <a16:creationId xmlns:a16="http://schemas.microsoft.com/office/drawing/2014/main" id="{DFD7EEE1-51A3-411B-991B-0637142225C8}"/>
                </a:ext>
              </a:extLst>
            </p:cNvPr>
            <p:cNvSpPr>
              <a:spLocks noChangeArrowheads="1"/>
            </p:cNvSpPr>
            <p:nvPr/>
          </p:nvSpPr>
          <p:spPr bwMode="auto">
            <a:xfrm>
              <a:off x="1824" y="3936"/>
              <a:ext cx="192" cy="192"/>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4934" name="Oval 6">
              <a:extLst>
                <a:ext uri="{FF2B5EF4-FFF2-40B4-BE49-F238E27FC236}">
                  <a16:creationId xmlns:a16="http://schemas.microsoft.com/office/drawing/2014/main" id="{1E1D9E96-861D-4065-B6E7-5F3838C1568C}"/>
                </a:ext>
              </a:extLst>
            </p:cNvPr>
            <p:cNvSpPr>
              <a:spLocks noChangeArrowheads="1"/>
            </p:cNvSpPr>
            <p:nvPr/>
          </p:nvSpPr>
          <p:spPr bwMode="auto">
            <a:xfrm>
              <a:off x="2784" y="3744"/>
              <a:ext cx="192" cy="192"/>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4935" name="Oval 7">
              <a:extLst>
                <a:ext uri="{FF2B5EF4-FFF2-40B4-BE49-F238E27FC236}">
                  <a16:creationId xmlns:a16="http://schemas.microsoft.com/office/drawing/2014/main" id="{9816DC64-EF22-4593-A042-E3FAF7F36A85}"/>
                </a:ext>
              </a:extLst>
            </p:cNvPr>
            <p:cNvSpPr>
              <a:spLocks noChangeArrowheads="1"/>
            </p:cNvSpPr>
            <p:nvPr/>
          </p:nvSpPr>
          <p:spPr bwMode="auto">
            <a:xfrm>
              <a:off x="2784" y="3936"/>
              <a:ext cx="192" cy="192"/>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24936" name="Group 8">
              <a:extLst>
                <a:ext uri="{FF2B5EF4-FFF2-40B4-BE49-F238E27FC236}">
                  <a16:creationId xmlns:a16="http://schemas.microsoft.com/office/drawing/2014/main" id="{E08102F9-3039-48CE-A469-AB888E71F99A}"/>
                </a:ext>
              </a:extLst>
            </p:cNvPr>
            <p:cNvGrpSpPr>
              <a:grpSpLocks/>
            </p:cNvGrpSpPr>
            <p:nvPr/>
          </p:nvGrpSpPr>
          <p:grpSpPr bwMode="auto">
            <a:xfrm>
              <a:off x="864" y="3696"/>
              <a:ext cx="384" cy="384"/>
              <a:chOff x="1536" y="3696"/>
              <a:chExt cx="384" cy="384"/>
            </a:xfrm>
          </p:grpSpPr>
          <p:sp>
            <p:nvSpPr>
              <p:cNvPr id="124951" name="Oval 9">
                <a:extLst>
                  <a:ext uri="{FF2B5EF4-FFF2-40B4-BE49-F238E27FC236}">
                    <a16:creationId xmlns:a16="http://schemas.microsoft.com/office/drawing/2014/main" id="{17E0DC19-F040-43D4-BCC1-FAEC51E33F89}"/>
                  </a:ext>
                </a:extLst>
              </p:cNvPr>
              <p:cNvSpPr>
                <a:spLocks noChangeArrowheads="1"/>
              </p:cNvSpPr>
              <p:nvPr/>
            </p:nvSpPr>
            <p:spPr bwMode="auto">
              <a:xfrm>
                <a:off x="1728" y="3696"/>
                <a:ext cx="192" cy="192"/>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4952" name="Oval 10">
                <a:extLst>
                  <a:ext uri="{FF2B5EF4-FFF2-40B4-BE49-F238E27FC236}">
                    <a16:creationId xmlns:a16="http://schemas.microsoft.com/office/drawing/2014/main" id="{2485965D-3BDA-40E6-8BF8-A90B9184C371}"/>
                  </a:ext>
                </a:extLst>
              </p:cNvPr>
              <p:cNvSpPr>
                <a:spLocks noChangeArrowheads="1"/>
              </p:cNvSpPr>
              <p:nvPr/>
            </p:nvSpPr>
            <p:spPr bwMode="auto">
              <a:xfrm>
                <a:off x="1536" y="3696"/>
                <a:ext cx="192" cy="192"/>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4953" name="Oval 11">
                <a:extLst>
                  <a:ext uri="{FF2B5EF4-FFF2-40B4-BE49-F238E27FC236}">
                    <a16:creationId xmlns:a16="http://schemas.microsoft.com/office/drawing/2014/main" id="{BD25ADDC-BEEF-4AD6-B669-7FBB93E99B49}"/>
                  </a:ext>
                </a:extLst>
              </p:cNvPr>
              <p:cNvSpPr>
                <a:spLocks noChangeArrowheads="1"/>
              </p:cNvSpPr>
              <p:nvPr/>
            </p:nvSpPr>
            <p:spPr bwMode="auto">
              <a:xfrm>
                <a:off x="1728" y="3888"/>
                <a:ext cx="192" cy="192"/>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4954" name="Oval 12">
                <a:extLst>
                  <a:ext uri="{FF2B5EF4-FFF2-40B4-BE49-F238E27FC236}">
                    <a16:creationId xmlns:a16="http://schemas.microsoft.com/office/drawing/2014/main" id="{A82ABA1D-CCBF-42D9-BF70-F85691258217}"/>
                  </a:ext>
                </a:extLst>
              </p:cNvPr>
              <p:cNvSpPr>
                <a:spLocks noChangeArrowheads="1"/>
              </p:cNvSpPr>
              <p:nvPr/>
            </p:nvSpPr>
            <p:spPr bwMode="auto">
              <a:xfrm>
                <a:off x="1536" y="3888"/>
                <a:ext cx="192" cy="192"/>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24937" name="Oval 13">
              <a:extLst>
                <a:ext uri="{FF2B5EF4-FFF2-40B4-BE49-F238E27FC236}">
                  <a16:creationId xmlns:a16="http://schemas.microsoft.com/office/drawing/2014/main" id="{0A416F97-752C-4F81-9D30-02481EC6A6CA}"/>
                </a:ext>
              </a:extLst>
            </p:cNvPr>
            <p:cNvSpPr>
              <a:spLocks noChangeArrowheads="1"/>
            </p:cNvSpPr>
            <p:nvPr/>
          </p:nvSpPr>
          <p:spPr bwMode="auto">
            <a:xfrm>
              <a:off x="2016" y="3936"/>
              <a:ext cx="192" cy="192"/>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4938" name="Oval 14">
              <a:extLst>
                <a:ext uri="{FF2B5EF4-FFF2-40B4-BE49-F238E27FC236}">
                  <a16:creationId xmlns:a16="http://schemas.microsoft.com/office/drawing/2014/main" id="{066C8392-34C1-4EE2-B5C5-9273A918EAEF}"/>
                </a:ext>
              </a:extLst>
            </p:cNvPr>
            <p:cNvSpPr>
              <a:spLocks noChangeArrowheads="1"/>
            </p:cNvSpPr>
            <p:nvPr/>
          </p:nvSpPr>
          <p:spPr bwMode="auto">
            <a:xfrm>
              <a:off x="3936" y="3696"/>
              <a:ext cx="192" cy="192"/>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4939" name="Oval 15">
              <a:extLst>
                <a:ext uri="{FF2B5EF4-FFF2-40B4-BE49-F238E27FC236}">
                  <a16:creationId xmlns:a16="http://schemas.microsoft.com/office/drawing/2014/main" id="{1E2307AC-B855-4774-B0EB-768580DFC159}"/>
                </a:ext>
              </a:extLst>
            </p:cNvPr>
            <p:cNvSpPr>
              <a:spLocks noChangeArrowheads="1"/>
            </p:cNvSpPr>
            <p:nvPr/>
          </p:nvSpPr>
          <p:spPr bwMode="auto">
            <a:xfrm>
              <a:off x="4128" y="3696"/>
              <a:ext cx="192" cy="192"/>
            </a:xfrm>
            <a:prstGeom prst="ellipse">
              <a:avLst/>
            </a:prstGeom>
            <a:solidFill>
              <a:srgbClr val="DF9605"/>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24940" name="Group 16">
              <a:extLst>
                <a:ext uri="{FF2B5EF4-FFF2-40B4-BE49-F238E27FC236}">
                  <a16:creationId xmlns:a16="http://schemas.microsoft.com/office/drawing/2014/main" id="{9E62AD44-2C7A-4D0D-B2ED-64D8CF26B56C}"/>
                </a:ext>
              </a:extLst>
            </p:cNvPr>
            <p:cNvGrpSpPr>
              <a:grpSpLocks/>
            </p:cNvGrpSpPr>
            <p:nvPr/>
          </p:nvGrpSpPr>
          <p:grpSpPr bwMode="auto">
            <a:xfrm>
              <a:off x="4944" y="3744"/>
              <a:ext cx="384" cy="384"/>
              <a:chOff x="4368" y="3744"/>
              <a:chExt cx="384" cy="384"/>
            </a:xfrm>
          </p:grpSpPr>
          <p:sp>
            <p:nvSpPr>
              <p:cNvPr id="124947" name="Oval 17">
                <a:extLst>
                  <a:ext uri="{FF2B5EF4-FFF2-40B4-BE49-F238E27FC236}">
                    <a16:creationId xmlns:a16="http://schemas.microsoft.com/office/drawing/2014/main" id="{7FCFF26F-CC89-4C2B-B5EF-F23B5F4B024B}"/>
                  </a:ext>
                </a:extLst>
              </p:cNvPr>
              <p:cNvSpPr>
                <a:spLocks noChangeArrowheads="1"/>
              </p:cNvSpPr>
              <p:nvPr/>
            </p:nvSpPr>
            <p:spPr bwMode="auto">
              <a:xfrm>
                <a:off x="4368" y="3936"/>
                <a:ext cx="192" cy="192"/>
              </a:xfrm>
              <a:prstGeom prst="ellipse">
                <a:avLst/>
              </a:prstGeom>
              <a:solidFill>
                <a:srgbClr val="DF9605"/>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4948" name="Oval 18">
                <a:extLst>
                  <a:ext uri="{FF2B5EF4-FFF2-40B4-BE49-F238E27FC236}">
                    <a16:creationId xmlns:a16="http://schemas.microsoft.com/office/drawing/2014/main" id="{24891D9D-CA5C-4D01-908F-23C2F6D90FA3}"/>
                  </a:ext>
                </a:extLst>
              </p:cNvPr>
              <p:cNvSpPr>
                <a:spLocks noChangeArrowheads="1"/>
              </p:cNvSpPr>
              <p:nvPr/>
            </p:nvSpPr>
            <p:spPr bwMode="auto">
              <a:xfrm>
                <a:off x="4368" y="3744"/>
                <a:ext cx="192" cy="192"/>
              </a:xfrm>
              <a:prstGeom prst="ellipse">
                <a:avLst/>
              </a:prstGeom>
              <a:solidFill>
                <a:srgbClr val="DF9605"/>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4949" name="Oval 19">
                <a:extLst>
                  <a:ext uri="{FF2B5EF4-FFF2-40B4-BE49-F238E27FC236}">
                    <a16:creationId xmlns:a16="http://schemas.microsoft.com/office/drawing/2014/main" id="{9EDA4F80-986F-427C-B4B7-66F45F0C668D}"/>
                  </a:ext>
                </a:extLst>
              </p:cNvPr>
              <p:cNvSpPr>
                <a:spLocks noChangeArrowheads="1"/>
              </p:cNvSpPr>
              <p:nvPr/>
            </p:nvSpPr>
            <p:spPr bwMode="auto">
              <a:xfrm>
                <a:off x="4560" y="3936"/>
                <a:ext cx="192" cy="192"/>
              </a:xfrm>
              <a:prstGeom prst="ellipse">
                <a:avLst/>
              </a:prstGeom>
              <a:solidFill>
                <a:srgbClr val="DF9605"/>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4950" name="Oval 20">
                <a:extLst>
                  <a:ext uri="{FF2B5EF4-FFF2-40B4-BE49-F238E27FC236}">
                    <a16:creationId xmlns:a16="http://schemas.microsoft.com/office/drawing/2014/main" id="{E8DDD923-14F5-4BA5-832D-C0F403B4A2AF}"/>
                  </a:ext>
                </a:extLst>
              </p:cNvPr>
              <p:cNvSpPr>
                <a:spLocks noChangeArrowheads="1"/>
              </p:cNvSpPr>
              <p:nvPr/>
            </p:nvSpPr>
            <p:spPr bwMode="auto">
              <a:xfrm>
                <a:off x="4560" y="3744"/>
                <a:ext cx="192" cy="192"/>
              </a:xfrm>
              <a:prstGeom prst="ellipse">
                <a:avLst/>
              </a:prstGeom>
              <a:solidFill>
                <a:srgbClr val="DF9605"/>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24941" name="Oval 21">
              <a:extLst>
                <a:ext uri="{FF2B5EF4-FFF2-40B4-BE49-F238E27FC236}">
                  <a16:creationId xmlns:a16="http://schemas.microsoft.com/office/drawing/2014/main" id="{F4227FB0-0A16-4D63-8262-43323B23EBDC}"/>
                </a:ext>
              </a:extLst>
            </p:cNvPr>
            <p:cNvSpPr>
              <a:spLocks noChangeArrowheads="1"/>
            </p:cNvSpPr>
            <p:nvPr/>
          </p:nvSpPr>
          <p:spPr bwMode="auto">
            <a:xfrm>
              <a:off x="3924" y="3888"/>
              <a:ext cx="192" cy="192"/>
            </a:xfrm>
            <a:prstGeom prst="ellipse">
              <a:avLst/>
            </a:prstGeom>
            <a:solidFill>
              <a:srgbClr val="DF9605"/>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4942" name="Oval 22">
              <a:extLst>
                <a:ext uri="{FF2B5EF4-FFF2-40B4-BE49-F238E27FC236}">
                  <a16:creationId xmlns:a16="http://schemas.microsoft.com/office/drawing/2014/main" id="{5D80AB7F-30FA-48C6-BAC6-169A74FEE421}"/>
                </a:ext>
              </a:extLst>
            </p:cNvPr>
            <p:cNvSpPr>
              <a:spLocks noChangeArrowheads="1"/>
            </p:cNvSpPr>
            <p:nvPr/>
          </p:nvSpPr>
          <p:spPr bwMode="auto">
            <a:xfrm>
              <a:off x="4128" y="3888"/>
              <a:ext cx="192" cy="192"/>
            </a:xfrm>
            <a:prstGeom prst="ellipse">
              <a:avLst/>
            </a:prstGeom>
            <a:solidFill>
              <a:srgbClr val="DF9605"/>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4943" name="Oval 23">
              <a:extLst>
                <a:ext uri="{FF2B5EF4-FFF2-40B4-BE49-F238E27FC236}">
                  <a16:creationId xmlns:a16="http://schemas.microsoft.com/office/drawing/2014/main" id="{0EA3B814-B6E6-4032-AF1B-0BBFB05FCA83}"/>
                </a:ext>
              </a:extLst>
            </p:cNvPr>
            <p:cNvSpPr>
              <a:spLocks noChangeArrowheads="1"/>
            </p:cNvSpPr>
            <p:nvPr/>
          </p:nvSpPr>
          <p:spPr bwMode="auto">
            <a:xfrm>
              <a:off x="2976" y="3936"/>
              <a:ext cx="192" cy="192"/>
            </a:xfrm>
            <a:prstGeom prst="ellipse">
              <a:avLst/>
            </a:prstGeom>
            <a:solidFill>
              <a:srgbClr val="DF9605"/>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4944" name="Oval 24">
              <a:extLst>
                <a:ext uri="{FF2B5EF4-FFF2-40B4-BE49-F238E27FC236}">
                  <a16:creationId xmlns:a16="http://schemas.microsoft.com/office/drawing/2014/main" id="{A3BDC143-FD65-42CD-A54E-AF00EF2FAA81}"/>
                </a:ext>
              </a:extLst>
            </p:cNvPr>
            <p:cNvSpPr>
              <a:spLocks noChangeArrowheads="1"/>
            </p:cNvSpPr>
            <p:nvPr/>
          </p:nvSpPr>
          <p:spPr bwMode="auto">
            <a:xfrm>
              <a:off x="2976" y="3744"/>
              <a:ext cx="192" cy="192"/>
            </a:xfrm>
            <a:prstGeom prst="ellipse">
              <a:avLst/>
            </a:prstGeom>
            <a:solidFill>
              <a:srgbClr val="DF9605"/>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4945" name="Oval 25">
              <a:extLst>
                <a:ext uri="{FF2B5EF4-FFF2-40B4-BE49-F238E27FC236}">
                  <a16:creationId xmlns:a16="http://schemas.microsoft.com/office/drawing/2014/main" id="{64C1A87D-8F3A-467E-B04B-37DEDA24D611}"/>
                </a:ext>
              </a:extLst>
            </p:cNvPr>
            <p:cNvSpPr>
              <a:spLocks noChangeArrowheads="1"/>
            </p:cNvSpPr>
            <p:nvPr/>
          </p:nvSpPr>
          <p:spPr bwMode="auto">
            <a:xfrm>
              <a:off x="2040" y="3732"/>
              <a:ext cx="192" cy="192"/>
            </a:xfrm>
            <a:prstGeom prst="ellipse">
              <a:avLst/>
            </a:prstGeom>
            <a:solidFill>
              <a:srgbClr val="DF9605"/>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4946" name="Oval 26">
              <a:extLst>
                <a:ext uri="{FF2B5EF4-FFF2-40B4-BE49-F238E27FC236}">
                  <a16:creationId xmlns:a16="http://schemas.microsoft.com/office/drawing/2014/main" id="{3E52F88F-2940-414A-BD96-B491A54366DE}"/>
                </a:ext>
              </a:extLst>
            </p:cNvPr>
            <p:cNvSpPr>
              <a:spLocks noChangeArrowheads="1"/>
            </p:cNvSpPr>
            <p:nvPr/>
          </p:nvSpPr>
          <p:spPr bwMode="auto">
            <a:xfrm>
              <a:off x="1824" y="3744"/>
              <a:ext cx="192" cy="192"/>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6A441DBE-E71C-40E4-8859-49603DCCE701}"/>
              </a:ext>
            </a:extLst>
          </p:cNvPr>
          <p:cNvSpPr>
            <a:spLocks noChangeArrowheads="1"/>
          </p:cNvSpPr>
          <p:nvPr/>
        </p:nvSpPr>
        <p:spPr bwMode="auto">
          <a:xfrm>
            <a:off x="1219200" y="685800"/>
            <a:ext cx="38862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048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sz="3600" b="1">
                <a:latin typeface="Times New Roman" panose="02020603050405020304" pitchFamily="18" charset="0"/>
              </a:rPr>
              <a:t>应用：</a:t>
            </a:r>
            <a:endParaRPr kumimoji="1" lang="zh-CN" altLang="en-US" sz="3200">
              <a:latin typeface="Times New Roman" panose="02020603050405020304" pitchFamily="18" charset="0"/>
            </a:endParaRPr>
          </a:p>
        </p:txBody>
      </p:sp>
      <p:sp>
        <p:nvSpPr>
          <p:cNvPr id="125955" name="Text Box 3">
            <a:extLst>
              <a:ext uri="{FF2B5EF4-FFF2-40B4-BE49-F238E27FC236}">
                <a16:creationId xmlns:a16="http://schemas.microsoft.com/office/drawing/2014/main" id="{F5E72FE0-35E7-481B-B6E3-EC5DBB3BB803}"/>
              </a:ext>
            </a:extLst>
          </p:cNvPr>
          <p:cNvSpPr txBox="1">
            <a:spLocks noChangeArrowheads="1"/>
          </p:cNvSpPr>
          <p:nvPr/>
        </p:nvSpPr>
        <p:spPr bwMode="auto">
          <a:xfrm>
            <a:off x="228600" y="1981200"/>
            <a:ext cx="8686800" cy="442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a:solidFill>
                  <a:srgbClr val="FF0000"/>
                </a:solidFill>
                <a:latin typeface="华文中宋" panose="02010600040101010101" pitchFamily="2" charset="-122"/>
                <a:ea typeface="华文中宋" panose="02010600040101010101" pitchFamily="2" charset="-122"/>
              </a:rPr>
              <a:t>1.</a:t>
            </a:r>
            <a:r>
              <a:rPr kumimoji="1" lang="zh-CN" altLang="en-US" sz="3200">
                <a:solidFill>
                  <a:srgbClr val="FF0000"/>
                </a:solidFill>
                <a:latin typeface="华文中宋" panose="02010600040101010101" pitchFamily="2" charset="-122"/>
                <a:ea typeface="华文中宋" panose="02010600040101010101" pitchFamily="2" charset="-122"/>
              </a:rPr>
              <a:t>同工酶与遗传的关系</a:t>
            </a:r>
          </a:p>
          <a:p>
            <a:pPr eaLnBrk="1" hangingPunct="1">
              <a:spcBef>
                <a:spcPct val="50000"/>
              </a:spcBef>
            </a:pPr>
            <a:r>
              <a:rPr kumimoji="1" lang="zh-CN" altLang="en-US" sz="2800">
                <a:latin typeface="华文中宋" panose="02010600040101010101" pitchFamily="2" charset="-122"/>
                <a:ea typeface="华文中宋" panose="02010600040101010101" pitchFamily="2" charset="-122"/>
              </a:rPr>
              <a:t>基因变异引起同工酶谱的变化</a:t>
            </a:r>
          </a:p>
          <a:p>
            <a:pPr eaLnBrk="1" hangingPunct="1">
              <a:spcBef>
                <a:spcPct val="50000"/>
              </a:spcBef>
            </a:pPr>
            <a:r>
              <a:rPr kumimoji="1" lang="zh-CN" altLang="en-US" sz="2800">
                <a:latin typeface="华文中宋" panose="02010600040101010101" pitchFamily="2" charset="-122"/>
                <a:ea typeface="华文中宋" panose="02010600040101010101" pitchFamily="2" charset="-122"/>
              </a:rPr>
              <a:t>如：</a:t>
            </a:r>
            <a:r>
              <a:rPr kumimoji="1" lang="en-US" altLang="zh-CN" sz="2800">
                <a:latin typeface="华文中宋" panose="02010600040101010101" pitchFamily="2" charset="-122"/>
                <a:ea typeface="华文中宋" panose="02010600040101010101" pitchFamily="2" charset="-122"/>
              </a:rPr>
              <a:t>LDH</a:t>
            </a:r>
            <a:r>
              <a:rPr kumimoji="1" lang="zh-CN" altLang="en-US" sz="2800">
                <a:latin typeface="华文中宋" panose="02010600040101010101" pitchFamily="2" charset="-122"/>
                <a:ea typeface="华文中宋" panose="02010600040101010101" pitchFamily="2" charset="-122"/>
              </a:rPr>
              <a:t>的基因型：   </a:t>
            </a:r>
            <a:r>
              <a:rPr kumimoji="1" lang="en-US" altLang="zh-CN" sz="2800">
                <a:latin typeface="华文中宋" panose="02010600040101010101" pitchFamily="2" charset="-122"/>
                <a:ea typeface="华文中宋" panose="02010600040101010101" pitchFamily="2" charset="-122"/>
              </a:rPr>
              <a:t>A</a:t>
            </a:r>
            <a:r>
              <a:rPr kumimoji="1" lang="zh-CN" altLang="en-US" sz="2800">
                <a:latin typeface="华文中宋" panose="02010600040101010101" pitchFamily="2" charset="-122"/>
                <a:ea typeface="华文中宋" panose="02010600040101010101" pitchFamily="2" charset="-122"/>
              </a:rPr>
              <a:t>基因    </a:t>
            </a:r>
            <a:r>
              <a:rPr kumimoji="1" lang="en-US" altLang="zh-CN" sz="2800">
                <a:latin typeface="华文中宋" panose="02010600040101010101" pitchFamily="2" charset="-122"/>
                <a:ea typeface="华文中宋" panose="02010600040101010101" pitchFamily="2" charset="-122"/>
              </a:rPr>
              <a:t>B</a:t>
            </a:r>
            <a:r>
              <a:rPr kumimoji="1" lang="zh-CN" altLang="en-US" sz="2800">
                <a:latin typeface="华文中宋" panose="02010600040101010101" pitchFamily="2" charset="-122"/>
                <a:ea typeface="华文中宋" panose="02010600040101010101" pitchFamily="2" charset="-122"/>
              </a:rPr>
              <a:t>基因</a:t>
            </a:r>
          </a:p>
          <a:p>
            <a:pPr eaLnBrk="1" hangingPunct="1">
              <a:spcBef>
                <a:spcPct val="50000"/>
              </a:spcBef>
            </a:pPr>
            <a:r>
              <a:rPr kumimoji="1" lang="zh-CN" altLang="en-US" sz="2800">
                <a:latin typeface="华文中宋" panose="02010600040101010101" pitchFamily="2" charset="-122"/>
                <a:ea typeface="华文中宋" panose="02010600040101010101" pitchFamily="2" charset="-122"/>
              </a:rPr>
              <a:t>如果等位基因</a:t>
            </a:r>
            <a:r>
              <a:rPr kumimoji="1" lang="en-US" altLang="zh-CN" sz="2800">
                <a:latin typeface="华文中宋" panose="02010600040101010101" pitchFamily="2" charset="-122"/>
                <a:ea typeface="华文中宋" panose="02010600040101010101" pitchFamily="2" charset="-122"/>
              </a:rPr>
              <a:t>A</a:t>
            </a:r>
            <a:r>
              <a:rPr kumimoji="1" lang="zh-CN" altLang="en-US" sz="2800">
                <a:latin typeface="华文中宋" panose="02010600040101010101" pitchFamily="2" charset="-122"/>
                <a:ea typeface="华文中宋" panose="02010600040101010101" pitchFamily="2" charset="-122"/>
              </a:rPr>
              <a:t>和</a:t>
            </a:r>
            <a:r>
              <a:rPr kumimoji="1" lang="en-US" altLang="zh-CN" sz="2800">
                <a:latin typeface="华文中宋" panose="02010600040101010101" pitchFamily="2" charset="-122"/>
                <a:ea typeface="华文中宋" panose="02010600040101010101" pitchFamily="2" charset="-122"/>
              </a:rPr>
              <a:t>A</a:t>
            </a:r>
            <a:r>
              <a:rPr kumimoji="1" lang="zh-CN" altLang="en-US" sz="2800">
                <a:latin typeface="华文中宋" panose="02010600040101010101" pitchFamily="2" charset="-122"/>
                <a:ea typeface="华文中宋" panose="02010600040101010101" pitchFamily="2" charset="-122"/>
              </a:rPr>
              <a:t>中的一个基因发生了变异，变成</a:t>
            </a:r>
            <a:r>
              <a:rPr kumimoji="1" lang="en-US" altLang="zh-CN" sz="2800">
                <a:latin typeface="华文中宋" panose="02010600040101010101" pitchFamily="2" charset="-122"/>
                <a:ea typeface="华文中宋" panose="02010600040101010101" pitchFamily="2" charset="-122"/>
              </a:rPr>
              <a:t>A*</a:t>
            </a:r>
            <a:r>
              <a:rPr kumimoji="1" lang="zh-CN" altLang="en-US" sz="2800">
                <a:latin typeface="华文中宋" panose="02010600040101010101" pitchFamily="2" charset="-122"/>
                <a:ea typeface="华文中宋" panose="02010600040101010101" pitchFamily="2" charset="-122"/>
              </a:rPr>
              <a:t>，</a:t>
            </a:r>
          </a:p>
          <a:p>
            <a:pPr eaLnBrk="1" hangingPunct="1">
              <a:spcBef>
                <a:spcPct val="50000"/>
              </a:spcBef>
            </a:pPr>
            <a:r>
              <a:rPr kumimoji="1" lang="zh-CN" altLang="en-US" sz="2800">
                <a:latin typeface="华文中宋" panose="02010600040101010101" pitchFamily="2" charset="-122"/>
                <a:ea typeface="华文中宋" panose="02010600040101010101" pitchFamily="2" charset="-122"/>
              </a:rPr>
              <a:t>这时由</a:t>
            </a:r>
            <a:r>
              <a:rPr kumimoji="1" lang="en-US" altLang="zh-CN" sz="2800">
                <a:latin typeface="华文中宋" panose="02010600040101010101" pitchFamily="2" charset="-122"/>
                <a:ea typeface="华文中宋" panose="02010600040101010101" pitchFamily="2" charset="-122"/>
              </a:rPr>
              <a:t>A</a:t>
            </a:r>
            <a:r>
              <a:rPr kumimoji="1" lang="zh-CN" altLang="en-US" sz="2800">
                <a:latin typeface="华文中宋" panose="02010600040101010101" pitchFamily="2" charset="-122"/>
                <a:ea typeface="华文中宋" panose="02010600040101010101" pitchFamily="2" charset="-122"/>
              </a:rPr>
              <a:t>、</a:t>
            </a:r>
            <a:r>
              <a:rPr kumimoji="1" lang="en-US" altLang="zh-CN" sz="2800">
                <a:latin typeface="华文中宋" panose="02010600040101010101" pitchFamily="2" charset="-122"/>
                <a:ea typeface="华文中宋" panose="02010600040101010101" pitchFamily="2" charset="-122"/>
              </a:rPr>
              <a:t>A*</a:t>
            </a:r>
            <a:r>
              <a:rPr kumimoji="1" lang="zh-CN" altLang="en-US" sz="2800">
                <a:latin typeface="华文中宋" panose="02010600040101010101" pitchFamily="2" charset="-122"/>
                <a:ea typeface="华文中宋" panose="02010600040101010101" pitchFamily="2" charset="-122"/>
              </a:rPr>
              <a:t>、</a:t>
            </a:r>
            <a:r>
              <a:rPr kumimoji="1" lang="en-US" altLang="zh-CN" sz="2800">
                <a:latin typeface="华文中宋" panose="02010600040101010101" pitchFamily="2" charset="-122"/>
                <a:ea typeface="华文中宋" panose="02010600040101010101" pitchFamily="2" charset="-122"/>
              </a:rPr>
              <a:t>B</a:t>
            </a:r>
            <a:r>
              <a:rPr kumimoji="1" lang="zh-CN" altLang="en-US" sz="2800">
                <a:latin typeface="华文中宋" panose="02010600040101010101" pitchFamily="2" charset="-122"/>
                <a:ea typeface="华文中宋" panose="02010600040101010101" pitchFamily="2" charset="-122"/>
              </a:rPr>
              <a:t>三种基因编码，分别产生三种亚基，</a:t>
            </a:r>
          </a:p>
          <a:p>
            <a:pPr eaLnBrk="1" hangingPunct="1">
              <a:spcBef>
                <a:spcPct val="50000"/>
              </a:spcBef>
            </a:pPr>
            <a:r>
              <a:rPr kumimoji="1" lang="zh-CN" altLang="en-US" sz="2800">
                <a:solidFill>
                  <a:srgbClr val="FF0000"/>
                </a:solidFill>
                <a:latin typeface="华文中宋" panose="02010600040101010101" pitchFamily="2" charset="-122"/>
                <a:ea typeface="华文中宋" panose="02010600040101010101" pitchFamily="2" charset="-122"/>
              </a:rPr>
              <a:t>           </a:t>
            </a:r>
            <a:r>
              <a:rPr kumimoji="1" lang="en-US" altLang="zh-CN" sz="2800">
                <a:solidFill>
                  <a:srgbClr val="FF0000"/>
                </a:solidFill>
                <a:latin typeface="华文中宋" panose="02010600040101010101" pitchFamily="2" charset="-122"/>
                <a:ea typeface="华文中宋" panose="02010600040101010101" pitchFamily="2" charset="-122"/>
              </a:rPr>
              <a:t>A   A*    B</a:t>
            </a:r>
          </a:p>
          <a:p>
            <a:pPr eaLnBrk="1" hangingPunct="1">
              <a:spcBef>
                <a:spcPct val="50000"/>
              </a:spcBef>
            </a:pPr>
            <a:endParaRPr kumimoji="1" lang="en-US" altLang="zh-CN" sz="2800">
              <a:latin typeface="华文中宋" panose="02010600040101010101" pitchFamily="2" charset="-122"/>
              <a:ea typeface="华文中宋" panose="02010600040101010101" pitchFamily="2" charset="-122"/>
            </a:endParaRP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ext Box 2">
            <a:extLst>
              <a:ext uri="{FF2B5EF4-FFF2-40B4-BE49-F238E27FC236}">
                <a16:creationId xmlns:a16="http://schemas.microsoft.com/office/drawing/2014/main" id="{D05B9956-DE8F-419B-939E-814886A55DA9}"/>
              </a:ext>
            </a:extLst>
          </p:cNvPr>
          <p:cNvSpPr txBox="1">
            <a:spLocks noChangeArrowheads="1"/>
          </p:cNvSpPr>
          <p:nvPr/>
        </p:nvSpPr>
        <p:spPr bwMode="auto">
          <a:xfrm>
            <a:off x="457200" y="1981200"/>
            <a:ext cx="8458200"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a:latin typeface="Times New Roman" panose="02020603050405020304" pitchFamily="18" charset="0"/>
              </a:rPr>
              <a:t>LDH</a:t>
            </a:r>
            <a:r>
              <a:rPr kumimoji="1" lang="en-US" altLang="zh-CN" sz="2400">
                <a:latin typeface="Times New Roman" panose="02020603050405020304" pitchFamily="18" charset="0"/>
              </a:rPr>
              <a:t>5</a:t>
            </a:r>
            <a:r>
              <a:rPr kumimoji="1" lang="en-US" altLang="zh-CN" sz="3200">
                <a:latin typeface="Times New Roman" panose="02020603050405020304" pitchFamily="18" charset="0"/>
              </a:rPr>
              <a:t>     LDH</a:t>
            </a:r>
            <a:r>
              <a:rPr kumimoji="1" lang="en-US" altLang="zh-CN" sz="2400">
                <a:latin typeface="Times New Roman" panose="02020603050405020304" pitchFamily="18" charset="0"/>
              </a:rPr>
              <a:t>4</a:t>
            </a:r>
            <a:r>
              <a:rPr kumimoji="1" lang="en-US" altLang="zh-CN" sz="3200">
                <a:latin typeface="Times New Roman" panose="02020603050405020304" pitchFamily="18" charset="0"/>
              </a:rPr>
              <a:t>      LDH</a:t>
            </a:r>
            <a:r>
              <a:rPr kumimoji="1" lang="en-US" altLang="zh-CN" sz="2400">
                <a:latin typeface="Times New Roman" panose="02020603050405020304" pitchFamily="18" charset="0"/>
              </a:rPr>
              <a:t>3</a:t>
            </a:r>
            <a:r>
              <a:rPr kumimoji="1" lang="en-US" altLang="zh-CN" sz="3200">
                <a:latin typeface="Times New Roman" panose="02020603050405020304" pitchFamily="18" charset="0"/>
              </a:rPr>
              <a:t>        LDH</a:t>
            </a:r>
            <a:r>
              <a:rPr kumimoji="1" lang="en-US" altLang="zh-CN" sz="2400">
                <a:latin typeface="Times New Roman" panose="02020603050405020304" pitchFamily="18" charset="0"/>
              </a:rPr>
              <a:t>2</a:t>
            </a:r>
            <a:r>
              <a:rPr kumimoji="1" lang="en-US" altLang="zh-CN" sz="3200">
                <a:latin typeface="Times New Roman" panose="02020603050405020304" pitchFamily="18" charset="0"/>
              </a:rPr>
              <a:t>      LDH</a:t>
            </a:r>
            <a:r>
              <a:rPr kumimoji="1" lang="en-US" altLang="zh-CN" sz="2400">
                <a:latin typeface="Times New Roman" panose="02020603050405020304" pitchFamily="18" charset="0"/>
              </a:rPr>
              <a:t>1</a:t>
            </a:r>
          </a:p>
          <a:p>
            <a:pPr eaLnBrk="1" hangingPunct="1">
              <a:spcBef>
                <a:spcPct val="50000"/>
              </a:spcBef>
            </a:pPr>
            <a:r>
              <a:rPr kumimoji="1" lang="en-US" altLang="zh-CN" sz="3200">
                <a:latin typeface="Times New Roman" panose="02020603050405020304" pitchFamily="18" charset="0"/>
              </a:rPr>
              <a:t>A</a:t>
            </a:r>
            <a:r>
              <a:rPr kumimoji="1" lang="en-US" altLang="zh-CN" sz="2400">
                <a:latin typeface="Times New Roman" panose="02020603050405020304" pitchFamily="18" charset="0"/>
              </a:rPr>
              <a:t>4</a:t>
            </a:r>
            <a:r>
              <a:rPr kumimoji="1" lang="en-US" altLang="zh-CN" sz="3200">
                <a:latin typeface="Times New Roman" panose="02020603050405020304" pitchFamily="18" charset="0"/>
              </a:rPr>
              <a:t>           BA</a:t>
            </a:r>
            <a:r>
              <a:rPr kumimoji="1" lang="en-US" altLang="zh-CN" sz="2400">
                <a:latin typeface="Times New Roman" panose="02020603050405020304" pitchFamily="18" charset="0"/>
              </a:rPr>
              <a:t>3</a:t>
            </a:r>
            <a:r>
              <a:rPr kumimoji="1" lang="en-US" altLang="zh-CN" sz="3200">
                <a:latin typeface="Times New Roman" panose="02020603050405020304" pitchFamily="18" charset="0"/>
              </a:rPr>
              <a:t>         B</a:t>
            </a:r>
            <a:r>
              <a:rPr kumimoji="1" lang="en-US" altLang="zh-CN" sz="2400">
                <a:latin typeface="Times New Roman" panose="02020603050405020304" pitchFamily="18" charset="0"/>
              </a:rPr>
              <a:t>2</a:t>
            </a:r>
            <a:r>
              <a:rPr kumimoji="1" lang="en-US" altLang="zh-CN" sz="3200">
                <a:latin typeface="Times New Roman" panose="02020603050405020304" pitchFamily="18" charset="0"/>
              </a:rPr>
              <a:t>A</a:t>
            </a:r>
            <a:r>
              <a:rPr kumimoji="1" lang="en-US" altLang="zh-CN" sz="2400">
                <a:latin typeface="Times New Roman" panose="02020603050405020304" pitchFamily="18" charset="0"/>
              </a:rPr>
              <a:t>2</a:t>
            </a:r>
            <a:r>
              <a:rPr kumimoji="1" lang="en-US" altLang="zh-CN" sz="3200">
                <a:latin typeface="Times New Roman" panose="02020603050405020304" pitchFamily="18" charset="0"/>
              </a:rPr>
              <a:t>         B</a:t>
            </a:r>
            <a:r>
              <a:rPr kumimoji="1" lang="en-US" altLang="zh-CN" sz="2400">
                <a:latin typeface="Times New Roman" panose="02020603050405020304" pitchFamily="18" charset="0"/>
              </a:rPr>
              <a:t>3</a:t>
            </a:r>
            <a:r>
              <a:rPr kumimoji="1" lang="en-US" altLang="zh-CN" sz="3200">
                <a:latin typeface="Times New Roman" panose="02020603050405020304" pitchFamily="18" charset="0"/>
              </a:rPr>
              <a:t>A        B</a:t>
            </a:r>
            <a:r>
              <a:rPr kumimoji="1" lang="en-US" altLang="zh-CN" sz="2400">
                <a:latin typeface="Times New Roman" panose="02020603050405020304" pitchFamily="18" charset="0"/>
              </a:rPr>
              <a:t>4</a:t>
            </a:r>
          </a:p>
          <a:p>
            <a:pPr eaLnBrk="1" hangingPunct="1">
              <a:spcBef>
                <a:spcPct val="50000"/>
              </a:spcBef>
            </a:pPr>
            <a:r>
              <a:rPr kumimoji="1" lang="en-US" altLang="zh-CN" sz="3200">
                <a:latin typeface="Times New Roman" panose="02020603050405020304" pitchFamily="18" charset="0"/>
              </a:rPr>
              <a:t>A</a:t>
            </a:r>
            <a:r>
              <a:rPr kumimoji="1" lang="en-US" altLang="zh-CN" sz="2400">
                <a:latin typeface="Times New Roman" panose="02020603050405020304" pitchFamily="18" charset="0"/>
              </a:rPr>
              <a:t>3</a:t>
            </a:r>
            <a:r>
              <a:rPr kumimoji="1" lang="en-US" altLang="zh-CN" sz="3200">
                <a:latin typeface="Times New Roman" panose="02020603050405020304" pitchFamily="18" charset="0"/>
              </a:rPr>
              <a:t>A</a:t>
            </a:r>
            <a:r>
              <a:rPr kumimoji="1" lang="en-US" altLang="zh-CN" sz="3200">
                <a:solidFill>
                  <a:schemeClr val="hlink"/>
                </a:solidFill>
                <a:latin typeface="Times New Roman" panose="02020603050405020304" pitchFamily="18" charset="0"/>
              </a:rPr>
              <a:t>*</a:t>
            </a:r>
            <a:r>
              <a:rPr kumimoji="1" lang="en-US" altLang="zh-CN" sz="3200">
                <a:latin typeface="Times New Roman" panose="02020603050405020304" pitchFamily="18" charset="0"/>
              </a:rPr>
              <a:t>      BA</a:t>
            </a:r>
            <a:r>
              <a:rPr kumimoji="1" lang="en-US" altLang="zh-CN" sz="2400">
                <a:latin typeface="Times New Roman" panose="02020603050405020304" pitchFamily="18" charset="0"/>
              </a:rPr>
              <a:t>2</a:t>
            </a:r>
            <a:r>
              <a:rPr kumimoji="1" lang="en-US" altLang="zh-CN" sz="3200">
                <a:latin typeface="Times New Roman" panose="02020603050405020304" pitchFamily="18" charset="0"/>
              </a:rPr>
              <a:t>A</a:t>
            </a:r>
            <a:r>
              <a:rPr kumimoji="1" lang="en-US" altLang="zh-CN" sz="3200">
                <a:solidFill>
                  <a:schemeClr val="hlink"/>
                </a:solidFill>
                <a:latin typeface="Times New Roman" panose="02020603050405020304" pitchFamily="18" charset="0"/>
              </a:rPr>
              <a:t>*</a:t>
            </a:r>
            <a:r>
              <a:rPr kumimoji="1" lang="en-US" altLang="zh-CN" sz="3200">
                <a:latin typeface="Times New Roman" panose="02020603050405020304" pitchFamily="18" charset="0"/>
              </a:rPr>
              <a:t>    B</a:t>
            </a:r>
            <a:r>
              <a:rPr kumimoji="1" lang="en-US" altLang="zh-CN" sz="2400">
                <a:latin typeface="Times New Roman" panose="02020603050405020304" pitchFamily="18" charset="0"/>
              </a:rPr>
              <a:t>2</a:t>
            </a:r>
            <a:r>
              <a:rPr kumimoji="1" lang="en-US" altLang="zh-CN" sz="3200">
                <a:latin typeface="Times New Roman" panose="02020603050405020304" pitchFamily="18" charset="0"/>
              </a:rPr>
              <a:t>AA</a:t>
            </a:r>
            <a:r>
              <a:rPr kumimoji="1" lang="en-US" altLang="zh-CN" sz="3200">
                <a:solidFill>
                  <a:schemeClr val="hlink"/>
                </a:solidFill>
                <a:latin typeface="Times New Roman" panose="02020603050405020304" pitchFamily="18" charset="0"/>
              </a:rPr>
              <a:t>*</a:t>
            </a:r>
            <a:r>
              <a:rPr kumimoji="1" lang="en-US" altLang="zh-CN" sz="3200">
                <a:latin typeface="Times New Roman" panose="02020603050405020304" pitchFamily="18" charset="0"/>
              </a:rPr>
              <a:t>        B</a:t>
            </a:r>
            <a:r>
              <a:rPr kumimoji="1" lang="en-US" altLang="zh-CN" sz="2400">
                <a:latin typeface="Times New Roman" panose="02020603050405020304" pitchFamily="18" charset="0"/>
              </a:rPr>
              <a:t>3</a:t>
            </a:r>
            <a:r>
              <a:rPr kumimoji="1" lang="en-US" altLang="zh-CN" sz="3200">
                <a:latin typeface="Times New Roman" panose="02020603050405020304" pitchFamily="18" charset="0"/>
              </a:rPr>
              <a:t>A</a:t>
            </a:r>
            <a:r>
              <a:rPr kumimoji="1" lang="en-US" altLang="zh-CN" sz="3200">
                <a:solidFill>
                  <a:schemeClr val="hlink"/>
                </a:solidFill>
                <a:latin typeface="Times New Roman" panose="02020603050405020304" pitchFamily="18" charset="0"/>
              </a:rPr>
              <a:t>*</a:t>
            </a:r>
          </a:p>
          <a:p>
            <a:pPr eaLnBrk="1" hangingPunct="1">
              <a:spcBef>
                <a:spcPct val="50000"/>
              </a:spcBef>
            </a:pPr>
            <a:r>
              <a:rPr kumimoji="1" lang="en-US" altLang="zh-CN" sz="3200">
                <a:latin typeface="Times New Roman" panose="02020603050405020304" pitchFamily="18" charset="0"/>
              </a:rPr>
              <a:t>A</a:t>
            </a:r>
            <a:r>
              <a:rPr kumimoji="1" lang="en-US" altLang="zh-CN" sz="2400">
                <a:latin typeface="Times New Roman" panose="02020603050405020304" pitchFamily="18" charset="0"/>
              </a:rPr>
              <a:t>2</a:t>
            </a:r>
            <a:r>
              <a:rPr kumimoji="1" lang="en-US" altLang="zh-CN" sz="3200">
                <a:latin typeface="Times New Roman" panose="02020603050405020304" pitchFamily="18" charset="0"/>
              </a:rPr>
              <a:t>A</a:t>
            </a:r>
            <a:r>
              <a:rPr kumimoji="1" lang="en-US" altLang="zh-CN" sz="3200">
                <a:solidFill>
                  <a:schemeClr val="hlink"/>
                </a:solidFill>
                <a:latin typeface="Times New Roman" panose="02020603050405020304" pitchFamily="18" charset="0"/>
              </a:rPr>
              <a:t>*</a:t>
            </a:r>
            <a:r>
              <a:rPr kumimoji="1" lang="en-US" altLang="zh-CN" sz="2400">
                <a:latin typeface="Times New Roman" panose="02020603050405020304" pitchFamily="18" charset="0"/>
              </a:rPr>
              <a:t>2</a:t>
            </a:r>
            <a:r>
              <a:rPr kumimoji="1" lang="en-US" altLang="zh-CN" sz="3200">
                <a:latin typeface="Times New Roman" panose="02020603050405020304" pitchFamily="18" charset="0"/>
              </a:rPr>
              <a:t>     BAA</a:t>
            </a:r>
            <a:r>
              <a:rPr kumimoji="1" lang="en-US" altLang="zh-CN" sz="3200">
                <a:solidFill>
                  <a:schemeClr val="hlink"/>
                </a:solidFill>
                <a:latin typeface="Times New Roman" panose="02020603050405020304" pitchFamily="18" charset="0"/>
              </a:rPr>
              <a:t>*</a:t>
            </a:r>
            <a:r>
              <a:rPr kumimoji="1" lang="en-US" altLang="zh-CN" sz="2400">
                <a:latin typeface="Times New Roman" panose="02020603050405020304" pitchFamily="18" charset="0"/>
              </a:rPr>
              <a:t>2</a:t>
            </a:r>
            <a:r>
              <a:rPr kumimoji="1" lang="en-US" altLang="zh-CN" sz="3200">
                <a:latin typeface="Times New Roman" panose="02020603050405020304" pitchFamily="18" charset="0"/>
              </a:rPr>
              <a:t>    B</a:t>
            </a:r>
            <a:r>
              <a:rPr kumimoji="1" lang="en-US" altLang="zh-CN" sz="2400">
                <a:latin typeface="Times New Roman" panose="02020603050405020304" pitchFamily="18" charset="0"/>
              </a:rPr>
              <a:t>2</a:t>
            </a:r>
            <a:r>
              <a:rPr kumimoji="1" lang="en-US" altLang="zh-CN" sz="3200">
                <a:latin typeface="Times New Roman" panose="02020603050405020304" pitchFamily="18" charset="0"/>
              </a:rPr>
              <a:t>A</a:t>
            </a:r>
            <a:r>
              <a:rPr kumimoji="1" lang="en-US" altLang="zh-CN" sz="3200">
                <a:solidFill>
                  <a:schemeClr val="hlink"/>
                </a:solidFill>
                <a:latin typeface="Times New Roman" panose="02020603050405020304" pitchFamily="18" charset="0"/>
              </a:rPr>
              <a:t>*</a:t>
            </a:r>
            <a:r>
              <a:rPr kumimoji="1" lang="en-US" altLang="zh-CN" sz="2400">
                <a:latin typeface="Times New Roman" panose="02020603050405020304" pitchFamily="18" charset="0"/>
              </a:rPr>
              <a:t>2</a:t>
            </a:r>
            <a:r>
              <a:rPr kumimoji="1" lang="en-US" altLang="zh-CN" sz="3200">
                <a:latin typeface="Times New Roman" panose="02020603050405020304" pitchFamily="18" charset="0"/>
              </a:rPr>
              <a:t>        </a:t>
            </a:r>
          </a:p>
          <a:p>
            <a:pPr eaLnBrk="1" hangingPunct="1">
              <a:spcBef>
                <a:spcPct val="50000"/>
              </a:spcBef>
            </a:pPr>
            <a:r>
              <a:rPr kumimoji="1" lang="en-US" altLang="zh-CN" sz="3200">
                <a:latin typeface="Times New Roman" panose="02020603050405020304" pitchFamily="18" charset="0"/>
              </a:rPr>
              <a:t>AA</a:t>
            </a:r>
            <a:r>
              <a:rPr kumimoji="1" lang="en-US" altLang="zh-CN" sz="3200">
                <a:solidFill>
                  <a:schemeClr val="hlink"/>
                </a:solidFill>
                <a:latin typeface="Times New Roman" panose="02020603050405020304" pitchFamily="18" charset="0"/>
              </a:rPr>
              <a:t>*</a:t>
            </a:r>
            <a:r>
              <a:rPr kumimoji="1" lang="en-US" altLang="zh-CN" sz="2400">
                <a:latin typeface="Times New Roman" panose="02020603050405020304" pitchFamily="18" charset="0"/>
              </a:rPr>
              <a:t>3</a:t>
            </a:r>
            <a:r>
              <a:rPr kumimoji="1" lang="en-US" altLang="zh-CN" sz="3200">
                <a:latin typeface="Times New Roman" panose="02020603050405020304" pitchFamily="18" charset="0"/>
              </a:rPr>
              <a:t>       BA</a:t>
            </a:r>
            <a:r>
              <a:rPr kumimoji="1" lang="en-US" altLang="zh-CN" sz="3200">
                <a:solidFill>
                  <a:schemeClr val="hlink"/>
                </a:solidFill>
                <a:latin typeface="Times New Roman" panose="02020603050405020304" pitchFamily="18" charset="0"/>
              </a:rPr>
              <a:t>*</a:t>
            </a:r>
            <a:r>
              <a:rPr kumimoji="1" lang="en-US" altLang="zh-CN" sz="2400">
                <a:latin typeface="Times New Roman" panose="02020603050405020304" pitchFamily="18" charset="0"/>
              </a:rPr>
              <a:t>3</a:t>
            </a:r>
          </a:p>
          <a:p>
            <a:pPr eaLnBrk="1" hangingPunct="1">
              <a:spcBef>
                <a:spcPct val="50000"/>
              </a:spcBef>
            </a:pPr>
            <a:r>
              <a:rPr kumimoji="1" lang="en-US" altLang="zh-CN" sz="3200">
                <a:latin typeface="Times New Roman" panose="02020603050405020304" pitchFamily="18" charset="0"/>
              </a:rPr>
              <a:t>A</a:t>
            </a:r>
            <a:r>
              <a:rPr kumimoji="1" lang="en-US" altLang="zh-CN" sz="3200">
                <a:solidFill>
                  <a:schemeClr val="hlink"/>
                </a:solidFill>
                <a:latin typeface="Times New Roman" panose="02020603050405020304" pitchFamily="18" charset="0"/>
              </a:rPr>
              <a:t>*</a:t>
            </a:r>
            <a:r>
              <a:rPr kumimoji="1" lang="en-US" altLang="zh-CN" sz="2400">
                <a:latin typeface="Times New Roman" panose="02020603050405020304" pitchFamily="18" charset="0"/>
              </a:rPr>
              <a:t>4</a:t>
            </a:r>
          </a:p>
        </p:txBody>
      </p:sp>
      <p:sp>
        <p:nvSpPr>
          <p:cNvPr id="126979" name="Text Box 3">
            <a:extLst>
              <a:ext uri="{FF2B5EF4-FFF2-40B4-BE49-F238E27FC236}">
                <a16:creationId xmlns:a16="http://schemas.microsoft.com/office/drawing/2014/main" id="{434AF37B-5BC1-4E01-B192-1B015AD105A9}"/>
              </a:ext>
            </a:extLst>
          </p:cNvPr>
          <p:cNvSpPr txBox="1">
            <a:spLocks noChangeArrowheads="1"/>
          </p:cNvSpPr>
          <p:nvPr/>
        </p:nvSpPr>
        <p:spPr bwMode="auto">
          <a:xfrm>
            <a:off x="2514600" y="914400"/>
            <a:ext cx="350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华文中宋" panose="02010600040101010101" pitchFamily="2" charset="-122"/>
                <a:ea typeface="华文中宋" panose="02010600040101010101" pitchFamily="2" charset="-122"/>
              </a:rPr>
              <a:t>15</a:t>
            </a:r>
            <a:r>
              <a:rPr kumimoji="1" lang="zh-CN" altLang="en-US" sz="2400">
                <a:latin typeface="华文中宋" panose="02010600040101010101" pitchFamily="2" charset="-122"/>
                <a:ea typeface="华文中宋" panose="02010600040101010101" pitchFamily="2" charset="-122"/>
              </a:rPr>
              <a:t>种分子形式</a:t>
            </a:r>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9820D800-5930-405B-AD19-DA3FFCFC5E60}"/>
              </a:ext>
            </a:extLst>
          </p:cNvPr>
          <p:cNvSpPr>
            <a:spLocks noChangeArrowheads="1"/>
          </p:cNvSpPr>
          <p:nvPr/>
        </p:nvSpPr>
        <p:spPr bwMode="auto">
          <a:xfrm>
            <a:off x="533400" y="1825625"/>
            <a:ext cx="8382000" cy="495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0000"/>
              </a:lnSpc>
              <a:spcBef>
                <a:spcPct val="50000"/>
              </a:spcBef>
            </a:pPr>
            <a:r>
              <a:rPr kumimoji="1" lang="en-US" altLang="zh-CN" sz="3200">
                <a:latin typeface="Times New Roman" panose="02020603050405020304" pitchFamily="18" charset="0"/>
              </a:rPr>
              <a:t>         </a:t>
            </a:r>
            <a:r>
              <a:rPr kumimoji="1" lang="zh-CN" altLang="en-US" sz="3200">
                <a:latin typeface="华文中宋" panose="02010600040101010101" pitchFamily="2" charset="-122"/>
                <a:ea typeface="华文中宋" panose="02010600040101010101" pitchFamily="2" charset="-122"/>
              </a:rPr>
              <a:t>乙醇脱氢酶    </a:t>
            </a:r>
            <a:r>
              <a:rPr kumimoji="1" lang="en-US" altLang="zh-CN" sz="3200">
                <a:latin typeface="华文中宋" panose="02010600040101010101" pitchFamily="2" charset="-122"/>
                <a:ea typeface="华文中宋" panose="02010600040101010101" pitchFamily="2" charset="-122"/>
              </a:rPr>
              <a:t>ADH</a:t>
            </a:r>
            <a:r>
              <a:rPr kumimoji="1" lang="zh-CN" altLang="en-US" sz="3200">
                <a:latin typeface="华文中宋" panose="02010600040101010101" pitchFamily="2" charset="-122"/>
                <a:ea typeface="华文中宋" panose="02010600040101010101" pitchFamily="2" charset="-122"/>
              </a:rPr>
              <a:t>：</a:t>
            </a:r>
          </a:p>
          <a:p>
            <a:pPr>
              <a:lnSpc>
                <a:spcPct val="120000"/>
              </a:lnSpc>
              <a:spcBef>
                <a:spcPct val="50000"/>
              </a:spcBef>
            </a:pPr>
            <a:r>
              <a:rPr kumimoji="1" lang="zh-CN" altLang="en-US" sz="3200">
                <a:latin typeface="华文中宋" panose="02010600040101010101" pitchFamily="2" charset="-122"/>
                <a:ea typeface="华文中宋" panose="02010600040101010101" pitchFamily="2" charset="-122"/>
              </a:rPr>
              <a:t>       发育早期：质片中   </a:t>
            </a:r>
            <a:r>
              <a:rPr kumimoji="1" lang="en-US" altLang="zh-CN" sz="3200">
                <a:latin typeface="华文中宋" panose="02010600040101010101" pitchFamily="2" charset="-122"/>
                <a:ea typeface="华文中宋" panose="02010600040101010101" pitchFamily="2" charset="-122"/>
              </a:rPr>
              <a:t>ADH</a:t>
            </a:r>
            <a:r>
              <a:rPr kumimoji="1" lang="en-US" altLang="zh-CN" sz="3200" baseline="-30000">
                <a:latin typeface="华文中宋" panose="02010600040101010101" pitchFamily="2" charset="-122"/>
                <a:ea typeface="华文中宋" panose="02010600040101010101" pitchFamily="2" charset="-122"/>
              </a:rPr>
              <a:t>1</a:t>
            </a:r>
            <a:r>
              <a:rPr kumimoji="1" lang="zh-CN" altLang="en-US" sz="3200">
                <a:latin typeface="华文中宋" panose="02010600040101010101" pitchFamily="2" charset="-122"/>
                <a:ea typeface="华文中宋" panose="02010600040101010101" pitchFamily="2" charset="-122"/>
              </a:rPr>
              <a:t>、</a:t>
            </a:r>
            <a:r>
              <a:rPr kumimoji="1" lang="en-US" altLang="zh-CN" sz="3200">
                <a:latin typeface="华文中宋" panose="02010600040101010101" pitchFamily="2" charset="-122"/>
                <a:ea typeface="华文中宋" panose="02010600040101010101" pitchFamily="2" charset="-122"/>
              </a:rPr>
              <a:t>ADH</a:t>
            </a:r>
            <a:r>
              <a:rPr kumimoji="1" lang="en-US" altLang="zh-CN" sz="3200" baseline="-30000">
                <a:latin typeface="华文中宋" panose="02010600040101010101" pitchFamily="2" charset="-122"/>
                <a:ea typeface="华文中宋" panose="02010600040101010101" pitchFamily="2" charset="-122"/>
              </a:rPr>
              <a:t>2</a:t>
            </a:r>
            <a:endParaRPr kumimoji="1" lang="en-US" altLang="zh-CN" sz="3200">
              <a:latin typeface="华文中宋" panose="02010600040101010101" pitchFamily="2" charset="-122"/>
              <a:ea typeface="华文中宋" panose="02010600040101010101" pitchFamily="2" charset="-122"/>
            </a:endParaRPr>
          </a:p>
          <a:p>
            <a:pPr>
              <a:lnSpc>
                <a:spcPct val="120000"/>
              </a:lnSpc>
              <a:spcBef>
                <a:spcPct val="50000"/>
              </a:spcBef>
            </a:pPr>
            <a:r>
              <a:rPr kumimoji="1" lang="en-US" altLang="zh-CN" sz="3200" baseline="-30000">
                <a:latin typeface="华文中宋" panose="02010600040101010101" pitchFamily="2" charset="-122"/>
                <a:ea typeface="华文中宋" panose="02010600040101010101" pitchFamily="2" charset="-122"/>
              </a:rPr>
              <a:t>                        </a:t>
            </a:r>
            <a:r>
              <a:rPr kumimoji="1" lang="zh-CN" altLang="en-US" sz="3200">
                <a:latin typeface="华文中宋" panose="02010600040101010101" pitchFamily="2" charset="-122"/>
                <a:ea typeface="华文中宋" panose="02010600040101010101" pitchFamily="2" charset="-122"/>
              </a:rPr>
              <a:t>稍后：</a:t>
            </a:r>
            <a:r>
              <a:rPr kumimoji="1" lang="en-US" altLang="zh-CN" sz="3200">
                <a:latin typeface="华文中宋" panose="02010600040101010101" pitchFamily="2" charset="-122"/>
                <a:ea typeface="华文中宋" panose="02010600040101010101" pitchFamily="2" charset="-122"/>
              </a:rPr>
              <a:t>ADH</a:t>
            </a:r>
            <a:r>
              <a:rPr kumimoji="1" lang="en-US" altLang="zh-CN" sz="3200" baseline="-30000">
                <a:latin typeface="华文中宋" panose="02010600040101010101" pitchFamily="2" charset="-122"/>
                <a:ea typeface="华文中宋" panose="02010600040101010101" pitchFamily="2" charset="-122"/>
              </a:rPr>
              <a:t>3</a:t>
            </a:r>
            <a:r>
              <a:rPr kumimoji="1" lang="zh-CN" altLang="en-US" sz="3200">
                <a:latin typeface="华文中宋" panose="02010600040101010101" pitchFamily="2" charset="-122"/>
                <a:ea typeface="华文中宋" panose="02010600040101010101" pitchFamily="2" charset="-122"/>
              </a:rPr>
              <a:t>、</a:t>
            </a:r>
            <a:r>
              <a:rPr kumimoji="1" lang="en-US" altLang="zh-CN" sz="3200">
                <a:latin typeface="华文中宋" panose="02010600040101010101" pitchFamily="2" charset="-122"/>
                <a:ea typeface="华文中宋" panose="02010600040101010101" pitchFamily="2" charset="-122"/>
              </a:rPr>
              <a:t>ADH</a:t>
            </a:r>
            <a:r>
              <a:rPr kumimoji="1" lang="en-US" altLang="zh-CN" sz="3200" baseline="-30000">
                <a:latin typeface="华文中宋" panose="02010600040101010101" pitchFamily="2" charset="-122"/>
                <a:ea typeface="华文中宋" panose="02010600040101010101" pitchFamily="2" charset="-122"/>
              </a:rPr>
              <a:t>4</a:t>
            </a:r>
            <a:r>
              <a:rPr kumimoji="1" lang="en-US" altLang="zh-CN" sz="3200">
                <a:latin typeface="华文中宋" panose="02010600040101010101" pitchFamily="2" charset="-122"/>
                <a:ea typeface="华文中宋" panose="02010600040101010101" pitchFamily="2" charset="-122"/>
              </a:rPr>
              <a:t>  </a:t>
            </a:r>
          </a:p>
          <a:p>
            <a:pPr>
              <a:lnSpc>
                <a:spcPct val="150000"/>
              </a:lnSpc>
              <a:spcBef>
                <a:spcPct val="50000"/>
              </a:spcBef>
            </a:pPr>
            <a:r>
              <a:rPr kumimoji="1" lang="en-US" altLang="zh-CN" sz="3200">
                <a:latin typeface="华文中宋" panose="02010600040101010101" pitchFamily="2" charset="-122"/>
                <a:ea typeface="华文中宋" panose="02010600040101010101" pitchFamily="2" charset="-122"/>
              </a:rPr>
              <a:t>      </a:t>
            </a:r>
            <a:r>
              <a:rPr kumimoji="1" lang="zh-CN" altLang="en-US" sz="3200">
                <a:latin typeface="华文中宋" panose="02010600040101010101" pitchFamily="2" charset="-122"/>
                <a:ea typeface="华文中宋" panose="02010600040101010101" pitchFamily="2" charset="-122"/>
              </a:rPr>
              <a:t>种子萌发的前</a:t>
            </a:r>
            <a:r>
              <a:rPr kumimoji="1" lang="en-US" altLang="zh-CN" sz="3200">
                <a:latin typeface="华文中宋" panose="02010600040101010101" pitchFamily="2" charset="-122"/>
                <a:ea typeface="华文中宋" panose="02010600040101010101" pitchFamily="2" charset="-122"/>
              </a:rPr>
              <a:t>10</a:t>
            </a:r>
            <a:r>
              <a:rPr kumimoji="1" lang="zh-CN" altLang="en-US" sz="3200">
                <a:latin typeface="华文中宋" panose="02010600040101010101" pitchFamily="2" charset="-122"/>
                <a:ea typeface="华文中宋" panose="02010600040101010101" pitchFamily="2" charset="-122"/>
              </a:rPr>
              <a:t>天  </a:t>
            </a:r>
            <a:r>
              <a:rPr kumimoji="1" lang="en-US" altLang="zh-CN" sz="3200">
                <a:latin typeface="华文中宋" panose="02010600040101010101" pitchFamily="2" charset="-122"/>
                <a:ea typeface="华文中宋" panose="02010600040101010101" pitchFamily="2" charset="-122"/>
              </a:rPr>
              <a:t>ADH</a:t>
            </a:r>
            <a:r>
              <a:rPr kumimoji="1" lang="en-US" altLang="zh-CN" sz="3200" baseline="-30000">
                <a:latin typeface="华文中宋" panose="02010600040101010101" pitchFamily="2" charset="-122"/>
                <a:ea typeface="华文中宋" panose="02010600040101010101" pitchFamily="2" charset="-122"/>
              </a:rPr>
              <a:t>3</a:t>
            </a:r>
            <a:r>
              <a:rPr kumimoji="1" lang="en-US" altLang="zh-CN" sz="3200">
                <a:latin typeface="华文中宋" panose="02010600040101010101" pitchFamily="2" charset="-122"/>
                <a:ea typeface="华文中宋" panose="02010600040101010101" pitchFamily="2" charset="-122"/>
              </a:rPr>
              <a:t> </a:t>
            </a:r>
            <a:r>
              <a:rPr kumimoji="1" lang="zh-CN" altLang="en-US" sz="3200">
                <a:latin typeface="华文中宋" panose="02010600040101010101" pitchFamily="2" charset="-122"/>
                <a:ea typeface="华文中宋" panose="02010600040101010101" pitchFamily="2" charset="-122"/>
              </a:rPr>
              <a:t>，而  </a:t>
            </a:r>
            <a:r>
              <a:rPr kumimoji="1" lang="en-US" altLang="zh-CN" sz="3200">
                <a:latin typeface="华文中宋" panose="02010600040101010101" pitchFamily="2" charset="-122"/>
                <a:ea typeface="华文中宋" panose="02010600040101010101" pitchFamily="2" charset="-122"/>
              </a:rPr>
              <a:t>ADH</a:t>
            </a:r>
            <a:r>
              <a:rPr kumimoji="1" lang="en-US" altLang="zh-CN" sz="3200" baseline="-30000">
                <a:latin typeface="华文中宋" panose="02010600040101010101" pitchFamily="2" charset="-122"/>
                <a:ea typeface="华文中宋" panose="02010600040101010101" pitchFamily="2" charset="-122"/>
              </a:rPr>
              <a:t>1</a:t>
            </a:r>
            <a:r>
              <a:rPr kumimoji="1" lang="zh-CN" altLang="en-US" sz="3200">
                <a:latin typeface="华文中宋" panose="02010600040101010101" pitchFamily="2" charset="-122"/>
                <a:ea typeface="华文中宋" panose="02010600040101010101" pitchFamily="2" charset="-122"/>
              </a:rPr>
              <a:t>、</a:t>
            </a:r>
            <a:r>
              <a:rPr kumimoji="1" lang="en-US" altLang="zh-CN" sz="3200">
                <a:latin typeface="华文中宋" panose="02010600040101010101" pitchFamily="2" charset="-122"/>
                <a:ea typeface="华文中宋" panose="02010600040101010101" pitchFamily="2" charset="-122"/>
              </a:rPr>
              <a:t>ADH</a:t>
            </a:r>
            <a:r>
              <a:rPr kumimoji="1" lang="en-US" altLang="zh-CN" sz="3200" baseline="-30000">
                <a:latin typeface="华文中宋" panose="02010600040101010101" pitchFamily="2" charset="-122"/>
                <a:ea typeface="华文中宋" panose="02010600040101010101" pitchFamily="2" charset="-122"/>
              </a:rPr>
              <a:t>2</a:t>
            </a:r>
            <a:r>
              <a:rPr kumimoji="1" lang="en-US" altLang="zh-CN" sz="3200">
                <a:latin typeface="华文中宋" panose="02010600040101010101" pitchFamily="2" charset="-122"/>
                <a:ea typeface="华文中宋" panose="02010600040101010101" pitchFamily="2" charset="-122"/>
              </a:rPr>
              <a:t> ADH</a:t>
            </a:r>
            <a:r>
              <a:rPr kumimoji="1" lang="en-US" altLang="zh-CN" sz="3200" baseline="-30000">
                <a:latin typeface="华文中宋" panose="02010600040101010101" pitchFamily="2" charset="-122"/>
                <a:ea typeface="华文中宋" panose="02010600040101010101" pitchFamily="2" charset="-122"/>
              </a:rPr>
              <a:t>4</a:t>
            </a:r>
            <a:r>
              <a:rPr kumimoji="1" lang="zh-CN" altLang="en-US" sz="3200">
                <a:latin typeface="华文中宋" panose="02010600040101010101" pitchFamily="2" charset="-122"/>
                <a:ea typeface="华文中宋" panose="02010600040101010101" pitchFamily="2" charset="-122"/>
              </a:rPr>
              <a:t>仅在萌发的第一天存在，第四天后消失</a:t>
            </a:r>
            <a:r>
              <a:rPr kumimoji="1" lang="zh-CN" altLang="en-US" sz="4000">
                <a:latin typeface="华文中宋" panose="02010600040101010101" pitchFamily="2" charset="-122"/>
                <a:ea typeface="华文中宋" panose="02010600040101010101" pitchFamily="2" charset="-122"/>
              </a:rPr>
              <a:t> </a:t>
            </a:r>
          </a:p>
        </p:txBody>
      </p:sp>
      <p:sp>
        <p:nvSpPr>
          <p:cNvPr id="128003" name="Text Box 3">
            <a:extLst>
              <a:ext uri="{FF2B5EF4-FFF2-40B4-BE49-F238E27FC236}">
                <a16:creationId xmlns:a16="http://schemas.microsoft.com/office/drawing/2014/main" id="{BF489BE9-580A-4BF4-B69C-2379CB299B9F}"/>
              </a:ext>
            </a:extLst>
          </p:cNvPr>
          <p:cNvSpPr txBox="1">
            <a:spLocks noChangeArrowheads="1"/>
          </p:cNvSpPr>
          <p:nvPr/>
        </p:nvSpPr>
        <p:spPr bwMode="auto">
          <a:xfrm>
            <a:off x="1371600" y="1066800"/>
            <a:ext cx="6705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a:latin typeface="华文中宋" panose="02010600040101010101" pitchFamily="2" charset="-122"/>
                <a:ea typeface="华文中宋" panose="02010600040101010101" pitchFamily="2" charset="-122"/>
              </a:rPr>
              <a:t>2.</a:t>
            </a:r>
            <a:r>
              <a:rPr kumimoji="1" lang="zh-CN" altLang="en-US" sz="3200">
                <a:latin typeface="华文中宋" panose="02010600040101010101" pitchFamily="2" charset="-122"/>
                <a:ea typeface="华文中宋" panose="02010600040101010101" pitchFamily="2" charset="-122"/>
              </a:rPr>
              <a:t>同工酶与个体发育的关系</a:t>
            </a: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ext Box 2">
            <a:extLst>
              <a:ext uri="{FF2B5EF4-FFF2-40B4-BE49-F238E27FC236}">
                <a16:creationId xmlns:a16="http://schemas.microsoft.com/office/drawing/2014/main" id="{FF112C9E-5CCB-45AD-810C-E32C440F3C35}"/>
              </a:ext>
            </a:extLst>
          </p:cNvPr>
          <p:cNvSpPr txBox="1">
            <a:spLocks noChangeArrowheads="1"/>
          </p:cNvSpPr>
          <p:nvPr/>
        </p:nvSpPr>
        <p:spPr bwMode="auto">
          <a:xfrm>
            <a:off x="1676400" y="990600"/>
            <a:ext cx="6324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a:latin typeface="华文中宋" panose="02010600040101010101" pitchFamily="2" charset="-122"/>
                <a:ea typeface="华文中宋" panose="02010600040101010101" pitchFamily="2" charset="-122"/>
              </a:rPr>
              <a:t>3.</a:t>
            </a:r>
            <a:r>
              <a:rPr kumimoji="1" lang="zh-CN" altLang="en-US" sz="2800">
                <a:latin typeface="华文中宋" panose="02010600040101010101" pitchFamily="2" charset="-122"/>
                <a:ea typeface="华文中宋" panose="02010600040101010101" pitchFamily="2" charset="-122"/>
              </a:rPr>
              <a:t>同工酶与代谢调节的关系</a:t>
            </a:r>
          </a:p>
        </p:txBody>
      </p:sp>
      <p:grpSp>
        <p:nvGrpSpPr>
          <p:cNvPr id="129027" name="Group 3">
            <a:extLst>
              <a:ext uri="{FF2B5EF4-FFF2-40B4-BE49-F238E27FC236}">
                <a16:creationId xmlns:a16="http://schemas.microsoft.com/office/drawing/2014/main" id="{346F6631-BD9B-491C-9E5E-5F5BE48546B7}"/>
              </a:ext>
            </a:extLst>
          </p:cNvPr>
          <p:cNvGrpSpPr>
            <a:grpSpLocks/>
          </p:cNvGrpSpPr>
          <p:nvPr/>
        </p:nvGrpSpPr>
        <p:grpSpPr bwMode="auto">
          <a:xfrm>
            <a:off x="228600" y="2209800"/>
            <a:ext cx="7772400" cy="3352800"/>
            <a:chOff x="144" y="1392"/>
            <a:chExt cx="4896" cy="2112"/>
          </a:xfrm>
        </p:grpSpPr>
        <p:sp>
          <p:nvSpPr>
            <p:cNvPr id="129028" name="Text Box 4">
              <a:extLst>
                <a:ext uri="{FF2B5EF4-FFF2-40B4-BE49-F238E27FC236}">
                  <a16:creationId xmlns:a16="http://schemas.microsoft.com/office/drawing/2014/main" id="{A4D941DF-BFA5-470D-9383-3CC72A5E805F}"/>
                </a:ext>
              </a:extLst>
            </p:cNvPr>
            <p:cNvSpPr txBox="1">
              <a:spLocks noChangeArrowheads="1"/>
            </p:cNvSpPr>
            <p:nvPr/>
          </p:nvSpPr>
          <p:spPr bwMode="auto">
            <a:xfrm>
              <a:off x="144" y="2160"/>
              <a:ext cx="235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600">
                  <a:latin typeface="Times New Roman" panose="02020603050405020304" pitchFamily="18" charset="0"/>
                </a:rPr>
                <a:t>A          B         C  </a:t>
              </a:r>
            </a:p>
          </p:txBody>
        </p:sp>
        <p:sp>
          <p:nvSpPr>
            <p:cNvPr id="129029" name="Text Box 5">
              <a:extLst>
                <a:ext uri="{FF2B5EF4-FFF2-40B4-BE49-F238E27FC236}">
                  <a16:creationId xmlns:a16="http://schemas.microsoft.com/office/drawing/2014/main" id="{1D2E961C-50DB-403A-B786-97ED72D207FE}"/>
                </a:ext>
              </a:extLst>
            </p:cNvPr>
            <p:cNvSpPr txBox="1">
              <a:spLocks noChangeArrowheads="1"/>
            </p:cNvSpPr>
            <p:nvPr/>
          </p:nvSpPr>
          <p:spPr bwMode="auto">
            <a:xfrm>
              <a:off x="2784" y="1536"/>
              <a:ext cx="172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600">
                  <a:latin typeface="Times New Roman" panose="02020603050405020304" pitchFamily="18" charset="0"/>
                </a:rPr>
                <a:t> D         F</a:t>
              </a:r>
            </a:p>
          </p:txBody>
        </p:sp>
        <p:sp>
          <p:nvSpPr>
            <p:cNvPr id="129030" name="Text Box 6">
              <a:extLst>
                <a:ext uri="{FF2B5EF4-FFF2-40B4-BE49-F238E27FC236}">
                  <a16:creationId xmlns:a16="http://schemas.microsoft.com/office/drawing/2014/main" id="{888F0FBE-2702-45F4-984A-2F25B10CAA2A}"/>
                </a:ext>
              </a:extLst>
            </p:cNvPr>
            <p:cNvSpPr txBox="1">
              <a:spLocks noChangeArrowheads="1"/>
            </p:cNvSpPr>
            <p:nvPr/>
          </p:nvSpPr>
          <p:spPr bwMode="auto">
            <a:xfrm>
              <a:off x="2880" y="2736"/>
              <a:ext cx="21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600">
                  <a:latin typeface="Times New Roman" panose="02020603050405020304" pitchFamily="18" charset="0"/>
                </a:rPr>
                <a:t>G             H</a:t>
              </a:r>
            </a:p>
          </p:txBody>
        </p:sp>
        <p:sp>
          <p:nvSpPr>
            <p:cNvPr id="129031" name="Line 7">
              <a:extLst>
                <a:ext uri="{FF2B5EF4-FFF2-40B4-BE49-F238E27FC236}">
                  <a16:creationId xmlns:a16="http://schemas.microsoft.com/office/drawing/2014/main" id="{F6BAEA88-AF4C-4482-A3F0-1142D5D53EB2}"/>
                </a:ext>
              </a:extLst>
            </p:cNvPr>
            <p:cNvSpPr>
              <a:spLocks noChangeShapeType="1"/>
            </p:cNvSpPr>
            <p:nvPr/>
          </p:nvSpPr>
          <p:spPr bwMode="auto">
            <a:xfrm>
              <a:off x="480" y="2400"/>
              <a:ext cx="576"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9032" name="Line 8">
              <a:extLst>
                <a:ext uri="{FF2B5EF4-FFF2-40B4-BE49-F238E27FC236}">
                  <a16:creationId xmlns:a16="http://schemas.microsoft.com/office/drawing/2014/main" id="{678A5F61-2995-46E8-B148-77CB9DDFAEC0}"/>
                </a:ext>
              </a:extLst>
            </p:cNvPr>
            <p:cNvSpPr>
              <a:spLocks noChangeShapeType="1"/>
            </p:cNvSpPr>
            <p:nvPr/>
          </p:nvSpPr>
          <p:spPr bwMode="auto">
            <a:xfrm>
              <a:off x="1344" y="2400"/>
              <a:ext cx="528"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9033" name="Line 9">
              <a:extLst>
                <a:ext uri="{FF2B5EF4-FFF2-40B4-BE49-F238E27FC236}">
                  <a16:creationId xmlns:a16="http://schemas.microsoft.com/office/drawing/2014/main" id="{4D9B3840-5C6F-437D-8F7C-2F43C01340E0}"/>
                </a:ext>
              </a:extLst>
            </p:cNvPr>
            <p:cNvSpPr>
              <a:spLocks noChangeShapeType="1"/>
            </p:cNvSpPr>
            <p:nvPr/>
          </p:nvSpPr>
          <p:spPr bwMode="auto">
            <a:xfrm flipV="1">
              <a:off x="2208" y="1824"/>
              <a:ext cx="576" cy="48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9034" name="Line 10">
              <a:extLst>
                <a:ext uri="{FF2B5EF4-FFF2-40B4-BE49-F238E27FC236}">
                  <a16:creationId xmlns:a16="http://schemas.microsoft.com/office/drawing/2014/main" id="{5B90A21D-9127-4075-86CB-3F738925449E}"/>
                </a:ext>
              </a:extLst>
            </p:cNvPr>
            <p:cNvSpPr>
              <a:spLocks noChangeShapeType="1"/>
            </p:cNvSpPr>
            <p:nvPr/>
          </p:nvSpPr>
          <p:spPr bwMode="auto">
            <a:xfrm>
              <a:off x="2256" y="2448"/>
              <a:ext cx="624" cy="432"/>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9035" name="Line 11">
              <a:extLst>
                <a:ext uri="{FF2B5EF4-FFF2-40B4-BE49-F238E27FC236}">
                  <a16:creationId xmlns:a16="http://schemas.microsoft.com/office/drawing/2014/main" id="{1ADAF19B-C83F-483A-84D0-BD4B5F0DE279}"/>
                </a:ext>
              </a:extLst>
            </p:cNvPr>
            <p:cNvSpPr>
              <a:spLocks noChangeShapeType="1"/>
            </p:cNvSpPr>
            <p:nvPr/>
          </p:nvSpPr>
          <p:spPr bwMode="auto">
            <a:xfrm>
              <a:off x="3216" y="1728"/>
              <a:ext cx="432"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9036" name="Line 12">
              <a:extLst>
                <a:ext uri="{FF2B5EF4-FFF2-40B4-BE49-F238E27FC236}">
                  <a16:creationId xmlns:a16="http://schemas.microsoft.com/office/drawing/2014/main" id="{B4DB604A-C207-4194-AD09-6710876691E2}"/>
                </a:ext>
              </a:extLst>
            </p:cNvPr>
            <p:cNvSpPr>
              <a:spLocks noChangeShapeType="1"/>
            </p:cNvSpPr>
            <p:nvPr/>
          </p:nvSpPr>
          <p:spPr bwMode="auto">
            <a:xfrm>
              <a:off x="3216" y="2976"/>
              <a:ext cx="72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9037" name="Line 13">
              <a:extLst>
                <a:ext uri="{FF2B5EF4-FFF2-40B4-BE49-F238E27FC236}">
                  <a16:creationId xmlns:a16="http://schemas.microsoft.com/office/drawing/2014/main" id="{5F4EEC99-3B34-4759-A2D8-9DE9027A8B9E}"/>
                </a:ext>
              </a:extLst>
            </p:cNvPr>
            <p:cNvSpPr>
              <a:spLocks noChangeShapeType="1"/>
            </p:cNvSpPr>
            <p:nvPr/>
          </p:nvSpPr>
          <p:spPr bwMode="auto">
            <a:xfrm>
              <a:off x="480" y="2304"/>
              <a:ext cx="576"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9038" name="Line 14">
              <a:extLst>
                <a:ext uri="{FF2B5EF4-FFF2-40B4-BE49-F238E27FC236}">
                  <a16:creationId xmlns:a16="http://schemas.microsoft.com/office/drawing/2014/main" id="{167B374C-8BBA-4810-AE9C-451500B1AFF5}"/>
                </a:ext>
              </a:extLst>
            </p:cNvPr>
            <p:cNvSpPr>
              <a:spLocks noChangeShapeType="1"/>
            </p:cNvSpPr>
            <p:nvPr/>
          </p:nvSpPr>
          <p:spPr bwMode="auto">
            <a:xfrm>
              <a:off x="4176" y="3120"/>
              <a:ext cx="0" cy="38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9039" name="Line 15">
              <a:extLst>
                <a:ext uri="{FF2B5EF4-FFF2-40B4-BE49-F238E27FC236}">
                  <a16:creationId xmlns:a16="http://schemas.microsoft.com/office/drawing/2014/main" id="{773E1E82-9B0D-49B7-A6A9-A93EB429A8A4}"/>
                </a:ext>
              </a:extLst>
            </p:cNvPr>
            <p:cNvSpPr>
              <a:spLocks noChangeShapeType="1"/>
            </p:cNvSpPr>
            <p:nvPr/>
          </p:nvSpPr>
          <p:spPr bwMode="auto">
            <a:xfrm>
              <a:off x="768" y="3504"/>
              <a:ext cx="340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9040" name="Line 16">
              <a:extLst>
                <a:ext uri="{FF2B5EF4-FFF2-40B4-BE49-F238E27FC236}">
                  <a16:creationId xmlns:a16="http://schemas.microsoft.com/office/drawing/2014/main" id="{0D90CE93-A554-4442-8BD6-3C5EA79F8AE0}"/>
                </a:ext>
              </a:extLst>
            </p:cNvPr>
            <p:cNvSpPr>
              <a:spLocks noChangeShapeType="1"/>
            </p:cNvSpPr>
            <p:nvPr/>
          </p:nvSpPr>
          <p:spPr bwMode="auto">
            <a:xfrm flipV="1">
              <a:off x="768" y="2544"/>
              <a:ext cx="0" cy="96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9041" name="Line 17">
              <a:extLst>
                <a:ext uri="{FF2B5EF4-FFF2-40B4-BE49-F238E27FC236}">
                  <a16:creationId xmlns:a16="http://schemas.microsoft.com/office/drawing/2014/main" id="{FF908676-DAD7-4AEC-A81C-CB6A13AD31BC}"/>
                </a:ext>
              </a:extLst>
            </p:cNvPr>
            <p:cNvSpPr>
              <a:spLocks noChangeShapeType="1"/>
            </p:cNvSpPr>
            <p:nvPr/>
          </p:nvSpPr>
          <p:spPr bwMode="auto">
            <a:xfrm>
              <a:off x="3840" y="1392"/>
              <a:ext cx="0" cy="24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9042" name="Line 18">
              <a:extLst>
                <a:ext uri="{FF2B5EF4-FFF2-40B4-BE49-F238E27FC236}">
                  <a16:creationId xmlns:a16="http://schemas.microsoft.com/office/drawing/2014/main" id="{B7A272C1-77A0-4D6E-8E00-43E20498D0D5}"/>
                </a:ext>
              </a:extLst>
            </p:cNvPr>
            <p:cNvSpPr>
              <a:spLocks noChangeShapeType="1"/>
            </p:cNvSpPr>
            <p:nvPr/>
          </p:nvSpPr>
          <p:spPr bwMode="auto">
            <a:xfrm>
              <a:off x="672" y="1392"/>
              <a:ext cx="316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9043" name="Line 19">
              <a:extLst>
                <a:ext uri="{FF2B5EF4-FFF2-40B4-BE49-F238E27FC236}">
                  <a16:creationId xmlns:a16="http://schemas.microsoft.com/office/drawing/2014/main" id="{F02A5764-0FCD-4C7E-B9A4-D6AF7C49BDAD}"/>
                </a:ext>
              </a:extLst>
            </p:cNvPr>
            <p:cNvSpPr>
              <a:spLocks noChangeShapeType="1"/>
            </p:cNvSpPr>
            <p:nvPr/>
          </p:nvSpPr>
          <p:spPr bwMode="auto">
            <a:xfrm>
              <a:off x="672" y="1392"/>
              <a:ext cx="0" cy="672"/>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A5930DEF-95CA-45B4-97DF-A3240628DDE9}"/>
              </a:ext>
            </a:extLst>
          </p:cNvPr>
          <p:cNvSpPr>
            <a:spLocks noChangeArrowheads="1"/>
          </p:cNvSpPr>
          <p:nvPr/>
        </p:nvSpPr>
        <p:spPr bwMode="auto">
          <a:xfrm>
            <a:off x="-381000" y="1066800"/>
            <a:ext cx="9525000" cy="521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9875"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pPr>
            <a:r>
              <a:rPr kumimoji="1" lang="en-US" altLang="zh-CN" sz="3200" b="1">
                <a:latin typeface="Times New Roman" panose="02020603050405020304" pitchFamily="18" charset="0"/>
              </a:rPr>
              <a:t>            4.</a:t>
            </a:r>
            <a:r>
              <a:rPr kumimoji="1" lang="zh-CN" altLang="en-US" sz="3200" b="1">
                <a:latin typeface="Times New Roman" panose="02020603050405020304" pitchFamily="18" charset="0"/>
              </a:rPr>
              <a:t>同工酶  用于疾病诊断，灵敏且可靠：</a:t>
            </a:r>
          </a:p>
          <a:p>
            <a:pPr>
              <a:lnSpc>
                <a:spcPct val="150000"/>
              </a:lnSpc>
            </a:pPr>
            <a:r>
              <a:rPr kumimoji="1" lang="zh-CN" altLang="en-US" sz="3200">
                <a:latin typeface="Times New Roman" panose="02020603050405020304" pitchFamily="18" charset="0"/>
              </a:rPr>
              <a:t>  </a:t>
            </a:r>
            <a:r>
              <a:rPr kumimoji="1" lang="zh-CN" altLang="en-US" sz="3200">
                <a:latin typeface="华文中宋" panose="02010600040101010101" pitchFamily="2" charset="-122"/>
                <a:ea typeface="华文中宋" panose="02010600040101010101" pitchFamily="2" charset="-122"/>
              </a:rPr>
              <a:t>心脏疾病      </a:t>
            </a:r>
            <a:r>
              <a:rPr kumimoji="1" lang="en-US" altLang="zh-CN" sz="3200">
                <a:latin typeface="华文中宋" panose="02010600040101010101" pitchFamily="2" charset="-122"/>
                <a:ea typeface="华文中宋" panose="02010600040101010101" pitchFamily="2" charset="-122"/>
              </a:rPr>
              <a:t>LDH</a:t>
            </a:r>
            <a:r>
              <a:rPr kumimoji="1" lang="en-US" altLang="zh-CN" sz="3200" baseline="-30000">
                <a:latin typeface="华文中宋" panose="02010600040101010101" pitchFamily="2" charset="-122"/>
                <a:ea typeface="华文中宋" panose="02010600040101010101" pitchFamily="2" charset="-122"/>
              </a:rPr>
              <a:t>1</a:t>
            </a:r>
            <a:r>
              <a:rPr kumimoji="1" lang="en-US" altLang="zh-CN" sz="3200">
                <a:latin typeface="华文中宋" panose="02010600040101010101" pitchFamily="2" charset="-122"/>
                <a:ea typeface="华文中宋" panose="02010600040101010101" pitchFamily="2" charset="-122"/>
              </a:rPr>
              <a:t>↗  LDH</a:t>
            </a:r>
            <a:r>
              <a:rPr kumimoji="1" lang="en-US" altLang="zh-CN" sz="3200" baseline="-30000">
                <a:latin typeface="华文中宋" panose="02010600040101010101" pitchFamily="2" charset="-122"/>
                <a:ea typeface="华文中宋" panose="02010600040101010101" pitchFamily="2" charset="-122"/>
              </a:rPr>
              <a:t>2</a:t>
            </a:r>
            <a:r>
              <a:rPr kumimoji="1" lang="en-US" altLang="zh-CN" sz="3200">
                <a:latin typeface="华文中宋" panose="02010600040101010101" pitchFamily="2" charset="-122"/>
                <a:ea typeface="华文中宋" panose="02010600040101010101" pitchFamily="2" charset="-122"/>
              </a:rPr>
              <a:t>↗  LDH</a:t>
            </a:r>
            <a:r>
              <a:rPr kumimoji="1" lang="en-US" altLang="zh-CN" sz="3200" baseline="-30000">
                <a:latin typeface="华文中宋" panose="02010600040101010101" pitchFamily="2" charset="-122"/>
                <a:ea typeface="华文中宋" panose="02010600040101010101" pitchFamily="2" charset="-122"/>
              </a:rPr>
              <a:t>3</a:t>
            </a:r>
            <a:r>
              <a:rPr kumimoji="1" lang="en-US" altLang="zh-CN" sz="3200">
                <a:latin typeface="华文中宋" panose="02010600040101010101" pitchFamily="2" charset="-122"/>
                <a:ea typeface="华文中宋" panose="02010600040101010101" pitchFamily="2" charset="-122"/>
              </a:rPr>
              <a:t>   LDH</a:t>
            </a:r>
            <a:r>
              <a:rPr kumimoji="1" lang="en-US" altLang="zh-CN" sz="3200" baseline="-30000">
                <a:latin typeface="华文中宋" panose="02010600040101010101" pitchFamily="2" charset="-122"/>
                <a:ea typeface="华文中宋" panose="02010600040101010101" pitchFamily="2" charset="-122"/>
              </a:rPr>
              <a:t>5</a:t>
            </a:r>
            <a:r>
              <a:rPr kumimoji="1" lang="en-US" altLang="zh-CN" sz="3200">
                <a:latin typeface="华文中宋" panose="02010600040101010101" pitchFamily="2" charset="-122"/>
                <a:ea typeface="华文中宋" panose="02010600040101010101" pitchFamily="2" charset="-122"/>
              </a:rPr>
              <a:t>↘</a:t>
            </a:r>
          </a:p>
          <a:p>
            <a:pPr>
              <a:lnSpc>
                <a:spcPct val="125000"/>
              </a:lnSpc>
            </a:pPr>
            <a:r>
              <a:rPr kumimoji="1" lang="en-US" altLang="zh-CN" sz="3200">
                <a:latin typeface="华文中宋" panose="02010600040101010101" pitchFamily="2" charset="-122"/>
                <a:ea typeface="华文中宋" panose="02010600040101010101" pitchFamily="2" charset="-122"/>
              </a:rPr>
              <a:t>  </a:t>
            </a:r>
            <a:r>
              <a:rPr kumimoji="1" lang="zh-CN" altLang="en-US" sz="3200">
                <a:latin typeface="华文中宋" panose="02010600040101010101" pitchFamily="2" charset="-122"/>
                <a:ea typeface="华文中宋" panose="02010600040101010101" pitchFamily="2" charset="-122"/>
              </a:rPr>
              <a:t>急性肝炎      </a:t>
            </a:r>
            <a:r>
              <a:rPr kumimoji="1" lang="en-US" altLang="zh-CN" sz="3200">
                <a:latin typeface="华文中宋" panose="02010600040101010101" pitchFamily="2" charset="-122"/>
                <a:ea typeface="华文中宋" panose="02010600040101010101" pitchFamily="2" charset="-122"/>
              </a:rPr>
              <a:t>LDH</a:t>
            </a:r>
            <a:r>
              <a:rPr kumimoji="1" lang="en-US" altLang="zh-CN" sz="3200" baseline="-30000">
                <a:latin typeface="华文中宋" panose="02010600040101010101" pitchFamily="2" charset="-122"/>
                <a:ea typeface="华文中宋" panose="02010600040101010101" pitchFamily="2" charset="-122"/>
              </a:rPr>
              <a:t>5</a:t>
            </a:r>
            <a:r>
              <a:rPr kumimoji="1" lang="en-US" altLang="zh-CN" sz="3200">
                <a:latin typeface="华文中宋" panose="02010600040101010101" pitchFamily="2" charset="-122"/>
                <a:ea typeface="华文中宋" panose="02010600040101010101" pitchFamily="2" charset="-122"/>
              </a:rPr>
              <a:t>↗ </a:t>
            </a:r>
          </a:p>
          <a:p>
            <a:pPr>
              <a:lnSpc>
                <a:spcPct val="125000"/>
              </a:lnSpc>
            </a:pPr>
            <a:r>
              <a:rPr kumimoji="1" lang="en-US" altLang="zh-CN" sz="3200">
                <a:latin typeface="华文中宋" panose="02010600040101010101" pitchFamily="2" charset="-122"/>
                <a:ea typeface="华文中宋" panose="02010600040101010101" pitchFamily="2" charset="-122"/>
              </a:rPr>
              <a:t>  </a:t>
            </a:r>
            <a:r>
              <a:rPr kumimoji="1" lang="zh-CN" altLang="en-US" sz="3200">
                <a:latin typeface="华文中宋" panose="02010600040101010101" pitchFamily="2" charset="-122"/>
                <a:ea typeface="华文中宋" panose="02010600040101010101" pitchFamily="2" charset="-122"/>
              </a:rPr>
              <a:t>肝硬化        </a:t>
            </a:r>
            <a:r>
              <a:rPr kumimoji="1" lang="en-US" altLang="zh-CN" sz="3200">
                <a:latin typeface="华文中宋" panose="02010600040101010101" pitchFamily="2" charset="-122"/>
                <a:ea typeface="华文中宋" panose="02010600040101010101" pitchFamily="2" charset="-122"/>
              </a:rPr>
              <a:t>LDH</a:t>
            </a:r>
            <a:r>
              <a:rPr kumimoji="1" lang="en-US" altLang="zh-CN" sz="3200" baseline="-30000">
                <a:latin typeface="华文中宋" panose="02010600040101010101" pitchFamily="2" charset="-122"/>
                <a:ea typeface="华文中宋" panose="02010600040101010101" pitchFamily="2" charset="-122"/>
              </a:rPr>
              <a:t>5   </a:t>
            </a:r>
            <a:r>
              <a:rPr kumimoji="1" lang="en-US" altLang="zh-CN" sz="3200">
                <a:latin typeface="华文中宋" panose="02010600040101010101" pitchFamily="2" charset="-122"/>
                <a:ea typeface="华文中宋" panose="02010600040101010101" pitchFamily="2" charset="-122"/>
              </a:rPr>
              <a:t>  LDH</a:t>
            </a:r>
            <a:r>
              <a:rPr kumimoji="1" lang="en-US" altLang="zh-CN" sz="3200" baseline="-30000">
                <a:latin typeface="华文中宋" panose="02010600040101010101" pitchFamily="2" charset="-122"/>
                <a:ea typeface="华文中宋" panose="02010600040101010101" pitchFamily="2" charset="-122"/>
              </a:rPr>
              <a:t>1     </a:t>
            </a:r>
            <a:r>
              <a:rPr kumimoji="1" lang="en-US" altLang="zh-CN" sz="3200">
                <a:latin typeface="华文中宋" panose="02010600040101010101" pitchFamily="2" charset="-122"/>
                <a:ea typeface="华文中宋" panose="02010600040101010101" pitchFamily="2" charset="-122"/>
              </a:rPr>
              <a:t>  LDH</a:t>
            </a:r>
            <a:r>
              <a:rPr kumimoji="1" lang="en-US" altLang="zh-CN" sz="3200" baseline="-30000">
                <a:latin typeface="华文中宋" panose="02010600040101010101" pitchFamily="2" charset="-122"/>
                <a:ea typeface="华文中宋" panose="02010600040101010101" pitchFamily="2" charset="-122"/>
              </a:rPr>
              <a:t>3</a:t>
            </a:r>
            <a:r>
              <a:rPr kumimoji="1" lang="en-US" altLang="zh-CN" sz="3200">
                <a:latin typeface="华文中宋" panose="02010600040101010101" pitchFamily="2" charset="-122"/>
                <a:ea typeface="华文中宋" panose="02010600040101010101" pitchFamily="2" charset="-122"/>
              </a:rPr>
              <a:t>↗  </a:t>
            </a:r>
          </a:p>
          <a:p>
            <a:pPr>
              <a:lnSpc>
                <a:spcPct val="125000"/>
              </a:lnSpc>
            </a:pPr>
            <a:r>
              <a:rPr kumimoji="1" lang="en-US" altLang="zh-CN" sz="3200">
                <a:latin typeface="华文中宋" panose="02010600040101010101" pitchFamily="2" charset="-122"/>
                <a:ea typeface="华文中宋" panose="02010600040101010101" pitchFamily="2" charset="-122"/>
              </a:rPr>
              <a:t>  </a:t>
            </a:r>
            <a:r>
              <a:rPr kumimoji="1" lang="zh-CN" altLang="en-US" sz="3200">
                <a:latin typeface="华文中宋" panose="02010600040101010101" pitchFamily="2" charset="-122"/>
                <a:ea typeface="华文中宋" panose="02010600040101010101" pitchFamily="2" charset="-122"/>
              </a:rPr>
              <a:t>原发生肝癌    </a:t>
            </a:r>
            <a:r>
              <a:rPr kumimoji="1" lang="en-US" altLang="zh-CN" sz="3200">
                <a:latin typeface="华文中宋" panose="02010600040101010101" pitchFamily="2" charset="-122"/>
                <a:ea typeface="华文中宋" panose="02010600040101010101" pitchFamily="2" charset="-122"/>
              </a:rPr>
              <a:t>LDH</a:t>
            </a:r>
            <a:r>
              <a:rPr kumimoji="1" lang="en-US" altLang="zh-CN" sz="3200" baseline="-30000">
                <a:latin typeface="华文中宋" panose="02010600040101010101" pitchFamily="2" charset="-122"/>
                <a:ea typeface="华文中宋" panose="02010600040101010101" pitchFamily="2" charset="-122"/>
              </a:rPr>
              <a:t>3   </a:t>
            </a:r>
            <a:r>
              <a:rPr kumimoji="1" lang="en-US" altLang="zh-CN" sz="3200">
                <a:latin typeface="华文中宋" panose="02010600040101010101" pitchFamily="2" charset="-122"/>
                <a:ea typeface="华文中宋" panose="02010600040101010101" pitchFamily="2" charset="-122"/>
              </a:rPr>
              <a:t>  LDH</a:t>
            </a:r>
            <a:r>
              <a:rPr kumimoji="1" lang="en-US" altLang="zh-CN" sz="3200" baseline="-30000">
                <a:latin typeface="华文中宋" panose="02010600040101010101" pitchFamily="2" charset="-122"/>
                <a:ea typeface="华文中宋" panose="02010600040101010101" pitchFamily="2" charset="-122"/>
              </a:rPr>
              <a:t>4 </a:t>
            </a:r>
            <a:r>
              <a:rPr kumimoji="1" lang="en-US" altLang="zh-CN" sz="3200">
                <a:latin typeface="华文中宋" panose="02010600040101010101" pitchFamily="2" charset="-122"/>
                <a:ea typeface="华文中宋" panose="02010600040101010101" pitchFamily="2" charset="-122"/>
              </a:rPr>
              <a:t>    LDH</a:t>
            </a:r>
            <a:r>
              <a:rPr kumimoji="1" lang="en-US" altLang="zh-CN" sz="3200" baseline="-30000">
                <a:latin typeface="华文中宋" panose="02010600040101010101" pitchFamily="2" charset="-122"/>
                <a:ea typeface="华文中宋" panose="02010600040101010101" pitchFamily="2" charset="-122"/>
              </a:rPr>
              <a:t>5</a:t>
            </a:r>
            <a:r>
              <a:rPr kumimoji="1" lang="en-US" altLang="zh-CN" sz="3200">
                <a:latin typeface="华文中宋" panose="02010600040101010101" pitchFamily="2" charset="-122"/>
                <a:ea typeface="华文中宋" panose="02010600040101010101" pitchFamily="2" charset="-122"/>
              </a:rPr>
              <a:t>↗</a:t>
            </a:r>
            <a:r>
              <a:rPr kumimoji="1" lang="zh-CN" altLang="en-US" sz="3200">
                <a:latin typeface="华文中宋" panose="02010600040101010101" pitchFamily="2" charset="-122"/>
                <a:ea typeface="华文中宋" panose="02010600040101010101" pitchFamily="2" charset="-122"/>
              </a:rPr>
              <a:t>，</a:t>
            </a:r>
          </a:p>
          <a:p>
            <a:pPr>
              <a:lnSpc>
                <a:spcPct val="125000"/>
              </a:lnSpc>
            </a:pPr>
            <a:r>
              <a:rPr kumimoji="1" lang="zh-CN" altLang="en-US" sz="3200">
                <a:latin typeface="华文中宋" panose="02010600040101010101" pitchFamily="2" charset="-122"/>
                <a:ea typeface="华文中宋" panose="02010600040101010101" pitchFamily="2" charset="-122"/>
              </a:rPr>
              <a:t>                             但</a:t>
            </a:r>
            <a:r>
              <a:rPr kumimoji="1" lang="en-US" altLang="zh-CN" sz="3200">
                <a:latin typeface="华文中宋" panose="02010600040101010101" pitchFamily="2" charset="-122"/>
                <a:ea typeface="华文中宋" panose="02010600040101010101" pitchFamily="2" charset="-122"/>
              </a:rPr>
              <a:t>LDH</a:t>
            </a:r>
            <a:r>
              <a:rPr kumimoji="1" lang="en-US" altLang="zh-CN" sz="3200" baseline="-30000">
                <a:latin typeface="华文中宋" panose="02010600040101010101" pitchFamily="2" charset="-122"/>
                <a:ea typeface="华文中宋" panose="02010600040101010101" pitchFamily="2" charset="-122"/>
              </a:rPr>
              <a:t>5</a:t>
            </a:r>
            <a:r>
              <a:rPr kumimoji="1" lang="zh-CN" altLang="en-US" sz="3200">
                <a:latin typeface="华文中宋" panose="02010600040101010101" pitchFamily="2" charset="-122"/>
                <a:ea typeface="华文中宋" panose="02010600040101010101" pitchFamily="2" charset="-122"/>
              </a:rPr>
              <a:t>＞</a:t>
            </a:r>
            <a:r>
              <a:rPr kumimoji="1" lang="en-US" altLang="zh-CN" sz="3200">
                <a:latin typeface="华文中宋" panose="02010600040101010101" pitchFamily="2" charset="-122"/>
                <a:ea typeface="华文中宋" panose="02010600040101010101" pitchFamily="2" charset="-122"/>
              </a:rPr>
              <a:t>LDH</a:t>
            </a:r>
            <a:r>
              <a:rPr kumimoji="1" lang="en-US" altLang="zh-CN" sz="2000">
                <a:latin typeface="华文中宋" panose="02010600040101010101" pitchFamily="2" charset="-122"/>
                <a:ea typeface="华文中宋" panose="02010600040101010101" pitchFamily="2" charset="-122"/>
              </a:rPr>
              <a:t>4</a:t>
            </a:r>
          </a:p>
          <a:p>
            <a:pPr>
              <a:lnSpc>
                <a:spcPct val="125000"/>
              </a:lnSpc>
            </a:pPr>
            <a:r>
              <a:rPr kumimoji="1" lang="en-US" altLang="zh-CN" sz="3200">
                <a:latin typeface="华文中宋" panose="02010600040101010101" pitchFamily="2" charset="-122"/>
                <a:ea typeface="华文中宋" panose="02010600040101010101" pitchFamily="2" charset="-122"/>
              </a:rPr>
              <a:t>   </a:t>
            </a:r>
            <a:r>
              <a:rPr kumimoji="1" lang="zh-CN" altLang="en-US" sz="3200">
                <a:latin typeface="华文中宋" panose="02010600040101010101" pitchFamily="2" charset="-122"/>
                <a:ea typeface="华文中宋" panose="02010600040101010101" pitchFamily="2" charset="-122"/>
              </a:rPr>
              <a:t>转移性肝癌    </a:t>
            </a:r>
            <a:r>
              <a:rPr kumimoji="1" lang="en-US" altLang="zh-CN" sz="3200">
                <a:latin typeface="华文中宋" panose="02010600040101010101" pitchFamily="2" charset="-122"/>
                <a:ea typeface="华文中宋" panose="02010600040101010101" pitchFamily="2" charset="-122"/>
              </a:rPr>
              <a:t>LDH</a:t>
            </a:r>
            <a:r>
              <a:rPr kumimoji="1" lang="en-US" altLang="zh-CN" sz="3200" baseline="-30000">
                <a:latin typeface="华文中宋" panose="02010600040101010101" pitchFamily="2" charset="-122"/>
                <a:ea typeface="华文中宋" panose="02010600040101010101" pitchFamily="2" charset="-122"/>
              </a:rPr>
              <a:t>3   </a:t>
            </a:r>
            <a:r>
              <a:rPr kumimoji="1" lang="en-US" altLang="zh-CN" sz="3200">
                <a:latin typeface="华文中宋" panose="02010600040101010101" pitchFamily="2" charset="-122"/>
                <a:ea typeface="华文中宋" panose="02010600040101010101" pitchFamily="2" charset="-122"/>
              </a:rPr>
              <a:t>  LDH</a:t>
            </a:r>
            <a:r>
              <a:rPr kumimoji="1" lang="en-US" altLang="zh-CN" sz="3200" baseline="-30000">
                <a:latin typeface="华文中宋" panose="02010600040101010101" pitchFamily="2" charset="-122"/>
                <a:ea typeface="华文中宋" panose="02010600040101010101" pitchFamily="2" charset="-122"/>
              </a:rPr>
              <a:t>4 </a:t>
            </a:r>
            <a:r>
              <a:rPr kumimoji="1" lang="en-US" altLang="zh-CN" sz="3200">
                <a:latin typeface="华文中宋" panose="02010600040101010101" pitchFamily="2" charset="-122"/>
                <a:ea typeface="华文中宋" panose="02010600040101010101" pitchFamily="2" charset="-122"/>
              </a:rPr>
              <a:t>    LDH</a:t>
            </a:r>
            <a:r>
              <a:rPr kumimoji="1" lang="en-US" altLang="zh-CN" sz="3200" baseline="-30000">
                <a:latin typeface="华文中宋" panose="02010600040101010101" pitchFamily="2" charset="-122"/>
                <a:ea typeface="华文中宋" panose="02010600040101010101" pitchFamily="2" charset="-122"/>
              </a:rPr>
              <a:t>5</a:t>
            </a:r>
            <a:r>
              <a:rPr kumimoji="1" lang="en-US" altLang="zh-CN" sz="3200">
                <a:latin typeface="华文中宋" panose="02010600040101010101" pitchFamily="2" charset="-122"/>
                <a:ea typeface="华文中宋" panose="02010600040101010101" pitchFamily="2" charset="-122"/>
              </a:rPr>
              <a:t>↗</a:t>
            </a:r>
            <a:r>
              <a:rPr kumimoji="1" lang="zh-CN" altLang="en-US" sz="3200">
                <a:latin typeface="华文中宋" panose="02010600040101010101" pitchFamily="2" charset="-122"/>
                <a:ea typeface="华文中宋" panose="02010600040101010101" pitchFamily="2" charset="-122"/>
              </a:rPr>
              <a:t>，</a:t>
            </a:r>
          </a:p>
          <a:p>
            <a:pPr>
              <a:lnSpc>
                <a:spcPct val="125000"/>
              </a:lnSpc>
            </a:pPr>
            <a:r>
              <a:rPr kumimoji="1" lang="zh-CN" altLang="en-US" sz="3200">
                <a:latin typeface="华文中宋" panose="02010600040101010101" pitchFamily="2" charset="-122"/>
                <a:ea typeface="华文中宋" panose="02010600040101010101" pitchFamily="2" charset="-122"/>
              </a:rPr>
              <a:t>                            但</a:t>
            </a:r>
            <a:r>
              <a:rPr kumimoji="1" lang="en-US" altLang="zh-CN" sz="3200">
                <a:latin typeface="华文中宋" panose="02010600040101010101" pitchFamily="2" charset="-122"/>
                <a:ea typeface="华文中宋" panose="02010600040101010101" pitchFamily="2" charset="-122"/>
              </a:rPr>
              <a:t>LDH</a:t>
            </a:r>
            <a:r>
              <a:rPr kumimoji="1" lang="en-US" altLang="zh-CN" sz="3200" baseline="-30000">
                <a:latin typeface="华文中宋" panose="02010600040101010101" pitchFamily="2" charset="-122"/>
                <a:ea typeface="华文中宋" panose="02010600040101010101" pitchFamily="2" charset="-122"/>
              </a:rPr>
              <a:t>4</a:t>
            </a:r>
            <a:r>
              <a:rPr kumimoji="1" lang="zh-CN" altLang="en-US" sz="3200">
                <a:latin typeface="华文中宋" panose="02010600040101010101" pitchFamily="2" charset="-122"/>
                <a:ea typeface="华文中宋" panose="02010600040101010101" pitchFamily="2" charset="-122"/>
              </a:rPr>
              <a:t>＞</a:t>
            </a:r>
            <a:r>
              <a:rPr kumimoji="1" lang="en-US" altLang="zh-CN" sz="3200">
                <a:latin typeface="华文中宋" panose="02010600040101010101" pitchFamily="2" charset="-122"/>
                <a:ea typeface="华文中宋" panose="02010600040101010101" pitchFamily="2" charset="-122"/>
              </a:rPr>
              <a:t>LDH</a:t>
            </a:r>
            <a:r>
              <a:rPr kumimoji="1" lang="en-US" altLang="zh-CN" sz="2000">
                <a:latin typeface="华文中宋" panose="02010600040101010101" pitchFamily="2" charset="-122"/>
                <a:ea typeface="华文中宋" panose="02010600040101010101" pitchFamily="2" charset="-122"/>
              </a:rPr>
              <a:t>5</a:t>
            </a:r>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223B6775-3AF7-4575-8D49-E80781DB20D3}"/>
              </a:ext>
            </a:extLst>
          </p:cNvPr>
          <p:cNvSpPr>
            <a:spLocks noGrp="1" noRot="1" noChangeArrowheads="1"/>
          </p:cNvSpPr>
          <p:nvPr>
            <p:ph type="title"/>
          </p:nvPr>
        </p:nvSpPr>
        <p:spPr/>
        <p:txBody>
          <a:bodyPr/>
          <a:lstStyle/>
          <a:p>
            <a:pPr eaLnBrk="1" hangingPunct="1"/>
            <a:r>
              <a:rPr lang="en-US" altLang="zh-CN" sz="4000" b="1">
                <a:solidFill>
                  <a:schemeClr val="tx1"/>
                </a:solidFill>
                <a:latin typeface="Times New Roman" panose="02020603050405020304" pitchFamily="18" charset="0"/>
              </a:rPr>
              <a:t>   C4   Enzyme inhibition</a:t>
            </a:r>
            <a:br>
              <a:rPr lang="en-US" altLang="zh-CN" sz="4000" b="1">
                <a:solidFill>
                  <a:schemeClr val="tx1"/>
                </a:solidFill>
                <a:latin typeface="Times New Roman" panose="02020603050405020304" pitchFamily="18" charset="0"/>
              </a:rPr>
            </a:br>
            <a:endParaRPr lang="en-US" altLang="zh-CN" sz="4000" b="1">
              <a:solidFill>
                <a:schemeClr val="tx1"/>
              </a:solidFill>
              <a:latin typeface="Times New Roman" panose="02020603050405020304" pitchFamily="18" charset="0"/>
            </a:endParaRPr>
          </a:p>
        </p:txBody>
      </p:sp>
      <p:sp>
        <p:nvSpPr>
          <p:cNvPr id="131075" name="Rectangle 3">
            <a:extLst>
              <a:ext uri="{FF2B5EF4-FFF2-40B4-BE49-F238E27FC236}">
                <a16:creationId xmlns:a16="http://schemas.microsoft.com/office/drawing/2014/main" id="{79C3B7CC-3BF1-459B-9E75-14C332DCA325}"/>
              </a:ext>
            </a:extLst>
          </p:cNvPr>
          <p:cNvSpPr>
            <a:spLocks noGrp="1" noRot="1" noChangeArrowheads="1"/>
          </p:cNvSpPr>
          <p:nvPr>
            <p:ph type="body" idx="1"/>
          </p:nvPr>
        </p:nvSpPr>
        <p:spPr>
          <a:xfrm>
            <a:off x="1014413" y="2522538"/>
            <a:ext cx="5902325" cy="2339975"/>
          </a:xfrm>
        </p:spPr>
        <p:txBody>
          <a:bodyPr/>
          <a:lstStyle/>
          <a:p>
            <a:pPr eaLnBrk="1" hangingPunct="1"/>
            <a:r>
              <a:rPr lang="en-US" altLang="zh-CN" sz="4000" dirty="0"/>
              <a:t>Enzyme inhibition</a:t>
            </a:r>
          </a:p>
          <a:p>
            <a:pPr eaLnBrk="1" hangingPunct="1"/>
            <a:r>
              <a:rPr lang="en-US" altLang="zh-CN" sz="4000" dirty="0"/>
              <a:t>Reversible inhibition</a:t>
            </a:r>
          </a:p>
          <a:p>
            <a:pPr eaLnBrk="1" hangingPunct="1"/>
            <a:r>
              <a:rPr lang="en-US" altLang="zh-CN" sz="4000" dirty="0"/>
              <a:t>Irreversible inhibition</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2">
            <a:extLst>
              <a:ext uri="{FF2B5EF4-FFF2-40B4-BE49-F238E27FC236}">
                <a16:creationId xmlns:a16="http://schemas.microsoft.com/office/drawing/2014/main" id="{BC9E286D-1461-4B1B-A305-D7AA0530A313}"/>
              </a:ext>
            </a:extLst>
          </p:cNvPr>
          <p:cNvSpPr txBox="1">
            <a:spLocks noChangeArrowheads="1"/>
          </p:cNvSpPr>
          <p:nvPr/>
        </p:nvSpPr>
        <p:spPr bwMode="auto">
          <a:xfrm>
            <a:off x="533400" y="588963"/>
            <a:ext cx="8305800" cy="5126037"/>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dirty="0">
                <a:solidFill>
                  <a:srgbClr val="FF0000"/>
                </a:solidFill>
                <a:latin typeface="Times New Roman" panose="02020603050405020304" pitchFamily="18" charset="0"/>
              </a:rPr>
              <a:t>1. The inhibition of enzymatic activity by specific small molecules and ions is important.</a:t>
            </a:r>
          </a:p>
          <a:p>
            <a:pPr eaLnBrk="1" hangingPunct="1">
              <a:spcBef>
                <a:spcPct val="50000"/>
              </a:spcBef>
            </a:pPr>
            <a:r>
              <a:rPr kumimoji="1" lang="en-US" altLang="zh-CN" sz="2800" b="1" dirty="0">
                <a:latin typeface="Times New Roman" panose="02020603050405020304" pitchFamily="18" charset="0"/>
              </a:rPr>
              <a:t>	1.1 It serves as a </a:t>
            </a:r>
            <a:r>
              <a:rPr kumimoji="1" lang="en-US" altLang="zh-CN" sz="2800" b="1" dirty="0">
                <a:solidFill>
                  <a:srgbClr val="FF0066"/>
                </a:solidFill>
                <a:latin typeface="Times New Roman" panose="02020603050405020304" pitchFamily="18" charset="0"/>
              </a:rPr>
              <a:t>major control mechanism</a:t>
            </a:r>
            <a:r>
              <a:rPr kumimoji="1" lang="en-US" altLang="zh-CN" sz="2800" b="1" dirty="0">
                <a:latin typeface="Times New Roman" panose="02020603050405020304" pitchFamily="18" charset="0"/>
              </a:rPr>
              <a:t> in biological systems.</a:t>
            </a:r>
          </a:p>
          <a:p>
            <a:pPr eaLnBrk="1" hangingPunct="1">
              <a:spcBef>
                <a:spcPct val="50000"/>
              </a:spcBef>
            </a:pPr>
            <a:r>
              <a:rPr kumimoji="1" lang="en-US" altLang="zh-CN" sz="2800" b="1" dirty="0">
                <a:latin typeface="Times New Roman" panose="02020603050405020304" pitchFamily="18" charset="0"/>
              </a:rPr>
              <a:t>	1.2 Many drugs and toxic agents act by inhibiting enzymes.</a:t>
            </a:r>
          </a:p>
          <a:p>
            <a:pPr eaLnBrk="1" hangingPunct="1">
              <a:spcBef>
                <a:spcPct val="50000"/>
              </a:spcBef>
            </a:pPr>
            <a:r>
              <a:rPr kumimoji="1" lang="en-US" altLang="zh-CN" sz="2800" b="1" dirty="0">
                <a:latin typeface="Times New Roman" panose="02020603050405020304" pitchFamily="18" charset="0"/>
              </a:rPr>
              <a:t>	1.3 Inhibition can be a source of insight into the mechanism of enzyme action: </a:t>
            </a:r>
            <a:r>
              <a:rPr kumimoji="1" lang="en-US" altLang="zh-CN" sz="2800" b="1" dirty="0">
                <a:solidFill>
                  <a:srgbClr val="FF0000"/>
                </a:solidFill>
                <a:latin typeface="Times New Roman" panose="02020603050405020304" pitchFamily="18" charset="0"/>
              </a:rPr>
              <a:t>residues critical for catalysis </a:t>
            </a:r>
            <a:r>
              <a:rPr kumimoji="1" lang="en-US" altLang="zh-CN" sz="2800" b="1" dirty="0">
                <a:latin typeface="Times New Roman" panose="02020603050405020304" pitchFamily="18" charset="0"/>
              </a:rPr>
              <a:t>can often be identified by using specific (irreversible) inhibitors.</a:t>
            </a:r>
            <a:endParaRPr kumimoji="1" lang="en-US" altLang="zh-CN" sz="2400" dirty="0">
              <a:latin typeface="Times New Roman" panose="02020603050405020304" pitchFamily="18"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ext Box 2">
            <a:extLst>
              <a:ext uri="{FF2B5EF4-FFF2-40B4-BE49-F238E27FC236}">
                <a16:creationId xmlns:a16="http://schemas.microsoft.com/office/drawing/2014/main" id="{A33B066D-CA35-4FA6-AB33-74175372943F}"/>
              </a:ext>
            </a:extLst>
          </p:cNvPr>
          <p:cNvSpPr txBox="1">
            <a:spLocks noChangeArrowheads="1"/>
          </p:cNvSpPr>
          <p:nvPr/>
        </p:nvSpPr>
        <p:spPr bwMode="auto">
          <a:xfrm>
            <a:off x="381000" y="457200"/>
            <a:ext cx="8458200" cy="542448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30000"/>
              </a:spcBef>
            </a:pPr>
            <a:r>
              <a:rPr kumimoji="1" lang="en-US" altLang="zh-CN" sz="3200" b="1" dirty="0">
                <a:solidFill>
                  <a:srgbClr val="FF0000"/>
                </a:solidFill>
                <a:latin typeface="Times New Roman" panose="02020603050405020304" pitchFamily="18" charset="0"/>
              </a:rPr>
              <a:t>2. Reversible inhibition can usually be divided into different types.</a:t>
            </a:r>
          </a:p>
          <a:p>
            <a:pPr eaLnBrk="1" hangingPunct="1">
              <a:spcBef>
                <a:spcPct val="30000"/>
              </a:spcBef>
            </a:pPr>
            <a:r>
              <a:rPr kumimoji="1" lang="en-US" altLang="zh-CN" sz="2800" b="1" dirty="0">
                <a:latin typeface="Times New Roman" panose="02020603050405020304" pitchFamily="18" charset="0"/>
              </a:rPr>
              <a:t>	2.1 Reversible inhibitors bind to enzyme noncovalently.</a:t>
            </a:r>
          </a:p>
          <a:p>
            <a:pPr eaLnBrk="1" hangingPunct="1">
              <a:spcBef>
                <a:spcPct val="30000"/>
              </a:spcBef>
            </a:pPr>
            <a:r>
              <a:rPr kumimoji="1" lang="en-US" altLang="zh-CN" sz="2800" b="1" dirty="0">
                <a:latin typeface="Times New Roman" panose="02020603050405020304" pitchFamily="18" charset="0"/>
              </a:rPr>
              <a:t>	2.2 In competitive inhibition, the inhibitor </a:t>
            </a:r>
            <a:r>
              <a:rPr kumimoji="1" lang="en-US" altLang="zh-CN" sz="2800" b="1" dirty="0">
                <a:solidFill>
                  <a:srgbClr val="FF0066"/>
                </a:solidFill>
                <a:latin typeface="Times New Roman" panose="02020603050405020304" pitchFamily="18" charset="0"/>
              </a:rPr>
              <a:t>competes with the substrate for the active site</a:t>
            </a:r>
            <a:r>
              <a:rPr kumimoji="1" lang="en-US" altLang="zh-CN" sz="2800" b="1" dirty="0">
                <a:latin typeface="Times New Roman" panose="02020603050405020304" pitchFamily="18" charset="0"/>
              </a:rPr>
              <a:t> (binding of one prevents binding of the other, forming ES or EI complexes but no ESI complexes.).</a:t>
            </a:r>
          </a:p>
          <a:p>
            <a:pPr eaLnBrk="1" hangingPunct="1">
              <a:spcBef>
                <a:spcPct val="30000"/>
              </a:spcBef>
            </a:pPr>
            <a:r>
              <a:rPr kumimoji="1" lang="en-US" altLang="zh-CN" sz="2800" b="1" dirty="0">
                <a:latin typeface="Times New Roman" panose="02020603050405020304" pitchFamily="18" charset="0"/>
              </a:rPr>
              <a:t>	2.3 Competitive inhibitors are often compounds that </a:t>
            </a:r>
            <a:r>
              <a:rPr kumimoji="1" lang="en-US" altLang="zh-CN" sz="2800" b="1" dirty="0">
                <a:solidFill>
                  <a:srgbClr val="FF0066"/>
                </a:solidFill>
                <a:latin typeface="Times New Roman" panose="02020603050405020304" pitchFamily="18" charset="0"/>
              </a:rPr>
              <a:t>resemble</a:t>
            </a:r>
            <a:r>
              <a:rPr kumimoji="1" lang="en-US" altLang="zh-CN" sz="2800" b="1" dirty="0">
                <a:latin typeface="Times New Roman" panose="02020603050405020304" pitchFamily="18" charset="0"/>
              </a:rPr>
              <a:t> the substrates.</a:t>
            </a:r>
          </a:p>
          <a:p>
            <a:pPr eaLnBrk="1" hangingPunct="1">
              <a:spcBef>
                <a:spcPct val="30000"/>
              </a:spcBef>
            </a:pPr>
            <a:r>
              <a:rPr kumimoji="1" lang="en-US" altLang="zh-CN" sz="2800" b="1" dirty="0">
                <a:latin typeface="Times New Roman" panose="02020603050405020304" pitchFamily="18" charset="0"/>
              </a:rPr>
              <a:t>	</a:t>
            </a:r>
            <a:endParaRPr kumimoji="1" lang="en-US" altLang="zh-CN" sz="2400" dirty="0">
              <a:latin typeface="Times New Roman" panose="02020603050405020304" pitchFamily="18" charset="0"/>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170" name="Picture 2" descr="0071D1">
            <a:extLst>
              <a:ext uri="{FF2B5EF4-FFF2-40B4-BE49-F238E27FC236}">
                <a16:creationId xmlns:a16="http://schemas.microsoft.com/office/drawing/2014/main" id="{70340057-EEA9-4F88-A2F4-6EFBD8F3B9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8056" b="13889"/>
          <a:stretch>
            <a:fillRect/>
          </a:stretch>
        </p:blipFill>
        <p:spPr bwMode="auto">
          <a:xfrm>
            <a:off x="533400" y="1676400"/>
            <a:ext cx="8305800" cy="424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71" name="Rectangle 3">
            <a:extLst>
              <a:ext uri="{FF2B5EF4-FFF2-40B4-BE49-F238E27FC236}">
                <a16:creationId xmlns:a16="http://schemas.microsoft.com/office/drawing/2014/main" id="{00548BDA-F693-4B69-B301-8901E4927180}"/>
              </a:ext>
            </a:extLst>
          </p:cNvPr>
          <p:cNvSpPr>
            <a:spLocks noGrp="1" noRot="1" noChangeArrowheads="1"/>
          </p:cNvSpPr>
          <p:nvPr>
            <p:ph type="title" idx="4294967295"/>
          </p:nvPr>
        </p:nvSpPr>
        <p:spPr/>
        <p:txBody>
          <a:bodyPr/>
          <a:lstStyle/>
          <a:p>
            <a:pPr eaLnBrk="1" hangingPunct="1"/>
            <a:endParaRPr lang="zh-CN" altLang="zh-CN"/>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2">
            <a:extLst>
              <a:ext uri="{FF2B5EF4-FFF2-40B4-BE49-F238E27FC236}">
                <a16:creationId xmlns:a16="http://schemas.microsoft.com/office/drawing/2014/main" id="{557483F4-E521-4FA8-AEF7-4AC779139F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 y="1295400"/>
            <a:ext cx="80264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62" name="Picture 2">
            <a:extLst>
              <a:ext uri="{FF2B5EF4-FFF2-40B4-BE49-F238E27FC236}">
                <a16:creationId xmlns:a16="http://schemas.microsoft.com/office/drawing/2014/main" id="{0AA69789-4B10-4757-B358-04E3791EA9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575" y="981075"/>
            <a:ext cx="8861425" cy="380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圆角 1">
            <a:extLst>
              <a:ext uri="{FF2B5EF4-FFF2-40B4-BE49-F238E27FC236}">
                <a16:creationId xmlns:a16="http://schemas.microsoft.com/office/drawing/2014/main" id="{8E19F393-606A-40DE-9A6D-D8845D383BF2}"/>
              </a:ext>
            </a:extLst>
          </p:cNvPr>
          <p:cNvSpPr/>
          <p:nvPr/>
        </p:nvSpPr>
        <p:spPr>
          <a:xfrm>
            <a:off x="323528" y="1052736"/>
            <a:ext cx="648072" cy="72008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11594356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6" name="Picture 2">
            <a:extLst>
              <a:ext uri="{FF2B5EF4-FFF2-40B4-BE49-F238E27FC236}">
                <a16:creationId xmlns:a16="http://schemas.microsoft.com/office/drawing/2014/main" id="{AC6DD7E5-5F54-4C28-80EB-73E20FF284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333375"/>
            <a:ext cx="8604250" cy="595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605484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Picture 2" descr="0072">
            <a:extLst>
              <a:ext uri="{FF2B5EF4-FFF2-40B4-BE49-F238E27FC236}">
                <a16:creationId xmlns:a16="http://schemas.microsoft.com/office/drawing/2014/main" id="{56AD266F-3619-43BF-9927-15A25871E2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685800"/>
            <a:ext cx="73152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A62FA36-8B61-4D53-B70F-1E4FDD80335D}"/>
              </a:ext>
            </a:extLst>
          </p:cNvPr>
          <p:cNvSpPr/>
          <p:nvPr/>
        </p:nvSpPr>
        <p:spPr>
          <a:xfrm>
            <a:off x="1691680" y="5877272"/>
            <a:ext cx="5760640" cy="923330"/>
          </a:xfrm>
          <a:prstGeom prst="rect">
            <a:avLst/>
          </a:prstGeom>
        </p:spPr>
        <p:txBody>
          <a:bodyPr wrap="square">
            <a:spAutoFit/>
          </a:bodyPr>
          <a:lstStyle/>
          <a:p>
            <a:r>
              <a:rPr lang="en-US" altLang="zh-CN" dirty="0">
                <a:solidFill>
                  <a:srgbClr val="231F20"/>
                </a:solidFill>
                <a:latin typeface="CenturyStd-Light"/>
              </a:rPr>
              <a:t>the </a:t>
            </a:r>
            <a:r>
              <a:rPr lang="en-US" altLang="zh-CN" i="1" dirty="0">
                <a:solidFill>
                  <a:srgbClr val="231F20"/>
                </a:solidFill>
                <a:latin typeface="CenturyStd-LightItalic"/>
              </a:rPr>
              <a:t>K</a:t>
            </a:r>
            <a:r>
              <a:rPr lang="en-US" altLang="zh-CN" sz="800" dirty="0">
                <a:solidFill>
                  <a:srgbClr val="231F20"/>
                </a:solidFill>
                <a:latin typeface="CenturyStd-Light"/>
              </a:rPr>
              <a:t>m </a:t>
            </a:r>
            <a:r>
              <a:rPr lang="en-US" altLang="zh-CN" sz="800" dirty="0" err="1">
                <a:solidFill>
                  <a:srgbClr val="231F20"/>
                </a:solidFill>
                <a:latin typeface="CenturyStd-Light"/>
              </a:rPr>
              <a:t>i</a:t>
            </a:r>
            <a:r>
              <a:rPr lang="en-US" altLang="zh-CN" sz="800" dirty="0">
                <a:solidFill>
                  <a:srgbClr val="231F20"/>
                </a:solidFill>
                <a:latin typeface="CenturyStd-Light"/>
              </a:rPr>
              <a:t> </a:t>
            </a:r>
            <a:r>
              <a:rPr lang="en-US" altLang="zh-CN" dirty="0">
                <a:solidFill>
                  <a:srgbClr val="231F20"/>
                </a:solidFill>
                <a:latin typeface="CenturyStd-Light"/>
              </a:rPr>
              <a:t>observed in the presence of the inhibitor, is often called the “apparent” </a:t>
            </a:r>
            <a:r>
              <a:rPr lang="en-US" altLang="zh-CN" i="1" dirty="0">
                <a:solidFill>
                  <a:srgbClr val="231F20"/>
                </a:solidFill>
                <a:latin typeface="CenturyStd-LightItalic"/>
              </a:rPr>
              <a:t>K</a:t>
            </a:r>
            <a:r>
              <a:rPr lang="en-US" altLang="zh-CN" sz="800" dirty="0">
                <a:solidFill>
                  <a:srgbClr val="231F20"/>
                </a:solidFill>
                <a:latin typeface="CenturyStd-Light"/>
              </a:rPr>
              <a:t>m</a:t>
            </a:r>
            <a:r>
              <a:rPr lang="en-US" altLang="zh-CN" dirty="0"/>
              <a:t> </a:t>
            </a:r>
            <a:br>
              <a:rPr lang="en-US" altLang="zh-CN" dirty="0"/>
            </a:br>
            <a:endParaRPr lang="zh-CN" altLang="en-US"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8" name="Picture 2">
            <a:extLst>
              <a:ext uri="{FF2B5EF4-FFF2-40B4-BE49-F238E27FC236}">
                <a16:creationId xmlns:a16="http://schemas.microsoft.com/office/drawing/2014/main" id="{600F1A9B-0500-4337-BBB6-6B32CDC6E3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5200" y="711200"/>
            <a:ext cx="46736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19" name="Text Box 3">
            <a:extLst>
              <a:ext uri="{FF2B5EF4-FFF2-40B4-BE49-F238E27FC236}">
                <a16:creationId xmlns:a16="http://schemas.microsoft.com/office/drawing/2014/main" id="{192A6D79-573A-42BC-9ED7-A5F9FAB5EE0A}"/>
              </a:ext>
            </a:extLst>
          </p:cNvPr>
          <p:cNvSpPr txBox="1">
            <a:spLocks noChangeArrowheads="1"/>
          </p:cNvSpPr>
          <p:nvPr/>
        </p:nvSpPr>
        <p:spPr bwMode="auto">
          <a:xfrm>
            <a:off x="1508125" y="136525"/>
            <a:ext cx="30909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latin typeface="Symbol" panose="05050102010706020507" pitchFamily="18" charset="2"/>
              </a:rPr>
              <a:t>a</a:t>
            </a:r>
            <a:r>
              <a:rPr kumimoji="1" lang="en-US" altLang="zh-CN" sz="2800" b="1" dirty="0">
                <a:latin typeface="Times New Roman" panose="02020603050405020304" pitchFamily="18" charset="0"/>
              </a:rPr>
              <a:t>=1+[I]/K</a:t>
            </a:r>
            <a:r>
              <a:rPr kumimoji="1" lang="en-US" altLang="zh-CN" sz="2800" b="1" baseline="-25000" dirty="0">
                <a:latin typeface="Times New Roman" panose="02020603050405020304" pitchFamily="18" charset="0"/>
              </a:rPr>
              <a:t>I</a:t>
            </a:r>
            <a:r>
              <a:rPr kumimoji="1" lang="en-US" altLang="zh-CN" sz="2800" b="1" dirty="0">
                <a:latin typeface="Times New Roman" panose="02020603050405020304" pitchFamily="18" charset="0"/>
              </a:rPr>
              <a:t>      </a:t>
            </a:r>
            <a:r>
              <a:rPr kumimoji="1" lang="en-US" altLang="zh-CN" sz="2800" b="1" dirty="0">
                <a:latin typeface="Symbol" panose="05050102010706020507" pitchFamily="18" charset="2"/>
              </a:rPr>
              <a:t>a </a:t>
            </a:r>
            <a:r>
              <a:rPr kumimoji="1" lang="en-US" altLang="zh-CN" sz="2800" b="1" dirty="0">
                <a:latin typeface="Times New Roman" panose="02020603050405020304" pitchFamily="18" charset="0"/>
              </a:rPr>
              <a:t>&gt;1</a:t>
            </a:r>
            <a:endParaRPr kumimoji="1" lang="en-US" altLang="zh-CN" sz="2400" dirty="0">
              <a:latin typeface="Times New Roman" panose="02020603050405020304" pitchFamily="18" charset="0"/>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242" name="Picture 2">
            <a:extLst>
              <a:ext uri="{FF2B5EF4-FFF2-40B4-BE49-F238E27FC236}">
                <a16:creationId xmlns:a16="http://schemas.microsoft.com/office/drawing/2014/main" id="{252FED8D-3DC9-4F21-97CB-9895B5A117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846" y="115887"/>
            <a:ext cx="4916371" cy="432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243" name="Picture 3">
            <a:extLst>
              <a:ext uri="{FF2B5EF4-FFF2-40B4-BE49-F238E27FC236}">
                <a16:creationId xmlns:a16="http://schemas.microsoft.com/office/drawing/2014/main" id="{0070C3FD-DA2D-4B6F-A897-7E3F270482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9920" t="11703" r="3851" b="10242"/>
          <a:stretch>
            <a:fillRect/>
          </a:stretch>
        </p:blipFill>
        <p:spPr bwMode="auto">
          <a:xfrm>
            <a:off x="3419871" y="4365104"/>
            <a:ext cx="5618149"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3CDBFC97-605D-4C07-B578-7FA1D72F3705}"/>
              </a:ext>
            </a:extLst>
          </p:cNvPr>
          <p:cNvSpPr/>
          <p:nvPr/>
        </p:nvSpPr>
        <p:spPr>
          <a:xfrm>
            <a:off x="1331640" y="4869160"/>
            <a:ext cx="4572000" cy="1200329"/>
          </a:xfrm>
          <a:prstGeom prst="rect">
            <a:avLst/>
          </a:prstGeom>
        </p:spPr>
        <p:txBody>
          <a:bodyPr>
            <a:spAutoFit/>
          </a:bodyPr>
          <a:lstStyle/>
          <a:p>
            <a:r>
              <a:rPr lang="en-US" altLang="zh-CN" dirty="0">
                <a:solidFill>
                  <a:srgbClr val="231F20"/>
                </a:solidFill>
                <a:latin typeface="Century-Light"/>
              </a:rPr>
              <a:t>“apparent” </a:t>
            </a:r>
            <a:r>
              <a:rPr lang="en-US" altLang="zh-CN" i="1" dirty="0">
                <a:solidFill>
                  <a:srgbClr val="231F20"/>
                </a:solidFill>
                <a:latin typeface="Century-LightItalic"/>
              </a:rPr>
              <a:t>K</a:t>
            </a:r>
            <a:r>
              <a:rPr lang="en-US" altLang="zh-CN" sz="800" dirty="0">
                <a:solidFill>
                  <a:srgbClr val="231F20"/>
                </a:solidFill>
                <a:latin typeface="Century-Light"/>
              </a:rPr>
              <a:t>m</a:t>
            </a:r>
          </a:p>
          <a:p>
            <a:r>
              <a:rPr lang="zh-CN" altLang="en-US" dirty="0"/>
              <a:t> 表观</a:t>
            </a:r>
            <a:r>
              <a:rPr lang="en-US" altLang="zh-CN" dirty="0"/>
              <a:t>Km</a:t>
            </a:r>
            <a:endParaRPr lang="en-US" altLang="zh-CN" b="1" dirty="0"/>
          </a:p>
          <a:p>
            <a:r>
              <a:rPr lang="en-US" altLang="zh-CN" dirty="0"/>
              <a:t> </a:t>
            </a:r>
            <a:br>
              <a:rPr lang="en-US" altLang="zh-CN" dirty="0"/>
            </a:br>
            <a:endParaRPr lang="zh-CN" alt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2">
            <a:extLst>
              <a:ext uri="{FF2B5EF4-FFF2-40B4-BE49-F238E27FC236}">
                <a16:creationId xmlns:a16="http://schemas.microsoft.com/office/drawing/2014/main" id="{67C62DE4-C1D7-4ABB-A065-0798646F7E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9513" y="1103313"/>
            <a:ext cx="6784975" cy="465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290" name="Picture 2">
            <a:extLst>
              <a:ext uri="{FF2B5EF4-FFF2-40B4-BE49-F238E27FC236}">
                <a16:creationId xmlns:a16="http://schemas.microsoft.com/office/drawing/2014/main" id="{1D976511-35A7-4CD3-AFE2-DDB829A9D1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549" r="853"/>
          <a:stretch>
            <a:fillRect/>
          </a:stretch>
        </p:blipFill>
        <p:spPr bwMode="auto">
          <a:xfrm>
            <a:off x="107950" y="512763"/>
            <a:ext cx="8893175" cy="583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ext Box 2">
            <a:extLst>
              <a:ext uri="{FF2B5EF4-FFF2-40B4-BE49-F238E27FC236}">
                <a16:creationId xmlns:a16="http://schemas.microsoft.com/office/drawing/2014/main" id="{36438564-4854-4701-A377-C61B71023C09}"/>
              </a:ext>
            </a:extLst>
          </p:cNvPr>
          <p:cNvSpPr txBox="1">
            <a:spLocks noChangeArrowheads="1"/>
          </p:cNvSpPr>
          <p:nvPr/>
        </p:nvSpPr>
        <p:spPr bwMode="auto">
          <a:xfrm>
            <a:off x="228600" y="533400"/>
            <a:ext cx="8686800" cy="49212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30000"/>
              </a:spcBef>
            </a:pPr>
            <a:r>
              <a:rPr kumimoji="1" lang="en-US" altLang="zh-CN" sz="2400" dirty="0">
                <a:latin typeface="Times New Roman" panose="02020603050405020304" pitchFamily="18" charset="0"/>
              </a:rPr>
              <a:t>	</a:t>
            </a:r>
            <a:r>
              <a:rPr kumimoji="1" lang="en-US" altLang="zh-CN" sz="2800" b="1" dirty="0">
                <a:solidFill>
                  <a:srgbClr val="FF0066"/>
                </a:solidFill>
                <a:latin typeface="Times New Roman" panose="02020603050405020304" pitchFamily="18" charset="0"/>
              </a:rPr>
              <a:t>Vmax is not affected</a:t>
            </a:r>
            <a:r>
              <a:rPr kumimoji="1" lang="en-US" altLang="zh-CN" sz="2800" b="1" dirty="0">
                <a:latin typeface="Times New Roman" panose="02020603050405020304" pitchFamily="18" charset="0"/>
              </a:rPr>
              <a:t> by the presence of a competitive inhibitor (There is always some high substrate concentration that will replace the inhibitor from the enzyme’s active site).</a:t>
            </a:r>
            <a:endParaRPr kumimoji="1" lang="en-US" altLang="zh-CN" sz="2400" dirty="0">
              <a:latin typeface="Times New Roman" panose="02020603050405020304" pitchFamily="18" charset="0"/>
            </a:endParaRPr>
          </a:p>
          <a:p>
            <a:pPr eaLnBrk="1" hangingPunct="1">
              <a:lnSpc>
                <a:spcPct val="120000"/>
              </a:lnSpc>
              <a:spcBef>
                <a:spcPct val="30000"/>
              </a:spcBef>
            </a:pPr>
            <a:endParaRPr kumimoji="1" lang="en-US" altLang="zh-CN" sz="2800" b="1" dirty="0">
              <a:latin typeface="Times New Roman" panose="02020603050405020304" pitchFamily="18" charset="0"/>
            </a:endParaRPr>
          </a:p>
          <a:p>
            <a:pPr eaLnBrk="1" hangingPunct="1">
              <a:lnSpc>
                <a:spcPct val="120000"/>
              </a:lnSpc>
              <a:spcBef>
                <a:spcPct val="30000"/>
              </a:spcBef>
            </a:pPr>
            <a:r>
              <a:rPr kumimoji="1" lang="en-US" altLang="zh-CN" sz="2800" b="1" dirty="0">
                <a:solidFill>
                  <a:srgbClr val="FF0066"/>
                </a:solidFill>
                <a:latin typeface="Times New Roman" panose="02020603050405020304" pitchFamily="18" charset="0"/>
              </a:rPr>
              <a:t>Km is increased</a:t>
            </a:r>
            <a:r>
              <a:rPr kumimoji="1" lang="en-US" altLang="zh-CN" sz="2800" b="1" dirty="0">
                <a:latin typeface="Times New Roman" panose="02020603050405020304" pitchFamily="18" charset="0"/>
              </a:rPr>
              <a:t> due to the presence of a competitive inhibitor. </a:t>
            </a:r>
            <a:r>
              <a:rPr kumimoji="1" lang="en-US" altLang="zh-CN" sz="2800" b="1" dirty="0">
                <a:solidFill>
                  <a:srgbClr val="FF0066"/>
                </a:solidFill>
                <a:latin typeface="Times New Roman" panose="02020603050405020304" pitchFamily="18" charset="0"/>
              </a:rPr>
              <a:t>Higher substrate concentration is needed to achieve Vmax/2</a:t>
            </a:r>
            <a:r>
              <a:rPr kumimoji="1" lang="en-US" altLang="zh-CN" sz="2800" b="1" dirty="0">
                <a:latin typeface="Times New Roman" panose="02020603050405020304" pitchFamily="18" charset="0"/>
              </a:rPr>
              <a:t>.</a:t>
            </a:r>
          </a:p>
          <a:p>
            <a:pPr eaLnBrk="1" hangingPunct="1">
              <a:lnSpc>
                <a:spcPct val="80000"/>
              </a:lnSpc>
              <a:spcBef>
                <a:spcPct val="30000"/>
              </a:spcBef>
            </a:pPr>
            <a:r>
              <a:rPr kumimoji="1" lang="en-US" altLang="zh-CN" sz="2800" b="1" dirty="0">
                <a:latin typeface="Times New Roman" panose="02020603050405020304" pitchFamily="18" charset="0"/>
              </a:rPr>
              <a:t>	</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2">
            <a:extLst>
              <a:ext uri="{FF2B5EF4-FFF2-40B4-BE49-F238E27FC236}">
                <a16:creationId xmlns:a16="http://schemas.microsoft.com/office/drawing/2014/main" id="{1FCB0D1B-E025-4428-B78D-970D4C5B6C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855" t="17731" r="7732" b="22221"/>
          <a:stretch>
            <a:fillRect/>
          </a:stretch>
        </p:blipFill>
        <p:spPr bwMode="auto">
          <a:xfrm>
            <a:off x="468313" y="692150"/>
            <a:ext cx="8135937" cy="439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15" name="Text Box 3">
            <a:extLst>
              <a:ext uri="{FF2B5EF4-FFF2-40B4-BE49-F238E27FC236}">
                <a16:creationId xmlns:a16="http://schemas.microsoft.com/office/drawing/2014/main" id="{61B7D44E-5D84-4710-9F14-E4DDBA61B9C6}"/>
              </a:ext>
            </a:extLst>
          </p:cNvPr>
          <p:cNvSpPr txBox="1">
            <a:spLocks noChangeArrowheads="1"/>
          </p:cNvSpPr>
          <p:nvPr/>
        </p:nvSpPr>
        <p:spPr bwMode="auto">
          <a:xfrm>
            <a:off x="611188" y="5445125"/>
            <a:ext cx="8281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dirty="0">
                <a:latin typeface="Tahoma" panose="020B0604030504040204" pitchFamily="34" charset="0"/>
              </a:rPr>
              <a:t>Inhibition of succinate dehydrogenase by malonate</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Text Box 2">
            <a:extLst>
              <a:ext uri="{FF2B5EF4-FFF2-40B4-BE49-F238E27FC236}">
                <a16:creationId xmlns:a16="http://schemas.microsoft.com/office/drawing/2014/main" id="{E1567E16-D82E-4774-9FC0-44812E1076F3}"/>
              </a:ext>
            </a:extLst>
          </p:cNvPr>
          <p:cNvSpPr txBox="1">
            <a:spLocks noChangeArrowheads="1"/>
          </p:cNvSpPr>
          <p:nvPr/>
        </p:nvSpPr>
        <p:spPr bwMode="auto">
          <a:xfrm>
            <a:off x="539552" y="260648"/>
            <a:ext cx="8134672" cy="6210931"/>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30000"/>
              </a:spcBef>
            </a:pPr>
            <a:r>
              <a:rPr kumimoji="1" lang="en-US" altLang="zh-CN" sz="2800" b="1" dirty="0">
                <a:latin typeface="Times New Roman" panose="02020603050405020304" pitchFamily="18" charset="0"/>
              </a:rPr>
              <a:t>In </a:t>
            </a:r>
            <a:r>
              <a:rPr kumimoji="1" lang="en-US" altLang="zh-CN" sz="2800" b="1" dirty="0">
                <a:solidFill>
                  <a:srgbClr val="FF0066"/>
                </a:solidFill>
                <a:latin typeface="Times New Roman" panose="02020603050405020304" pitchFamily="18" charset="0"/>
              </a:rPr>
              <a:t>noncompetitive</a:t>
            </a:r>
            <a:r>
              <a:rPr kumimoji="1" lang="en-US" altLang="zh-CN" sz="2800" b="1" dirty="0">
                <a:latin typeface="Times New Roman" panose="02020603050405020304" pitchFamily="18" charset="0"/>
              </a:rPr>
              <a:t> </a:t>
            </a:r>
            <a:r>
              <a:rPr kumimoji="1" lang="en-US" altLang="zh-CN" sz="2800" b="1" dirty="0">
                <a:solidFill>
                  <a:srgbClr val="FF0000"/>
                </a:solidFill>
                <a:latin typeface="Times New Roman" panose="02020603050405020304" pitchFamily="18" charset="0"/>
              </a:rPr>
              <a:t>(</a:t>
            </a:r>
            <a:r>
              <a:rPr kumimoji="1" lang="en-US" altLang="zh-CN" sz="2800" b="1" dirty="0">
                <a:latin typeface="Times New Roman" panose="02020603050405020304" pitchFamily="18" charset="0"/>
              </a:rPr>
              <a:t>or </a:t>
            </a:r>
            <a:r>
              <a:rPr kumimoji="1" lang="en-US" altLang="zh-CN" sz="2800" b="1" dirty="0">
                <a:solidFill>
                  <a:srgbClr val="FF0000"/>
                </a:solidFill>
                <a:latin typeface="Times New Roman" panose="02020603050405020304" pitchFamily="18" charset="0"/>
              </a:rPr>
              <a:t>mixed competitive</a:t>
            </a:r>
            <a:r>
              <a:rPr kumimoji="1" lang="en-US" altLang="zh-CN" sz="2800" b="1" dirty="0">
                <a:solidFill>
                  <a:srgbClr val="FF0066"/>
                </a:solidFill>
                <a:latin typeface="Times New Roman" panose="02020603050405020304" pitchFamily="18" charset="0"/>
              </a:rPr>
              <a:t>)</a:t>
            </a:r>
          </a:p>
          <a:p>
            <a:pPr eaLnBrk="1" hangingPunct="1">
              <a:spcBef>
                <a:spcPct val="30000"/>
              </a:spcBef>
            </a:pPr>
            <a:r>
              <a:rPr kumimoji="1" lang="en-US" altLang="zh-CN" sz="2800" b="1" dirty="0">
                <a:latin typeface="Times New Roman" panose="02020603050405020304" pitchFamily="18" charset="0"/>
              </a:rPr>
              <a:t> inhibition, the inhibitor binds to a site distinct from that (the active site) which binds the substrate. </a:t>
            </a:r>
          </a:p>
          <a:p>
            <a:pPr eaLnBrk="1" hangingPunct="1">
              <a:spcBef>
                <a:spcPct val="30000"/>
              </a:spcBef>
            </a:pPr>
            <a:r>
              <a:rPr kumimoji="1" lang="en-US" altLang="zh-CN" sz="2800" b="1" dirty="0">
                <a:latin typeface="Times New Roman" panose="02020603050405020304" pitchFamily="18" charset="0"/>
              </a:rPr>
              <a:t> Inhibitor binding does not affect substrate binding and </a:t>
            </a:r>
            <a:r>
              <a:rPr kumimoji="1" lang="en-US" altLang="zh-CN" sz="2800" b="1" u="sng" dirty="0">
                <a:solidFill>
                  <a:srgbClr val="C00000"/>
                </a:solidFill>
                <a:effectLst>
                  <a:outerShdw blurRad="38100" dist="38100" dir="2700000" algn="tl">
                    <a:srgbClr val="000000">
                      <a:alpha val="43137"/>
                    </a:srgbClr>
                  </a:outerShdw>
                </a:effectLst>
                <a:latin typeface="Times New Roman" panose="02020603050405020304" pitchFamily="18" charset="0"/>
              </a:rPr>
              <a:t>vice versa </a:t>
            </a:r>
            <a:r>
              <a:rPr kumimoji="1" lang="en-US" altLang="zh-CN" sz="2800" b="1" dirty="0">
                <a:solidFill>
                  <a:srgbClr val="FF0066"/>
                </a:solidFill>
                <a:latin typeface="Times New Roman" panose="02020603050405020304" pitchFamily="18" charset="0"/>
              </a:rPr>
              <a:t>(i.e., inhibitor can bind to ES complex, substrate can bind to EI complex).</a:t>
            </a:r>
            <a:endParaRPr kumimoji="1" lang="en-US" altLang="zh-CN" sz="2800" b="1" dirty="0">
              <a:latin typeface="Times New Roman" panose="02020603050405020304" pitchFamily="18" charset="0"/>
            </a:endParaRPr>
          </a:p>
          <a:p>
            <a:pPr eaLnBrk="1" hangingPunct="1">
              <a:spcBef>
                <a:spcPct val="30000"/>
              </a:spcBef>
            </a:pPr>
            <a:r>
              <a:rPr kumimoji="1" lang="en-US" altLang="zh-CN" sz="2800" b="1" dirty="0">
                <a:latin typeface="Times New Roman" panose="02020603050405020304" pitchFamily="18" charset="0"/>
              </a:rPr>
              <a:t>	The enzyme is </a:t>
            </a:r>
            <a:r>
              <a:rPr kumimoji="1" lang="en-US" altLang="zh-CN" sz="2800" b="1" dirty="0">
                <a:solidFill>
                  <a:srgbClr val="FF0066"/>
                </a:solidFill>
                <a:latin typeface="Times New Roman" panose="02020603050405020304" pitchFamily="18" charset="0"/>
              </a:rPr>
              <a:t>inactivated when inhibitor is bound </a:t>
            </a:r>
            <a:r>
              <a:rPr kumimoji="1" lang="en-US" altLang="zh-CN" sz="2800" b="1" dirty="0">
                <a:latin typeface="Times New Roman" panose="02020603050405020304" pitchFamily="18" charset="0"/>
              </a:rPr>
              <a:t>(whether or not substrate is also present). (e.g.)</a:t>
            </a:r>
          </a:p>
          <a:p>
            <a:pPr eaLnBrk="1" hangingPunct="1">
              <a:spcBef>
                <a:spcPct val="30000"/>
              </a:spcBef>
            </a:pPr>
            <a:r>
              <a:rPr kumimoji="1" lang="en-US" altLang="zh-CN" sz="2800" b="1" dirty="0">
                <a:latin typeface="Times New Roman" panose="02020603050405020304" pitchFamily="18" charset="0"/>
              </a:rPr>
              <a:t>	</a:t>
            </a:r>
            <a:r>
              <a:rPr kumimoji="1" lang="en-US" altLang="zh-CN" sz="2800" b="1" dirty="0">
                <a:solidFill>
                  <a:srgbClr val="FF0066"/>
                </a:solidFill>
                <a:latin typeface="Times New Roman" panose="02020603050405020304" pitchFamily="18" charset="0"/>
              </a:rPr>
              <a:t>The apparent Vmax is lowered (due to the concentration decrease of active enzymes)</a:t>
            </a:r>
            <a:r>
              <a:rPr kumimoji="1" lang="zh-CN" altLang="en-US" sz="2800" b="1" dirty="0">
                <a:solidFill>
                  <a:srgbClr val="FF0066"/>
                </a:solidFill>
                <a:latin typeface="Times New Roman" panose="02020603050405020304" pitchFamily="18" charset="0"/>
              </a:rPr>
              <a:t>，</a:t>
            </a:r>
            <a:r>
              <a:rPr kumimoji="1" lang="en-US" altLang="zh-CN" sz="2800" b="1" dirty="0">
                <a:solidFill>
                  <a:srgbClr val="FF0066"/>
                </a:solidFill>
                <a:latin typeface="Times New Roman" panose="02020603050405020304" pitchFamily="18" charset="0"/>
              </a:rPr>
              <a:t> apparent Km is increased (mixed) or not changed (noncompetitive).</a:t>
            </a:r>
            <a:endParaRPr kumimoji="1" lang="en-US" altLang="zh-CN" sz="2400" dirty="0">
              <a:latin typeface="Tahoma" panose="020B0604030504040204" pitchFamily="34" charset="0"/>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58" name="Picture 2" descr="0071D2">
            <a:extLst>
              <a:ext uri="{FF2B5EF4-FFF2-40B4-BE49-F238E27FC236}">
                <a16:creationId xmlns:a16="http://schemas.microsoft.com/office/drawing/2014/main" id="{E90EC41F-5E56-44C6-91E2-80CA0097D3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938" r="3532" b="10751"/>
          <a:stretch/>
        </p:blipFill>
        <p:spPr bwMode="auto">
          <a:xfrm>
            <a:off x="467544" y="260648"/>
            <a:ext cx="8496944" cy="6146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434" name="Picture 2">
            <a:extLst>
              <a:ext uri="{FF2B5EF4-FFF2-40B4-BE49-F238E27FC236}">
                <a16:creationId xmlns:a16="http://schemas.microsoft.com/office/drawing/2014/main" id="{AF185470-6F96-4EC6-BC6B-9F5AD41DB6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711200"/>
            <a:ext cx="74676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35" name="Text Box 3">
            <a:extLst>
              <a:ext uri="{FF2B5EF4-FFF2-40B4-BE49-F238E27FC236}">
                <a16:creationId xmlns:a16="http://schemas.microsoft.com/office/drawing/2014/main" id="{3943C507-93B7-487B-8805-DE90F472C7BA}"/>
              </a:ext>
            </a:extLst>
          </p:cNvPr>
          <p:cNvSpPr txBox="1">
            <a:spLocks noChangeArrowheads="1"/>
          </p:cNvSpPr>
          <p:nvPr/>
        </p:nvSpPr>
        <p:spPr bwMode="auto">
          <a:xfrm>
            <a:off x="2727325" y="5934075"/>
            <a:ext cx="427713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latin typeface="Times New Roman" panose="02020603050405020304" pitchFamily="18" charset="0"/>
              </a:rPr>
              <a:t>Noncompetitive inhibition </a:t>
            </a:r>
            <a:endParaRPr kumimoji="1" lang="en-US" altLang="zh-CN" sz="2400" dirty="0">
              <a:latin typeface="Times New Roman" panose="02020603050405020304" pitchFamily="18" charset="0"/>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482" name="Picture 2" descr="0073">
            <a:extLst>
              <a:ext uri="{FF2B5EF4-FFF2-40B4-BE49-F238E27FC236}">
                <a16:creationId xmlns:a16="http://schemas.microsoft.com/office/drawing/2014/main" id="{2063B95A-B1AC-457B-87F4-B40318FF4C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685800"/>
            <a:ext cx="73152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BFA32A58-D3C5-4C0A-BBA8-38904182A7E4}"/>
              </a:ext>
            </a:extLst>
          </p:cNvPr>
          <p:cNvSpPr txBox="1"/>
          <p:nvPr/>
        </p:nvSpPr>
        <p:spPr>
          <a:xfrm>
            <a:off x="539552" y="693513"/>
            <a:ext cx="958917" cy="461665"/>
          </a:xfrm>
          <a:prstGeom prst="rect">
            <a:avLst/>
          </a:prstGeom>
          <a:noFill/>
        </p:spPr>
        <p:txBody>
          <a:bodyPr wrap="none" rtlCol="0">
            <a:spAutoFit/>
          </a:bodyPr>
          <a:lstStyle/>
          <a:p>
            <a:r>
              <a:rPr lang="en-US" altLang="zh-CN" sz="2400" dirty="0"/>
              <a:t>K</a:t>
            </a:r>
            <a:r>
              <a:rPr lang="en-US" altLang="zh-CN" sz="2400" baseline="-25000" dirty="0"/>
              <a:t>I</a:t>
            </a:r>
            <a:r>
              <a:rPr lang="en-US" altLang="zh-CN" sz="2400" dirty="0"/>
              <a:t>=K</a:t>
            </a:r>
            <a:r>
              <a:rPr lang="en-US" altLang="zh-CN" sz="2400" baseline="-25000" dirty="0"/>
              <a:t>I</a:t>
            </a:r>
            <a:r>
              <a:rPr lang="en-US" altLang="zh-CN" sz="2400" dirty="0"/>
              <a:t>’</a:t>
            </a:r>
            <a:endParaRPr lang="zh-CN" altLang="en-US" sz="24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5" name="Picture 3">
            <a:extLst>
              <a:ext uri="{FF2B5EF4-FFF2-40B4-BE49-F238E27FC236}">
                <a16:creationId xmlns:a16="http://schemas.microsoft.com/office/drawing/2014/main" id="{AAA36F95-E754-4998-8287-36ABDB1706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82" y="1479513"/>
            <a:ext cx="4567237"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6" name="Text Box 4">
            <a:extLst>
              <a:ext uri="{FF2B5EF4-FFF2-40B4-BE49-F238E27FC236}">
                <a16:creationId xmlns:a16="http://schemas.microsoft.com/office/drawing/2014/main" id="{25F63EE9-36BE-4B0F-96AA-73C5E18D728A}"/>
              </a:ext>
            </a:extLst>
          </p:cNvPr>
          <p:cNvSpPr txBox="1">
            <a:spLocks noChangeArrowheads="1"/>
          </p:cNvSpPr>
          <p:nvPr/>
        </p:nvSpPr>
        <p:spPr bwMode="auto">
          <a:xfrm>
            <a:off x="611188" y="260350"/>
            <a:ext cx="801846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latin typeface="Times New Roman" panose="02020603050405020304" pitchFamily="18" charset="0"/>
              </a:rPr>
              <a:t>Mixed or noncompetitive inhibition, plots similar to</a:t>
            </a:r>
          </a:p>
          <a:p>
            <a:pPr eaLnBrk="1" hangingPunct="1"/>
            <a:r>
              <a:rPr kumimoji="1" lang="en-US" altLang="zh-CN" sz="2800" b="1" dirty="0">
                <a:latin typeface="Times New Roman" panose="02020603050405020304" pitchFamily="18" charset="0"/>
              </a:rPr>
              <a:t>the sequential binding in ternary complexes</a:t>
            </a:r>
            <a:endParaRPr kumimoji="1" lang="en-US" altLang="zh-CN" sz="2400" dirty="0">
              <a:latin typeface="Times New Roman" panose="02020603050405020304" pitchFamily="18" charset="0"/>
            </a:endParaRPr>
          </a:p>
        </p:txBody>
      </p:sp>
      <p:grpSp>
        <p:nvGrpSpPr>
          <p:cNvPr id="151557" name="Group 5">
            <a:extLst>
              <a:ext uri="{FF2B5EF4-FFF2-40B4-BE49-F238E27FC236}">
                <a16:creationId xmlns:a16="http://schemas.microsoft.com/office/drawing/2014/main" id="{36D8BE49-368E-45B3-B28D-5CEA7001B0D5}"/>
              </a:ext>
            </a:extLst>
          </p:cNvPr>
          <p:cNvGrpSpPr>
            <a:grpSpLocks/>
          </p:cNvGrpSpPr>
          <p:nvPr/>
        </p:nvGrpSpPr>
        <p:grpSpPr bwMode="auto">
          <a:xfrm>
            <a:off x="4688904" y="2564904"/>
            <a:ext cx="4419600" cy="3143250"/>
            <a:chOff x="576" y="1296"/>
            <a:chExt cx="2784" cy="1980"/>
          </a:xfrm>
        </p:grpSpPr>
        <p:sp>
          <p:nvSpPr>
            <p:cNvPr id="151558" name="Line 6">
              <a:extLst>
                <a:ext uri="{FF2B5EF4-FFF2-40B4-BE49-F238E27FC236}">
                  <a16:creationId xmlns:a16="http://schemas.microsoft.com/office/drawing/2014/main" id="{2F1C6D4F-92F0-4461-B0AB-2CE9629CDA22}"/>
                </a:ext>
              </a:extLst>
            </p:cNvPr>
            <p:cNvSpPr>
              <a:spLocks noChangeShapeType="1"/>
            </p:cNvSpPr>
            <p:nvPr/>
          </p:nvSpPr>
          <p:spPr bwMode="auto">
            <a:xfrm>
              <a:off x="1584" y="1296"/>
              <a:ext cx="0" cy="1968"/>
            </a:xfrm>
            <a:prstGeom prst="line">
              <a:avLst/>
            </a:prstGeom>
            <a:noFill/>
            <a:ln w="28575">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1559" name="Line 7">
              <a:extLst>
                <a:ext uri="{FF2B5EF4-FFF2-40B4-BE49-F238E27FC236}">
                  <a16:creationId xmlns:a16="http://schemas.microsoft.com/office/drawing/2014/main" id="{76E0175D-3BC8-4F49-996B-C9827451A612}"/>
                </a:ext>
              </a:extLst>
            </p:cNvPr>
            <p:cNvSpPr>
              <a:spLocks noChangeShapeType="1"/>
            </p:cNvSpPr>
            <p:nvPr/>
          </p:nvSpPr>
          <p:spPr bwMode="auto">
            <a:xfrm>
              <a:off x="576" y="3264"/>
              <a:ext cx="2784"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1560" name="Line 8">
              <a:extLst>
                <a:ext uri="{FF2B5EF4-FFF2-40B4-BE49-F238E27FC236}">
                  <a16:creationId xmlns:a16="http://schemas.microsoft.com/office/drawing/2014/main" id="{DF7364CE-7CAE-4497-9718-5EF4B4B7F970}"/>
                </a:ext>
              </a:extLst>
            </p:cNvPr>
            <p:cNvSpPr>
              <a:spLocks noChangeShapeType="1"/>
            </p:cNvSpPr>
            <p:nvPr/>
          </p:nvSpPr>
          <p:spPr bwMode="auto">
            <a:xfrm flipV="1">
              <a:off x="864" y="2256"/>
              <a:ext cx="2160" cy="1008"/>
            </a:xfrm>
            <a:prstGeom prst="line">
              <a:avLst/>
            </a:prstGeom>
            <a:noFill/>
            <a:ln w="28575">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1561" name="Line 9">
              <a:extLst>
                <a:ext uri="{FF2B5EF4-FFF2-40B4-BE49-F238E27FC236}">
                  <a16:creationId xmlns:a16="http://schemas.microsoft.com/office/drawing/2014/main" id="{7199B670-82D5-45AD-97D8-ADBF63B8E370}"/>
                </a:ext>
              </a:extLst>
            </p:cNvPr>
            <p:cNvSpPr>
              <a:spLocks noChangeShapeType="1"/>
            </p:cNvSpPr>
            <p:nvPr/>
          </p:nvSpPr>
          <p:spPr bwMode="auto">
            <a:xfrm flipV="1">
              <a:off x="852" y="1788"/>
              <a:ext cx="1920" cy="1488"/>
            </a:xfrm>
            <a:prstGeom prst="line">
              <a:avLst/>
            </a:prstGeom>
            <a:noFill/>
            <a:ln w="28575">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51562" name="Line 10">
              <a:extLst>
                <a:ext uri="{FF2B5EF4-FFF2-40B4-BE49-F238E27FC236}">
                  <a16:creationId xmlns:a16="http://schemas.microsoft.com/office/drawing/2014/main" id="{E2525A78-4070-4AE6-8F75-50B082A7BCA0}"/>
                </a:ext>
              </a:extLst>
            </p:cNvPr>
            <p:cNvSpPr>
              <a:spLocks noChangeShapeType="1"/>
            </p:cNvSpPr>
            <p:nvPr/>
          </p:nvSpPr>
          <p:spPr bwMode="auto">
            <a:xfrm flipV="1">
              <a:off x="864" y="1488"/>
              <a:ext cx="1680" cy="1776"/>
            </a:xfrm>
            <a:prstGeom prst="line">
              <a:avLst/>
            </a:prstGeom>
            <a:noFill/>
            <a:ln w="28575">
              <a:solidFill>
                <a:schemeClr val="hlink"/>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2" name="文本框 1">
            <a:extLst>
              <a:ext uri="{FF2B5EF4-FFF2-40B4-BE49-F238E27FC236}">
                <a16:creationId xmlns:a16="http://schemas.microsoft.com/office/drawing/2014/main" id="{DAB2109E-7DB4-4C3B-8790-FFD7FF71126A}"/>
              </a:ext>
            </a:extLst>
          </p:cNvPr>
          <p:cNvSpPr txBox="1"/>
          <p:nvPr/>
        </p:nvSpPr>
        <p:spPr>
          <a:xfrm>
            <a:off x="265094" y="6318213"/>
            <a:ext cx="4143412" cy="369332"/>
          </a:xfrm>
          <a:prstGeom prst="rect">
            <a:avLst/>
          </a:prstGeom>
          <a:noFill/>
        </p:spPr>
        <p:txBody>
          <a:bodyPr wrap="square" rtlCol="0">
            <a:spAutoFit/>
          </a:bodyPr>
          <a:lstStyle/>
          <a:p>
            <a:r>
              <a:rPr lang="en-US" altLang="zh-CN" dirty="0">
                <a:solidFill>
                  <a:srgbClr val="C00000"/>
                </a:solidFill>
              </a:rPr>
              <a:t>Km increased</a:t>
            </a:r>
            <a:r>
              <a:rPr lang="zh-CN" altLang="en-US" dirty="0">
                <a:solidFill>
                  <a:srgbClr val="C00000"/>
                </a:solidFill>
              </a:rPr>
              <a:t>； </a:t>
            </a:r>
            <a:r>
              <a:rPr lang="en-US" altLang="zh-CN" dirty="0">
                <a:solidFill>
                  <a:srgbClr val="C00000"/>
                </a:solidFill>
              </a:rPr>
              <a:t>Vmax decreased</a:t>
            </a:r>
            <a:endParaRPr lang="zh-CN" altLang="en-US" dirty="0">
              <a:solidFill>
                <a:srgbClr val="C00000"/>
              </a:solidFill>
            </a:endParaRPr>
          </a:p>
        </p:txBody>
      </p:sp>
      <p:sp>
        <p:nvSpPr>
          <p:cNvPr id="13" name="文本框 12">
            <a:extLst>
              <a:ext uri="{FF2B5EF4-FFF2-40B4-BE49-F238E27FC236}">
                <a16:creationId xmlns:a16="http://schemas.microsoft.com/office/drawing/2014/main" id="{1FC04DB2-F792-4A40-A168-C18054D115D9}"/>
              </a:ext>
            </a:extLst>
          </p:cNvPr>
          <p:cNvSpPr txBox="1"/>
          <p:nvPr/>
        </p:nvSpPr>
        <p:spPr>
          <a:xfrm>
            <a:off x="4758680" y="6266438"/>
            <a:ext cx="3816424" cy="369332"/>
          </a:xfrm>
          <a:prstGeom prst="rect">
            <a:avLst/>
          </a:prstGeom>
          <a:noFill/>
        </p:spPr>
        <p:txBody>
          <a:bodyPr wrap="square" rtlCol="0">
            <a:spAutoFit/>
          </a:bodyPr>
          <a:lstStyle/>
          <a:p>
            <a:r>
              <a:rPr lang="en-US" altLang="zh-CN" dirty="0">
                <a:solidFill>
                  <a:srgbClr val="C00000"/>
                </a:solidFill>
              </a:rPr>
              <a:t>Km not change</a:t>
            </a:r>
            <a:r>
              <a:rPr lang="zh-CN" altLang="en-US" dirty="0">
                <a:solidFill>
                  <a:srgbClr val="C00000"/>
                </a:solidFill>
              </a:rPr>
              <a:t>； </a:t>
            </a:r>
            <a:r>
              <a:rPr lang="en-US" altLang="zh-CN" dirty="0">
                <a:solidFill>
                  <a:srgbClr val="C00000"/>
                </a:solidFill>
              </a:rPr>
              <a:t>Vmax decreased</a:t>
            </a:r>
            <a:endParaRPr lang="zh-CN" altLang="en-US" dirty="0">
              <a:solidFill>
                <a:srgbClr val="C00000"/>
              </a:solidFill>
            </a:endParaRPr>
          </a:p>
        </p:txBody>
      </p:sp>
      <p:sp>
        <p:nvSpPr>
          <p:cNvPr id="4" name="矩形 3">
            <a:extLst>
              <a:ext uri="{FF2B5EF4-FFF2-40B4-BE49-F238E27FC236}">
                <a16:creationId xmlns:a16="http://schemas.microsoft.com/office/drawing/2014/main" id="{55DDD9AB-D5C0-478B-A027-59918339FA8A}"/>
              </a:ext>
            </a:extLst>
          </p:cNvPr>
          <p:cNvSpPr/>
          <p:nvPr/>
        </p:nvSpPr>
        <p:spPr>
          <a:xfrm>
            <a:off x="6009113" y="1498084"/>
            <a:ext cx="816249" cy="646331"/>
          </a:xfrm>
          <a:prstGeom prst="rect">
            <a:avLst/>
          </a:prstGeom>
        </p:spPr>
        <p:txBody>
          <a:bodyPr wrap="none">
            <a:spAutoFit/>
          </a:bodyPr>
          <a:lstStyle/>
          <a:p>
            <a:r>
              <a:rPr lang="en-US" altLang="zh-CN" sz="1800" dirty="0">
                <a:solidFill>
                  <a:srgbClr val="FF0066"/>
                </a:solidFill>
              </a:rPr>
              <a:t>K</a:t>
            </a:r>
            <a:r>
              <a:rPr lang="en-US" altLang="zh-CN" sz="1800" baseline="-25000" dirty="0">
                <a:solidFill>
                  <a:srgbClr val="FF0066"/>
                </a:solidFill>
              </a:rPr>
              <a:t>I</a:t>
            </a:r>
            <a:r>
              <a:rPr lang="en-US" altLang="zh-CN" sz="1800" dirty="0">
                <a:solidFill>
                  <a:srgbClr val="FF0066"/>
                </a:solidFill>
              </a:rPr>
              <a:t>=K</a:t>
            </a:r>
            <a:r>
              <a:rPr lang="en-US" altLang="zh-CN" sz="1800" baseline="-25000" dirty="0">
                <a:solidFill>
                  <a:srgbClr val="FF0066"/>
                </a:solidFill>
              </a:rPr>
              <a:t>I</a:t>
            </a:r>
            <a:r>
              <a:rPr lang="en-US" altLang="zh-CN" sz="1800" dirty="0">
                <a:solidFill>
                  <a:srgbClr val="FF0066"/>
                </a:solidFill>
              </a:rPr>
              <a:t>’</a:t>
            </a:r>
            <a:endParaRPr lang="zh-CN" altLang="en-US" sz="1800" dirty="0">
              <a:solidFill>
                <a:srgbClr val="FF0066"/>
              </a:solidFill>
            </a:endParaRPr>
          </a:p>
          <a:p>
            <a:r>
              <a:rPr lang="en-US" altLang="zh-CN" dirty="0">
                <a:solidFill>
                  <a:srgbClr val="FF0066"/>
                </a:solidFill>
              </a:rPr>
              <a:t>α=α</a:t>
            </a:r>
            <a:r>
              <a:rPr lang="zh-CN" altLang="en-US" dirty="0">
                <a:solidFill>
                  <a:srgbClr val="FF0066"/>
                </a:solidFill>
              </a:rPr>
              <a:t>’</a:t>
            </a:r>
            <a:endParaRPr lang="en-US" altLang="zh-CN" dirty="0">
              <a:solidFill>
                <a:srgbClr val="FF0066"/>
              </a:solidFill>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a:extLst>
              <a:ext uri="{FF2B5EF4-FFF2-40B4-BE49-F238E27FC236}">
                <a16:creationId xmlns:a16="http://schemas.microsoft.com/office/drawing/2014/main" id="{461119BA-EC90-4E8E-BF38-4503816D157E}"/>
              </a:ext>
            </a:extLst>
          </p:cNvPr>
          <p:cNvSpPr txBox="1">
            <a:spLocks noChangeArrowheads="1"/>
          </p:cNvSpPr>
          <p:nvPr/>
        </p:nvSpPr>
        <p:spPr bwMode="auto">
          <a:xfrm>
            <a:off x="1187450" y="549275"/>
            <a:ext cx="41481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latin typeface="Times New Roman" panose="02020603050405020304" pitchFamily="18" charset="0"/>
              </a:rPr>
              <a:t>Noncompetitive inhibition</a:t>
            </a:r>
            <a:endParaRPr kumimoji="1" lang="en-US" altLang="zh-CN" sz="2400" dirty="0">
              <a:latin typeface="Times New Roman" panose="02020603050405020304" pitchFamily="18" charset="0"/>
            </a:endParaRPr>
          </a:p>
        </p:txBody>
      </p:sp>
      <p:pic>
        <p:nvPicPr>
          <p:cNvPr id="150531" name="Picture 3" descr="49033-13-15 copy">
            <a:extLst>
              <a:ext uri="{FF2B5EF4-FFF2-40B4-BE49-F238E27FC236}">
                <a16:creationId xmlns:a16="http://schemas.microsoft.com/office/drawing/2014/main" id="{DC9CC068-A683-4885-91A1-ABBE5F6356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293" y="1844824"/>
            <a:ext cx="8640960" cy="351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8" name="Picture 2" descr="0074">
            <a:extLst>
              <a:ext uri="{FF2B5EF4-FFF2-40B4-BE49-F238E27FC236}">
                <a16:creationId xmlns:a16="http://schemas.microsoft.com/office/drawing/2014/main" id="{74AD1EC5-A193-4AED-99CB-2F99724B9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685800"/>
            <a:ext cx="73152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2">
            <a:extLst>
              <a:ext uri="{FF2B5EF4-FFF2-40B4-BE49-F238E27FC236}">
                <a16:creationId xmlns:a16="http://schemas.microsoft.com/office/drawing/2014/main" id="{D7FE6162-5180-4ECF-8A45-1A3705EA9534}"/>
              </a:ext>
            </a:extLst>
          </p:cNvPr>
          <p:cNvSpPr txBox="1">
            <a:spLocks noChangeArrowheads="1"/>
          </p:cNvSpPr>
          <p:nvPr/>
        </p:nvSpPr>
        <p:spPr bwMode="auto">
          <a:xfrm>
            <a:off x="762000" y="76200"/>
            <a:ext cx="7772400" cy="137318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dirty="0">
                <a:latin typeface="Times New Roman" panose="02020603050405020304" pitchFamily="18" charset="0"/>
              </a:rPr>
              <a:t>	</a:t>
            </a:r>
            <a:r>
              <a:rPr kumimoji="1" lang="en-US" altLang="zh-CN" sz="2800" b="1" dirty="0">
                <a:latin typeface="Times New Roman" panose="02020603050405020304" pitchFamily="18" charset="0"/>
              </a:rPr>
              <a:t>2.10 In </a:t>
            </a:r>
            <a:r>
              <a:rPr kumimoji="1" lang="en-US" altLang="zh-CN" sz="2800" b="1" dirty="0">
                <a:solidFill>
                  <a:srgbClr val="FF0066"/>
                </a:solidFill>
                <a:latin typeface="Times New Roman" panose="02020603050405020304" pitchFamily="18" charset="0"/>
              </a:rPr>
              <a:t>uncompetitive</a:t>
            </a:r>
            <a:r>
              <a:rPr kumimoji="1" lang="en-US" altLang="zh-CN" sz="2800" b="1" dirty="0">
                <a:latin typeface="Times New Roman" panose="02020603050405020304" pitchFamily="18" charset="0"/>
              </a:rPr>
              <a:t> inhibition, the inhibitor binds </a:t>
            </a:r>
            <a:r>
              <a:rPr kumimoji="1" lang="en-US" altLang="zh-CN" sz="2800" b="1" dirty="0">
                <a:solidFill>
                  <a:srgbClr val="FF0066"/>
                </a:solidFill>
                <a:latin typeface="Times New Roman" panose="02020603050405020304" pitchFamily="18" charset="0"/>
              </a:rPr>
              <a:t>only </a:t>
            </a:r>
            <a:r>
              <a:rPr kumimoji="1" lang="en-US" altLang="zh-CN" sz="2800" b="1" dirty="0">
                <a:latin typeface="Times New Roman" panose="02020603050405020304" pitchFamily="18" charset="0"/>
              </a:rPr>
              <a:t>to the ES complex (unable to bind to free enzyme). 	</a:t>
            </a:r>
            <a:endParaRPr kumimoji="1" lang="en-US" altLang="zh-CN" sz="2400" dirty="0">
              <a:latin typeface="Times New Roman" panose="02020603050405020304" pitchFamily="18" charset="0"/>
            </a:endParaRPr>
          </a:p>
        </p:txBody>
      </p:sp>
      <p:pic>
        <p:nvPicPr>
          <p:cNvPr id="153603" name="Picture 3">
            <a:extLst>
              <a:ext uri="{FF2B5EF4-FFF2-40B4-BE49-F238E27FC236}">
                <a16:creationId xmlns:a16="http://schemas.microsoft.com/office/drawing/2014/main" id="{BC12EEF5-B822-4ECB-AE77-BEF2210E5A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524000"/>
            <a:ext cx="7239000" cy="512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293450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626" name="Picture 2" descr="0071D3">
            <a:extLst>
              <a:ext uri="{FF2B5EF4-FFF2-40B4-BE49-F238E27FC236}">
                <a16:creationId xmlns:a16="http://schemas.microsoft.com/office/drawing/2014/main" id="{6A32628E-8021-4B85-AFF2-2B5EE3572A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2500" r="3125" b="9723"/>
          <a:stretch>
            <a:fillRect/>
          </a:stretch>
        </p:blipFill>
        <p:spPr bwMode="auto">
          <a:xfrm>
            <a:off x="609600" y="914400"/>
            <a:ext cx="7924800"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556365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50" name="Picture 2">
            <a:extLst>
              <a:ext uri="{FF2B5EF4-FFF2-40B4-BE49-F238E27FC236}">
                <a16:creationId xmlns:a16="http://schemas.microsoft.com/office/drawing/2014/main" id="{237B25C3-980D-45A2-8695-E2AB3BC867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5600" y="662234"/>
            <a:ext cx="49784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1" name="Text Box 3">
            <a:extLst>
              <a:ext uri="{FF2B5EF4-FFF2-40B4-BE49-F238E27FC236}">
                <a16:creationId xmlns:a16="http://schemas.microsoft.com/office/drawing/2014/main" id="{55DE44DA-AE08-4E26-9AF7-59941C05C6F9}"/>
              </a:ext>
            </a:extLst>
          </p:cNvPr>
          <p:cNvSpPr txBox="1">
            <a:spLocks noChangeArrowheads="1"/>
          </p:cNvSpPr>
          <p:nvPr/>
        </p:nvSpPr>
        <p:spPr bwMode="auto">
          <a:xfrm>
            <a:off x="2082800" y="192087"/>
            <a:ext cx="3970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latin typeface="Times New Roman" panose="02020603050405020304" pitchFamily="18" charset="0"/>
              </a:rPr>
              <a:t>Uncompetitive inhibition</a:t>
            </a:r>
            <a:endParaRPr kumimoji="1" lang="en-US" altLang="zh-CN" sz="2400" dirty="0">
              <a:latin typeface="Times New Roman" panose="02020603050405020304" pitchFamily="18" charset="0"/>
            </a:endParaRPr>
          </a:p>
        </p:txBody>
      </p:sp>
      <p:sp>
        <p:nvSpPr>
          <p:cNvPr id="4" name="文本框 3">
            <a:extLst>
              <a:ext uri="{FF2B5EF4-FFF2-40B4-BE49-F238E27FC236}">
                <a16:creationId xmlns:a16="http://schemas.microsoft.com/office/drawing/2014/main" id="{1EC4F913-D5BD-4CC7-B4DF-A2431B3ADBA3}"/>
              </a:ext>
            </a:extLst>
          </p:cNvPr>
          <p:cNvSpPr txBox="1"/>
          <p:nvPr/>
        </p:nvSpPr>
        <p:spPr>
          <a:xfrm>
            <a:off x="2267744" y="6083132"/>
            <a:ext cx="4978400" cy="369332"/>
          </a:xfrm>
          <a:prstGeom prst="rect">
            <a:avLst/>
          </a:prstGeom>
          <a:noFill/>
        </p:spPr>
        <p:txBody>
          <a:bodyPr wrap="square" rtlCol="0">
            <a:spAutoFit/>
          </a:bodyPr>
          <a:lstStyle/>
          <a:p>
            <a:r>
              <a:rPr lang="en-US" altLang="zh-CN" dirty="0">
                <a:solidFill>
                  <a:srgbClr val="C00000"/>
                </a:solidFill>
              </a:rPr>
              <a:t>Km Decreased</a:t>
            </a:r>
            <a:r>
              <a:rPr lang="zh-CN" altLang="en-US" dirty="0">
                <a:solidFill>
                  <a:srgbClr val="C00000"/>
                </a:solidFill>
              </a:rPr>
              <a:t>； </a:t>
            </a:r>
            <a:r>
              <a:rPr lang="en-US" altLang="zh-CN" dirty="0">
                <a:solidFill>
                  <a:srgbClr val="C00000"/>
                </a:solidFill>
              </a:rPr>
              <a:t>Vmax decreased</a:t>
            </a:r>
            <a:endParaRPr lang="zh-CN" altLang="en-US" dirty="0">
              <a:solidFill>
                <a:srgbClr val="C00000"/>
              </a:solidFill>
            </a:endParaRPr>
          </a:p>
        </p:txBody>
      </p:sp>
      <p:pic>
        <p:nvPicPr>
          <p:cNvPr id="6" name="Picture 5">
            <a:extLst>
              <a:ext uri="{FF2B5EF4-FFF2-40B4-BE49-F238E27FC236}">
                <a16:creationId xmlns:a16="http://schemas.microsoft.com/office/drawing/2014/main" id="{6AFB83EE-6E46-46B5-BAE8-787FBB698B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51962" b="10205"/>
          <a:stretch>
            <a:fillRect/>
          </a:stretch>
        </p:blipFill>
        <p:spPr bwMode="auto">
          <a:xfrm>
            <a:off x="265270" y="2492549"/>
            <a:ext cx="3635060" cy="345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334023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6674" name="Group 2">
            <a:extLst>
              <a:ext uri="{FF2B5EF4-FFF2-40B4-BE49-F238E27FC236}">
                <a16:creationId xmlns:a16="http://schemas.microsoft.com/office/drawing/2014/main" id="{AA948D4E-7EFB-4194-9BF4-B45F235CA12C}"/>
              </a:ext>
            </a:extLst>
          </p:cNvPr>
          <p:cNvGrpSpPr>
            <a:grpSpLocks/>
          </p:cNvGrpSpPr>
          <p:nvPr/>
        </p:nvGrpSpPr>
        <p:grpSpPr bwMode="auto">
          <a:xfrm>
            <a:off x="1042988" y="944563"/>
            <a:ext cx="7416800" cy="4411662"/>
            <a:chOff x="657" y="595"/>
            <a:chExt cx="4672" cy="2779"/>
          </a:xfrm>
        </p:grpSpPr>
        <p:pic>
          <p:nvPicPr>
            <p:cNvPr id="156675" name="Picture 3">
              <a:extLst>
                <a:ext uri="{FF2B5EF4-FFF2-40B4-BE49-F238E27FC236}">
                  <a16:creationId xmlns:a16="http://schemas.microsoft.com/office/drawing/2014/main" id="{E363887F-1BD7-4641-928D-40A4545E04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 y="595"/>
              <a:ext cx="4672" cy="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6676" name="Picture 4">
              <a:extLst>
                <a:ext uri="{FF2B5EF4-FFF2-40B4-BE49-F238E27FC236}">
                  <a16:creationId xmlns:a16="http://schemas.microsoft.com/office/drawing/2014/main" id="{F0D5D4B9-07D5-497D-A388-77FF443A47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 y="1071"/>
              <a:ext cx="4672" cy="2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矩形: 圆角 1">
            <a:extLst>
              <a:ext uri="{FF2B5EF4-FFF2-40B4-BE49-F238E27FC236}">
                <a16:creationId xmlns:a16="http://schemas.microsoft.com/office/drawing/2014/main" id="{1E87B31E-ECD0-4271-A751-5FF9C314F445}"/>
              </a:ext>
            </a:extLst>
          </p:cNvPr>
          <p:cNvSpPr/>
          <p:nvPr/>
        </p:nvSpPr>
        <p:spPr>
          <a:xfrm>
            <a:off x="755576" y="944563"/>
            <a:ext cx="1080120" cy="557212"/>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630833F1-F52F-4CD8-8A11-3C62190C9F70}"/>
              </a:ext>
            </a:extLst>
          </p:cNvPr>
          <p:cNvSpPr/>
          <p:nvPr/>
        </p:nvSpPr>
        <p:spPr>
          <a:xfrm>
            <a:off x="6804248" y="2780928"/>
            <a:ext cx="1080120" cy="557212"/>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FF5684A4-2867-481D-AF3B-4EB18D13A04F}"/>
              </a:ext>
            </a:extLst>
          </p:cNvPr>
          <p:cNvSpPr/>
          <p:nvPr/>
        </p:nvSpPr>
        <p:spPr>
          <a:xfrm>
            <a:off x="6827912" y="4600575"/>
            <a:ext cx="1080120" cy="557212"/>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5235035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698" name="Picture 2">
            <a:extLst>
              <a:ext uri="{FF2B5EF4-FFF2-40B4-BE49-F238E27FC236}">
                <a16:creationId xmlns:a16="http://schemas.microsoft.com/office/drawing/2014/main" id="{268BAADE-EB5B-4A36-BF24-AC5976E583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869" b="33333"/>
          <a:stretch>
            <a:fillRect/>
          </a:stretch>
        </p:blipFill>
        <p:spPr bwMode="auto">
          <a:xfrm>
            <a:off x="468313" y="188913"/>
            <a:ext cx="6746875" cy="648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699" name="Text Box 3">
            <a:extLst>
              <a:ext uri="{FF2B5EF4-FFF2-40B4-BE49-F238E27FC236}">
                <a16:creationId xmlns:a16="http://schemas.microsoft.com/office/drawing/2014/main" id="{EC6DCA04-AB3A-41A2-9D10-548E3B7CA17D}"/>
              </a:ext>
            </a:extLst>
          </p:cNvPr>
          <p:cNvSpPr txBox="1">
            <a:spLocks noChangeArrowheads="1"/>
          </p:cNvSpPr>
          <p:nvPr/>
        </p:nvSpPr>
        <p:spPr bwMode="auto">
          <a:xfrm>
            <a:off x="5508625" y="2781300"/>
            <a:ext cx="2592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solidFill>
                  <a:schemeClr val="folHlink"/>
                </a:solidFill>
                <a:latin typeface="Tahoma" panose="020B0604030504040204" pitchFamily="34" charset="0"/>
              </a:rPr>
              <a:t>competitive</a:t>
            </a:r>
          </a:p>
        </p:txBody>
      </p:sp>
      <p:sp>
        <p:nvSpPr>
          <p:cNvPr id="6" name="Text Box 3">
            <a:extLst>
              <a:ext uri="{FF2B5EF4-FFF2-40B4-BE49-F238E27FC236}">
                <a16:creationId xmlns:a16="http://schemas.microsoft.com/office/drawing/2014/main" id="{F4934AC4-B07D-40A5-9B8C-E2882CD36A11}"/>
              </a:ext>
            </a:extLst>
          </p:cNvPr>
          <p:cNvSpPr txBox="1">
            <a:spLocks noChangeArrowheads="1"/>
          </p:cNvSpPr>
          <p:nvPr/>
        </p:nvSpPr>
        <p:spPr bwMode="auto">
          <a:xfrm>
            <a:off x="6551613" y="4365104"/>
            <a:ext cx="25923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dirty="0">
                <a:solidFill>
                  <a:schemeClr val="folHlink"/>
                </a:solidFill>
                <a:latin typeface="Tahoma" panose="020B0604030504040204" pitchFamily="34" charset="0"/>
              </a:rPr>
              <a:t>Mixed (noncompetitive)</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a:extLst>
              <a:ext uri="{FF2B5EF4-FFF2-40B4-BE49-F238E27FC236}">
                <a16:creationId xmlns:a16="http://schemas.microsoft.com/office/drawing/2014/main" id="{A71FF138-7F59-435D-9FFB-4E6B453ECB97}"/>
              </a:ext>
            </a:extLst>
          </p:cNvPr>
          <p:cNvSpPr txBox="1">
            <a:spLocks noChangeArrowheads="1"/>
          </p:cNvSpPr>
          <p:nvPr/>
        </p:nvSpPr>
        <p:spPr bwMode="auto">
          <a:xfrm>
            <a:off x="5364088" y="3200400"/>
            <a:ext cx="2592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dirty="0">
                <a:solidFill>
                  <a:schemeClr val="folHlink"/>
                </a:solidFill>
                <a:latin typeface="Tahoma" panose="020B0604030504040204" pitchFamily="34" charset="0"/>
              </a:rPr>
              <a:t>uncompetitive</a:t>
            </a:r>
          </a:p>
        </p:txBody>
      </p:sp>
      <p:pic>
        <p:nvPicPr>
          <p:cNvPr id="5" name="Picture 2">
            <a:extLst>
              <a:ext uri="{FF2B5EF4-FFF2-40B4-BE49-F238E27FC236}">
                <a16:creationId xmlns:a16="http://schemas.microsoft.com/office/drawing/2014/main" id="{D55EA365-8122-4AAE-BCCA-0C43469EFEE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69" t="68953"/>
          <a:stretch/>
        </p:blipFill>
        <p:spPr bwMode="auto">
          <a:xfrm>
            <a:off x="539552" y="260648"/>
            <a:ext cx="6746875" cy="301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6" name="Picture 2" descr="p439">
            <a:extLst>
              <a:ext uri="{FF2B5EF4-FFF2-40B4-BE49-F238E27FC236}">
                <a16:creationId xmlns:a16="http://schemas.microsoft.com/office/drawing/2014/main" id="{760B4EAE-D904-4897-9E06-841E7E225B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1675" y="571500"/>
            <a:ext cx="520065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D9382FC-6D9F-4847-BACD-AB102EDEF044}"/>
              </a:ext>
            </a:extLst>
          </p:cNvPr>
          <p:cNvPicPr>
            <a:picLocks noChangeAspect="1"/>
          </p:cNvPicPr>
          <p:nvPr/>
        </p:nvPicPr>
        <p:blipFill>
          <a:blip r:embed="rId3"/>
          <a:stretch>
            <a:fillRect/>
          </a:stretch>
        </p:blipFill>
        <p:spPr>
          <a:xfrm>
            <a:off x="179512" y="1407694"/>
            <a:ext cx="8856984" cy="4042611"/>
          </a:xfrm>
          <a:prstGeom prst="rect">
            <a:avLst/>
          </a:prstGeom>
        </p:spPr>
      </p:pic>
    </p:spTree>
    <p:extLst>
      <p:ext uri="{BB962C8B-B14F-4D97-AF65-F5344CB8AC3E}">
        <p14:creationId xmlns:p14="http://schemas.microsoft.com/office/powerpoint/2010/main" val="118076546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2">
            <a:extLst>
              <a:ext uri="{FF2B5EF4-FFF2-40B4-BE49-F238E27FC236}">
                <a16:creationId xmlns:a16="http://schemas.microsoft.com/office/drawing/2014/main" id="{204547E1-F0C3-4A48-8956-5DFD3F38462C}"/>
              </a:ext>
            </a:extLst>
          </p:cNvPr>
          <p:cNvSpPr txBox="1">
            <a:spLocks noChangeArrowheads="1"/>
          </p:cNvSpPr>
          <p:nvPr/>
        </p:nvSpPr>
        <p:spPr bwMode="auto">
          <a:xfrm>
            <a:off x="228600" y="228600"/>
            <a:ext cx="8735888" cy="61325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pPr>
            <a:r>
              <a:rPr kumimoji="1" lang="en-US" altLang="zh-CN" sz="3200" b="1" dirty="0">
                <a:solidFill>
                  <a:srgbClr val="FF0000"/>
                </a:solidFill>
                <a:latin typeface="Times New Roman" panose="02020603050405020304" pitchFamily="18" charset="0"/>
              </a:rPr>
              <a:t>3 Irreversible inhibitors bind very tightly (covalently or noncovalently) to the enzymes.</a:t>
            </a:r>
          </a:p>
          <a:p>
            <a:pPr eaLnBrk="1" hangingPunct="1">
              <a:lnSpc>
                <a:spcPct val="120000"/>
              </a:lnSpc>
              <a:spcBef>
                <a:spcPct val="20000"/>
              </a:spcBef>
            </a:pPr>
            <a:r>
              <a:rPr kumimoji="1" lang="en-US" altLang="zh-CN" sz="2800" b="1" dirty="0">
                <a:latin typeface="Times New Roman" panose="02020603050405020304" pitchFamily="18" charset="0"/>
              </a:rPr>
              <a:t>	3.1 Many irreversible inhibitors modify critical catalytic residues covalently, thus inactivating the enzymes.</a:t>
            </a:r>
          </a:p>
          <a:p>
            <a:pPr eaLnBrk="1" hangingPunct="1">
              <a:lnSpc>
                <a:spcPct val="120000"/>
              </a:lnSpc>
              <a:spcBef>
                <a:spcPct val="20000"/>
              </a:spcBef>
            </a:pPr>
            <a:r>
              <a:rPr kumimoji="1" lang="en-US" altLang="zh-CN" sz="2800" b="1" dirty="0">
                <a:latin typeface="Times New Roman" panose="02020603050405020304" pitchFamily="18" charset="0"/>
              </a:rPr>
              <a:t>	3.2 </a:t>
            </a:r>
            <a:r>
              <a:rPr kumimoji="1" lang="en-US" altLang="zh-CN" sz="2800" b="1" u="sng" dirty="0" err="1">
                <a:latin typeface="Times New Roman" panose="02020603050405020304" pitchFamily="18" charset="0"/>
              </a:rPr>
              <a:t>DiIsopropylPhosphoFluoridate</a:t>
            </a:r>
            <a:r>
              <a:rPr kumimoji="1" lang="en-US" altLang="zh-CN" sz="2800" b="1" dirty="0">
                <a:latin typeface="Times New Roman" panose="02020603050405020304" pitchFamily="18" charset="0"/>
              </a:rPr>
              <a:t> (DIPF, one component of the toxic nerve gases) reacts with a critical Ser residue on acetylcholineesterase.</a:t>
            </a:r>
          </a:p>
          <a:p>
            <a:pPr eaLnBrk="1" hangingPunct="1">
              <a:lnSpc>
                <a:spcPct val="120000"/>
              </a:lnSpc>
              <a:spcBef>
                <a:spcPct val="20000"/>
              </a:spcBef>
            </a:pPr>
            <a:r>
              <a:rPr kumimoji="1" lang="en-US" altLang="zh-CN" sz="2800" b="1" dirty="0">
                <a:latin typeface="Times New Roman" panose="02020603050405020304" pitchFamily="18" charset="0"/>
              </a:rPr>
              <a:t>	3.3 Critical catalytic residues in the active site can sometimes be identified using irreversible inhibitors (DIPF on chymotrypsin).	</a:t>
            </a:r>
            <a:endParaRPr kumimoji="1" lang="en-US" altLang="zh-CN" sz="2400" dirty="0">
              <a:latin typeface="Times New Roman" panose="02020603050405020304" pitchFamily="18" charset="0"/>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a:extLst>
              <a:ext uri="{FF2B5EF4-FFF2-40B4-BE49-F238E27FC236}">
                <a16:creationId xmlns:a16="http://schemas.microsoft.com/office/drawing/2014/main" id="{36058B22-75FD-4080-8873-B2E32ED69D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295400"/>
            <a:ext cx="8610600" cy="237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795" name="Text Box 3">
            <a:extLst>
              <a:ext uri="{FF2B5EF4-FFF2-40B4-BE49-F238E27FC236}">
                <a16:creationId xmlns:a16="http://schemas.microsoft.com/office/drawing/2014/main" id="{355E6169-A137-4D78-9937-4706660C1D7E}"/>
              </a:ext>
            </a:extLst>
          </p:cNvPr>
          <p:cNvSpPr txBox="1">
            <a:spLocks noChangeArrowheads="1"/>
          </p:cNvSpPr>
          <p:nvPr/>
        </p:nvSpPr>
        <p:spPr bwMode="auto">
          <a:xfrm>
            <a:off x="1258888" y="4076700"/>
            <a:ext cx="5976937"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100000"/>
              </a:spcBef>
            </a:pPr>
            <a:r>
              <a:rPr kumimoji="1" lang="en-US" altLang="zh-CN" sz="2400" b="1" dirty="0">
                <a:latin typeface="Tahoma" panose="020B0604030504040204" pitchFamily="34" charset="0"/>
              </a:rPr>
              <a:t>Structure and mechanism of action of </a:t>
            </a:r>
            <a:r>
              <a:rPr kumimoji="1" lang="en-US" altLang="zh-CN" sz="2400" b="1" dirty="0" err="1">
                <a:latin typeface="Tahoma" panose="020B0604030504040204" pitchFamily="34" charset="0"/>
              </a:rPr>
              <a:t>diisopropylphosphofluoridate</a:t>
            </a:r>
            <a:r>
              <a:rPr kumimoji="1" lang="en-US" altLang="zh-CN" sz="2400" b="1" dirty="0">
                <a:latin typeface="Tahoma" panose="020B0604030504040204" pitchFamily="34" charset="0"/>
              </a:rPr>
              <a:t> (DIPF) .</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https://gss1.bdstatic.com/-vo3dSag_xI4khGkpoWK1HF6hhy/baike/c0%3Dbaike80%2C5%2C5%2C80%2C26/sign=257d6e61720e0cf3b4fa46a96b2f997a/d058ccbf6c81800aacf74a7db13533fa828b47b7.jpg">
            <a:extLst>
              <a:ext uri="{FF2B5EF4-FFF2-40B4-BE49-F238E27FC236}">
                <a16:creationId xmlns:a16="http://schemas.microsoft.com/office/drawing/2014/main" id="{28BAB1E1-78B7-424F-AADD-D2F9838B66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1660038"/>
            <a:ext cx="3810000" cy="3267075"/>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3AD476C2-8E62-45A4-B56B-C4CF7CEA95FD}"/>
              </a:ext>
            </a:extLst>
          </p:cNvPr>
          <p:cNvSpPr/>
          <p:nvPr/>
        </p:nvSpPr>
        <p:spPr>
          <a:xfrm>
            <a:off x="2286000" y="548680"/>
            <a:ext cx="4572000" cy="1077218"/>
          </a:xfrm>
          <a:prstGeom prst="rect">
            <a:avLst/>
          </a:prstGeom>
        </p:spPr>
        <p:txBody>
          <a:bodyPr>
            <a:spAutoFit/>
          </a:bodyPr>
          <a:lstStyle/>
          <a:p>
            <a:r>
              <a:rPr lang="en-US" altLang="zh-CN" sz="3200" dirty="0">
                <a:solidFill>
                  <a:srgbClr val="231F20"/>
                </a:solidFill>
                <a:latin typeface="CenturyStd-Light"/>
              </a:rPr>
              <a:t>African sleeping sickness</a:t>
            </a:r>
            <a:r>
              <a:rPr lang="en-US" altLang="zh-CN" sz="3200" dirty="0"/>
              <a:t> </a:t>
            </a:r>
            <a:br>
              <a:rPr lang="en-US" altLang="zh-CN" sz="3200" dirty="0"/>
            </a:br>
            <a:endParaRPr lang="zh-CN" altLang="en-US" sz="3200" dirty="0"/>
          </a:p>
        </p:txBody>
      </p:sp>
      <p:pic>
        <p:nvPicPr>
          <p:cNvPr id="3" name="图片 2">
            <a:extLst>
              <a:ext uri="{FF2B5EF4-FFF2-40B4-BE49-F238E27FC236}">
                <a16:creationId xmlns:a16="http://schemas.microsoft.com/office/drawing/2014/main" id="{3D979CD3-8376-4A89-BF4A-89E27E93DEA1}"/>
              </a:ext>
            </a:extLst>
          </p:cNvPr>
          <p:cNvPicPr>
            <a:picLocks noChangeAspect="1"/>
          </p:cNvPicPr>
          <p:nvPr/>
        </p:nvPicPr>
        <p:blipFill>
          <a:blip r:embed="rId4"/>
          <a:stretch>
            <a:fillRect/>
          </a:stretch>
        </p:blipFill>
        <p:spPr>
          <a:xfrm>
            <a:off x="485974" y="1772816"/>
            <a:ext cx="4302050" cy="2095571"/>
          </a:xfrm>
          <a:prstGeom prst="rect">
            <a:avLst/>
          </a:prstGeom>
        </p:spPr>
      </p:pic>
      <p:sp>
        <p:nvSpPr>
          <p:cNvPr id="4" name="矩形 3">
            <a:extLst>
              <a:ext uri="{FF2B5EF4-FFF2-40B4-BE49-F238E27FC236}">
                <a16:creationId xmlns:a16="http://schemas.microsoft.com/office/drawing/2014/main" id="{F3EC82C5-3462-4257-85DF-F70E7F129BA3}"/>
              </a:ext>
            </a:extLst>
          </p:cNvPr>
          <p:cNvSpPr/>
          <p:nvPr/>
        </p:nvSpPr>
        <p:spPr>
          <a:xfrm>
            <a:off x="354587" y="3905300"/>
            <a:ext cx="4572000" cy="2123658"/>
          </a:xfrm>
          <a:prstGeom prst="rect">
            <a:avLst/>
          </a:prstGeom>
        </p:spPr>
        <p:txBody>
          <a:bodyPr>
            <a:spAutoFit/>
          </a:bodyPr>
          <a:lstStyle/>
          <a:p>
            <a:r>
              <a:rPr lang="en-US" altLang="zh-CN" sz="2400" b="1" dirty="0">
                <a:solidFill>
                  <a:srgbClr val="00A54F"/>
                </a:solidFill>
                <a:latin typeface="SolexBoldLining"/>
              </a:rPr>
              <a:t>FIGURE 1 </a:t>
            </a:r>
            <a:r>
              <a:rPr lang="zh-CN" altLang="en-US" sz="2000" b="1" dirty="0">
                <a:latin typeface="SolexBoldLining"/>
              </a:rPr>
              <a:t>（锥虫）</a:t>
            </a:r>
            <a:r>
              <a:rPr lang="en-US" altLang="zh-CN" b="1" i="1" u="sng" dirty="0">
                <a:solidFill>
                  <a:srgbClr val="231F20"/>
                </a:solidFill>
                <a:latin typeface="Whitney-LightItalic"/>
              </a:rPr>
              <a:t>Trypanosoma</a:t>
            </a:r>
            <a:r>
              <a:rPr lang="en-US" altLang="zh-CN" i="1" dirty="0">
                <a:solidFill>
                  <a:srgbClr val="231F20"/>
                </a:solidFill>
                <a:latin typeface="Whitney-LightItalic"/>
              </a:rPr>
              <a:t> brucei rhodesiense</a:t>
            </a:r>
            <a:r>
              <a:rPr lang="en-US" altLang="zh-CN" dirty="0">
                <a:solidFill>
                  <a:srgbClr val="231F20"/>
                </a:solidFill>
                <a:latin typeface="Whitney-Light"/>
              </a:rPr>
              <a:t>, one of several trypanosomes known to cause African sleeping sickness.</a:t>
            </a:r>
          </a:p>
          <a:p>
            <a:pPr lvl="1"/>
            <a:endParaRPr lang="en-US" altLang="zh-CN" dirty="0">
              <a:solidFill>
                <a:srgbClr val="231F20"/>
              </a:solidFill>
              <a:latin typeface="Whitney-Light"/>
            </a:endParaRPr>
          </a:p>
          <a:p>
            <a:pPr lvl="1"/>
            <a:r>
              <a:rPr lang="en-US" altLang="zh-CN" dirty="0">
                <a:solidFill>
                  <a:srgbClr val="231F20"/>
                </a:solidFill>
                <a:latin typeface="Whitney-Light"/>
              </a:rPr>
              <a:t>- </a:t>
            </a:r>
            <a:r>
              <a:rPr lang="en-US" altLang="zh-CN" i="1" dirty="0" err="1">
                <a:solidFill>
                  <a:srgbClr val="231F20"/>
                </a:solidFill>
                <a:latin typeface="Whitney-Light"/>
              </a:rPr>
              <a:t>Lehninger</a:t>
            </a:r>
            <a:r>
              <a:rPr lang="en-US" altLang="zh-CN" i="1" dirty="0">
                <a:solidFill>
                  <a:srgbClr val="231F20"/>
                </a:solidFill>
                <a:latin typeface="Whitney-Light"/>
              </a:rPr>
              <a:t> Principles of Biochemistry </a:t>
            </a:r>
            <a:r>
              <a:rPr lang="en-US" altLang="zh-CN" dirty="0">
                <a:solidFill>
                  <a:srgbClr val="231F20"/>
                </a:solidFill>
                <a:latin typeface="Whitney-Light"/>
              </a:rPr>
              <a:t>6th Edition</a:t>
            </a:r>
            <a:br>
              <a:rPr lang="en-US" altLang="zh-CN" dirty="0"/>
            </a:br>
            <a:endParaRPr lang="zh-CN" altLang="en-US" dirty="0"/>
          </a:p>
        </p:txBody>
      </p:sp>
      <p:sp>
        <p:nvSpPr>
          <p:cNvPr id="5" name="文本框 4">
            <a:extLst>
              <a:ext uri="{FF2B5EF4-FFF2-40B4-BE49-F238E27FC236}">
                <a16:creationId xmlns:a16="http://schemas.microsoft.com/office/drawing/2014/main" id="{2087BC39-1FF5-456B-8F48-D836DF12501F}"/>
              </a:ext>
            </a:extLst>
          </p:cNvPr>
          <p:cNvSpPr txBox="1"/>
          <p:nvPr/>
        </p:nvSpPr>
        <p:spPr>
          <a:xfrm>
            <a:off x="7370676" y="4740065"/>
            <a:ext cx="1368152" cy="374095"/>
          </a:xfrm>
          <a:prstGeom prst="rect">
            <a:avLst/>
          </a:prstGeom>
          <a:noFill/>
        </p:spPr>
        <p:txBody>
          <a:bodyPr wrap="square" rtlCol="0">
            <a:spAutoFit/>
          </a:bodyPr>
          <a:lstStyle/>
          <a:p>
            <a:r>
              <a:rPr lang="en-US" altLang="zh-CN" dirty="0"/>
              <a:t>-</a:t>
            </a:r>
            <a:r>
              <a:rPr lang="zh-CN" altLang="en-US" dirty="0"/>
              <a:t>百度图片</a:t>
            </a:r>
          </a:p>
        </p:txBody>
      </p:sp>
    </p:spTree>
    <p:extLst>
      <p:ext uri="{BB962C8B-B14F-4D97-AF65-F5344CB8AC3E}">
        <p14:creationId xmlns:p14="http://schemas.microsoft.com/office/powerpoint/2010/main" val="132086113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12F3A49-7D14-45B6-AE40-EDF76FD8B9B1}"/>
              </a:ext>
            </a:extLst>
          </p:cNvPr>
          <p:cNvPicPr>
            <a:picLocks noChangeAspect="1"/>
          </p:cNvPicPr>
          <p:nvPr/>
        </p:nvPicPr>
        <p:blipFill rotWithShape="1">
          <a:blip r:embed="rId3"/>
          <a:srcRect t="3158"/>
          <a:stretch/>
        </p:blipFill>
        <p:spPr>
          <a:xfrm>
            <a:off x="-6463" y="908720"/>
            <a:ext cx="9144000" cy="4416211"/>
          </a:xfrm>
          <a:prstGeom prst="rect">
            <a:avLst/>
          </a:prstGeom>
        </p:spPr>
      </p:pic>
      <p:sp>
        <p:nvSpPr>
          <p:cNvPr id="3" name="文本框 2">
            <a:extLst>
              <a:ext uri="{FF2B5EF4-FFF2-40B4-BE49-F238E27FC236}">
                <a16:creationId xmlns:a16="http://schemas.microsoft.com/office/drawing/2014/main" id="{2AEFBBCF-9B3C-4B8B-9CAC-DE154A884136}"/>
              </a:ext>
            </a:extLst>
          </p:cNvPr>
          <p:cNvSpPr txBox="1"/>
          <p:nvPr/>
        </p:nvSpPr>
        <p:spPr>
          <a:xfrm>
            <a:off x="827584" y="441538"/>
            <a:ext cx="5904656" cy="646331"/>
          </a:xfrm>
          <a:prstGeom prst="rect">
            <a:avLst/>
          </a:prstGeom>
          <a:noFill/>
        </p:spPr>
        <p:txBody>
          <a:bodyPr wrap="square" rtlCol="0">
            <a:spAutoFit/>
          </a:bodyPr>
          <a:lstStyle/>
          <a:p>
            <a:r>
              <a:rPr lang="en-US" altLang="zh-CN" dirty="0">
                <a:solidFill>
                  <a:srgbClr val="FF0000"/>
                </a:solidFill>
              </a:rPr>
              <a:t>The polyamines spermine and spermidine </a:t>
            </a:r>
            <a:br>
              <a:rPr lang="en-US" altLang="zh-CN" dirty="0">
                <a:solidFill>
                  <a:srgbClr val="FF0000"/>
                </a:solidFill>
              </a:rPr>
            </a:br>
            <a:endParaRPr lang="zh-CN" altLang="en-US" dirty="0">
              <a:solidFill>
                <a:srgbClr val="FF0000"/>
              </a:solidFill>
            </a:endParaRPr>
          </a:p>
        </p:txBody>
      </p:sp>
      <p:sp>
        <p:nvSpPr>
          <p:cNvPr id="4" name="矩形: 圆角 3">
            <a:extLst>
              <a:ext uri="{FF2B5EF4-FFF2-40B4-BE49-F238E27FC236}">
                <a16:creationId xmlns:a16="http://schemas.microsoft.com/office/drawing/2014/main" id="{BE6D9CA2-863D-4A96-85E4-9505D87D46F2}"/>
              </a:ext>
            </a:extLst>
          </p:cNvPr>
          <p:cNvSpPr/>
          <p:nvPr/>
        </p:nvSpPr>
        <p:spPr>
          <a:xfrm>
            <a:off x="971600" y="980728"/>
            <a:ext cx="936104" cy="430307"/>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a:extLst>
              <a:ext uri="{FF2B5EF4-FFF2-40B4-BE49-F238E27FC236}">
                <a16:creationId xmlns:a16="http://schemas.microsoft.com/office/drawing/2014/main" id="{0BA1F4CE-32F4-4B6D-B61B-4B94344DBEBB}"/>
              </a:ext>
            </a:extLst>
          </p:cNvPr>
          <p:cNvSpPr/>
          <p:nvPr/>
        </p:nvSpPr>
        <p:spPr>
          <a:xfrm>
            <a:off x="2699792" y="5324931"/>
            <a:ext cx="2685351" cy="369332"/>
          </a:xfrm>
          <a:prstGeom prst="rect">
            <a:avLst/>
          </a:prstGeom>
        </p:spPr>
        <p:txBody>
          <a:bodyPr wrap="none">
            <a:spAutoFit/>
          </a:bodyPr>
          <a:lstStyle/>
          <a:p>
            <a:r>
              <a:rPr lang="en-US" altLang="zh-CN" dirty="0"/>
              <a:t> ornithine decarboxylase</a:t>
            </a:r>
            <a:endParaRPr lang="zh-CN" altLang="en-US" dirty="0"/>
          </a:p>
        </p:txBody>
      </p:sp>
      <p:sp>
        <p:nvSpPr>
          <p:cNvPr id="6" name="文本框 5">
            <a:extLst>
              <a:ext uri="{FF2B5EF4-FFF2-40B4-BE49-F238E27FC236}">
                <a16:creationId xmlns:a16="http://schemas.microsoft.com/office/drawing/2014/main" id="{58DCC6E3-A6E6-46C8-9327-EE2B7A184C5B}"/>
              </a:ext>
            </a:extLst>
          </p:cNvPr>
          <p:cNvSpPr txBox="1"/>
          <p:nvPr/>
        </p:nvSpPr>
        <p:spPr>
          <a:xfrm>
            <a:off x="971600" y="4293096"/>
            <a:ext cx="1338828" cy="369332"/>
          </a:xfrm>
          <a:prstGeom prst="rect">
            <a:avLst/>
          </a:prstGeom>
          <a:noFill/>
        </p:spPr>
        <p:txBody>
          <a:bodyPr wrap="none" rtlCol="0">
            <a:spAutoFit/>
          </a:bodyPr>
          <a:lstStyle/>
          <a:p>
            <a:r>
              <a:rPr lang="en-US" altLang="zh-CN" b="1" dirty="0">
                <a:solidFill>
                  <a:srgbClr val="FF0000"/>
                </a:solidFill>
              </a:rPr>
              <a:t>Coenzyme</a:t>
            </a:r>
            <a:endParaRPr lang="zh-CN" altLang="en-US" b="1" dirty="0">
              <a:solidFill>
                <a:srgbClr val="FF0000"/>
              </a:solidFill>
            </a:endParaRPr>
          </a:p>
        </p:txBody>
      </p:sp>
    </p:spTree>
    <p:extLst>
      <p:ext uri="{BB962C8B-B14F-4D97-AF65-F5344CB8AC3E}">
        <p14:creationId xmlns:p14="http://schemas.microsoft.com/office/powerpoint/2010/main" val="1115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D5CC2E0-675B-413C-9F06-99513E55C6E7}"/>
              </a:ext>
            </a:extLst>
          </p:cNvPr>
          <p:cNvPicPr>
            <a:picLocks noChangeAspect="1"/>
          </p:cNvPicPr>
          <p:nvPr/>
        </p:nvPicPr>
        <p:blipFill>
          <a:blip r:embed="rId2"/>
          <a:stretch>
            <a:fillRect/>
          </a:stretch>
        </p:blipFill>
        <p:spPr>
          <a:xfrm>
            <a:off x="0" y="115907"/>
            <a:ext cx="9144000" cy="6626185"/>
          </a:xfrm>
          <a:prstGeom prst="rect">
            <a:avLst/>
          </a:prstGeom>
        </p:spPr>
      </p:pic>
      <p:sp>
        <p:nvSpPr>
          <p:cNvPr id="3" name="矩形: 圆角 2">
            <a:extLst>
              <a:ext uri="{FF2B5EF4-FFF2-40B4-BE49-F238E27FC236}">
                <a16:creationId xmlns:a16="http://schemas.microsoft.com/office/drawing/2014/main" id="{EEF61089-9153-4710-B99C-AF18048BEB98}"/>
              </a:ext>
            </a:extLst>
          </p:cNvPr>
          <p:cNvSpPr/>
          <p:nvPr/>
        </p:nvSpPr>
        <p:spPr>
          <a:xfrm>
            <a:off x="395536" y="115907"/>
            <a:ext cx="936104" cy="3144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圆角 3">
            <a:extLst>
              <a:ext uri="{FF2B5EF4-FFF2-40B4-BE49-F238E27FC236}">
                <a16:creationId xmlns:a16="http://schemas.microsoft.com/office/drawing/2014/main" id="{4DB3441A-DF79-4849-8182-5EA1C638BA0F}"/>
              </a:ext>
            </a:extLst>
          </p:cNvPr>
          <p:cNvSpPr/>
          <p:nvPr/>
        </p:nvSpPr>
        <p:spPr>
          <a:xfrm>
            <a:off x="5004048" y="4221088"/>
            <a:ext cx="2088232" cy="1512168"/>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7FF6D7C9-C510-4C93-A3DA-6B4FEDA077CD}"/>
              </a:ext>
            </a:extLst>
          </p:cNvPr>
          <p:cNvSpPr/>
          <p:nvPr/>
        </p:nvSpPr>
        <p:spPr>
          <a:xfrm>
            <a:off x="8460432" y="5373216"/>
            <a:ext cx="576064" cy="430307"/>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a:extLst>
              <a:ext uri="{FF2B5EF4-FFF2-40B4-BE49-F238E27FC236}">
                <a16:creationId xmlns:a16="http://schemas.microsoft.com/office/drawing/2014/main" id="{C7A97149-66CF-4A15-A798-6AC93654B596}"/>
              </a:ext>
            </a:extLst>
          </p:cNvPr>
          <p:cNvSpPr/>
          <p:nvPr/>
        </p:nvSpPr>
        <p:spPr>
          <a:xfrm>
            <a:off x="7136524" y="5903475"/>
            <a:ext cx="2160240" cy="369332"/>
          </a:xfrm>
          <a:prstGeom prst="rect">
            <a:avLst/>
          </a:prstGeom>
        </p:spPr>
        <p:txBody>
          <a:bodyPr wrap="square">
            <a:spAutoFit/>
          </a:bodyPr>
          <a:lstStyle/>
          <a:p>
            <a:r>
              <a:rPr lang="en-US" altLang="zh-CN" b="1" dirty="0">
                <a:solidFill>
                  <a:srgbClr val="FF0000"/>
                </a:solidFill>
                <a:latin typeface="CenturyStd-Light"/>
              </a:rPr>
              <a:t>Suicide inactivators</a:t>
            </a:r>
            <a:endParaRPr lang="zh-CN" altLang="en-US" b="1" dirty="0">
              <a:solidFill>
                <a:srgbClr val="FF0000"/>
              </a:solidFill>
            </a:endParaRPr>
          </a:p>
        </p:txBody>
      </p:sp>
    </p:spTree>
    <p:extLst>
      <p:ext uri="{BB962C8B-B14F-4D97-AF65-F5344CB8AC3E}">
        <p14:creationId xmlns:p14="http://schemas.microsoft.com/office/powerpoint/2010/main" val="3070914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ext Box 2">
            <a:extLst>
              <a:ext uri="{FF2B5EF4-FFF2-40B4-BE49-F238E27FC236}">
                <a16:creationId xmlns:a16="http://schemas.microsoft.com/office/drawing/2014/main" id="{CFBA7B7D-941C-41A2-A6CF-2044A30BEF42}"/>
              </a:ext>
            </a:extLst>
          </p:cNvPr>
          <p:cNvSpPr txBox="1">
            <a:spLocks noChangeArrowheads="1"/>
          </p:cNvSpPr>
          <p:nvPr/>
        </p:nvSpPr>
        <p:spPr bwMode="auto">
          <a:xfrm>
            <a:off x="609600" y="3124200"/>
            <a:ext cx="8534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dirty="0">
                <a:latin typeface="Times New Roman" panose="02020603050405020304" pitchFamily="18" charset="0"/>
              </a:rPr>
              <a:t>The enzymatic activity of some enzymes are </a:t>
            </a:r>
            <a:r>
              <a:rPr kumimoji="1" lang="en-US" altLang="zh-CN" sz="3200" b="1" dirty="0">
                <a:solidFill>
                  <a:srgbClr val="FF0000"/>
                </a:solidFill>
                <a:latin typeface="Times New Roman" panose="02020603050405020304" pitchFamily="18" charset="0"/>
              </a:rPr>
              <a:t>precisely regulated </a:t>
            </a:r>
            <a:r>
              <a:rPr kumimoji="1" lang="en-US" altLang="zh-CN" sz="3200" b="1" dirty="0">
                <a:latin typeface="Times New Roman" panose="02020603050405020304" pitchFamily="18" charset="0"/>
              </a:rPr>
              <a:t>in living organisms to meet physiological requirements.</a:t>
            </a:r>
            <a:endParaRPr kumimoji="1" lang="en-US" altLang="zh-CN" sz="2800" b="1" dirty="0">
              <a:latin typeface="Times New Roman" panose="02020603050405020304" pitchFamily="18" charset="0"/>
            </a:endParaRPr>
          </a:p>
        </p:txBody>
      </p:sp>
      <p:sp>
        <p:nvSpPr>
          <p:cNvPr id="162819" name="Text Box 3">
            <a:extLst>
              <a:ext uri="{FF2B5EF4-FFF2-40B4-BE49-F238E27FC236}">
                <a16:creationId xmlns:a16="http://schemas.microsoft.com/office/drawing/2014/main" id="{0F67D60A-8908-4159-A3CB-A12E8B449DA3}"/>
              </a:ext>
            </a:extLst>
          </p:cNvPr>
          <p:cNvSpPr txBox="1">
            <a:spLocks noChangeArrowheads="1"/>
          </p:cNvSpPr>
          <p:nvPr/>
        </p:nvSpPr>
        <p:spPr bwMode="auto">
          <a:xfrm>
            <a:off x="152400" y="4116388"/>
            <a:ext cx="89916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20000"/>
              </a:spcBef>
            </a:pPr>
            <a:r>
              <a:rPr kumimoji="1" lang="en-US" altLang="zh-CN" sz="3200" b="1">
                <a:latin typeface="Times New Roman" panose="02020603050405020304" pitchFamily="18" charset="0"/>
              </a:rPr>
              <a:t>	</a:t>
            </a:r>
            <a:endParaRPr kumimoji="1" lang="en-US" altLang="zh-CN" sz="2400">
              <a:latin typeface="Times New Roman" panose="02020603050405020304" pitchFamily="18" charset="0"/>
            </a:endParaRPr>
          </a:p>
        </p:txBody>
      </p:sp>
      <p:sp>
        <p:nvSpPr>
          <p:cNvPr id="162820" name="Text Box 4">
            <a:extLst>
              <a:ext uri="{FF2B5EF4-FFF2-40B4-BE49-F238E27FC236}">
                <a16:creationId xmlns:a16="http://schemas.microsoft.com/office/drawing/2014/main" id="{4992DC35-32FB-41AA-9105-C9228C2EFECB}"/>
              </a:ext>
            </a:extLst>
          </p:cNvPr>
          <p:cNvSpPr txBox="1">
            <a:spLocks noChangeArrowheads="1"/>
          </p:cNvSpPr>
          <p:nvPr/>
        </p:nvSpPr>
        <p:spPr bwMode="auto">
          <a:xfrm>
            <a:off x="228600" y="1371600"/>
            <a:ext cx="87630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en-US" altLang="zh-CN" sz="4800">
                <a:latin typeface="Times New Roman" panose="02020603050405020304" pitchFamily="18" charset="0"/>
              </a:rPr>
              <a:t>C5 Regulation of Enzyme activity</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ext Box 2">
            <a:extLst>
              <a:ext uri="{FF2B5EF4-FFF2-40B4-BE49-F238E27FC236}">
                <a16:creationId xmlns:a16="http://schemas.microsoft.com/office/drawing/2014/main" id="{388CB60F-8C36-4599-A8D0-22758FF3F790}"/>
              </a:ext>
            </a:extLst>
          </p:cNvPr>
          <p:cNvSpPr txBox="1">
            <a:spLocks noChangeArrowheads="1"/>
          </p:cNvSpPr>
          <p:nvPr/>
        </p:nvSpPr>
        <p:spPr bwMode="auto">
          <a:xfrm>
            <a:off x="381000" y="1295400"/>
            <a:ext cx="8763000" cy="350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Char char="•"/>
            </a:pPr>
            <a:r>
              <a:rPr kumimoji="1" lang="en-US" altLang="zh-CN" sz="2400" dirty="0">
                <a:latin typeface="Times New Roman" panose="02020603050405020304" pitchFamily="18" charset="0"/>
              </a:rPr>
              <a:t> </a:t>
            </a:r>
            <a:r>
              <a:rPr kumimoji="1" lang="en-US" altLang="zh-CN" sz="3200" b="1" dirty="0">
                <a:latin typeface="Times New Roman" panose="02020603050405020304" pitchFamily="18" charset="0"/>
              </a:rPr>
              <a:t>Feedback regulation</a:t>
            </a:r>
          </a:p>
          <a:p>
            <a:pPr eaLnBrk="1" hangingPunct="1">
              <a:spcBef>
                <a:spcPct val="50000"/>
              </a:spcBef>
              <a:buFontTx/>
              <a:buChar char="•"/>
            </a:pPr>
            <a:r>
              <a:rPr kumimoji="1" lang="en-US" altLang="zh-CN" sz="3200" b="1" dirty="0">
                <a:latin typeface="Times New Roman" panose="02020603050405020304" pitchFamily="18" charset="0"/>
              </a:rPr>
              <a:t>Allosteric enzyme</a:t>
            </a:r>
          </a:p>
          <a:p>
            <a:pPr eaLnBrk="1" hangingPunct="1">
              <a:spcBef>
                <a:spcPct val="50000"/>
              </a:spcBef>
              <a:buFontTx/>
              <a:buChar char="•"/>
            </a:pPr>
            <a:r>
              <a:rPr kumimoji="1" lang="en-US" altLang="zh-CN" sz="3200" b="1" dirty="0">
                <a:latin typeface="Times New Roman" panose="02020603050405020304" pitchFamily="18" charset="0"/>
              </a:rPr>
              <a:t>Reversible covalent modification</a:t>
            </a:r>
          </a:p>
          <a:p>
            <a:pPr eaLnBrk="1" hangingPunct="1">
              <a:spcBef>
                <a:spcPct val="50000"/>
              </a:spcBef>
              <a:buFontTx/>
              <a:buChar char="•"/>
            </a:pPr>
            <a:r>
              <a:rPr kumimoji="1" lang="en-US" altLang="zh-CN" sz="3200" b="1" dirty="0">
                <a:latin typeface="Times New Roman" panose="02020603050405020304" pitchFamily="18" charset="0"/>
              </a:rPr>
              <a:t>Proteolytic activation</a:t>
            </a:r>
          </a:p>
          <a:p>
            <a:pPr eaLnBrk="1" hangingPunct="1">
              <a:spcBef>
                <a:spcPct val="50000"/>
              </a:spcBef>
              <a:buFontTx/>
              <a:buChar char="•"/>
            </a:pPr>
            <a:r>
              <a:rPr kumimoji="1" lang="en-US" altLang="zh-CN" sz="3200" b="1" dirty="0">
                <a:latin typeface="Times New Roman" panose="02020603050405020304" pitchFamily="18" charset="0"/>
              </a:rPr>
              <a:t>Regulation of enzyme synthesis and breakdown</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2">
            <a:extLst>
              <a:ext uri="{FF2B5EF4-FFF2-40B4-BE49-F238E27FC236}">
                <a16:creationId xmlns:a16="http://schemas.microsoft.com/office/drawing/2014/main" id="{0D29B59F-AE1B-4092-9CA2-A2063B6110FA}"/>
              </a:ext>
            </a:extLst>
          </p:cNvPr>
          <p:cNvSpPr txBox="1">
            <a:spLocks noChangeArrowheads="1"/>
          </p:cNvSpPr>
          <p:nvPr/>
        </p:nvSpPr>
        <p:spPr bwMode="auto">
          <a:xfrm>
            <a:off x="304800" y="381000"/>
            <a:ext cx="6477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10000"/>
              </a:spcBef>
            </a:pPr>
            <a:r>
              <a:rPr kumimoji="1" lang="en-US" altLang="zh-CN" sz="2400" dirty="0">
                <a:latin typeface="Times New Roman" panose="02020603050405020304" pitchFamily="18" charset="0"/>
              </a:rPr>
              <a:t>	</a:t>
            </a:r>
            <a:r>
              <a:rPr kumimoji="1" lang="en-US" altLang="zh-CN" sz="3200" b="1" dirty="0">
                <a:solidFill>
                  <a:srgbClr val="FF0000"/>
                </a:solidFill>
                <a:latin typeface="Times New Roman" panose="02020603050405020304" pitchFamily="18" charset="0"/>
              </a:rPr>
              <a:t>1. Feedback inhibition</a:t>
            </a:r>
            <a:r>
              <a:rPr kumimoji="1" lang="en-US" altLang="zh-CN" sz="3200" b="1" dirty="0">
                <a:latin typeface="Times New Roman" panose="02020603050405020304" pitchFamily="18" charset="0"/>
              </a:rPr>
              <a:t>	</a:t>
            </a:r>
          </a:p>
        </p:txBody>
      </p:sp>
      <p:pic>
        <p:nvPicPr>
          <p:cNvPr id="164867" name="Picture 3" descr="未标题-52">
            <a:extLst>
              <a:ext uri="{FF2B5EF4-FFF2-40B4-BE49-F238E27FC236}">
                <a16:creationId xmlns:a16="http://schemas.microsoft.com/office/drawing/2014/main" id="{BE53613F-E790-4315-BD61-7CF7FABF4146}"/>
              </a:ext>
            </a:extLst>
          </p:cNvPr>
          <p:cNvPicPr>
            <a:picLocks noChangeAspect="1" noChangeArrowheads="1"/>
          </p:cNvPicPr>
          <p:nvPr/>
        </p:nvPicPr>
        <p:blipFill>
          <a:blip r:embed="rId2">
            <a:lum bright="-18000" contrast="24000"/>
            <a:extLst>
              <a:ext uri="{28A0092B-C50C-407E-A947-70E740481C1C}">
                <a14:useLocalDpi xmlns:a14="http://schemas.microsoft.com/office/drawing/2010/main" val="0"/>
              </a:ext>
            </a:extLst>
          </a:blip>
          <a:srcRect/>
          <a:stretch>
            <a:fillRect/>
          </a:stretch>
        </p:blipFill>
        <p:spPr bwMode="auto">
          <a:xfrm>
            <a:off x="228600" y="1905000"/>
            <a:ext cx="8686800" cy="336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05343CE7-B2FC-45B1-9252-4C588E2E2ECD}"/>
              </a:ext>
            </a:extLst>
          </p:cNvPr>
          <p:cNvSpPr/>
          <p:nvPr/>
        </p:nvSpPr>
        <p:spPr>
          <a:xfrm>
            <a:off x="1564873" y="5352868"/>
            <a:ext cx="1978427" cy="400110"/>
          </a:xfrm>
          <a:prstGeom prst="rect">
            <a:avLst/>
          </a:prstGeom>
        </p:spPr>
        <p:txBody>
          <a:bodyPr wrap="none">
            <a:spAutoFit/>
          </a:bodyPr>
          <a:lstStyle/>
          <a:p>
            <a:r>
              <a:rPr lang="en-US" altLang="zh-CN" sz="2000" dirty="0"/>
              <a:t>Committed step</a:t>
            </a:r>
            <a:endParaRPr lang="zh-CN" altLang="en-US" sz="2000" dirty="0"/>
          </a:p>
        </p:txBody>
      </p:sp>
      <p:cxnSp>
        <p:nvCxnSpPr>
          <p:cNvPr id="4" name="直接箭头连接符 3">
            <a:extLst>
              <a:ext uri="{FF2B5EF4-FFF2-40B4-BE49-F238E27FC236}">
                <a16:creationId xmlns:a16="http://schemas.microsoft.com/office/drawing/2014/main" id="{6A34FC1C-4A10-4985-B569-B76626A70AA8}"/>
              </a:ext>
            </a:extLst>
          </p:cNvPr>
          <p:cNvCxnSpPr/>
          <p:nvPr/>
        </p:nvCxnSpPr>
        <p:spPr>
          <a:xfrm flipV="1">
            <a:off x="2483768" y="4077072"/>
            <a:ext cx="0" cy="129614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Text Box 2">
            <a:extLst>
              <a:ext uri="{FF2B5EF4-FFF2-40B4-BE49-F238E27FC236}">
                <a16:creationId xmlns:a16="http://schemas.microsoft.com/office/drawing/2014/main" id="{1B4AE89E-3930-4949-B1DA-B2D178862121}"/>
              </a:ext>
            </a:extLst>
          </p:cNvPr>
          <p:cNvSpPr txBox="1">
            <a:spLocks noChangeArrowheads="1"/>
          </p:cNvSpPr>
          <p:nvPr/>
        </p:nvSpPr>
        <p:spPr bwMode="auto">
          <a:xfrm>
            <a:off x="304800" y="381000"/>
            <a:ext cx="8839200" cy="5755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dirty="0">
                <a:latin typeface="Times New Roman" panose="02020603050405020304" pitchFamily="18" charset="0"/>
              </a:rPr>
              <a:t>In biological systems the rates of many enzymes are altered by the presence of </a:t>
            </a:r>
            <a:r>
              <a:rPr kumimoji="1" lang="en-US" altLang="zh-CN" sz="3200" b="1" dirty="0">
                <a:solidFill>
                  <a:srgbClr val="FF0000"/>
                </a:solidFill>
                <a:latin typeface="Times New Roman" panose="02020603050405020304" pitchFamily="18" charset="0"/>
              </a:rPr>
              <a:t>effectors</a:t>
            </a:r>
            <a:r>
              <a:rPr kumimoji="1" lang="en-US" altLang="zh-CN" sz="3200" b="1" dirty="0">
                <a:latin typeface="Times New Roman" panose="02020603050405020304" pitchFamily="18" charset="0"/>
              </a:rPr>
              <a:t> (inhibitors or activators).</a:t>
            </a:r>
          </a:p>
          <a:p>
            <a:pPr eaLnBrk="1" hangingPunct="1">
              <a:spcBef>
                <a:spcPct val="50000"/>
              </a:spcBef>
            </a:pPr>
            <a:r>
              <a:rPr kumimoji="1" lang="en-US" altLang="zh-CN" sz="3200" b="1" dirty="0">
                <a:solidFill>
                  <a:srgbClr val="FF0000"/>
                </a:solidFill>
                <a:latin typeface="Times New Roman" panose="02020603050405020304" pitchFamily="18" charset="0"/>
              </a:rPr>
              <a:t>Building up of a pathway’s end product ultimately slows the entire pathway. This is called feedback inhibition</a:t>
            </a:r>
            <a:r>
              <a:rPr kumimoji="1" lang="en-US" altLang="zh-CN" sz="3200" b="1" dirty="0">
                <a:latin typeface="Times New Roman" panose="02020603050405020304" pitchFamily="18" charset="0"/>
              </a:rPr>
              <a:t> and often takes place at the </a:t>
            </a:r>
            <a:r>
              <a:rPr kumimoji="1" lang="en-US" altLang="zh-CN" sz="3200" b="1" dirty="0">
                <a:solidFill>
                  <a:srgbClr val="FF0000"/>
                </a:solidFill>
                <a:latin typeface="Times New Roman" panose="02020603050405020304" pitchFamily="18" charset="0"/>
              </a:rPr>
              <a:t>committed step</a:t>
            </a:r>
            <a:r>
              <a:rPr kumimoji="1" lang="en-US" altLang="zh-CN" sz="3200" b="1" dirty="0">
                <a:latin typeface="Times New Roman" panose="02020603050405020304" pitchFamily="18" charset="0"/>
              </a:rPr>
              <a:t> in the pathway. The committed step is the first step to produce an intermediate which is unique to the pathway in question, and therefore normally commits the metabolite to further metabolism along that pathway.</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914" name="Picture 2" descr="183-2">
            <a:extLst>
              <a:ext uri="{FF2B5EF4-FFF2-40B4-BE49-F238E27FC236}">
                <a16:creationId xmlns:a16="http://schemas.microsoft.com/office/drawing/2014/main" id="{2E7DB0BB-2109-4143-81F4-6B5CC3EFA4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075" y="2946400"/>
            <a:ext cx="8645525"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6915" name="Line 3">
            <a:extLst>
              <a:ext uri="{FF2B5EF4-FFF2-40B4-BE49-F238E27FC236}">
                <a16:creationId xmlns:a16="http://schemas.microsoft.com/office/drawing/2014/main" id="{E14D8158-E526-481D-A25C-CB0CCEBE5296}"/>
              </a:ext>
            </a:extLst>
          </p:cNvPr>
          <p:cNvSpPr>
            <a:spLocks noChangeShapeType="1"/>
          </p:cNvSpPr>
          <p:nvPr/>
        </p:nvSpPr>
        <p:spPr bwMode="auto">
          <a:xfrm>
            <a:off x="581025" y="3378200"/>
            <a:ext cx="7920038"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6916" name="Line 4">
            <a:extLst>
              <a:ext uri="{FF2B5EF4-FFF2-40B4-BE49-F238E27FC236}">
                <a16:creationId xmlns:a16="http://schemas.microsoft.com/office/drawing/2014/main" id="{4EF73D3E-370C-4FC3-8B85-596BEA5E2BDA}"/>
              </a:ext>
            </a:extLst>
          </p:cNvPr>
          <p:cNvSpPr>
            <a:spLocks noChangeShapeType="1"/>
          </p:cNvSpPr>
          <p:nvPr/>
        </p:nvSpPr>
        <p:spPr bwMode="auto">
          <a:xfrm>
            <a:off x="581025" y="3657600"/>
            <a:ext cx="3240088"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6917" name="Line 5">
            <a:extLst>
              <a:ext uri="{FF2B5EF4-FFF2-40B4-BE49-F238E27FC236}">
                <a16:creationId xmlns:a16="http://schemas.microsoft.com/office/drawing/2014/main" id="{F65D11F3-DCAF-4751-922B-56C89DB86D26}"/>
              </a:ext>
            </a:extLst>
          </p:cNvPr>
          <p:cNvSpPr>
            <a:spLocks noChangeShapeType="1"/>
          </p:cNvSpPr>
          <p:nvPr/>
        </p:nvSpPr>
        <p:spPr bwMode="auto">
          <a:xfrm>
            <a:off x="3965575" y="3690938"/>
            <a:ext cx="4608513"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6918" name="Line 6">
            <a:extLst>
              <a:ext uri="{FF2B5EF4-FFF2-40B4-BE49-F238E27FC236}">
                <a16:creationId xmlns:a16="http://schemas.microsoft.com/office/drawing/2014/main" id="{7A763F3D-9908-4FF7-9E80-30C6D16E5B33}"/>
              </a:ext>
            </a:extLst>
          </p:cNvPr>
          <p:cNvSpPr>
            <a:spLocks noChangeShapeType="1"/>
          </p:cNvSpPr>
          <p:nvPr/>
        </p:nvSpPr>
        <p:spPr bwMode="auto">
          <a:xfrm>
            <a:off x="509588" y="3978275"/>
            <a:ext cx="4103687"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66919" name="Text Box 7">
            <a:extLst>
              <a:ext uri="{FF2B5EF4-FFF2-40B4-BE49-F238E27FC236}">
                <a16:creationId xmlns:a16="http://schemas.microsoft.com/office/drawing/2014/main" id="{77081432-06D0-40F3-826D-B4440BB2B032}"/>
              </a:ext>
            </a:extLst>
          </p:cNvPr>
          <p:cNvSpPr txBox="1">
            <a:spLocks noChangeArrowheads="1"/>
          </p:cNvSpPr>
          <p:nvPr/>
        </p:nvSpPr>
        <p:spPr bwMode="auto">
          <a:xfrm>
            <a:off x="1504950" y="1001713"/>
            <a:ext cx="61388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000">
                <a:latin typeface="Times New Roman" panose="02020603050405020304" pitchFamily="18" charset="0"/>
              </a:rPr>
              <a:t>Threonine </a:t>
            </a:r>
            <a:r>
              <a:rPr kumimoji="1" lang="en-US" altLang="zh-CN" sz="3000">
                <a:latin typeface="Times New Roman" panose="02020603050405020304" pitchFamily="18" charset="0"/>
                <a:sym typeface="Wingdings" panose="05000000000000000000" pitchFamily="2" charset="2"/>
              </a:rPr>
              <a:t>         Isoleucine</a:t>
            </a:r>
            <a:endParaRPr kumimoji="1" lang="en-US" altLang="zh-CN" sz="3000">
              <a:latin typeface="Times New Roman" panose="02020603050405020304" pitchFamily="18" charset="0"/>
            </a:endParaRPr>
          </a:p>
        </p:txBody>
      </p:sp>
      <p:sp>
        <p:nvSpPr>
          <p:cNvPr id="166920" name="Line 8">
            <a:extLst>
              <a:ext uri="{FF2B5EF4-FFF2-40B4-BE49-F238E27FC236}">
                <a16:creationId xmlns:a16="http://schemas.microsoft.com/office/drawing/2014/main" id="{66EA773F-230E-4764-8942-AE9001681FBA}"/>
              </a:ext>
            </a:extLst>
          </p:cNvPr>
          <p:cNvSpPr>
            <a:spLocks noChangeShapeType="1"/>
          </p:cNvSpPr>
          <p:nvPr/>
        </p:nvSpPr>
        <p:spPr bwMode="auto">
          <a:xfrm flipV="1">
            <a:off x="3386138" y="1533525"/>
            <a:ext cx="0" cy="360363"/>
          </a:xfrm>
          <a:prstGeom prst="line">
            <a:avLst/>
          </a:prstGeom>
          <a:noFill/>
          <a:ln w="38100">
            <a:solidFill>
              <a:schemeClr val="tx1"/>
            </a:solidFill>
            <a:round/>
            <a:headEnd/>
            <a:tailEnd type="triangle" w="med" len="sm"/>
          </a:ln>
          <a:extLst>
            <a:ext uri="{909E8E84-426E-40DD-AFC4-6F175D3DCCD1}">
              <a14:hiddenFill xmlns:a14="http://schemas.microsoft.com/office/drawing/2010/main">
                <a:noFill/>
              </a14:hiddenFill>
            </a:ext>
          </a:extLst>
        </p:spPr>
        <p:txBody>
          <a:bodyPr wrap="none"/>
          <a:lstStyle/>
          <a:p>
            <a:endParaRPr lang="zh-CN" altLang="en-US"/>
          </a:p>
        </p:txBody>
      </p:sp>
      <p:sp>
        <p:nvSpPr>
          <p:cNvPr id="166921" name="Text Box 9">
            <a:extLst>
              <a:ext uri="{FF2B5EF4-FFF2-40B4-BE49-F238E27FC236}">
                <a16:creationId xmlns:a16="http://schemas.microsoft.com/office/drawing/2014/main" id="{FF92483C-E0A3-428D-89C7-AA42A55FD43A}"/>
              </a:ext>
            </a:extLst>
          </p:cNvPr>
          <p:cNvSpPr txBox="1">
            <a:spLocks noChangeArrowheads="1"/>
          </p:cNvSpPr>
          <p:nvPr/>
        </p:nvSpPr>
        <p:spPr bwMode="auto">
          <a:xfrm>
            <a:off x="1974850" y="1914525"/>
            <a:ext cx="2965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dirty="0">
                <a:latin typeface="Times New Roman" panose="02020603050405020304" pitchFamily="18" charset="0"/>
              </a:rPr>
              <a:t>Threonine dehydratase</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7938" name="Picture 2">
            <a:extLst>
              <a:ext uri="{FF2B5EF4-FFF2-40B4-BE49-F238E27FC236}">
                <a16:creationId xmlns:a16="http://schemas.microsoft.com/office/drawing/2014/main" id="{6A97E855-83D3-4921-A204-A47E07AA7A48}"/>
              </a:ext>
            </a:extLst>
          </p:cNvPr>
          <p:cNvPicPr>
            <a:picLocks noChangeAspect="1" noChangeArrowheads="1"/>
          </p:cNvPicPr>
          <p:nvPr/>
        </p:nvPicPr>
        <p:blipFill>
          <a:blip r:embed="rId3">
            <a:lum bright="-54000" contrast="60000"/>
            <a:extLst>
              <a:ext uri="{28A0092B-C50C-407E-A947-70E740481C1C}">
                <a14:useLocalDpi xmlns:a14="http://schemas.microsoft.com/office/drawing/2010/main" val="0"/>
              </a:ext>
            </a:extLst>
          </a:blip>
          <a:srcRect/>
          <a:stretch>
            <a:fillRect/>
          </a:stretch>
        </p:blipFill>
        <p:spPr bwMode="auto">
          <a:xfrm>
            <a:off x="3403600" y="254000"/>
            <a:ext cx="23368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Text Box 2">
            <a:extLst>
              <a:ext uri="{FF2B5EF4-FFF2-40B4-BE49-F238E27FC236}">
                <a16:creationId xmlns:a16="http://schemas.microsoft.com/office/drawing/2014/main" id="{0C27D19B-2231-47F9-8E13-E02CDBA8796F}"/>
              </a:ext>
            </a:extLst>
          </p:cNvPr>
          <p:cNvSpPr txBox="1">
            <a:spLocks noChangeArrowheads="1"/>
          </p:cNvSpPr>
          <p:nvPr/>
        </p:nvSpPr>
        <p:spPr bwMode="auto">
          <a:xfrm>
            <a:off x="457200" y="685800"/>
            <a:ext cx="82296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dirty="0">
                <a:latin typeface="Times New Roman" panose="02020603050405020304" pitchFamily="18" charset="0"/>
              </a:rPr>
              <a:t>As many metabolic pathways are </a:t>
            </a:r>
            <a:r>
              <a:rPr kumimoji="1" lang="en-US" altLang="zh-CN" sz="3200" b="1" dirty="0">
                <a:solidFill>
                  <a:srgbClr val="C00000"/>
                </a:solidFill>
                <a:latin typeface="Times New Roman" panose="02020603050405020304" pitchFamily="18" charset="0"/>
              </a:rPr>
              <a:t>branched</a:t>
            </a:r>
            <a:r>
              <a:rPr kumimoji="1" lang="en-US" altLang="zh-CN" sz="3200" b="1" dirty="0">
                <a:latin typeface="Times New Roman" panose="02020603050405020304" pitchFamily="18" charset="0"/>
              </a:rPr>
              <a:t>, feedback inhibition must allow the synthesis of one product of a branched pathway to proceed even when another is present in excess.</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6" name="Picture 2">
            <a:extLst>
              <a:ext uri="{FF2B5EF4-FFF2-40B4-BE49-F238E27FC236}">
                <a16:creationId xmlns:a16="http://schemas.microsoft.com/office/drawing/2014/main" id="{88AEA198-421E-4ADB-8BA6-2C2E0B04BE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9000" t="8667" r="9000" b="7333"/>
          <a:stretch>
            <a:fillRect/>
          </a:stretch>
        </p:blipFill>
        <p:spPr bwMode="auto">
          <a:xfrm>
            <a:off x="762000" y="792163"/>
            <a:ext cx="7696200" cy="591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9987" name="Text Box 3">
            <a:extLst>
              <a:ext uri="{FF2B5EF4-FFF2-40B4-BE49-F238E27FC236}">
                <a16:creationId xmlns:a16="http://schemas.microsoft.com/office/drawing/2014/main" id="{B6FEEAF2-1624-472D-B301-7B1C50866DE4}"/>
              </a:ext>
            </a:extLst>
          </p:cNvPr>
          <p:cNvSpPr txBox="1">
            <a:spLocks noChangeArrowheads="1"/>
          </p:cNvSpPr>
          <p:nvPr/>
        </p:nvSpPr>
        <p:spPr bwMode="auto">
          <a:xfrm>
            <a:off x="609600" y="152400"/>
            <a:ext cx="594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Times New Roman" panose="02020603050405020304" pitchFamily="18" charset="0"/>
              </a:rPr>
              <a:t>Sequential feedback inhibition</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a:extLst>
              <a:ext uri="{FF2B5EF4-FFF2-40B4-BE49-F238E27FC236}">
                <a16:creationId xmlns:a16="http://schemas.microsoft.com/office/drawing/2014/main" id="{49A2FB38-2C34-4B6C-80BB-285CF53CB25B}"/>
              </a:ext>
            </a:extLst>
          </p:cNvPr>
          <p:cNvSpPr txBox="1">
            <a:spLocks noChangeArrowheads="1"/>
          </p:cNvSpPr>
          <p:nvPr/>
        </p:nvSpPr>
        <p:spPr bwMode="auto">
          <a:xfrm>
            <a:off x="533400" y="260648"/>
            <a:ext cx="8077200" cy="6324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3200" b="1" dirty="0">
                <a:latin typeface="Times New Roman" panose="02020603050405020304" pitchFamily="18" charset="0"/>
              </a:rPr>
              <a:t>协同反馈抑制  </a:t>
            </a:r>
          </a:p>
          <a:p>
            <a:pPr eaLnBrk="1" hangingPunct="1">
              <a:spcBef>
                <a:spcPct val="50000"/>
              </a:spcBef>
            </a:pPr>
            <a:r>
              <a:rPr kumimoji="1" lang="en-US" altLang="zh-CN" sz="3200" b="1" dirty="0">
                <a:latin typeface="Times New Roman" panose="02020603050405020304" pitchFamily="18" charset="0"/>
              </a:rPr>
              <a:t>concerted feed back inhibition</a:t>
            </a:r>
          </a:p>
          <a:p>
            <a:pPr eaLnBrk="1" hangingPunct="1">
              <a:spcBef>
                <a:spcPct val="50000"/>
              </a:spcBef>
            </a:pPr>
            <a:r>
              <a:rPr lang="zh-CN" altLang="en-US" dirty="0"/>
              <a:t>协同反馈抑制：在分支代谢途径中，几种末端产物同时都过量，才对途径中的第一个酶具有抑制作用。若某一末端产物单独过量则对途径中的第一个酶无抑制作用</a:t>
            </a:r>
            <a:endParaRPr lang="en-US" altLang="zh-CN" dirty="0"/>
          </a:p>
          <a:p>
            <a:pPr eaLnBrk="1" hangingPunct="1">
              <a:spcBef>
                <a:spcPct val="50000"/>
              </a:spcBef>
            </a:pPr>
            <a:r>
              <a:rPr kumimoji="1" lang="en-US" altLang="zh-CN" sz="3200" b="1" dirty="0">
                <a:latin typeface="Times New Roman" panose="02020603050405020304" pitchFamily="18" charset="0"/>
              </a:rPr>
              <a:t> </a:t>
            </a:r>
            <a:r>
              <a:rPr kumimoji="1" lang="zh-CN" altLang="en-US" sz="3200" b="1" dirty="0">
                <a:latin typeface="Times New Roman" panose="02020603050405020304" pitchFamily="18" charset="0"/>
              </a:rPr>
              <a:t>积累</a:t>
            </a:r>
            <a:r>
              <a:rPr kumimoji="1" lang="en-US" altLang="zh-CN" sz="3200" b="1" dirty="0">
                <a:latin typeface="Times New Roman" panose="02020603050405020304" pitchFamily="18" charset="0"/>
              </a:rPr>
              <a:t>(</a:t>
            </a:r>
            <a:r>
              <a:rPr kumimoji="1" lang="zh-CN" altLang="en-US" sz="3200" b="1" dirty="0">
                <a:latin typeface="Times New Roman" panose="02020603050405020304" pitchFamily="18" charset="0"/>
              </a:rPr>
              <a:t>累积）反馈抑制 </a:t>
            </a:r>
          </a:p>
          <a:p>
            <a:pPr eaLnBrk="1" hangingPunct="1">
              <a:spcBef>
                <a:spcPct val="50000"/>
              </a:spcBef>
            </a:pPr>
            <a:r>
              <a:rPr kumimoji="1" lang="en-US" altLang="zh-CN" sz="3200" b="1" dirty="0">
                <a:latin typeface="Times New Roman" panose="02020603050405020304" pitchFamily="18" charset="0"/>
              </a:rPr>
              <a:t>cumulative feed back inhibition</a:t>
            </a:r>
            <a:r>
              <a:rPr kumimoji="1" lang="en-US" altLang="zh-CN" sz="2400" dirty="0">
                <a:latin typeface="Times New Roman" panose="02020603050405020304" pitchFamily="18" charset="0"/>
              </a:rPr>
              <a:t> </a:t>
            </a:r>
          </a:p>
          <a:p>
            <a:pPr eaLnBrk="1" hangingPunct="1">
              <a:spcBef>
                <a:spcPct val="50000"/>
              </a:spcBef>
            </a:pPr>
            <a:r>
              <a:rPr lang="zh-CN" altLang="en-US" dirty="0"/>
              <a:t>积累反馈抑制在分支代谢途径中，任何</a:t>
            </a:r>
            <a:r>
              <a:rPr lang="en-US" altLang="zh-CN" dirty="0"/>
              <a:t>1</a:t>
            </a:r>
            <a:r>
              <a:rPr lang="zh-CN" altLang="en-US" dirty="0"/>
              <a:t>种末端产物过量时都能对共同途径中的第</a:t>
            </a:r>
            <a:r>
              <a:rPr lang="en-US" altLang="zh-CN" dirty="0"/>
              <a:t>1</a:t>
            </a:r>
            <a:r>
              <a:rPr lang="zh-CN" altLang="en-US" dirty="0"/>
              <a:t>个酶起抑制作用，而且各种末端产物的抑制作用互不干扰。当各种末端产物同时过量时，它们的抑制作用是累加的。</a:t>
            </a:r>
            <a:endParaRPr kumimoji="1" lang="en-US" altLang="zh-CN" dirty="0">
              <a:latin typeface="Times New Roman" panose="02020603050405020304" pitchFamily="18" charset="0"/>
            </a:endParaRPr>
          </a:p>
          <a:p>
            <a:pPr eaLnBrk="1" hangingPunct="1">
              <a:spcBef>
                <a:spcPct val="50000"/>
              </a:spcBef>
            </a:pPr>
            <a:r>
              <a:rPr kumimoji="1" lang="zh-CN" altLang="en-US" sz="3200" b="1" dirty="0">
                <a:latin typeface="Times New Roman" panose="02020603050405020304" pitchFamily="18" charset="0"/>
              </a:rPr>
              <a:t>同工酶反馈抑制</a:t>
            </a:r>
          </a:p>
          <a:p>
            <a:pPr eaLnBrk="1" hangingPunct="1">
              <a:spcBef>
                <a:spcPct val="50000"/>
              </a:spcBef>
            </a:pPr>
            <a:r>
              <a:rPr kumimoji="1" lang="en-US" altLang="zh-CN" sz="3200" b="1" dirty="0">
                <a:latin typeface="Times New Roman" panose="02020603050405020304" pitchFamily="18" charset="0"/>
              </a:rPr>
              <a:t>Isozyme feed back inhibition</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ext Box 2">
            <a:extLst>
              <a:ext uri="{FF2B5EF4-FFF2-40B4-BE49-F238E27FC236}">
                <a16:creationId xmlns:a16="http://schemas.microsoft.com/office/drawing/2014/main" id="{03A9C685-F1C4-4837-93BF-5FB032F785C8}"/>
              </a:ext>
            </a:extLst>
          </p:cNvPr>
          <p:cNvSpPr txBox="1">
            <a:spLocks noChangeArrowheads="1"/>
          </p:cNvSpPr>
          <p:nvPr/>
        </p:nvSpPr>
        <p:spPr bwMode="auto">
          <a:xfrm>
            <a:off x="1331913" y="3114675"/>
            <a:ext cx="4318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A</a:t>
            </a:r>
          </a:p>
        </p:txBody>
      </p:sp>
      <p:sp>
        <p:nvSpPr>
          <p:cNvPr id="172035" name="Text Box 3">
            <a:extLst>
              <a:ext uri="{FF2B5EF4-FFF2-40B4-BE49-F238E27FC236}">
                <a16:creationId xmlns:a16="http://schemas.microsoft.com/office/drawing/2014/main" id="{0AA6D369-9275-4A6A-A9F1-A6BADD660281}"/>
              </a:ext>
            </a:extLst>
          </p:cNvPr>
          <p:cNvSpPr txBox="1">
            <a:spLocks noChangeArrowheads="1"/>
          </p:cNvSpPr>
          <p:nvPr/>
        </p:nvSpPr>
        <p:spPr bwMode="auto">
          <a:xfrm>
            <a:off x="2339975" y="3124200"/>
            <a:ext cx="4318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B</a:t>
            </a:r>
          </a:p>
        </p:txBody>
      </p:sp>
      <p:sp>
        <p:nvSpPr>
          <p:cNvPr id="172036" name="Text Box 4">
            <a:extLst>
              <a:ext uri="{FF2B5EF4-FFF2-40B4-BE49-F238E27FC236}">
                <a16:creationId xmlns:a16="http://schemas.microsoft.com/office/drawing/2014/main" id="{96856604-D788-426D-B79D-A04682980A6A}"/>
              </a:ext>
            </a:extLst>
          </p:cNvPr>
          <p:cNvSpPr txBox="1">
            <a:spLocks noChangeArrowheads="1"/>
          </p:cNvSpPr>
          <p:nvPr/>
        </p:nvSpPr>
        <p:spPr bwMode="auto">
          <a:xfrm>
            <a:off x="3348038" y="3124200"/>
            <a:ext cx="4318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C</a:t>
            </a:r>
          </a:p>
        </p:txBody>
      </p:sp>
      <p:sp>
        <p:nvSpPr>
          <p:cNvPr id="172037" name="Text Box 5">
            <a:extLst>
              <a:ext uri="{FF2B5EF4-FFF2-40B4-BE49-F238E27FC236}">
                <a16:creationId xmlns:a16="http://schemas.microsoft.com/office/drawing/2014/main" id="{68A0063A-BE5B-4911-9537-837394F65120}"/>
              </a:ext>
            </a:extLst>
          </p:cNvPr>
          <p:cNvSpPr txBox="1">
            <a:spLocks noChangeArrowheads="1"/>
          </p:cNvSpPr>
          <p:nvPr/>
        </p:nvSpPr>
        <p:spPr bwMode="auto">
          <a:xfrm>
            <a:off x="4356100" y="3124200"/>
            <a:ext cx="4318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D</a:t>
            </a:r>
          </a:p>
        </p:txBody>
      </p:sp>
      <p:sp>
        <p:nvSpPr>
          <p:cNvPr id="172038" name="Text Box 6">
            <a:extLst>
              <a:ext uri="{FF2B5EF4-FFF2-40B4-BE49-F238E27FC236}">
                <a16:creationId xmlns:a16="http://schemas.microsoft.com/office/drawing/2014/main" id="{ECD99977-C342-44FC-8CAE-537BA9B9DDAB}"/>
              </a:ext>
            </a:extLst>
          </p:cNvPr>
          <p:cNvSpPr txBox="1">
            <a:spLocks noChangeArrowheads="1"/>
          </p:cNvSpPr>
          <p:nvPr/>
        </p:nvSpPr>
        <p:spPr bwMode="auto">
          <a:xfrm>
            <a:off x="5508625" y="2276475"/>
            <a:ext cx="4318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J</a:t>
            </a:r>
          </a:p>
        </p:txBody>
      </p:sp>
      <p:sp>
        <p:nvSpPr>
          <p:cNvPr id="172039" name="Text Box 7">
            <a:extLst>
              <a:ext uri="{FF2B5EF4-FFF2-40B4-BE49-F238E27FC236}">
                <a16:creationId xmlns:a16="http://schemas.microsoft.com/office/drawing/2014/main" id="{C6C49509-218B-4D2E-BF90-18A676C0B2BB}"/>
              </a:ext>
            </a:extLst>
          </p:cNvPr>
          <p:cNvSpPr txBox="1">
            <a:spLocks noChangeArrowheads="1"/>
          </p:cNvSpPr>
          <p:nvPr/>
        </p:nvSpPr>
        <p:spPr bwMode="auto">
          <a:xfrm>
            <a:off x="5508625" y="3970338"/>
            <a:ext cx="4318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latin typeface="Times New Roman" panose="02020603050405020304" pitchFamily="18" charset="0"/>
              </a:rPr>
              <a:t>K</a:t>
            </a:r>
          </a:p>
        </p:txBody>
      </p:sp>
      <p:sp>
        <p:nvSpPr>
          <p:cNvPr id="172040" name="Text Box 8">
            <a:extLst>
              <a:ext uri="{FF2B5EF4-FFF2-40B4-BE49-F238E27FC236}">
                <a16:creationId xmlns:a16="http://schemas.microsoft.com/office/drawing/2014/main" id="{278398BD-26DC-4B39-ADC9-C2D3954C8B4B}"/>
              </a:ext>
            </a:extLst>
          </p:cNvPr>
          <p:cNvSpPr txBox="1">
            <a:spLocks noChangeArrowheads="1"/>
          </p:cNvSpPr>
          <p:nvPr/>
        </p:nvSpPr>
        <p:spPr bwMode="auto">
          <a:xfrm>
            <a:off x="6732588" y="1628775"/>
            <a:ext cx="4318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latin typeface="Times New Roman" panose="02020603050405020304" pitchFamily="18" charset="0"/>
              </a:rPr>
              <a:t>H</a:t>
            </a:r>
          </a:p>
        </p:txBody>
      </p:sp>
      <p:sp>
        <p:nvSpPr>
          <p:cNvPr id="172041" name="Text Box 9">
            <a:extLst>
              <a:ext uri="{FF2B5EF4-FFF2-40B4-BE49-F238E27FC236}">
                <a16:creationId xmlns:a16="http://schemas.microsoft.com/office/drawing/2014/main" id="{4D347EFD-B049-4B56-BAB1-35BBA6439245}"/>
              </a:ext>
            </a:extLst>
          </p:cNvPr>
          <p:cNvSpPr txBox="1">
            <a:spLocks noChangeArrowheads="1"/>
          </p:cNvSpPr>
          <p:nvPr/>
        </p:nvSpPr>
        <p:spPr bwMode="auto">
          <a:xfrm>
            <a:off x="6659563" y="4762500"/>
            <a:ext cx="431800" cy="466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latin typeface="Times New Roman" panose="02020603050405020304" pitchFamily="18" charset="0"/>
              </a:rPr>
              <a:t>G</a:t>
            </a:r>
          </a:p>
        </p:txBody>
      </p:sp>
      <p:sp>
        <p:nvSpPr>
          <p:cNvPr id="172042" name="Line 10">
            <a:extLst>
              <a:ext uri="{FF2B5EF4-FFF2-40B4-BE49-F238E27FC236}">
                <a16:creationId xmlns:a16="http://schemas.microsoft.com/office/drawing/2014/main" id="{14761236-B689-409D-8527-2B50747447AC}"/>
              </a:ext>
            </a:extLst>
          </p:cNvPr>
          <p:cNvSpPr>
            <a:spLocks noChangeShapeType="1"/>
          </p:cNvSpPr>
          <p:nvPr/>
        </p:nvSpPr>
        <p:spPr bwMode="auto">
          <a:xfrm>
            <a:off x="1792288" y="3371850"/>
            <a:ext cx="5048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2043" name="Line 11">
            <a:extLst>
              <a:ext uri="{FF2B5EF4-FFF2-40B4-BE49-F238E27FC236}">
                <a16:creationId xmlns:a16="http://schemas.microsoft.com/office/drawing/2014/main" id="{C4303E4C-1069-41A5-9B44-F1D4508C6E4E}"/>
              </a:ext>
            </a:extLst>
          </p:cNvPr>
          <p:cNvSpPr>
            <a:spLocks noChangeShapeType="1"/>
          </p:cNvSpPr>
          <p:nvPr/>
        </p:nvSpPr>
        <p:spPr bwMode="auto">
          <a:xfrm>
            <a:off x="2800350" y="3357563"/>
            <a:ext cx="5048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2044" name="Line 12">
            <a:extLst>
              <a:ext uri="{FF2B5EF4-FFF2-40B4-BE49-F238E27FC236}">
                <a16:creationId xmlns:a16="http://schemas.microsoft.com/office/drawing/2014/main" id="{273C0357-4332-439C-8324-D63AB597BD75}"/>
              </a:ext>
            </a:extLst>
          </p:cNvPr>
          <p:cNvSpPr>
            <a:spLocks noChangeShapeType="1"/>
          </p:cNvSpPr>
          <p:nvPr/>
        </p:nvSpPr>
        <p:spPr bwMode="auto">
          <a:xfrm>
            <a:off x="3852863" y="3357563"/>
            <a:ext cx="5048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2045" name="Line 13">
            <a:extLst>
              <a:ext uri="{FF2B5EF4-FFF2-40B4-BE49-F238E27FC236}">
                <a16:creationId xmlns:a16="http://schemas.microsoft.com/office/drawing/2014/main" id="{F645B70C-4135-42BF-B602-96087CC9C5A6}"/>
              </a:ext>
            </a:extLst>
          </p:cNvPr>
          <p:cNvSpPr>
            <a:spLocks noChangeShapeType="1"/>
          </p:cNvSpPr>
          <p:nvPr/>
        </p:nvSpPr>
        <p:spPr bwMode="auto">
          <a:xfrm flipV="1">
            <a:off x="4932363" y="2708275"/>
            <a:ext cx="504825" cy="4333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2046" name="Line 14">
            <a:extLst>
              <a:ext uri="{FF2B5EF4-FFF2-40B4-BE49-F238E27FC236}">
                <a16:creationId xmlns:a16="http://schemas.microsoft.com/office/drawing/2014/main" id="{EE04B62A-DD5C-4667-A118-8DB7554F80FA}"/>
              </a:ext>
            </a:extLst>
          </p:cNvPr>
          <p:cNvSpPr>
            <a:spLocks noChangeShapeType="1"/>
          </p:cNvSpPr>
          <p:nvPr/>
        </p:nvSpPr>
        <p:spPr bwMode="auto">
          <a:xfrm flipV="1">
            <a:off x="6013450" y="1987550"/>
            <a:ext cx="504825" cy="4333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2047" name="Line 15">
            <a:extLst>
              <a:ext uri="{FF2B5EF4-FFF2-40B4-BE49-F238E27FC236}">
                <a16:creationId xmlns:a16="http://schemas.microsoft.com/office/drawing/2014/main" id="{6A625093-48EC-44EB-8B94-857DFC1963FB}"/>
              </a:ext>
            </a:extLst>
          </p:cNvPr>
          <p:cNvSpPr>
            <a:spLocks noChangeShapeType="1"/>
          </p:cNvSpPr>
          <p:nvPr/>
        </p:nvSpPr>
        <p:spPr bwMode="auto">
          <a:xfrm>
            <a:off x="4860925" y="3573463"/>
            <a:ext cx="576263" cy="50323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2048" name="Line 16">
            <a:extLst>
              <a:ext uri="{FF2B5EF4-FFF2-40B4-BE49-F238E27FC236}">
                <a16:creationId xmlns:a16="http://schemas.microsoft.com/office/drawing/2014/main" id="{233A1590-D03C-40AD-A7E8-BAEEEABE1CFD}"/>
              </a:ext>
            </a:extLst>
          </p:cNvPr>
          <p:cNvSpPr>
            <a:spLocks noChangeShapeType="1"/>
          </p:cNvSpPr>
          <p:nvPr/>
        </p:nvSpPr>
        <p:spPr bwMode="auto">
          <a:xfrm>
            <a:off x="6013450" y="4437063"/>
            <a:ext cx="574675" cy="5048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2049" name="Line 17">
            <a:extLst>
              <a:ext uri="{FF2B5EF4-FFF2-40B4-BE49-F238E27FC236}">
                <a16:creationId xmlns:a16="http://schemas.microsoft.com/office/drawing/2014/main" id="{4742A672-BDDF-4180-999B-7C210184ACD4}"/>
              </a:ext>
            </a:extLst>
          </p:cNvPr>
          <p:cNvSpPr>
            <a:spLocks noChangeShapeType="1"/>
          </p:cNvSpPr>
          <p:nvPr/>
        </p:nvSpPr>
        <p:spPr bwMode="auto">
          <a:xfrm>
            <a:off x="1789113" y="3500438"/>
            <a:ext cx="5048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058" name="Picture 2">
            <a:extLst>
              <a:ext uri="{FF2B5EF4-FFF2-40B4-BE49-F238E27FC236}">
                <a16:creationId xmlns:a16="http://schemas.microsoft.com/office/drawing/2014/main" id="{76AEDA62-3AA1-4129-85D9-3ADBCB0E8D2C}"/>
              </a:ext>
            </a:extLst>
          </p:cNvPr>
          <p:cNvPicPr>
            <a:picLocks noChangeAspect="1" noChangeArrowheads="1"/>
          </p:cNvPicPr>
          <p:nvPr/>
        </p:nvPicPr>
        <p:blipFill>
          <a:blip r:embed="rId2">
            <a:lum bright="-18000" contrast="24000"/>
            <a:extLst>
              <a:ext uri="{28A0092B-C50C-407E-A947-70E740481C1C}">
                <a14:useLocalDpi xmlns:a14="http://schemas.microsoft.com/office/drawing/2010/main" val="0"/>
              </a:ext>
            </a:extLst>
          </a:blip>
          <a:srcRect/>
          <a:stretch>
            <a:fillRect/>
          </a:stretch>
        </p:blipFill>
        <p:spPr bwMode="auto">
          <a:xfrm>
            <a:off x="1116013" y="765175"/>
            <a:ext cx="7056437" cy="561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Text Box 2">
            <a:extLst>
              <a:ext uri="{FF2B5EF4-FFF2-40B4-BE49-F238E27FC236}">
                <a16:creationId xmlns:a16="http://schemas.microsoft.com/office/drawing/2014/main" id="{7EA96192-6EA9-4DAD-940B-87BE3AE9431E}"/>
              </a:ext>
            </a:extLst>
          </p:cNvPr>
          <p:cNvSpPr txBox="1">
            <a:spLocks noChangeArrowheads="1"/>
          </p:cNvSpPr>
          <p:nvPr/>
        </p:nvSpPr>
        <p:spPr bwMode="auto">
          <a:xfrm>
            <a:off x="342900" y="2564904"/>
            <a:ext cx="8305800" cy="314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kumimoji="1" lang="en-US" altLang="zh-CN" sz="3200" b="1" dirty="0">
                <a:latin typeface="Times New Roman" panose="02020603050405020304" pitchFamily="18" charset="0"/>
              </a:rPr>
              <a:t>         2.1The enzyme catalyzing the </a:t>
            </a:r>
            <a:r>
              <a:rPr kumimoji="1" lang="en-US" altLang="zh-CN" sz="3200" b="1" dirty="0">
                <a:solidFill>
                  <a:srgbClr val="FF0000"/>
                </a:solidFill>
                <a:latin typeface="Times New Roman" panose="02020603050405020304" pitchFamily="18" charset="0"/>
              </a:rPr>
              <a:t>first step </a:t>
            </a:r>
            <a:r>
              <a:rPr kumimoji="1" lang="en-US" altLang="zh-CN" sz="3200" b="1" dirty="0">
                <a:latin typeface="Times New Roman" panose="02020603050405020304" pitchFamily="18" charset="0"/>
              </a:rPr>
              <a:t>of a synthetic pathway is often an </a:t>
            </a:r>
            <a:r>
              <a:rPr kumimoji="1" lang="en-US" altLang="zh-CN" sz="3200" b="1" dirty="0">
                <a:solidFill>
                  <a:srgbClr val="FF0000"/>
                </a:solidFill>
                <a:latin typeface="Times New Roman" panose="02020603050405020304" pitchFamily="18" charset="0"/>
              </a:rPr>
              <a:t>allosteric enzyme</a:t>
            </a:r>
            <a:r>
              <a:rPr kumimoji="1" lang="en-US" altLang="zh-CN" sz="3200" b="1" dirty="0">
                <a:latin typeface="Times New Roman" panose="02020603050405020304" pitchFamily="18" charset="0"/>
              </a:rPr>
              <a:t>. </a:t>
            </a:r>
            <a:endParaRPr kumimoji="1" lang="en-US" altLang="zh-CN" sz="2400" dirty="0">
              <a:latin typeface="Times New Roman" panose="02020603050405020304" pitchFamily="18" charset="0"/>
            </a:endParaRPr>
          </a:p>
          <a:p>
            <a:pPr eaLnBrk="1" hangingPunct="1">
              <a:spcBef>
                <a:spcPct val="20000"/>
              </a:spcBef>
            </a:pPr>
            <a:r>
              <a:rPr kumimoji="1" lang="en-US" altLang="zh-CN" sz="3200" b="1" dirty="0">
                <a:latin typeface="Times New Roman" panose="02020603050405020304" pitchFamily="18" charset="0"/>
              </a:rPr>
              <a:t>         2.2 (2.5) Allosteric enzymes are often </a:t>
            </a:r>
            <a:r>
              <a:rPr kumimoji="1" lang="en-US" altLang="zh-CN" sz="3200" b="1" dirty="0">
                <a:solidFill>
                  <a:srgbClr val="FF0000"/>
                </a:solidFill>
                <a:latin typeface="Times New Roman" panose="02020603050405020304" pitchFamily="18" charset="0"/>
              </a:rPr>
              <a:t>multi-subunit proteins</a:t>
            </a:r>
            <a:r>
              <a:rPr kumimoji="1" lang="en-US" altLang="zh-CN" sz="3200" b="1" dirty="0">
                <a:latin typeface="Times New Roman" panose="02020603050405020304" pitchFamily="18" charset="0"/>
              </a:rPr>
              <a:t>, with one or more active sites on each subunit. </a:t>
            </a:r>
            <a:endParaRPr kumimoji="1" lang="en-US" altLang="zh-CN" sz="2400" dirty="0">
              <a:latin typeface="Times New Roman" panose="02020603050405020304" pitchFamily="18" charset="0"/>
            </a:endParaRPr>
          </a:p>
        </p:txBody>
      </p:sp>
      <p:sp>
        <p:nvSpPr>
          <p:cNvPr id="174083" name="Text Box 3">
            <a:extLst>
              <a:ext uri="{FF2B5EF4-FFF2-40B4-BE49-F238E27FC236}">
                <a16:creationId xmlns:a16="http://schemas.microsoft.com/office/drawing/2014/main" id="{6913E2C8-025D-4981-870A-BBDF0240C794}"/>
              </a:ext>
            </a:extLst>
          </p:cNvPr>
          <p:cNvSpPr txBox="1">
            <a:spLocks noChangeArrowheads="1"/>
          </p:cNvSpPr>
          <p:nvPr/>
        </p:nvSpPr>
        <p:spPr bwMode="auto">
          <a:xfrm>
            <a:off x="228600" y="304800"/>
            <a:ext cx="853440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dirty="0">
                <a:solidFill>
                  <a:srgbClr val="FF0000"/>
                </a:solidFill>
                <a:latin typeface="Times New Roman" panose="02020603050405020304" pitchFamily="18" charset="0"/>
              </a:rPr>
              <a:t>2. Allosteric enzymes</a:t>
            </a:r>
            <a:r>
              <a:rPr kumimoji="1" lang="en-US" altLang="zh-CN" sz="3200" b="1" dirty="0">
                <a:latin typeface="Times New Roman" panose="02020603050405020304" pitchFamily="18" charset="0"/>
              </a:rPr>
              <a:t> (similar to hemoglobin) are regulated by reversible, noncovalent binding of </a:t>
            </a:r>
            <a:r>
              <a:rPr kumimoji="1" lang="en-US" altLang="zh-CN" sz="3200" b="1" dirty="0">
                <a:solidFill>
                  <a:srgbClr val="FF0000"/>
                </a:solidFill>
                <a:latin typeface="Times New Roman" panose="02020603050405020304" pitchFamily="18" charset="0"/>
              </a:rPr>
              <a:t>modulators</a:t>
            </a:r>
            <a:r>
              <a:rPr kumimoji="1" lang="en-US" altLang="zh-CN" sz="3200" b="1" dirty="0">
                <a:latin typeface="Times New Roman" panose="02020603050405020304" pitchFamily="18" charset="0"/>
              </a:rPr>
              <a:t> (often being metabolites).</a:t>
            </a:r>
          </a:p>
          <a:p>
            <a:pPr eaLnBrk="1" hangingPunct="1">
              <a:spcBef>
                <a:spcPct val="50000"/>
              </a:spcBef>
            </a:pPr>
            <a:r>
              <a:rPr lang="en-US" altLang="zh-CN" sz="2400" b="1" dirty="0">
                <a:solidFill>
                  <a:srgbClr val="FF0000"/>
                </a:solidFill>
                <a:latin typeface="Times New Roman" panose="02020603050405020304" pitchFamily="18" charset="0"/>
              </a:rPr>
              <a:t>Allosteric effect</a:t>
            </a:r>
            <a:r>
              <a:rPr kumimoji="1" lang="en-US" altLang="zh-CN" sz="2400" b="1" dirty="0">
                <a:solidFill>
                  <a:srgbClr val="FF0000"/>
                </a:solidFill>
                <a:latin typeface="Times New Roman" panose="02020603050405020304" pitchFamily="18" charset="0"/>
              </a:rPr>
              <a:t> </a:t>
            </a:r>
            <a:r>
              <a:rPr kumimoji="1" lang="zh-CN" altLang="en-US" sz="2400" b="1" dirty="0">
                <a:solidFill>
                  <a:srgbClr val="FF0000"/>
                </a:solidFill>
                <a:latin typeface="Times New Roman" panose="02020603050405020304" pitchFamily="18" charset="0"/>
              </a:rPr>
              <a:t>见</a:t>
            </a:r>
            <a:r>
              <a:rPr kumimoji="1" lang="en-US" altLang="zh-CN" sz="2400" b="1" dirty="0">
                <a:solidFill>
                  <a:srgbClr val="FF0000"/>
                </a:solidFill>
                <a:latin typeface="Times New Roman" panose="02020603050405020304" pitchFamily="18" charset="0"/>
              </a:rPr>
              <a:t>Section B 3.4.1</a:t>
            </a:r>
            <a:endParaRPr kumimoji="1" lang="en-US" altLang="zh-CN" sz="2400" b="1" dirty="0">
              <a:latin typeface="Times New Roman" panose="02020603050405020304" pitchFamily="18" charset="0"/>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ext Box 2">
            <a:extLst>
              <a:ext uri="{FF2B5EF4-FFF2-40B4-BE49-F238E27FC236}">
                <a16:creationId xmlns:a16="http://schemas.microsoft.com/office/drawing/2014/main" id="{CDFBA5E4-33E4-4228-9B3C-355735D8CAD3}"/>
              </a:ext>
            </a:extLst>
          </p:cNvPr>
          <p:cNvSpPr txBox="1">
            <a:spLocks noChangeArrowheads="1"/>
          </p:cNvSpPr>
          <p:nvPr/>
        </p:nvSpPr>
        <p:spPr bwMode="auto">
          <a:xfrm>
            <a:off x="609600" y="457200"/>
            <a:ext cx="8001000" cy="550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dirty="0">
                <a:latin typeface="Times New Roman" panose="02020603050405020304" pitchFamily="18" charset="0"/>
              </a:rPr>
              <a:t>In many allosteric enzymes the </a:t>
            </a:r>
            <a:r>
              <a:rPr kumimoji="1" lang="en-US" altLang="zh-CN" sz="3200" b="1" dirty="0">
                <a:solidFill>
                  <a:srgbClr val="FF0000"/>
                </a:solidFill>
                <a:latin typeface="Times New Roman" panose="02020603050405020304" pitchFamily="18" charset="0"/>
              </a:rPr>
              <a:t>substrate binding site</a:t>
            </a:r>
            <a:r>
              <a:rPr kumimoji="1" lang="en-US" altLang="zh-CN" sz="3200" b="1" dirty="0">
                <a:latin typeface="Times New Roman" panose="02020603050405020304" pitchFamily="18" charset="0"/>
              </a:rPr>
              <a:t> and the </a:t>
            </a:r>
            <a:r>
              <a:rPr kumimoji="1" lang="en-US" altLang="zh-CN" sz="3200" b="1" dirty="0">
                <a:solidFill>
                  <a:srgbClr val="FF0000"/>
                </a:solidFill>
                <a:latin typeface="Times New Roman" panose="02020603050405020304" pitchFamily="18" charset="0"/>
              </a:rPr>
              <a:t>modulator</a:t>
            </a:r>
            <a:r>
              <a:rPr kumimoji="1" lang="en-US" altLang="zh-CN" sz="3200" b="1" dirty="0">
                <a:solidFill>
                  <a:srgbClr val="C00000"/>
                </a:solidFill>
                <a:latin typeface="Times New Roman" panose="02020603050405020304" pitchFamily="18" charset="0"/>
              </a:rPr>
              <a:t>(M)</a:t>
            </a:r>
            <a:r>
              <a:rPr kumimoji="1" lang="en-US" altLang="zh-CN" sz="3200" b="1" dirty="0">
                <a:solidFill>
                  <a:srgbClr val="FF0000"/>
                </a:solidFill>
                <a:latin typeface="Times New Roman" panose="02020603050405020304" pitchFamily="18" charset="0"/>
              </a:rPr>
              <a:t> binding sites are on different subunits</a:t>
            </a:r>
            <a:r>
              <a:rPr kumimoji="1" lang="en-US" altLang="zh-CN" sz="3200" b="1" dirty="0">
                <a:latin typeface="Times New Roman" panose="02020603050405020304" pitchFamily="18" charset="0"/>
              </a:rPr>
              <a:t>, the </a:t>
            </a:r>
            <a:r>
              <a:rPr kumimoji="1" lang="en-US" altLang="zh-CN" sz="3200" b="1" dirty="0">
                <a:solidFill>
                  <a:srgbClr val="FF0000"/>
                </a:solidFill>
                <a:latin typeface="Times New Roman" panose="02020603050405020304" pitchFamily="18" charset="0"/>
              </a:rPr>
              <a:t>catalytic (C) and regulator (R) subunits, </a:t>
            </a:r>
            <a:r>
              <a:rPr kumimoji="1" lang="en-US" altLang="zh-CN" sz="3200" b="1" dirty="0">
                <a:latin typeface="Times New Roman" panose="02020603050405020304" pitchFamily="18" charset="0"/>
              </a:rPr>
              <a:t>respectively. Binding of the positive (stimulatory) modulator to its specific site on the regulatory subunits </a:t>
            </a:r>
            <a:r>
              <a:rPr kumimoji="1" lang="en-US" altLang="zh-CN" sz="3200" b="1" dirty="0" err="1">
                <a:latin typeface="Times New Roman" panose="02020603050405020304" pitchFamily="18" charset="0"/>
              </a:rPr>
              <a:t>commuicated</a:t>
            </a:r>
            <a:r>
              <a:rPr kumimoji="1" lang="en-US" altLang="zh-CN" sz="3200" b="1" dirty="0">
                <a:latin typeface="Times New Roman" panose="02020603050405020304" pitchFamily="18" charset="0"/>
              </a:rPr>
              <a:t> to the catalytic subunit </a:t>
            </a:r>
            <a:r>
              <a:rPr kumimoji="1" lang="en-US" altLang="zh-CN" sz="3200" b="1" dirty="0">
                <a:solidFill>
                  <a:srgbClr val="FF0000"/>
                </a:solidFill>
                <a:latin typeface="Times New Roman" panose="02020603050405020304" pitchFamily="18" charset="0"/>
              </a:rPr>
              <a:t>through a conformational change</a:t>
            </a:r>
            <a:r>
              <a:rPr kumimoji="1" lang="en-US" altLang="zh-CN" sz="3200" b="1" dirty="0">
                <a:latin typeface="Times New Roman" panose="02020603050405020304" pitchFamily="18" charset="0"/>
              </a:rPr>
              <a:t>. This change renders the catalytic subunit active and capable of binding the substrate (S) with higher affinity.</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6" name="Picture 2">
            <a:extLst>
              <a:ext uri="{FF2B5EF4-FFF2-40B4-BE49-F238E27FC236}">
                <a16:creationId xmlns:a16="http://schemas.microsoft.com/office/drawing/2014/main" id="{99CD86C8-AC64-4691-B589-B9736816EA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04800"/>
            <a:ext cx="5999163"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154" name="Picture 2" descr="未标题-40-3">
            <a:extLst>
              <a:ext uri="{FF2B5EF4-FFF2-40B4-BE49-F238E27FC236}">
                <a16:creationId xmlns:a16="http://schemas.microsoft.com/office/drawing/2014/main" id="{F3159E02-45FD-4D15-91EE-071B676165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4438" y="76200"/>
            <a:ext cx="4146550" cy="670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ext Box 2">
            <a:extLst>
              <a:ext uri="{FF2B5EF4-FFF2-40B4-BE49-F238E27FC236}">
                <a16:creationId xmlns:a16="http://schemas.microsoft.com/office/drawing/2014/main" id="{514CA9B8-6FE6-4981-AD41-7D49096EB258}"/>
              </a:ext>
            </a:extLst>
          </p:cNvPr>
          <p:cNvSpPr txBox="1">
            <a:spLocks noChangeArrowheads="1"/>
          </p:cNvSpPr>
          <p:nvPr/>
        </p:nvSpPr>
        <p:spPr bwMode="auto">
          <a:xfrm>
            <a:off x="381000" y="609600"/>
            <a:ext cx="8534400" cy="358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10000"/>
              </a:spcBef>
            </a:pPr>
            <a:r>
              <a:rPr kumimoji="1" lang="en-US" altLang="zh-CN" sz="3200" b="1" dirty="0">
                <a:latin typeface="Times New Roman" panose="02020603050405020304" pitchFamily="18" charset="0"/>
              </a:rPr>
              <a:t>        2.3 In allosteric enzymes, the binding of a </a:t>
            </a:r>
            <a:r>
              <a:rPr kumimoji="1" lang="en-US" altLang="zh-CN" sz="3200" b="1" dirty="0">
                <a:solidFill>
                  <a:srgbClr val="FF0000"/>
                </a:solidFill>
                <a:latin typeface="Times New Roman" panose="02020603050405020304" pitchFamily="18" charset="0"/>
              </a:rPr>
              <a:t>substrate molecule to one active site affects the binding of substrate molecules to other active sites </a:t>
            </a:r>
            <a:r>
              <a:rPr kumimoji="1" lang="en-US" altLang="zh-CN" sz="3200" b="1" dirty="0">
                <a:latin typeface="Times New Roman" panose="02020603050405020304" pitchFamily="18" charset="0"/>
              </a:rPr>
              <a:t>in the enzyme; the different active sites are said to </a:t>
            </a:r>
            <a:r>
              <a:rPr kumimoji="1" lang="en-US" altLang="zh-CN" sz="3200" b="1" dirty="0">
                <a:solidFill>
                  <a:srgbClr val="FF0000"/>
                </a:solidFill>
                <a:latin typeface="Times New Roman" panose="02020603050405020304" pitchFamily="18" charset="0"/>
              </a:rPr>
              <a:t>behave cooperatively </a:t>
            </a:r>
            <a:r>
              <a:rPr kumimoji="1" lang="en-US" altLang="zh-CN" sz="3200" b="1" dirty="0">
                <a:latin typeface="Times New Roman" panose="02020603050405020304" pitchFamily="18" charset="0"/>
              </a:rPr>
              <a:t>in binding and acting on substrate molecules.</a:t>
            </a:r>
          </a:p>
          <a:p>
            <a:pPr eaLnBrk="1" hangingPunct="1">
              <a:spcBef>
                <a:spcPct val="10000"/>
              </a:spcBef>
            </a:pPr>
            <a:r>
              <a:rPr kumimoji="1" lang="en-US" altLang="zh-CN" sz="3200" b="1" dirty="0">
                <a:latin typeface="Times New Roman" panose="02020603050405020304" pitchFamily="18" charset="0"/>
              </a:rPr>
              <a:t>	</a:t>
            </a:r>
            <a:endParaRPr kumimoji="1" lang="en-US" altLang="zh-CN" sz="2400" dirty="0">
              <a:latin typeface="Times New Roman" panose="02020603050405020304" pitchFamily="18" charset="0"/>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a:extLst>
              <a:ext uri="{FF2B5EF4-FFF2-40B4-BE49-F238E27FC236}">
                <a16:creationId xmlns:a16="http://schemas.microsoft.com/office/drawing/2014/main" id="{B621E642-EF0C-4016-8AA1-9F172846B606}"/>
              </a:ext>
            </a:extLst>
          </p:cNvPr>
          <p:cNvSpPr>
            <a:spLocks noGrp="1" noChangeArrowheads="1"/>
          </p:cNvSpPr>
          <p:nvPr>
            <p:ph type="title"/>
          </p:nvPr>
        </p:nvSpPr>
        <p:spPr bwMode="auto">
          <a:xfrm>
            <a:off x="1547813" y="404813"/>
            <a:ext cx="6019800" cy="714375"/>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2500" b="1" dirty="0">
                <a:solidFill>
                  <a:srgbClr val="FF0000"/>
                </a:solidFill>
                <a:effectLst>
                  <a:outerShdw blurRad="38100" dist="38100" dir="2700000" algn="tl">
                    <a:srgbClr val="C0C0C0"/>
                  </a:outerShdw>
                </a:effectLst>
              </a:rPr>
              <a:t>血红蛋白输氧功能和构象变化</a:t>
            </a:r>
          </a:p>
        </p:txBody>
      </p:sp>
      <p:grpSp>
        <p:nvGrpSpPr>
          <p:cNvPr id="121859" name="Group 4">
            <a:extLst>
              <a:ext uri="{FF2B5EF4-FFF2-40B4-BE49-F238E27FC236}">
                <a16:creationId xmlns:a16="http://schemas.microsoft.com/office/drawing/2014/main" id="{402D68B6-CF86-4917-B7EF-1113484207BD}"/>
              </a:ext>
            </a:extLst>
          </p:cNvPr>
          <p:cNvGrpSpPr>
            <a:grpSpLocks/>
          </p:cNvGrpSpPr>
          <p:nvPr/>
        </p:nvGrpSpPr>
        <p:grpSpPr bwMode="auto">
          <a:xfrm>
            <a:off x="671513" y="1119188"/>
            <a:ext cx="1752600" cy="5472112"/>
            <a:chOff x="432" y="585"/>
            <a:chExt cx="1104" cy="3447"/>
          </a:xfrm>
        </p:grpSpPr>
        <p:grpSp>
          <p:nvGrpSpPr>
            <p:cNvPr id="121861" name="Group 5">
              <a:extLst>
                <a:ext uri="{FF2B5EF4-FFF2-40B4-BE49-F238E27FC236}">
                  <a16:creationId xmlns:a16="http://schemas.microsoft.com/office/drawing/2014/main" id="{E253A9A9-EBF1-4226-993D-1838AAE33CFE}"/>
                </a:ext>
              </a:extLst>
            </p:cNvPr>
            <p:cNvGrpSpPr>
              <a:grpSpLocks/>
            </p:cNvGrpSpPr>
            <p:nvPr/>
          </p:nvGrpSpPr>
          <p:grpSpPr bwMode="auto">
            <a:xfrm>
              <a:off x="816" y="585"/>
              <a:ext cx="624" cy="555"/>
              <a:chOff x="912" y="1296"/>
              <a:chExt cx="288" cy="288"/>
            </a:xfrm>
          </p:grpSpPr>
          <p:sp>
            <p:nvSpPr>
              <p:cNvPr id="121878" name="Rectangle 6">
                <a:extLst>
                  <a:ext uri="{FF2B5EF4-FFF2-40B4-BE49-F238E27FC236}">
                    <a16:creationId xmlns:a16="http://schemas.microsoft.com/office/drawing/2014/main" id="{6F8F2274-7EC6-4FA1-A614-A8D8348C0496}"/>
                  </a:ext>
                </a:extLst>
              </p:cNvPr>
              <p:cNvSpPr>
                <a:spLocks noChangeArrowheads="1"/>
              </p:cNvSpPr>
              <p:nvPr/>
            </p:nvSpPr>
            <p:spPr bwMode="auto">
              <a:xfrm>
                <a:off x="1056" y="1440"/>
                <a:ext cx="144" cy="144"/>
              </a:xfrm>
              <a:prstGeom prst="rect">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1879" name="Rectangle 7">
                <a:extLst>
                  <a:ext uri="{FF2B5EF4-FFF2-40B4-BE49-F238E27FC236}">
                    <a16:creationId xmlns:a16="http://schemas.microsoft.com/office/drawing/2014/main" id="{DA1BDDFF-380E-41FD-A366-1801C997D33B}"/>
                  </a:ext>
                </a:extLst>
              </p:cNvPr>
              <p:cNvSpPr>
                <a:spLocks noChangeArrowheads="1"/>
              </p:cNvSpPr>
              <p:nvPr/>
            </p:nvSpPr>
            <p:spPr bwMode="auto">
              <a:xfrm>
                <a:off x="912" y="1440"/>
                <a:ext cx="144" cy="144"/>
              </a:xfrm>
              <a:prstGeom prst="rect">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1880" name="Rectangle 8">
                <a:extLst>
                  <a:ext uri="{FF2B5EF4-FFF2-40B4-BE49-F238E27FC236}">
                    <a16:creationId xmlns:a16="http://schemas.microsoft.com/office/drawing/2014/main" id="{BC6E7FC1-4D75-480E-9F27-DF5F853A1CDB}"/>
                  </a:ext>
                </a:extLst>
              </p:cNvPr>
              <p:cNvSpPr>
                <a:spLocks noChangeArrowheads="1"/>
              </p:cNvSpPr>
              <p:nvPr/>
            </p:nvSpPr>
            <p:spPr bwMode="auto">
              <a:xfrm>
                <a:off x="1056" y="1296"/>
                <a:ext cx="144" cy="144"/>
              </a:xfrm>
              <a:prstGeom prst="rect">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1881" name="Rectangle 9">
                <a:extLst>
                  <a:ext uri="{FF2B5EF4-FFF2-40B4-BE49-F238E27FC236}">
                    <a16:creationId xmlns:a16="http://schemas.microsoft.com/office/drawing/2014/main" id="{668C4774-1AF6-4D41-B1E6-70CB3AF19955}"/>
                  </a:ext>
                </a:extLst>
              </p:cNvPr>
              <p:cNvSpPr>
                <a:spLocks noChangeArrowheads="1"/>
              </p:cNvSpPr>
              <p:nvPr/>
            </p:nvSpPr>
            <p:spPr bwMode="auto">
              <a:xfrm>
                <a:off x="912" y="1296"/>
                <a:ext cx="144" cy="144"/>
              </a:xfrm>
              <a:prstGeom prst="rect">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21862" name="Text Box 10">
              <a:extLst>
                <a:ext uri="{FF2B5EF4-FFF2-40B4-BE49-F238E27FC236}">
                  <a16:creationId xmlns:a16="http://schemas.microsoft.com/office/drawing/2014/main" id="{12C180D3-C0D1-4422-B8E4-0E778AA16F12}"/>
                </a:ext>
              </a:extLst>
            </p:cNvPr>
            <p:cNvSpPr txBox="1">
              <a:spLocks noChangeArrowheads="1"/>
            </p:cNvSpPr>
            <p:nvPr/>
          </p:nvSpPr>
          <p:spPr bwMode="auto">
            <a:xfrm>
              <a:off x="1056" y="2649"/>
              <a:ext cx="4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b="1">
                  <a:solidFill>
                    <a:srgbClr val="FF0000"/>
                  </a:solidFill>
                  <a:latin typeface="Times New Roman" panose="02020603050405020304" pitchFamily="18" charset="0"/>
                </a:rPr>
                <a:t>O</a:t>
              </a:r>
              <a:r>
                <a:rPr lang="en-US" altLang="zh-CN" b="1" baseline="-25000">
                  <a:solidFill>
                    <a:srgbClr val="FF0000"/>
                  </a:solidFill>
                  <a:latin typeface="Times New Roman" panose="02020603050405020304" pitchFamily="18" charset="0"/>
                </a:rPr>
                <a:t>2</a:t>
              </a:r>
            </a:p>
          </p:txBody>
        </p:sp>
        <p:grpSp>
          <p:nvGrpSpPr>
            <p:cNvPr id="121863" name="Group 11">
              <a:extLst>
                <a:ext uri="{FF2B5EF4-FFF2-40B4-BE49-F238E27FC236}">
                  <a16:creationId xmlns:a16="http://schemas.microsoft.com/office/drawing/2014/main" id="{5C0798B6-1D48-400F-AF26-D6C5C6D2F33D}"/>
                </a:ext>
              </a:extLst>
            </p:cNvPr>
            <p:cNvGrpSpPr>
              <a:grpSpLocks/>
            </p:cNvGrpSpPr>
            <p:nvPr/>
          </p:nvGrpSpPr>
          <p:grpSpPr bwMode="auto">
            <a:xfrm>
              <a:off x="768" y="3229"/>
              <a:ext cx="576" cy="524"/>
              <a:chOff x="2832" y="1344"/>
              <a:chExt cx="288" cy="288"/>
            </a:xfrm>
          </p:grpSpPr>
          <p:sp>
            <p:nvSpPr>
              <p:cNvPr id="121874" name="Oval 12">
                <a:extLst>
                  <a:ext uri="{FF2B5EF4-FFF2-40B4-BE49-F238E27FC236}">
                    <a16:creationId xmlns:a16="http://schemas.microsoft.com/office/drawing/2014/main" id="{3D277AE8-DB62-4C95-A89E-DCCF5F5134DF}"/>
                  </a:ext>
                </a:extLst>
              </p:cNvPr>
              <p:cNvSpPr>
                <a:spLocks noChangeArrowheads="1"/>
              </p:cNvSpPr>
              <p:nvPr/>
            </p:nvSpPr>
            <p:spPr bwMode="auto">
              <a:xfrm>
                <a:off x="2832" y="1344"/>
                <a:ext cx="144" cy="144"/>
              </a:xfrm>
              <a:prstGeom prst="ellipse">
                <a:avLst/>
              </a:prstGeom>
              <a:solidFill>
                <a:srgbClr val="CC3300"/>
              </a:solidFill>
              <a:ln w="9525">
                <a:solidFill>
                  <a:schemeClr val="tx1"/>
                </a:solidFill>
                <a:round/>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1875" name="Oval 13">
                <a:extLst>
                  <a:ext uri="{FF2B5EF4-FFF2-40B4-BE49-F238E27FC236}">
                    <a16:creationId xmlns:a16="http://schemas.microsoft.com/office/drawing/2014/main" id="{7B6BA1B9-856F-4D32-85EE-69F14CCF6CF4}"/>
                  </a:ext>
                </a:extLst>
              </p:cNvPr>
              <p:cNvSpPr>
                <a:spLocks noChangeArrowheads="1"/>
              </p:cNvSpPr>
              <p:nvPr/>
            </p:nvSpPr>
            <p:spPr bwMode="auto">
              <a:xfrm>
                <a:off x="2832" y="1488"/>
                <a:ext cx="144" cy="144"/>
              </a:xfrm>
              <a:prstGeom prst="ellipse">
                <a:avLst/>
              </a:prstGeom>
              <a:solidFill>
                <a:srgbClr val="CC3300"/>
              </a:solidFill>
              <a:ln w="9525">
                <a:solidFill>
                  <a:schemeClr val="tx1"/>
                </a:solidFill>
                <a:round/>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2000"/>
              </a:p>
            </p:txBody>
          </p:sp>
          <p:sp>
            <p:nvSpPr>
              <p:cNvPr id="121876" name="Oval 14">
                <a:extLst>
                  <a:ext uri="{FF2B5EF4-FFF2-40B4-BE49-F238E27FC236}">
                    <a16:creationId xmlns:a16="http://schemas.microsoft.com/office/drawing/2014/main" id="{A6EEF341-818D-42C3-91F9-BE5A35D90749}"/>
                  </a:ext>
                </a:extLst>
              </p:cNvPr>
              <p:cNvSpPr>
                <a:spLocks noChangeArrowheads="1"/>
              </p:cNvSpPr>
              <p:nvPr/>
            </p:nvSpPr>
            <p:spPr bwMode="auto">
              <a:xfrm>
                <a:off x="2976" y="1488"/>
                <a:ext cx="144" cy="144"/>
              </a:xfrm>
              <a:prstGeom prst="ellipse">
                <a:avLst/>
              </a:prstGeom>
              <a:solidFill>
                <a:srgbClr val="CC3300"/>
              </a:solidFill>
              <a:ln w="9525">
                <a:solidFill>
                  <a:schemeClr val="tx1"/>
                </a:solidFill>
                <a:round/>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1877" name="Oval 15">
                <a:extLst>
                  <a:ext uri="{FF2B5EF4-FFF2-40B4-BE49-F238E27FC236}">
                    <a16:creationId xmlns:a16="http://schemas.microsoft.com/office/drawing/2014/main" id="{C894F97A-1C91-481A-A446-B5FF71427E1E}"/>
                  </a:ext>
                </a:extLst>
              </p:cNvPr>
              <p:cNvSpPr>
                <a:spLocks noChangeArrowheads="1"/>
              </p:cNvSpPr>
              <p:nvPr/>
            </p:nvSpPr>
            <p:spPr bwMode="auto">
              <a:xfrm>
                <a:off x="2976" y="1344"/>
                <a:ext cx="144" cy="144"/>
              </a:xfrm>
              <a:prstGeom prst="ellipse">
                <a:avLst/>
              </a:prstGeom>
              <a:solidFill>
                <a:srgbClr val="CC3300"/>
              </a:solidFill>
              <a:ln w="9525">
                <a:solidFill>
                  <a:schemeClr val="tx1"/>
                </a:solidFill>
                <a:round/>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21864" name="Line 16">
              <a:extLst>
                <a:ext uri="{FF2B5EF4-FFF2-40B4-BE49-F238E27FC236}">
                  <a16:creationId xmlns:a16="http://schemas.microsoft.com/office/drawing/2014/main" id="{84851A8F-87F1-49C0-9178-3786A12C83E7}"/>
                </a:ext>
              </a:extLst>
            </p:cNvPr>
            <p:cNvSpPr>
              <a:spLocks noChangeShapeType="1"/>
            </p:cNvSpPr>
            <p:nvPr/>
          </p:nvSpPr>
          <p:spPr bwMode="auto">
            <a:xfrm>
              <a:off x="1056" y="1209"/>
              <a:ext cx="0" cy="52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865" name="Text Box 17">
              <a:extLst>
                <a:ext uri="{FF2B5EF4-FFF2-40B4-BE49-F238E27FC236}">
                  <a16:creationId xmlns:a16="http://schemas.microsoft.com/office/drawing/2014/main" id="{31361DC0-7D3C-4DF9-AF34-51AAE6E2A783}"/>
                </a:ext>
              </a:extLst>
            </p:cNvPr>
            <p:cNvSpPr txBox="1">
              <a:spLocks noChangeArrowheads="1"/>
            </p:cNvSpPr>
            <p:nvPr/>
          </p:nvSpPr>
          <p:spPr bwMode="auto">
            <a:xfrm>
              <a:off x="432" y="729"/>
              <a:ext cx="4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b="1">
                  <a:solidFill>
                    <a:srgbClr val="0000CC"/>
                  </a:solidFill>
                  <a:latin typeface="Times New Roman" panose="02020603050405020304" pitchFamily="18" charset="0"/>
                </a:rPr>
                <a:t>Hb</a:t>
              </a:r>
              <a:endParaRPr lang="en-US" altLang="zh-CN" b="1" baseline="-25000">
                <a:solidFill>
                  <a:srgbClr val="0000CC"/>
                </a:solidFill>
                <a:latin typeface="Times New Roman" panose="02020603050405020304" pitchFamily="18" charset="0"/>
              </a:endParaRPr>
            </a:p>
          </p:txBody>
        </p:sp>
        <p:sp>
          <p:nvSpPr>
            <p:cNvPr id="121866" name="Text Box 18">
              <a:extLst>
                <a:ext uri="{FF2B5EF4-FFF2-40B4-BE49-F238E27FC236}">
                  <a16:creationId xmlns:a16="http://schemas.microsoft.com/office/drawing/2014/main" id="{ACA54A8A-09F4-416E-B318-554329AF703D}"/>
                </a:ext>
              </a:extLst>
            </p:cNvPr>
            <p:cNvSpPr txBox="1">
              <a:spLocks noChangeArrowheads="1"/>
            </p:cNvSpPr>
            <p:nvPr/>
          </p:nvSpPr>
          <p:spPr bwMode="auto">
            <a:xfrm>
              <a:off x="720" y="3705"/>
              <a:ext cx="8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b="1">
                  <a:solidFill>
                    <a:srgbClr val="0000CC"/>
                  </a:solidFill>
                  <a:latin typeface="Times New Roman" panose="02020603050405020304" pitchFamily="18" charset="0"/>
                </a:rPr>
                <a:t>Hb- </a:t>
              </a:r>
              <a:r>
                <a:rPr lang="en-US" altLang="zh-CN" b="1">
                  <a:solidFill>
                    <a:srgbClr val="FF0000"/>
                  </a:solidFill>
                  <a:latin typeface="Times New Roman" panose="02020603050405020304" pitchFamily="18" charset="0"/>
                </a:rPr>
                <a:t>O</a:t>
              </a:r>
              <a:r>
                <a:rPr lang="en-US" altLang="zh-CN" b="1" baseline="-25000">
                  <a:solidFill>
                    <a:srgbClr val="FF0000"/>
                  </a:solidFill>
                  <a:latin typeface="Times New Roman" panose="02020603050405020304" pitchFamily="18" charset="0"/>
                </a:rPr>
                <a:t>2</a:t>
              </a:r>
            </a:p>
          </p:txBody>
        </p:sp>
        <p:grpSp>
          <p:nvGrpSpPr>
            <p:cNvPr id="121867" name="Group 19">
              <a:extLst>
                <a:ext uri="{FF2B5EF4-FFF2-40B4-BE49-F238E27FC236}">
                  <a16:creationId xmlns:a16="http://schemas.microsoft.com/office/drawing/2014/main" id="{73720EC4-CB89-4B7B-A4E2-6F4BF0EDA99B}"/>
                </a:ext>
              </a:extLst>
            </p:cNvPr>
            <p:cNvGrpSpPr>
              <a:grpSpLocks/>
            </p:cNvGrpSpPr>
            <p:nvPr/>
          </p:nvGrpSpPr>
          <p:grpSpPr bwMode="auto">
            <a:xfrm>
              <a:off x="768" y="1881"/>
              <a:ext cx="624" cy="555"/>
              <a:chOff x="1440" y="1152"/>
              <a:chExt cx="624" cy="555"/>
            </a:xfrm>
          </p:grpSpPr>
          <p:sp>
            <p:nvSpPr>
              <p:cNvPr id="121870" name="Oval 20">
                <a:extLst>
                  <a:ext uri="{FF2B5EF4-FFF2-40B4-BE49-F238E27FC236}">
                    <a16:creationId xmlns:a16="http://schemas.microsoft.com/office/drawing/2014/main" id="{72FEF11E-7382-49FA-BB27-79A1FBC24322}"/>
                  </a:ext>
                </a:extLst>
              </p:cNvPr>
              <p:cNvSpPr>
                <a:spLocks noChangeArrowheads="1"/>
              </p:cNvSpPr>
              <p:nvPr/>
            </p:nvSpPr>
            <p:spPr bwMode="auto">
              <a:xfrm>
                <a:off x="1440" y="1440"/>
                <a:ext cx="288" cy="262"/>
              </a:xfrm>
              <a:prstGeom prst="ellipse">
                <a:avLst/>
              </a:prstGeom>
              <a:solidFill>
                <a:srgbClr val="CC3300"/>
              </a:solidFill>
              <a:ln w="9525">
                <a:solidFill>
                  <a:schemeClr val="tx1"/>
                </a:solidFill>
                <a:round/>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2000"/>
              </a:p>
            </p:txBody>
          </p:sp>
          <p:sp>
            <p:nvSpPr>
              <p:cNvPr id="121871" name="Rectangle 21">
                <a:extLst>
                  <a:ext uri="{FF2B5EF4-FFF2-40B4-BE49-F238E27FC236}">
                    <a16:creationId xmlns:a16="http://schemas.microsoft.com/office/drawing/2014/main" id="{5B45C63C-AB45-43BA-9500-4B4A6D1B05CC}"/>
                  </a:ext>
                </a:extLst>
              </p:cNvPr>
              <p:cNvSpPr>
                <a:spLocks noChangeArrowheads="1"/>
              </p:cNvSpPr>
              <p:nvPr/>
            </p:nvSpPr>
            <p:spPr bwMode="auto">
              <a:xfrm>
                <a:off x="1752" y="1430"/>
                <a:ext cx="312" cy="277"/>
              </a:xfrm>
              <a:prstGeom prst="rect">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1872" name="Rectangle 22">
                <a:extLst>
                  <a:ext uri="{FF2B5EF4-FFF2-40B4-BE49-F238E27FC236}">
                    <a16:creationId xmlns:a16="http://schemas.microsoft.com/office/drawing/2014/main" id="{2027A76A-B527-47A6-9E3C-032D74A87D6F}"/>
                  </a:ext>
                </a:extLst>
              </p:cNvPr>
              <p:cNvSpPr>
                <a:spLocks noChangeArrowheads="1"/>
              </p:cNvSpPr>
              <p:nvPr/>
            </p:nvSpPr>
            <p:spPr bwMode="auto">
              <a:xfrm>
                <a:off x="1752" y="1152"/>
                <a:ext cx="312" cy="278"/>
              </a:xfrm>
              <a:prstGeom prst="rect">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1873" name="Rectangle 23">
                <a:extLst>
                  <a:ext uri="{FF2B5EF4-FFF2-40B4-BE49-F238E27FC236}">
                    <a16:creationId xmlns:a16="http://schemas.microsoft.com/office/drawing/2014/main" id="{62CE999C-C4C6-495A-AF87-6FD5BE4B9ACD}"/>
                  </a:ext>
                </a:extLst>
              </p:cNvPr>
              <p:cNvSpPr>
                <a:spLocks noChangeArrowheads="1"/>
              </p:cNvSpPr>
              <p:nvPr/>
            </p:nvSpPr>
            <p:spPr bwMode="auto">
              <a:xfrm>
                <a:off x="1440" y="1152"/>
                <a:ext cx="312" cy="278"/>
              </a:xfrm>
              <a:prstGeom prst="rect">
                <a:avLst/>
              </a:prstGeom>
              <a:solidFill>
                <a:schemeClr val="accent1"/>
              </a:solidFill>
              <a:ln w="9525">
                <a:solidFill>
                  <a:schemeClr val="tx1"/>
                </a:solidFill>
                <a:miter lim="800000"/>
                <a:headEnd/>
                <a:tailEnd/>
              </a:ln>
            </p:spPr>
            <p:txBody>
              <a:bodyPr wrap="none" anchor="ct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21868" name="Line 24">
              <a:extLst>
                <a:ext uri="{FF2B5EF4-FFF2-40B4-BE49-F238E27FC236}">
                  <a16:creationId xmlns:a16="http://schemas.microsoft.com/office/drawing/2014/main" id="{89A8C506-4DAC-45A4-88A2-A528224BFA44}"/>
                </a:ext>
              </a:extLst>
            </p:cNvPr>
            <p:cNvSpPr>
              <a:spLocks noChangeShapeType="1"/>
            </p:cNvSpPr>
            <p:nvPr/>
          </p:nvSpPr>
          <p:spPr bwMode="auto">
            <a:xfrm>
              <a:off x="1056" y="2601"/>
              <a:ext cx="0" cy="52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1869" name="Text Box 25">
              <a:extLst>
                <a:ext uri="{FF2B5EF4-FFF2-40B4-BE49-F238E27FC236}">
                  <a16:creationId xmlns:a16="http://schemas.microsoft.com/office/drawing/2014/main" id="{F376757F-B41A-4306-9563-07ADF1CF3017}"/>
                </a:ext>
              </a:extLst>
            </p:cNvPr>
            <p:cNvSpPr txBox="1">
              <a:spLocks noChangeArrowheads="1"/>
            </p:cNvSpPr>
            <p:nvPr/>
          </p:nvSpPr>
          <p:spPr bwMode="auto">
            <a:xfrm>
              <a:off x="1056" y="1305"/>
              <a:ext cx="4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panose="020B0604020202020204" pitchFamily="34" charset="0"/>
                  <a:ea typeface="宋体" panose="02010600030101010101" pitchFamily="2" charset="-122"/>
                </a:defRPr>
              </a:lvl1pPr>
              <a:lvl2pPr marL="742950" indent="-285750" eaLnBrk="0" hangingPunct="0">
                <a:defRPr sz="2800">
                  <a:solidFill>
                    <a:schemeClr val="tx1"/>
                  </a:solidFill>
                  <a:latin typeface="Arial" panose="020B0604020202020204" pitchFamily="34" charset="0"/>
                  <a:ea typeface="宋体" panose="02010600030101010101" pitchFamily="2" charset="-122"/>
                </a:defRPr>
              </a:lvl2pPr>
              <a:lvl3pPr marL="1143000" indent="-228600" eaLnBrk="0" hangingPunct="0">
                <a:defRPr sz="2800">
                  <a:solidFill>
                    <a:schemeClr val="tx1"/>
                  </a:solidFill>
                  <a:latin typeface="Arial" panose="020B0604020202020204" pitchFamily="34" charset="0"/>
                  <a:ea typeface="宋体" panose="02010600030101010101" pitchFamily="2" charset="-122"/>
                </a:defRPr>
              </a:lvl3pPr>
              <a:lvl4pPr marL="1600200" indent="-228600" eaLnBrk="0" hangingPunct="0">
                <a:defRPr sz="2800">
                  <a:solidFill>
                    <a:schemeClr val="tx1"/>
                  </a:solidFill>
                  <a:latin typeface="Arial" panose="020B0604020202020204" pitchFamily="34" charset="0"/>
                  <a:ea typeface="宋体" panose="02010600030101010101" pitchFamily="2" charset="-122"/>
                </a:defRPr>
              </a:lvl4pPr>
              <a:lvl5pPr marL="2057400" indent="-228600" eaLnBrk="0" hangingPunc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b="1">
                  <a:solidFill>
                    <a:srgbClr val="FF0000"/>
                  </a:solidFill>
                  <a:latin typeface="Times New Roman" panose="02020603050405020304" pitchFamily="18" charset="0"/>
                </a:rPr>
                <a:t>O</a:t>
              </a:r>
              <a:r>
                <a:rPr lang="en-US" altLang="zh-CN" b="1" baseline="-25000">
                  <a:solidFill>
                    <a:srgbClr val="FF0000"/>
                  </a:solidFill>
                  <a:latin typeface="Times New Roman" panose="02020603050405020304" pitchFamily="18" charset="0"/>
                </a:rPr>
                <a:t>2</a:t>
              </a:r>
            </a:p>
          </p:txBody>
        </p:sp>
      </p:grpSp>
      <p:pic>
        <p:nvPicPr>
          <p:cNvPr id="121860" name="Picture 39" descr="幻灯片48">
            <a:extLst>
              <a:ext uri="{FF2B5EF4-FFF2-40B4-BE49-F238E27FC236}">
                <a16:creationId xmlns:a16="http://schemas.microsoft.com/office/drawing/2014/main" id="{EB5606AD-7B64-4281-ADC6-0373EADE46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1866900"/>
            <a:ext cx="5220071" cy="354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A7EB8EE9-71B7-44E4-815B-E91014D514E1}"/>
              </a:ext>
            </a:extLst>
          </p:cNvPr>
          <p:cNvSpPr/>
          <p:nvPr/>
        </p:nvSpPr>
        <p:spPr>
          <a:xfrm>
            <a:off x="3419871" y="5661853"/>
            <a:ext cx="4595415" cy="646331"/>
          </a:xfrm>
          <a:prstGeom prst="rect">
            <a:avLst/>
          </a:prstGeom>
        </p:spPr>
        <p:txBody>
          <a:bodyPr wrap="square">
            <a:spAutoFit/>
          </a:bodyPr>
          <a:lstStyle/>
          <a:p>
            <a:r>
              <a:rPr kumimoji="1" lang="en-US" altLang="zh-CN" b="1" dirty="0">
                <a:latin typeface="Times New Roman" panose="02020603050405020304" pitchFamily="18" charset="0"/>
              </a:rPr>
              <a:t>to </a:t>
            </a:r>
            <a:r>
              <a:rPr kumimoji="1" lang="en-US" altLang="zh-CN" b="1" dirty="0">
                <a:solidFill>
                  <a:srgbClr val="FF0000"/>
                </a:solidFill>
                <a:latin typeface="Times New Roman" panose="02020603050405020304" pitchFamily="18" charset="0"/>
              </a:rPr>
              <a:t>behave cooperatively </a:t>
            </a:r>
            <a:r>
              <a:rPr kumimoji="1" lang="en-US" altLang="zh-CN" b="1" dirty="0">
                <a:latin typeface="Times New Roman" panose="02020603050405020304" pitchFamily="18" charset="0"/>
              </a:rPr>
              <a:t>in binding and acting on substrate molecules</a:t>
            </a:r>
            <a:endParaRPr lang="zh-CN" altLang="en-US"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Text Box 2">
            <a:extLst>
              <a:ext uri="{FF2B5EF4-FFF2-40B4-BE49-F238E27FC236}">
                <a16:creationId xmlns:a16="http://schemas.microsoft.com/office/drawing/2014/main" id="{8485FBEC-9BFF-44B4-BEB1-37CC6F047868}"/>
              </a:ext>
            </a:extLst>
          </p:cNvPr>
          <p:cNvSpPr txBox="1">
            <a:spLocks noChangeArrowheads="1"/>
          </p:cNvSpPr>
          <p:nvPr/>
        </p:nvSpPr>
        <p:spPr bwMode="auto">
          <a:xfrm>
            <a:off x="228600" y="228600"/>
            <a:ext cx="8686800" cy="3982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endParaRPr kumimoji="1" lang="en-US" altLang="zh-CN" sz="3200" b="1" dirty="0">
              <a:latin typeface="Times New Roman" panose="02020603050405020304" pitchFamily="18" charset="0"/>
            </a:endParaRPr>
          </a:p>
          <a:p>
            <a:pPr eaLnBrk="1" hangingPunct="1">
              <a:spcBef>
                <a:spcPct val="30000"/>
              </a:spcBef>
            </a:pPr>
            <a:r>
              <a:rPr kumimoji="1" lang="en-US" altLang="zh-CN" sz="3200" b="1" dirty="0">
                <a:latin typeface="Times New Roman" panose="02020603050405020304" pitchFamily="18" charset="0"/>
              </a:rPr>
              <a:t>      2.4(2.7) Allosteric enzymes do not follow the Michaelis-Menten kinetics.</a:t>
            </a:r>
          </a:p>
          <a:p>
            <a:pPr eaLnBrk="1" hangingPunct="1">
              <a:spcBef>
                <a:spcPct val="30000"/>
              </a:spcBef>
            </a:pPr>
            <a:r>
              <a:rPr kumimoji="1" lang="en-US" altLang="zh-CN" sz="3200" b="1" dirty="0">
                <a:latin typeface="Times New Roman" panose="02020603050405020304" pitchFamily="18" charset="0"/>
              </a:rPr>
              <a:t>	  2.4.1 They do exhibit </a:t>
            </a:r>
            <a:r>
              <a:rPr kumimoji="1" lang="en-US" altLang="zh-CN" sz="3200" b="1" dirty="0">
                <a:solidFill>
                  <a:srgbClr val="FF0000"/>
                </a:solidFill>
                <a:latin typeface="Times New Roman" panose="02020603050405020304" pitchFamily="18" charset="0"/>
              </a:rPr>
              <a:t>saturation effect</a:t>
            </a:r>
            <a:r>
              <a:rPr kumimoji="1" lang="en-US" altLang="zh-CN" sz="3200" b="1" dirty="0">
                <a:latin typeface="Times New Roman" panose="02020603050405020304" pitchFamily="18" charset="0"/>
              </a:rPr>
              <a:t>, but do </a:t>
            </a:r>
            <a:r>
              <a:rPr kumimoji="1" lang="en-US" altLang="zh-CN" sz="3200" b="1" dirty="0">
                <a:solidFill>
                  <a:srgbClr val="FF0000"/>
                </a:solidFill>
                <a:latin typeface="Times New Roman" panose="02020603050405020304" pitchFamily="18" charset="0"/>
              </a:rPr>
              <a:t>not</a:t>
            </a:r>
            <a:r>
              <a:rPr kumimoji="1" lang="en-US" altLang="zh-CN" sz="3200" b="1" dirty="0">
                <a:latin typeface="Times New Roman" panose="02020603050405020304" pitchFamily="18" charset="0"/>
              </a:rPr>
              <a:t> show a </a:t>
            </a:r>
            <a:r>
              <a:rPr kumimoji="1" lang="en-US" altLang="zh-CN" sz="3200" b="1" dirty="0">
                <a:solidFill>
                  <a:srgbClr val="FF0000"/>
                </a:solidFill>
                <a:latin typeface="Times New Roman" panose="02020603050405020304" pitchFamily="18" charset="0"/>
              </a:rPr>
              <a:t>hyperbolic</a:t>
            </a:r>
            <a:r>
              <a:rPr kumimoji="1" lang="en-US" altLang="zh-CN" sz="3200" b="1" dirty="0">
                <a:latin typeface="Times New Roman" panose="02020603050405020304" pitchFamily="18" charset="0"/>
              </a:rPr>
              <a:t> curve (usually a </a:t>
            </a:r>
            <a:r>
              <a:rPr kumimoji="1" lang="en-US" altLang="zh-CN" sz="3200" b="1" dirty="0">
                <a:solidFill>
                  <a:srgbClr val="FF0000"/>
                </a:solidFill>
                <a:latin typeface="Times New Roman" panose="02020603050405020304" pitchFamily="18" charset="0"/>
              </a:rPr>
              <a:t>sigmoidal</a:t>
            </a:r>
            <a:r>
              <a:rPr kumimoji="1" lang="en-US" altLang="zh-CN" sz="3200" b="1" dirty="0">
                <a:latin typeface="Times New Roman" panose="02020603050405020304" pitchFamily="18" charset="0"/>
              </a:rPr>
              <a:t> curve) when plotting Vo against [S].</a:t>
            </a:r>
          </a:p>
          <a:p>
            <a:pPr eaLnBrk="1" hangingPunct="1">
              <a:spcBef>
                <a:spcPct val="30000"/>
              </a:spcBef>
            </a:pPr>
            <a:r>
              <a:rPr kumimoji="1" lang="en-US" altLang="zh-CN" sz="3200" b="1" dirty="0">
                <a:latin typeface="Times New Roman" panose="02020603050405020304" pitchFamily="18" charset="0"/>
              </a:rPr>
              <a:t>	  	</a:t>
            </a:r>
          </a:p>
        </p:txBody>
      </p:sp>
    </p:spTree>
    <p:extLst>
      <p:ext uri="{BB962C8B-B14F-4D97-AF65-F5344CB8AC3E}">
        <p14:creationId xmlns:p14="http://schemas.microsoft.com/office/powerpoint/2010/main" val="51124448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780619B0-BF61-4C0B-9539-CAFD16C72CCD}"/>
              </a:ext>
            </a:extLst>
          </p:cNvPr>
          <p:cNvGrpSpPr/>
          <p:nvPr/>
        </p:nvGrpSpPr>
        <p:grpSpPr>
          <a:xfrm>
            <a:off x="467544" y="1336048"/>
            <a:ext cx="7620660" cy="4829256"/>
            <a:chOff x="5585513" y="83217"/>
            <a:chExt cx="7620660" cy="5261304"/>
          </a:xfrm>
        </p:grpSpPr>
        <p:pic>
          <p:nvPicPr>
            <p:cNvPr id="4" name="图片 3">
              <a:extLst>
                <a:ext uri="{FF2B5EF4-FFF2-40B4-BE49-F238E27FC236}">
                  <a16:creationId xmlns:a16="http://schemas.microsoft.com/office/drawing/2014/main" id="{3A94913B-6A7C-446B-A0A4-9459C0C0CF59}"/>
                </a:ext>
              </a:extLst>
            </p:cNvPr>
            <p:cNvPicPr>
              <a:picLocks noChangeAspect="1"/>
            </p:cNvPicPr>
            <p:nvPr/>
          </p:nvPicPr>
          <p:blipFill>
            <a:blip r:embed="rId2"/>
            <a:stretch>
              <a:fillRect/>
            </a:stretch>
          </p:blipFill>
          <p:spPr>
            <a:xfrm>
              <a:off x="5585513" y="83217"/>
              <a:ext cx="7620660" cy="5261304"/>
            </a:xfrm>
            <a:prstGeom prst="rect">
              <a:avLst/>
            </a:prstGeom>
          </p:spPr>
        </p:pic>
        <p:cxnSp>
          <p:nvCxnSpPr>
            <p:cNvPr id="6" name="直接连接符 5">
              <a:extLst>
                <a:ext uri="{FF2B5EF4-FFF2-40B4-BE49-F238E27FC236}">
                  <a16:creationId xmlns:a16="http://schemas.microsoft.com/office/drawing/2014/main" id="{0E6E9330-B31D-45D0-B4A3-BFB220E14F15}"/>
                </a:ext>
              </a:extLst>
            </p:cNvPr>
            <p:cNvCxnSpPr>
              <a:cxnSpLocks/>
            </p:cNvCxnSpPr>
            <p:nvPr/>
          </p:nvCxnSpPr>
          <p:spPr>
            <a:xfrm>
              <a:off x="6444208" y="2780928"/>
              <a:ext cx="3024336" cy="0"/>
            </a:xfrm>
            <a:prstGeom prst="line">
              <a:avLst/>
            </a:prstGeom>
            <a:ln w="38100">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446FAED0-A0B0-4A27-AA24-4EE5E225A280}"/>
                </a:ext>
              </a:extLst>
            </p:cNvPr>
            <p:cNvCxnSpPr>
              <a:cxnSpLocks/>
            </p:cNvCxnSpPr>
            <p:nvPr/>
          </p:nvCxnSpPr>
          <p:spPr>
            <a:xfrm flipV="1">
              <a:off x="9468544" y="2780928"/>
              <a:ext cx="0" cy="2088232"/>
            </a:xfrm>
            <a:prstGeom prst="line">
              <a:avLst/>
            </a:prstGeom>
            <a:ln w="38100">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sp>
        <p:nvSpPr>
          <p:cNvPr id="2" name="矩形 1">
            <a:extLst>
              <a:ext uri="{FF2B5EF4-FFF2-40B4-BE49-F238E27FC236}">
                <a16:creationId xmlns:a16="http://schemas.microsoft.com/office/drawing/2014/main" id="{A9ED0E48-2C21-4AA3-99D6-CF910C36C939}"/>
              </a:ext>
            </a:extLst>
          </p:cNvPr>
          <p:cNvSpPr/>
          <p:nvPr/>
        </p:nvSpPr>
        <p:spPr>
          <a:xfrm>
            <a:off x="683568" y="548680"/>
            <a:ext cx="7920880" cy="954107"/>
          </a:xfrm>
          <a:prstGeom prst="rect">
            <a:avLst/>
          </a:prstGeom>
        </p:spPr>
        <p:txBody>
          <a:bodyPr wrap="square">
            <a:spAutoFit/>
          </a:bodyPr>
          <a:lstStyle/>
          <a:p>
            <a:r>
              <a:rPr kumimoji="1" lang="en-US" altLang="zh-CN" sz="2800" b="1" dirty="0">
                <a:latin typeface="Times New Roman" panose="02020603050405020304" pitchFamily="18" charset="0"/>
              </a:rPr>
              <a:t>2.4.2 The substrate concentration at which Vo is half maximal is referred as </a:t>
            </a:r>
            <a:r>
              <a:rPr kumimoji="1" lang="en-US" altLang="zh-CN" sz="2800" b="1" dirty="0">
                <a:solidFill>
                  <a:srgbClr val="FF0000"/>
                </a:solidFill>
                <a:latin typeface="Times New Roman" panose="02020603050405020304" pitchFamily="18" charset="0"/>
              </a:rPr>
              <a:t>K</a:t>
            </a:r>
            <a:r>
              <a:rPr kumimoji="1" lang="en-US" altLang="zh-CN" sz="2800" b="1" baseline="-25000" dirty="0">
                <a:solidFill>
                  <a:srgbClr val="FF0000"/>
                </a:solidFill>
                <a:latin typeface="Times New Roman" panose="02020603050405020304" pitchFamily="18" charset="0"/>
              </a:rPr>
              <a:t>0.5</a:t>
            </a:r>
            <a:r>
              <a:rPr kumimoji="1" lang="en-US" altLang="zh-CN" sz="2800" b="1" dirty="0">
                <a:solidFill>
                  <a:srgbClr val="FF0000"/>
                </a:solidFill>
                <a:latin typeface="Times New Roman" panose="02020603050405020304" pitchFamily="18" charset="0"/>
              </a:rPr>
              <a:t> </a:t>
            </a:r>
            <a:r>
              <a:rPr kumimoji="1" lang="en-US" altLang="zh-CN" sz="2800" b="1" dirty="0">
                <a:latin typeface="Times New Roman" panose="02020603050405020304" pitchFamily="18" charset="0"/>
              </a:rPr>
              <a:t>(which is not Km!)</a:t>
            </a:r>
            <a:endParaRPr lang="zh-CN" altLang="en-US" sz="2800" dirty="0"/>
          </a:p>
        </p:txBody>
      </p:sp>
      <p:pic>
        <p:nvPicPr>
          <p:cNvPr id="3" name="图片 2">
            <a:extLst>
              <a:ext uri="{FF2B5EF4-FFF2-40B4-BE49-F238E27FC236}">
                <a16:creationId xmlns:a16="http://schemas.microsoft.com/office/drawing/2014/main" id="{534D05E8-18B1-4556-B7A8-7FBA77755900}"/>
              </a:ext>
            </a:extLst>
          </p:cNvPr>
          <p:cNvPicPr>
            <a:picLocks noChangeAspect="1"/>
          </p:cNvPicPr>
          <p:nvPr/>
        </p:nvPicPr>
        <p:blipFill rotWithShape="1">
          <a:blip r:embed="rId3"/>
          <a:srcRect t="78748"/>
          <a:stretch/>
        </p:blipFill>
        <p:spPr>
          <a:xfrm>
            <a:off x="2051720" y="5731946"/>
            <a:ext cx="6194073" cy="1081430"/>
          </a:xfrm>
          <a:prstGeom prst="rect">
            <a:avLst/>
          </a:prstGeom>
        </p:spPr>
      </p:pic>
    </p:spTree>
    <p:extLst>
      <p:ext uri="{BB962C8B-B14F-4D97-AF65-F5344CB8AC3E}">
        <p14:creationId xmlns:p14="http://schemas.microsoft.com/office/powerpoint/2010/main" val="167338911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Text Box 2">
            <a:extLst>
              <a:ext uri="{FF2B5EF4-FFF2-40B4-BE49-F238E27FC236}">
                <a16:creationId xmlns:a16="http://schemas.microsoft.com/office/drawing/2014/main" id="{D32DE3A6-665F-4B28-8313-60B09960A341}"/>
              </a:ext>
            </a:extLst>
          </p:cNvPr>
          <p:cNvSpPr txBox="1">
            <a:spLocks noChangeArrowheads="1"/>
          </p:cNvSpPr>
          <p:nvPr/>
        </p:nvSpPr>
        <p:spPr bwMode="auto">
          <a:xfrm>
            <a:off x="609600" y="685800"/>
            <a:ext cx="8153400" cy="47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dirty="0">
                <a:latin typeface="Times New Roman" panose="02020603050405020304" pitchFamily="18" charset="0"/>
              </a:rPr>
              <a:t>The curve has a </a:t>
            </a:r>
            <a:r>
              <a:rPr kumimoji="1" lang="en-US" altLang="zh-CN" sz="3200" b="1" dirty="0">
                <a:solidFill>
                  <a:srgbClr val="FF0000"/>
                </a:solidFill>
                <a:latin typeface="Times New Roman" panose="02020603050405020304" pitchFamily="18" charset="0"/>
              </a:rPr>
              <a:t>steep section </a:t>
            </a:r>
            <a:r>
              <a:rPr kumimoji="1" lang="en-US" altLang="zh-CN" sz="3200" b="1" dirty="0">
                <a:latin typeface="Times New Roman" panose="02020603050405020304" pitchFamily="18" charset="0"/>
              </a:rPr>
              <a:t>in the middle of the substrate concentration range, reflecting the </a:t>
            </a:r>
            <a:r>
              <a:rPr kumimoji="1" lang="en-US" altLang="zh-CN" sz="3200" b="1" dirty="0">
                <a:solidFill>
                  <a:srgbClr val="FF0000"/>
                </a:solidFill>
                <a:latin typeface="Times New Roman" panose="02020603050405020304" pitchFamily="18" charset="0"/>
              </a:rPr>
              <a:t>rapid increase in enzyme velocity </a:t>
            </a:r>
            <a:r>
              <a:rPr kumimoji="1" lang="en-US" altLang="zh-CN" sz="3200" b="1" dirty="0">
                <a:latin typeface="Times New Roman" panose="02020603050405020304" pitchFamily="18" charset="0"/>
              </a:rPr>
              <a:t>which occurs cover a </a:t>
            </a:r>
            <a:r>
              <a:rPr kumimoji="1" lang="en-US" altLang="zh-CN" sz="3200" b="1" dirty="0">
                <a:solidFill>
                  <a:srgbClr val="FF0000"/>
                </a:solidFill>
                <a:latin typeface="Times New Roman" panose="02020603050405020304" pitchFamily="18" charset="0"/>
              </a:rPr>
              <a:t>narrow range of substrate </a:t>
            </a:r>
            <a:r>
              <a:rPr kumimoji="1" lang="en-US" altLang="zh-CN" sz="3200" b="1" dirty="0">
                <a:latin typeface="Times New Roman" panose="02020603050405020304" pitchFamily="18" charset="0"/>
              </a:rPr>
              <a:t>concentrations.</a:t>
            </a:r>
          </a:p>
          <a:p>
            <a:pPr eaLnBrk="1" hangingPunct="1">
              <a:spcBef>
                <a:spcPct val="50000"/>
              </a:spcBef>
            </a:pPr>
            <a:r>
              <a:rPr kumimoji="1" lang="en-US" altLang="zh-CN" sz="3200" b="1" dirty="0">
                <a:latin typeface="Times New Roman" panose="02020603050405020304" pitchFamily="18" charset="0"/>
              </a:rPr>
              <a:t>This allows allosteric enzymes to be </a:t>
            </a:r>
            <a:r>
              <a:rPr kumimoji="1" lang="en-US" altLang="zh-CN" sz="3200" b="1" dirty="0">
                <a:solidFill>
                  <a:srgbClr val="FF0000"/>
                </a:solidFill>
                <a:latin typeface="Times New Roman" panose="02020603050405020304" pitchFamily="18" charset="0"/>
              </a:rPr>
              <a:t>particularly sensitive to small changes in substrate concentration</a:t>
            </a:r>
            <a:r>
              <a:rPr kumimoji="1" lang="en-US" altLang="zh-CN" sz="3200" b="1" dirty="0">
                <a:latin typeface="Times New Roman" panose="02020603050405020304" pitchFamily="18" charset="0"/>
              </a:rPr>
              <a:t> within the physiological range.</a:t>
            </a:r>
          </a:p>
        </p:txBody>
      </p:sp>
    </p:spTree>
    <p:extLst>
      <p:ext uri="{BB962C8B-B14F-4D97-AF65-F5344CB8AC3E}">
        <p14:creationId xmlns:p14="http://schemas.microsoft.com/office/powerpoint/2010/main" val="22308447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ext Box 2">
            <a:extLst>
              <a:ext uri="{FF2B5EF4-FFF2-40B4-BE49-F238E27FC236}">
                <a16:creationId xmlns:a16="http://schemas.microsoft.com/office/drawing/2014/main" id="{AB5C1445-D67E-41F3-B739-2457AF994CA6}"/>
              </a:ext>
            </a:extLst>
          </p:cNvPr>
          <p:cNvSpPr txBox="1">
            <a:spLocks noChangeArrowheads="1"/>
          </p:cNvSpPr>
          <p:nvPr/>
        </p:nvSpPr>
        <p:spPr bwMode="auto">
          <a:xfrm>
            <a:off x="323528" y="332656"/>
            <a:ext cx="83820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10000"/>
              </a:spcBef>
            </a:pPr>
            <a:r>
              <a:rPr kumimoji="1" lang="en-US" altLang="zh-CN" sz="3200" b="1" dirty="0">
                <a:latin typeface="Times New Roman" panose="02020603050405020304" pitchFamily="18" charset="0"/>
              </a:rPr>
              <a:t>        2.5  (2.6) The enzyme </a:t>
            </a:r>
            <a:r>
              <a:rPr kumimoji="1" lang="en-US" altLang="zh-CN" sz="3200" b="1" dirty="0">
                <a:solidFill>
                  <a:srgbClr val="FF0000"/>
                </a:solidFill>
                <a:latin typeface="Times New Roman" panose="02020603050405020304" pitchFamily="18" charset="0"/>
              </a:rPr>
              <a:t>activity varies </a:t>
            </a:r>
            <a:r>
              <a:rPr kumimoji="1" lang="en-US" altLang="zh-CN" sz="3200" b="1" dirty="0">
                <a:latin typeface="Times New Roman" panose="02020603050405020304" pitchFamily="18" charset="0"/>
              </a:rPr>
              <a:t>when the concentration of the </a:t>
            </a:r>
            <a:r>
              <a:rPr kumimoji="1" lang="en-US" altLang="zh-CN" sz="3200" b="1" dirty="0">
                <a:solidFill>
                  <a:srgbClr val="FF0000"/>
                </a:solidFill>
                <a:latin typeface="Times New Roman" panose="02020603050405020304" pitchFamily="18" charset="0"/>
              </a:rPr>
              <a:t>modulators vary</a:t>
            </a:r>
            <a:r>
              <a:rPr kumimoji="1" lang="en-US" altLang="zh-CN" sz="3200" b="1" dirty="0">
                <a:latin typeface="Times New Roman" panose="02020603050405020304" pitchFamily="18" charset="0"/>
              </a:rPr>
              <a:t>, hence the synthesis pathway </a:t>
            </a:r>
            <a:r>
              <a:rPr kumimoji="1" lang="en-US" altLang="zh-CN" sz="3200" b="1" dirty="0">
                <a:solidFill>
                  <a:srgbClr val="FF0000"/>
                </a:solidFill>
                <a:latin typeface="Times New Roman" panose="02020603050405020304" pitchFamily="18" charset="0"/>
              </a:rPr>
              <a:t>is open </a:t>
            </a:r>
            <a:r>
              <a:rPr kumimoji="1" lang="en-US" altLang="zh-CN" sz="3200" b="1" dirty="0">
                <a:latin typeface="Times New Roman" panose="02020603050405020304" pitchFamily="18" charset="0"/>
              </a:rPr>
              <a:t>only when the end </a:t>
            </a:r>
            <a:r>
              <a:rPr kumimoji="1" lang="en-US" altLang="zh-CN" sz="3200" b="1" dirty="0">
                <a:solidFill>
                  <a:srgbClr val="FF0000"/>
                </a:solidFill>
                <a:latin typeface="Times New Roman" panose="02020603050405020304" pitchFamily="18" charset="0"/>
              </a:rPr>
              <a:t>product is lacking </a:t>
            </a:r>
            <a:r>
              <a:rPr kumimoji="1" lang="en-US" altLang="zh-CN" sz="3200" b="1" dirty="0">
                <a:latin typeface="Times New Roman" panose="02020603050405020304" pitchFamily="18" charset="0"/>
              </a:rPr>
              <a:t>(closed when the end product is abundant).</a:t>
            </a:r>
          </a:p>
          <a:p>
            <a:pPr eaLnBrk="1" hangingPunct="1">
              <a:spcBef>
                <a:spcPct val="50000"/>
              </a:spcBef>
            </a:pPr>
            <a:endParaRPr kumimoji="1" lang="en-US" altLang="zh-CN" sz="2400" dirty="0">
              <a:latin typeface="Times New Roman" panose="02020603050405020304" pitchFamily="18" charset="0"/>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B20F57D-3A8D-4B88-B3B9-C08F402DD627}"/>
              </a:ext>
            </a:extLst>
          </p:cNvPr>
          <p:cNvSpPr/>
          <p:nvPr/>
        </p:nvSpPr>
        <p:spPr>
          <a:xfrm>
            <a:off x="1043608" y="1268760"/>
            <a:ext cx="7200800" cy="2246769"/>
          </a:xfrm>
          <a:prstGeom prst="rect">
            <a:avLst/>
          </a:prstGeom>
        </p:spPr>
        <p:txBody>
          <a:bodyPr wrap="square">
            <a:spAutoFit/>
          </a:bodyPr>
          <a:lstStyle/>
          <a:p>
            <a:r>
              <a:rPr kumimoji="1" lang="en-US" altLang="zh-CN" sz="2800" b="1" dirty="0">
                <a:latin typeface="Times New Roman" panose="02020603050405020304" pitchFamily="18" charset="0"/>
              </a:rPr>
              <a:t>For example, </a:t>
            </a:r>
            <a:r>
              <a:rPr kumimoji="1" lang="en-US" altLang="zh-CN" sz="2800" b="1" dirty="0">
                <a:solidFill>
                  <a:srgbClr val="FF0000"/>
                </a:solidFill>
                <a:latin typeface="Times New Roman" panose="02020603050405020304" pitchFamily="18" charset="0"/>
              </a:rPr>
              <a:t>threonine dehydratase </a:t>
            </a:r>
            <a:r>
              <a:rPr kumimoji="1" lang="en-US" altLang="zh-CN" sz="2800" b="1" dirty="0">
                <a:latin typeface="Times New Roman" panose="02020603050405020304" pitchFamily="18" charset="0"/>
              </a:rPr>
              <a:t>in the Ile synthesis pathway, and </a:t>
            </a:r>
            <a:r>
              <a:rPr kumimoji="1" lang="en-US" altLang="zh-CN" sz="2800" b="1" dirty="0">
                <a:solidFill>
                  <a:srgbClr val="FF0000"/>
                </a:solidFill>
                <a:latin typeface="Times New Roman" panose="02020603050405020304" pitchFamily="18" charset="0"/>
              </a:rPr>
              <a:t>Aspartate TransCarbamoylase </a:t>
            </a:r>
            <a:r>
              <a:rPr kumimoji="1" lang="en-US" altLang="zh-CN" sz="2800" b="1" dirty="0">
                <a:latin typeface="Times New Roman" panose="02020603050405020304" pitchFamily="18" charset="0"/>
              </a:rPr>
              <a:t>(</a:t>
            </a:r>
            <a:r>
              <a:rPr kumimoji="1" lang="en-US" altLang="zh-CN" sz="2800" b="1" dirty="0" err="1">
                <a:latin typeface="Times New Roman" panose="02020603050405020304" pitchFamily="18" charset="0"/>
              </a:rPr>
              <a:t>ATCase</a:t>
            </a:r>
            <a:r>
              <a:rPr kumimoji="1" lang="en-US" altLang="zh-CN" sz="2800" b="1" dirty="0">
                <a:latin typeface="Times New Roman" panose="02020603050405020304" pitchFamily="18" charset="0"/>
              </a:rPr>
              <a:t>, the best understood allosteric enzyme) in the CTP synthesis pathway.</a:t>
            </a:r>
            <a:endParaRPr lang="zh-CN" altLang="en-US" sz="2800" dirty="0"/>
          </a:p>
        </p:txBody>
      </p:sp>
    </p:spTree>
    <p:extLst>
      <p:ext uri="{BB962C8B-B14F-4D97-AF65-F5344CB8AC3E}">
        <p14:creationId xmlns:p14="http://schemas.microsoft.com/office/powerpoint/2010/main" val="3785765584"/>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22" name="Picture 2" descr="ATCase(small)">
            <a:extLst>
              <a:ext uri="{FF2B5EF4-FFF2-40B4-BE49-F238E27FC236}">
                <a16:creationId xmlns:a16="http://schemas.microsoft.com/office/drawing/2014/main" id="{B74E98FA-485A-498B-AC99-FC6B4F01CFF8}"/>
              </a:ext>
            </a:extLst>
          </p:cNvPr>
          <p:cNvPicPr>
            <a:picLocks noChangeAspect="1" noChangeArrowheads="1"/>
          </p:cNvPicPr>
          <p:nvPr/>
        </p:nvPicPr>
        <p:blipFill>
          <a:blip r:embed="rId2">
            <a:lum bright="-18000" contrast="66000"/>
            <a:extLst>
              <a:ext uri="{28A0092B-C50C-407E-A947-70E740481C1C}">
                <a14:useLocalDpi xmlns:a14="http://schemas.microsoft.com/office/drawing/2010/main" val="0"/>
              </a:ext>
            </a:extLst>
          </a:blip>
          <a:srcRect/>
          <a:stretch>
            <a:fillRect/>
          </a:stretch>
        </p:blipFill>
        <p:spPr bwMode="auto">
          <a:xfrm>
            <a:off x="2170113" y="152400"/>
            <a:ext cx="4687887"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5346" name="Picture 2">
            <a:extLst>
              <a:ext uri="{FF2B5EF4-FFF2-40B4-BE49-F238E27FC236}">
                <a16:creationId xmlns:a16="http://schemas.microsoft.com/office/drawing/2014/main" id="{C02462ED-CE2D-4393-9F84-E48F64A4F6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698500"/>
            <a:ext cx="80264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5347" name="Group 3">
            <a:extLst>
              <a:ext uri="{FF2B5EF4-FFF2-40B4-BE49-F238E27FC236}">
                <a16:creationId xmlns:a16="http://schemas.microsoft.com/office/drawing/2014/main" id="{E9461DD5-BC57-4274-B146-5B7941B342D4}"/>
              </a:ext>
            </a:extLst>
          </p:cNvPr>
          <p:cNvGrpSpPr>
            <a:grpSpLocks/>
          </p:cNvGrpSpPr>
          <p:nvPr/>
        </p:nvGrpSpPr>
        <p:grpSpPr bwMode="auto">
          <a:xfrm>
            <a:off x="2819400" y="4800600"/>
            <a:ext cx="2209800" cy="1905000"/>
            <a:chOff x="528" y="3072"/>
            <a:chExt cx="1392" cy="1200"/>
          </a:xfrm>
        </p:grpSpPr>
        <p:grpSp>
          <p:nvGrpSpPr>
            <p:cNvPr id="185349" name="Group 4">
              <a:extLst>
                <a:ext uri="{FF2B5EF4-FFF2-40B4-BE49-F238E27FC236}">
                  <a16:creationId xmlns:a16="http://schemas.microsoft.com/office/drawing/2014/main" id="{C4D2B90C-D4F1-406F-980B-AABEA69F8B30}"/>
                </a:ext>
              </a:extLst>
            </p:cNvPr>
            <p:cNvGrpSpPr>
              <a:grpSpLocks/>
            </p:cNvGrpSpPr>
            <p:nvPr/>
          </p:nvGrpSpPr>
          <p:grpSpPr bwMode="auto">
            <a:xfrm>
              <a:off x="528" y="3072"/>
              <a:ext cx="1392" cy="432"/>
              <a:chOff x="528" y="3072"/>
              <a:chExt cx="1392" cy="432"/>
            </a:xfrm>
          </p:grpSpPr>
          <p:sp>
            <p:nvSpPr>
              <p:cNvPr id="185363" name="Oval 5">
                <a:extLst>
                  <a:ext uri="{FF2B5EF4-FFF2-40B4-BE49-F238E27FC236}">
                    <a16:creationId xmlns:a16="http://schemas.microsoft.com/office/drawing/2014/main" id="{B7EA0F7A-19D5-4B57-AFBA-687D5795968D}"/>
                  </a:ext>
                </a:extLst>
              </p:cNvPr>
              <p:cNvSpPr>
                <a:spLocks noChangeArrowheads="1"/>
              </p:cNvSpPr>
              <p:nvPr/>
            </p:nvSpPr>
            <p:spPr bwMode="auto">
              <a:xfrm>
                <a:off x="528" y="3072"/>
                <a:ext cx="480" cy="432"/>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85364" name="Oval 6">
                <a:extLst>
                  <a:ext uri="{FF2B5EF4-FFF2-40B4-BE49-F238E27FC236}">
                    <a16:creationId xmlns:a16="http://schemas.microsoft.com/office/drawing/2014/main" id="{50A75B8C-3FDF-4578-9043-B9C56F7D076C}"/>
                  </a:ext>
                </a:extLst>
              </p:cNvPr>
              <p:cNvSpPr>
                <a:spLocks noChangeArrowheads="1"/>
              </p:cNvSpPr>
              <p:nvPr/>
            </p:nvSpPr>
            <p:spPr bwMode="auto">
              <a:xfrm>
                <a:off x="982" y="3072"/>
                <a:ext cx="480" cy="432"/>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85365" name="Oval 7">
                <a:extLst>
                  <a:ext uri="{FF2B5EF4-FFF2-40B4-BE49-F238E27FC236}">
                    <a16:creationId xmlns:a16="http://schemas.microsoft.com/office/drawing/2014/main" id="{F52DDD09-A9E5-474A-A416-537EA977EEDD}"/>
                  </a:ext>
                </a:extLst>
              </p:cNvPr>
              <p:cNvSpPr>
                <a:spLocks noChangeArrowheads="1"/>
              </p:cNvSpPr>
              <p:nvPr/>
            </p:nvSpPr>
            <p:spPr bwMode="auto">
              <a:xfrm>
                <a:off x="1440" y="3072"/>
                <a:ext cx="480" cy="432"/>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85350" name="Group 8">
              <a:extLst>
                <a:ext uri="{FF2B5EF4-FFF2-40B4-BE49-F238E27FC236}">
                  <a16:creationId xmlns:a16="http://schemas.microsoft.com/office/drawing/2014/main" id="{2F12815B-CEC5-4687-B93B-F357803CFB9D}"/>
                </a:ext>
              </a:extLst>
            </p:cNvPr>
            <p:cNvGrpSpPr>
              <a:grpSpLocks/>
            </p:cNvGrpSpPr>
            <p:nvPr/>
          </p:nvGrpSpPr>
          <p:grpSpPr bwMode="auto">
            <a:xfrm>
              <a:off x="528" y="3840"/>
              <a:ext cx="1392" cy="432"/>
              <a:chOff x="528" y="3072"/>
              <a:chExt cx="1392" cy="432"/>
            </a:xfrm>
          </p:grpSpPr>
          <p:sp>
            <p:nvSpPr>
              <p:cNvPr id="185360" name="Oval 9">
                <a:extLst>
                  <a:ext uri="{FF2B5EF4-FFF2-40B4-BE49-F238E27FC236}">
                    <a16:creationId xmlns:a16="http://schemas.microsoft.com/office/drawing/2014/main" id="{089428BC-E3FF-4F43-9AD2-19BC33052242}"/>
                  </a:ext>
                </a:extLst>
              </p:cNvPr>
              <p:cNvSpPr>
                <a:spLocks noChangeArrowheads="1"/>
              </p:cNvSpPr>
              <p:nvPr/>
            </p:nvSpPr>
            <p:spPr bwMode="auto">
              <a:xfrm>
                <a:off x="528" y="3072"/>
                <a:ext cx="480" cy="432"/>
              </a:xfrm>
              <a:prstGeom prst="ellipse">
                <a:avLst/>
              </a:prstGeom>
              <a:solidFill>
                <a:srgbClr val="7030A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85361" name="Oval 10">
                <a:extLst>
                  <a:ext uri="{FF2B5EF4-FFF2-40B4-BE49-F238E27FC236}">
                    <a16:creationId xmlns:a16="http://schemas.microsoft.com/office/drawing/2014/main" id="{75D8E8D2-FB87-42C9-996F-9162ECCA824C}"/>
                  </a:ext>
                </a:extLst>
              </p:cNvPr>
              <p:cNvSpPr>
                <a:spLocks noChangeArrowheads="1"/>
              </p:cNvSpPr>
              <p:nvPr/>
            </p:nvSpPr>
            <p:spPr bwMode="auto">
              <a:xfrm>
                <a:off x="982" y="3072"/>
                <a:ext cx="480" cy="432"/>
              </a:xfrm>
              <a:prstGeom prst="ellipse">
                <a:avLst/>
              </a:prstGeom>
              <a:solidFill>
                <a:srgbClr val="7030A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85362" name="Oval 11">
                <a:extLst>
                  <a:ext uri="{FF2B5EF4-FFF2-40B4-BE49-F238E27FC236}">
                    <a16:creationId xmlns:a16="http://schemas.microsoft.com/office/drawing/2014/main" id="{8BB61041-0FD6-4D83-82B0-28287C675B94}"/>
                  </a:ext>
                </a:extLst>
              </p:cNvPr>
              <p:cNvSpPr>
                <a:spLocks noChangeArrowheads="1"/>
              </p:cNvSpPr>
              <p:nvPr/>
            </p:nvSpPr>
            <p:spPr bwMode="auto">
              <a:xfrm>
                <a:off x="1440" y="3072"/>
                <a:ext cx="480" cy="432"/>
              </a:xfrm>
              <a:prstGeom prst="ellipse">
                <a:avLst/>
              </a:prstGeom>
              <a:solidFill>
                <a:srgbClr val="7030A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85351" name="Group 12">
              <a:extLst>
                <a:ext uri="{FF2B5EF4-FFF2-40B4-BE49-F238E27FC236}">
                  <a16:creationId xmlns:a16="http://schemas.microsoft.com/office/drawing/2014/main" id="{BAFF44FC-4326-47E7-A55D-C0E0FD72A94F}"/>
                </a:ext>
              </a:extLst>
            </p:cNvPr>
            <p:cNvGrpSpPr>
              <a:grpSpLocks/>
            </p:cNvGrpSpPr>
            <p:nvPr/>
          </p:nvGrpSpPr>
          <p:grpSpPr bwMode="auto">
            <a:xfrm>
              <a:off x="1584" y="3600"/>
              <a:ext cx="288" cy="144"/>
              <a:chOff x="2496" y="3600"/>
              <a:chExt cx="288" cy="144"/>
            </a:xfrm>
          </p:grpSpPr>
          <p:sp>
            <p:nvSpPr>
              <p:cNvPr id="185358" name="Oval 13">
                <a:extLst>
                  <a:ext uri="{FF2B5EF4-FFF2-40B4-BE49-F238E27FC236}">
                    <a16:creationId xmlns:a16="http://schemas.microsoft.com/office/drawing/2014/main" id="{342A956E-CB02-465D-B8FE-10242473A6C1}"/>
                  </a:ext>
                </a:extLst>
              </p:cNvPr>
              <p:cNvSpPr>
                <a:spLocks noChangeArrowheads="1"/>
              </p:cNvSpPr>
              <p:nvPr/>
            </p:nvSpPr>
            <p:spPr bwMode="auto">
              <a:xfrm>
                <a:off x="2496" y="3600"/>
                <a:ext cx="144" cy="144"/>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85359" name="Oval 14">
                <a:extLst>
                  <a:ext uri="{FF2B5EF4-FFF2-40B4-BE49-F238E27FC236}">
                    <a16:creationId xmlns:a16="http://schemas.microsoft.com/office/drawing/2014/main" id="{6DD29A3F-F1E5-47C3-8ED2-81C16DCA0906}"/>
                  </a:ext>
                </a:extLst>
              </p:cNvPr>
              <p:cNvSpPr>
                <a:spLocks noChangeArrowheads="1"/>
              </p:cNvSpPr>
              <p:nvPr/>
            </p:nvSpPr>
            <p:spPr bwMode="auto">
              <a:xfrm>
                <a:off x="2640" y="3600"/>
                <a:ext cx="144" cy="144"/>
              </a:xfrm>
              <a:prstGeom prst="ellipse">
                <a:avLst/>
              </a:prstGeom>
              <a:solidFill>
                <a:srgbClr val="FF00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85352" name="Group 15">
              <a:extLst>
                <a:ext uri="{FF2B5EF4-FFF2-40B4-BE49-F238E27FC236}">
                  <a16:creationId xmlns:a16="http://schemas.microsoft.com/office/drawing/2014/main" id="{B51FFB3C-F5B4-45E1-A45B-00038EE73560}"/>
                </a:ext>
              </a:extLst>
            </p:cNvPr>
            <p:cNvGrpSpPr>
              <a:grpSpLocks/>
            </p:cNvGrpSpPr>
            <p:nvPr/>
          </p:nvGrpSpPr>
          <p:grpSpPr bwMode="auto">
            <a:xfrm>
              <a:off x="1152" y="3600"/>
              <a:ext cx="288" cy="144"/>
              <a:chOff x="2496" y="3600"/>
              <a:chExt cx="288" cy="144"/>
            </a:xfrm>
          </p:grpSpPr>
          <p:sp>
            <p:nvSpPr>
              <p:cNvPr id="185356" name="Oval 16">
                <a:extLst>
                  <a:ext uri="{FF2B5EF4-FFF2-40B4-BE49-F238E27FC236}">
                    <a16:creationId xmlns:a16="http://schemas.microsoft.com/office/drawing/2014/main" id="{98F2ACA5-4076-4C5D-AB70-944680A4113C}"/>
                  </a:ext>
                </a:extLst>
              </p:cNvPr>
              <p:cNvSpPr>
                <a:spLocks noChangeArrowheads="1"/>
              </p:cNvSpPr>
              <p:nvPr/>
            </p:nvSpPr>
            <p:spPr bwMode="auto">
              <a:xfrm>
                <a:off x="2496" y="3600"/>
                <a:ext cx="144" cy="144"/>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85357" name="Oval 17">
                <a:extLst>
                  <a:ext uri="{FF2B5EF4-FFF2-40B4-BE49-F238E27FC236}">
                    <a16:creationId xmlns:a16="http://schemas.microsoft.com/office/drawing/2014/main" id="{08B30C6F-DE11-45DB-87ED-48421390DEEF}"/>
                  </a:ext>
                </a:extLst>
              </p:cNvPr>
              <p:cNvSpPr>
                <a:spLocks noChangeArrowheads="1"/>
              </p:cNvSpPr>
              <p:nvPr/>
            </p:nvSpPr>
            <p:spPr bwMode="auto">
              <a:xfrm>
                <a:off x="2640" y="3600"/>
                <a:ext cx="144" cy="144"/>
              </a:xfrm>
              <a:prstGeom prst="ellipse">
                <a:avLst/>
              </a:prstGeom>
              <a:solidFill>
                <a:srgbClr val="FF00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85353" name="Group 18">
              <a:extLst>
                <a:ext uri="{FF2B5EF4-FFF2-40B4-BE49-F238E27FC236}">
                  <a16:creationId xmlns:a16="http://schemas.microsoft.com/office/drawing/2014/main" id="{6F5398BA-C8E1-463D-8694-5F10F879D148}"/>
                </a:ext>
              </a:extLst>
            </p:cNvPr>
            <p:cNvGrpSpPr>
              <a:grpSpLocks/>
            </p:cNvGrpSpPr>
            <p:nvPr/>
          </p:nvGrpSpPr>
          <p:grpSpPr bwMode="auto">
            <a:xfrm>
              <a:off x="672" y="3600"/>
              <a:ext cx="288" cy="144"/>
              <a:chOff x="2496" y="3600"/>
              <a:chExt cx="288" cy="144"/>
            </a:xfrm>
          </p:grpSpPr>
          <p:sp>
            <p:nvSpPr>
              <p:cNvPr id="185354" name="Oval 19">
                <a:extLst>
                  <a:ext uri="{FF2B5EF4-FFF2-40B4-BE49-F238E27FC236}">
                    <a16:creationId xmlns:a16="http://schemas.microsoft.com/office/drawing/2014/main" id="{2581D986-666F-403C-A419-7164FF5F2552}"/>
                  </a:ext>
                </a:extLst>
              </p:cNvPr>
              <p:cNvSpPr>
                <a:spLocks noChangeArrowheads="1"/>
              </p:cNvSpPr>
              <p:nvPr/>
            </p:nvSpPr>
            <p:spPr bwMode="auto">
              <a:xfrm>
                <a:off x="2496" y="3600"/>
                <a:ext cx="144" cy="144"/>
              </a:xfrm>
              <a:prstGeom prst="ellipse">
                <a:avLst/>
              </a:prstGeom>
              <a:solidFill>
                <a:srgbClr val="FFFF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dirty="0">
                  <a:solidFill>
                    <a:srgbClr val="FFFF00"/>
                  </a:solidFill>
                </a:endParaRPr>
              </a:p>
            </p:txBody>
          </p:sp>
          <p:sp>
            <p:nvSpPr>
              <p:cNvPr id="185355" name="Oval 20">
                <a:extLst>
                  <a:ext uri="{FF2B5EF4-FFF2-40B4-BE49-F238E27FC236}">
                    <a16:creationId xmlns:a16="http://schemas.microsoft.com/office/drawing/2014/main" id="{D9918046-8E19-423B-95EF-E1972C967FEB}"/>
                  </a:ext>
                </a:extLst>
              </p:cNvPr>
              <p:cNvSpPr>
                <a:spLocks noChangeArrowheads="1"/>
              </p:cNvSpPr>
              <p:nvPr/>
            </p:nvSpPr>
            <p:spPr bwMode="auto">
              <a:xfrm>
                <a:off x="2640" y="3600"/>
                <a:ext cx="144" cy="144"/>
              </a:xfrm>
              <a:prstGeom prst="ellipse">
                <a:avLst/>
              </a:prstGeom>
              <a:solidFill>
                <a:srgbClr val="FF00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sp>
        <p:nvSpPr>
          <p:cNvPr id="185348" name="Rectangle 21">
            <a:extLst>
              <a:ext uri="{FF2B5EF4-FFF2-40B4-BE49-F238E27FC236}">
                <a16:creationId xmlns:a16="http://schemas.microsoft.com/office/drawing/2014/main" id="{FB04A8D2-1789-4715-B792-84C90D3C8A4E}"/>
              </a:ext>
            </a:extLst>
          </p:cNvPr>
          <p:cNvSpPr>
            <a:spLocks noChangeArrowheads="1"/>
          </p:cNvSpPr>
          <p:nvPr/>
        </p:nvSpPr>
        <p:spPr bwMode="auto">
          <a:xfrm>
            <a:off x="1763713" y="188913"/>
            <a:ext cx="5688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latin typeface="Times New Roman" panose="02020603050405020304" pitchFamily="18" charset="0"/>
              </a:rPr>
              <a:t>aspartate </a:t>
            </a:r>
            <a:r>
              <a:rPr kumimoji="1" lang="en-US" altLang="zh-CN" sz="2400" b="1" dirty="0" err="1">
                <a:latin typeface="Times New Roman" panose="02020603050405020304" pitchFamily="18" charset="0"/>
              </a:rPr>
              <a:t>transcarbamoylase</a:t>
            </a:r>
            <a:r>
              <a:rPr kumimoji="1" lang="en-US" altLang="zh-CN" sz="2400" b="1" dirty="0">
                <a:latin typeface="Times New Roman" panose="02020603050405020304" pitchFamily="18" charset="0"/>
              </a:rPr>
              <a:t> (</a:t>
            </a:r>
            <a:r>
              <a:rPr kumimoji="1" lang="en-US" altLang="zh-CN" sz="2400" b="1" dirty="0" err="1">
                <a:latin typeface="Times New Roman" panose="02020603050405020304" pitchFamily="18" charset="0"/>
              </a:rPr>
              <a:t>ATCase</a:t>
            </a:r>
            <a:r>
              <a:rPr kumimoji="1" lang="en-US" altLang="zh-CN" sz="2400" b="1" dirty="0">
                <a:latin typeface="Times New Roman" panose="02020603050405020304" pitchFamily="18" charset="0"/>
              </a:rPr>
              <a:t>)</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Text Box 2">
            <a:extLst>
              <a:ext uri="{FF2B5EF4-FFF2-40B4-BE49-F238E27FC236}">
                <a16:creationId xmlns:a16="http://schemas.microsoft.com/office/drawing/2014/main" id="{D2ADE81B-671A-45E2-8A3D-B3A4ABE6ACDF}"/>
              </a:ext>
            </a:extLst>
          </p:cNvPr>
          <p:cNvSpPr txBox="1">
            <a:spLocks noChangeArrowheads="1"/>
          </p:cNvSpPr>
          <p:nvPr/>
        </p:nvSpPr>
        <p:spPr bwMode="auto">
          <a:xfrm>
            <a:off x="533400" y="533400"/>
            <a:ext cx="784860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200" b="1" dirty="0">
                <a:latin typeface="Times New Roman" panose="02020603050405020304" pitchFamily="18" charset="0"/>
              </a:rPr>
              <a:t>This allosteric regulatory enzyme has two stacked catalytic clusters, each with three catalytic polypeptide chain (in shades of blue and purple), and three regulatory clusters, each with two regulatory polypeptide chains (in red and yellow).</a:t>
            </a:r>
          </a:p>
          <a:p>
            <a:pPr eaLnBrk="1" hangingPunct="1">
              <a:spcBef>
                <a:spcPct val="50000"/>
              </a:spcBef>
            </a:pPr>
            <a:r>
              <a:rPr kumimoji="1" lang="en-US" altLang="zh-CN" sz="3200" b="1" dirty="0">
                <a:latin typeface="Times New Roman" panose="02020603050405020304" pitchFamily="18" charset="0"/>
              </a:rPr>
              <a:t>The regulatory clusters form the points of a triangle surrounding the catalytic subunits. </a:t>
            </a:r>
            <a:r>
              <a:rPr kumimoji="1" lang="en-US" altLang="zh-CN" sz="3200" b="1" dirty="0">
                <a:solidFill>
                  <a:srgbClr val="FF0000"/>
                </a:solidFill>
                <a:latin typeface="Times New Roman" panose="02020603050405020304" pitchFamily="18" charset="0"/>
              </a:rPr>
              <a:t>Modulator binding produces large changes in enzyme conformation and activity</a:t>
            </a:r>
            <a:r>
              <a:rPr kumimoji="1" lang="en-US" altLang="zh-CN" sz="3200" b="1" dirty="0">
                <a:latin typeface="Times New Roman" panose="02020603050405020304" pitchFamily="18" charset="0"/>
              </a:rPr>
              <a:t>.</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394" name="Picture 2">
            <a:extLst>
              <a:ext uri="{FF2B5EF4-FFF2-40B4-BE49-F238E27FC236}">
                <a16:creationId xmlns:a16="http://schemas.microsoft.com/office/drawing/2014/main" id="{AC8D1DCF-4E87-40D4-B7A3-715AD4AF1F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2400" y="711200"/>
            <a:ext cx="6299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7395" name="Text Box 3">
            <a:extLst>
              <a:ext uri="{FF2B5EF4-FFF2-40B4-BE49-F238E27FC236}">
                <a16:creationId xmlns:a16="http://schemas.microsoft.com/office/drawing/2014/main" id="{F5ED8CB3-7084-4E11-BA70-11A9C213D640}"/>
              </a:ext>
            </a:extLst>
          </p:cNvPr>
          <p:cNvSpPr txBox="1">
            <a:spLocks noChangeArrowheads="1"/>
          </p:cNvSpPr>
          <p:nvPr/>
        </p:nvSpPr>
        <p:spPr bwMode="auto">
          <a:xfrm>
            <a:off x="2438400" y="17526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latin typeface="Times New Roman" panose="02020603050405020304" pitchFamily="18" charset="0"/>
              </a:rPr>
              <a:t>+ATP</a:t>
            </a:r>
          </a:p>
        </p:txBody>
      </p:sp>
      <p:sp>
        <p:nvSpPr>
          <p:cNvPr id="187396" name="Text Box 4">
            <a:extLst>
              <a:ext uri="{FF2B5EF4-FFF2-40B4-BE49-F238E27FC236}">
                <a16:creationId xmlns:a16="http://schemas.microsoft.com/office/drawing/2014/main" id="{72C87307-A127-4A21-BD96-41D43F3E641C}"/>
              </a:ext>
            </a:extLst>
          </p:cNvPr>
          <p:cNvSpPr txBox="1">
            <a:spLocks noChangeArrowheads="1"/>
          </p:cNvSpPr>
          <p:nvPr/>
        </p:nvSpPr>
        <p:spPr bwMode="auto">
          <a:xfrm>
            <a:off x="4419600" y="38100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b="1">
                <a:latin typeface="Times New Roman" panose="02020603050405020304" pitchFamily="18" charset="0"/>
              </a:rPr>
              <a:t>+CTP</a:t>
            </a:r>
          </a:p>
        </p:txBody>
      </p:sp>
      <p:sp>
        <p:nvSpPr>
          <p:cNvPr id="187397" name="Rectangle 5">
            <a:extLst>
              <a:ext uri="{FF2B5EF4-FFF2-40B4-BE49-F238E27FC236}">
                <a16:creationId xmlns:a16="http://schemas.microsoft.com/office/drawing/2014/main" id="{1FA998AF-27DC-4358-9A7C-EBA35920D8B7}"/>
              </a:ext>
            </a:extLst>
          </p:cNvPr>
          <p:cNvSpPr>
            <a:spLocks noChangeArrowheads="1"/>
          </p:cNvSpPr>
          <p:nvPr/>
        </p:nvSpPr>
        <p:spPr bwMode="auto">
          <a:xfrm>
            <a:off x="1692275" y="188913"/>
            <a:ext cx="561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dirty="0">
                <a:latin typeface="Times New Roman" panose="02020603050405020304" pitchFamily="18" charset="0"/>
              </a:rPr>
              <a:t>aspartate </a:t>
            </a:r>
            <a:r>
              <a:rPr kumimoji="1" lang="en-US" altLang="zh-CN" sz="2400" b="1" dirty="0" err="1">
                <a:latin typeface="Times New Roman" panose="02020603050405020304" pitchFamily="18" charset="0"/>
              </a:rPr>
              <a:t>transcarbamoylase</a:t>
            </a:r>
            <a:r>
              <a:rPr kumimoji="1" lang="en-US" altLang="zh-CN" sz="2400" b="1" dirty="0">
                <a:latin typeface="Times New Roman" panose="02020603050405020304" pitchFamily="18" charset="0"/>
              </a:rPr>
              <a:t> (</a:t>
            </a:r>
            <a:r>
              <a:rPr kumimoji="1" lang="en-US" altLang="zh-CN" sz="2400" b="1" dirty="0" err="1">
                <a:latin typeface="Times New Roman" panose="02020603050405020304" pitchFamily="18" charset="0"/>
              </a:rPr>
              <a:t>ATCase</a:t>
            </a:r>
            <a:r>
              <a:rPr kumimoji="1" lang="en-US" altLang="zh-CN" sz="2400" b="1" dirty="0">
                <a:latin typeface="Times New Roman" panose="02020603050405020304" pitchFamily="18" charset="0"/>
              </a:rPr>
              <a:t>)</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93194E3-06C3-4B69-9D69-AC3AF2B631E3}"/>
              </a:ext>
            </a:extLst>
          </p:cNvPr>
          <p:cNvPicPr>
            <a:picLocks noChangeAspect="1"/>
          </p:cNvPicPr>
          <p:nvPr/>
        </p:nvPicPr>
        <p:blipFill>
          <a:blip r:embed="rId3"/>
          <a:stretch>
            <a:fillRect/>
          </a:stretch>
        </p:blipFill>
        <p:spPr>
          <a:xfrm>
            <a:off x="2199040" y="0"/>
            <a:ext cx="4745920" cy="6858000"/>
          </a:xfrm>
          <a:prstGeom prst="rect">
            <a:avLst/>
          </a:prstGeom>
        </p:spPr>
      </p:pic>
    </p:spTree>
    <p:extLst>
      <p:ext uri="{BB962C8B-B14F-4D97-AF65-F5344CB8AC3E}">
        <p14:creationId xmlns:p14="http://schemas.microsoft.com/office/powerpoint/2010/main" val="251126019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8418" name="Picture 2" descr="p485p2">
            <a:extLst>
              <a:ext uri="{FF2B5EF4-FFF2-40B4-BE49-F238E27FC236}">
                <a16:creationId xmlns:a16="http://schemas.microsoft.com/office/drawing/2014/main" id="{6089971E-DCD9-4890-AEC9-E4F5CBCC5C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9213" y="571500"/>
            <a:ext cx="6505575"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 Box 2">
            <a:extLst>
              <a:ext uri="{FF2B5EF4-FFF2-40B4-BE49-F238E27FC236}">
                <a16:creationId xmlns:a16="http://schemas.microsoft.com/office/drawing/2014/main" id="{D816896F-3C31-4A90-90C6-C040DFBDB591}"/>
              </a:ext>
            </a:extLst>
          </p:cNvPr>
          <p:cNvSpPr txBox="1">
            <a:spLocks noChangeArrowheads="1"/>
          </p:cNvSpPr>
          <p:nvPr/>
        </p:nvSpPr>
        <p:spPr bwMode="auto">
          <a:xfrm>
            <a:off x="914400" y="990600"/>
            <a:ext cx="7467600" cy="3847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3200" b="1" dirty="0">
                <a:solidFill>
                  <a:srgbClr val="FF0000"/>
                </a:solidFill>
                <a:latin typeface="华文中宋" panose="02010600040101010101" pitchFamily="2" charset="-122"/>
                <a:ea typeface="华文中宋" panose="02010600040101010101" pitchFamily="2" charset="-122"/>
              </a:rPr>
              <a:t>别构酶（</a:t>
            </a:r>
            <a:r>
              <a:rPr kumimoji="1" lang="en-US" altLang="zh-CN" sz="3200" b="1" dirty="0">
                <a:solidFill>
                  <a:srgbClr val="FF0000"/>
                </a:solidFill>
                <a:latin typeface="华文中宋" panose="02010600040101010101" pitchFamily="2" charset="-122"/>
                <a:ea typeface="华文中宋" panose="02010600040101010101" pitchFamily="2" charset="-122"/>
              </a:rPr>
              <a:t>allosteric enzymes</a:t>
            </a:r>
            <a:r>
              <a:rPr kumimoji="1" lang="zh-CN" altLang="en-US" sz="3200" b="1" dirty="0">
                <a:solidFill>
                  <a:srgbClr val="FF0000"/>
                </a:solidFill>
                <a:latin typeface="华文中宋" panose="02010600040101010101" pitchFamily="2" charset="-122"/>
                <a:ea typeface="华文中宋" panose="02010600040101010101" pitchFamily="2" charset="-122"/>
              </a:rPr>
              <a:t>）的主要特点：</a:t>
            </a:r>
          </a:p>
          <a:p>
            <a:pPr eaLnBrk="1" hangingPunct="1">
              <a:spcBef>
                <a:spcPct val="50000"/>
              </a:spcBef>
              <a:buFontTx/>
              <a:buChar char="•"/>
            </a:pPr>
            <a:r>
              <a:rPr kumimoji="1" lang="zh-CN" altLang="en-US" sz="2400" b="1" dirty="0">
                <a:solidFill>
                  <a:schemeClr val="accent2"/>
                </a:solidFill>
                <a:latin typeface="华文中宋" panose="02010600040101010101" pitchFamily="2" charset="-122"/>
                <a:ea typeface="华文中宋" panose="02010600040101010101" pitchFamily="2" charset="-122"/>
              </a:rPr>
              <a:t>寡聚酶</a:t>
            </a:r>
          </a:p>
          <a:p>
            <a:pPr eaLnBrk="1" hangingPunct="1">
              <a:spcBef>
                <a:spcPct val="50000"/>
              </a:spcBef>
              <a:buFontTx/>
              <a:buChar char="•"/>
            </a:pPr>
            <a:r>
              <a:rPr kumimoji="1" lang="zh-CN" altLang="en-US" sz="2400" b="1" dirty="0">
                <a:solidFill>
                  <a:schemeClr val="accent2"/>
                </a:solidFill>
                <a:latin typeface="华文中宋" panose="02010600040101010101" pitchFamily="2" charset="-122"/>
                <a:ea typeface="华文中宋" panose="02010600040101010101" pitchFamily="2" charset="-122"/>
              </a:rPr>
              <a:t>别构效应</a:t>
            </a:r>
          </a:p>
          <a:p>
            <a:pPr eaLnBrk="1" hangingPunct="1">
              <a:spcBef>
                <a:spcPct val="50000"/>
              </a:spcBef>
              <a:buFontTx/>
              <a:buChar char="•"/>
            </a:pPr>
            <a:r>
              <a:rPr kumimoji="1" lang="en-US" altLang="zh-CN" sz="2400" b="1" dirty="0">
                <a:solidFill>
                  <a:schemeClr val="accent2"/>
                </a:solidFill>
                <a:latin typeface="华文中宋" panose="02010600040101010101" pitchFamily="2" charset="-122"/>
                <a:ea typeface="华文中宋" panose="02010600040101010101" pitchFamily="2" charset="-122"/>
              </a:rPr>
              <a:t>S</a:t>
            </a:r>
            <a:r>
              <a:rPr kumimoji="1" lang="zh-CN" altLang="en-US" sz="2400" b="1" dirty="0">
                <a:solidFill>
                  <a:schemeClr val="accent2"/>
                </a:solidFill>
                <a:latin typeface="华文中宋" panose="02010600040101010101" pitchFamily="2" charset="-122"/>
                <a:ea typeface="华文中宋" panose="02010600040101010101" pitchFamily="2" charset="-122"/>
              </a:rPr>
              <a:t>形动力学曲线</a:t>
            </a:r>
          </a:p>
          <a:p>
            <a:pPr eaLnBrk="1" hangingPunct="1">
              <a:spcBef>
                <a:spcPct val="50000"/>
              </a:spcBef>
              <a:buFontTx/>
              <a:buChar char="•"/>
            </a:pPr>
            <a:r>
              <a:rPr kumimoji="1" lang="zh-CN" altLang="en-US" sz="2400" b="1" dirty="0">
                <a:solidFill>
                  <a:schemeClr val="accent2"/>
                </a:solidFill>
                <a:latin typeface="华文中宋" panose="02010600040101010101" pitchFamily="2" charset="-122"/>
                <a:ea typeface="华文中宋" panose="02010600040101010101" pitchFamily="2" charset="-122"/>
              </a:rPr>
              <a:t>酶系统的第一个酶，或代谢分支酶</a:t>
            </a:r>
          </a:p>
          <a:p>
            <a:pPr eaLnBrk="1" hangingPunct="1">
              <a:spcBef>
                <a:spcPct val="50000"/>
              </a:spcBef>
            </a:pPr>
            <a:endParaRPr kumimoji="1" lang="en-US" altLang="zh-CN" sz="2400" b="1" dirty="0">
              <a:solidFill>
                <a:schemeClr val="accent2"/>
              </a:solidFill>
              <a:latin typeface="华文中宋" panose="02010600040101010101" pitchFamily="2" charset="-122"/>
              <a:ea typeface="华文中宋" panose="02010600040101010101" pitchFamily="2" charset="-122"/>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Text Box 2">
            <a:extLst>
              <a:ext uri="{FF2B5EF4-FFF2-40B4-BE49-F238E27FC236}">
                <a16:creationId xmlns:a16="http://schemas.microsoft.com/office/drawing/2014/main" id="{5FF040E0-1696-4B55-876E-34125545E4D5}"/>
              </a:ext>
            </a:extLst>
          </p:cNvPr>
          <p:cNvSpPr txBox="1">
            <a:spLocks noChangeArrowheads="1"/>
          </p:cNvSpPr>
          <p:nvPr/>
        </p:nvSpPr>
        <p:spPr bwMode="auto">
          <a:xfrm>
            <a:off x="457200" y="555625"/>
            <a:ext cx="8305800" cy="373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kumimoji="1" lang="en-US" altLang="zh-CN" sz="3200" b="1" dirty="0">
                <a:solidFill>
                  <a:srgbClr val="FF0000"/>
                </a:solidFill>
                <a:latin typeface="Times New Roman" panose="02020603050405020304" pitchFamily="18" charset="0"/>
              </a:rPr>
              <a:t>3. The activity of many enzymes are regulated by reversible covalent modifications.</a:t>
            </a:r>
          </a:p>
          <a:p>
            <a:pPr eaLnBrk="1" hangingPunct="1">
              <a:spcBef>
                <a:spcPct val="20000"/>
              </a:spcBef>
            </a:pPr>
            <a:r>
              <a:rPr kumimoji="1" lang="en-US" altLang="zh-CN" sz="3200" b="1" dirty="0">
                <a:latin typeface="Times New Roman" panose="02020603050405020304" pitchFamily="18" charset="0"/>
              </a:rPr>
              <a:t>	3.1 </a:t>
            </a:r>
            <a:r>
              <a:rPr kumimoji="1" lang="en-US" altLang="zh-CN" sz="3200" b="1" dirty="0">
                <a:solidFill>
                  <a:srgbClr val="FF0000"/>
                </a:solidFill>
                <a:latin typeface="Times New Roman" panose="02020603050405020304" pitchFamily="18" charset="0"/>
              </a:rPr>
              <a:t>Phosphorylation</a:t>
            </a:r>
            <a:r>
              <a:rPr kumimoji="1" lang="en-US" altLang="zh-CN" sz="3200" b="1" dirty="0">
                <a:latin typeface="Times New Roman" panose="02020603050405020304" pitchFamily="18" charset="0"/>
              </a:rPr>
              <a:t>, the most common reversible covalent modification, is a highly effective means of switching the activity of target enzymes.</a:t>
            </a:r>
          </a:p>
          <a:p>
            <a:pPr eaLnBrk="1" hangingPunct="1">
              <a:spcBef>
                <a:spcPct val="20000"/>
              </a:spcBef>
            </a:pPr>
            <a:r>
              <a:rPr kumimoji="1" lang="en-US" altLang="zh-CN" sz="3200" b="1" dirty="0">
                <a:latin typeface="Times New Roman" panose="02020603050405020304" pitchFamily="18" charset="0"/>
              </a:rPr>
              <a:t>	</a:t>
            </a:r>
          </a:p>
        </p:txBody>
      </p:sp>
      <p:pic>
        <p:nvPicPr>
          <p:cNvPr id="190467" name="Picture 3" descr="49033-15-01 copy">
            <a:extLst>
              <a:ext uri="{FF2B5EF4-FFF2-40B4-BE49-F238E27FC236}">
                <a16:creationId xmlns:a16="http://schemas.microsoft.com/office/drawing/2014/main" id="{D847E52B-2782-4777-A279-471B6FBEAC86}"/>
              </a:ext>
            </a:extLst>
          </p:cNvPr>
          <p:cNvPicPr>
            <a:picLocks noChangeAspect="1" noChangeArrowheads="1"/>
          </p:cNvPicPr>
          <p:nvPr/>
        </p:nvPicPr>
        <p:blipFill>
          <a:blip r:embed="rId2">
            <a:lum bright="-30000" contrast="42000"/>
            <a:extLst>
              <a:ext uri="{28A0092B-C50C-407E-A947-70E740481C1C}">
                <a14:useLocalDpi xmlns:a14="http://schemas.microsoft.com/office/drawing/2010/main" val="0"/>
              </a:ext>
            </a:extLst>
          </a:blip>
          <a:srcRect/>
          <a:stretch>
            <a:fillRect/>
          </a:stretch>
        </p:blipFill>
        <p:spPr bwMode="auto">
          <a:xfrm>
            <a:off x="395288" y="4005263"/>
            <a:ext cx="8459787" cy="229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Text Box 2">
            <a:extLst>
              <a:ext uri="{FF2B5EF4-FFF2-40B4-BE49-F238E27FC236}">
                <a16:creationId xmlns:a16="http://schemas.microsoft.com/office/drawing/2014/main" id="{77C62419-1D15-4458-9E27-5EA567633BA8}"/>
              </a:ext>
            </a:extLst>
          </p:cNvPr>
          <p:cNvSpPr txBox="1">
            <a:spLocks noChangeArrowheads="1"/>
          </p:cNvSpPr>
          <p:nvPr/>
        </p:nvSpPr>
        <p:spPr bwMode="auto">
          <a:xfrm>
            <a:off x="381000" y="914400"/>
            <a:ext cx="8610600" cy="4485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10000"/>
              </a:spcBef>
            </a:pPr>
            <a:r>
              <a:rPr kumimoji="1" lang="en-US" altLang="zh-CN" sz="2400" dirty="0">
                <a:latin typeface="Times New Roman" panose="02020603050405020304" pitchFamily="18" charset="0"/>
              </a:rPr>
              <a:t>	</a:t>
            </a:r>
            <a:r>
              <a:rPr kumimoji="1" lang="en-US" altLang="zh-CN" sz="3200" b="1" dirty="0">
                <a:latin typeface="Times New Roman" panose="02020603050405020304" pitchFamily="18" charset="0"/>
              </a:rPr>
              <a:t>3.2 </a:t>
            </a:r>
            <a:r>
              <a:rPr kumimoji="1" lang="en-US" altLang="zh-CN" sz="3200" b="1" dirty="0">
                <a:solidFill>
                  <a:srgbClr val="FF0000"/>
                </a:solidFill>
                <a:latin typeface="Times New Roman" panose="02020603050405020304" pitchFamily="18" charset="0"/>
              </a:rPr>
              <a:t>Protein kinases</a:t>
            </a:r>
            <a:r>
              <a:rPr kumimoji="1" lang="zh-CN" altLang="en-US" sz="3200" b="1" dirty="0">
                <a:solidFill>
                  <a:srgbClr val="FF0000"/>
                </a:solidFill>
                <a:latin typeface="Times New Roman" panose="02020603050405020304" pitchFamily="18" charset="0"/>
              </a:rPr>
              <a:t>（激酶）</a:t>
            </a:r>
            <a:r>
              <a:rPr kumimoji="1" lang="en-US" altLang="zh-CN" sz="3200" b="1" dirty="0">
                <a:latin typeface="Times New Roman" panose="02020603050405020304" pitchFamily="18" charset="0"/>
              </a:rPr>
              <a:t>catalyze the transfer of a phosphate group from an ATP molecule to the side chains of </a:t>
            </a:r>
            <a:r>
              <a:rPr kumimoji="1" lang="en-US" altLang="zh-CN" sz="3200" b="1" dirty="0">
                <a:solidFill>
                  <a:srgbClr val="FF0000"/>
                </a:solidFill>
                <a:latin typeface="Times New Roman" panose="02020603050405020304" pitchFamily="18" charset="0"/>
              </a:rPr>
              <a:t>Ser</a:t>
            </a:r>
            <a:r>
              <a:rPr kumimoji="1" lang="zh-CN" altLang="en-US" sz="3200" b="1" dirty="0">
                <a:solidFill>
                  <a:srgbClr val="FF0000"/>
                </a:solidFill>
                <a:latin typeface="Times New Roman" panose="02020603050405020304" pitchFamily="18" charset="0"/>
              </a:rPr>
              <a:t>（</a:t>
            </a:r>
            <a:r>
              <a:rPr kumimoji="1" lang="en-US" altLang="zh-CN" sz="3200" b="1" dirty="0">
                <a:solidFill>
                  <a:srgbClr val="FF0000"/>
                </a:solidFill>
                <a:latin typeface="Times New Roman" panose="02020603050405020304" pitchFamily="18" charset="0"/>
              </a:rPr>
              <a:t>S</a:t>
            </a:r>
            <a:r>
              <a:rPr kumimoji="1" lang="zh-CN" altLang="en-US" sz="3200" b="1" dirty="0">
                <a:solidFill>
                  <a:srgbClr val="FF0000"/>
                </a:solidFill>
                <a:latin typeface="Times New Roman" panose="02020603050405020304" pitchFamily="18" charset="0"/>
              </a:rPr>
              <a:t>）</a:t>
            </a:r>
            <a:r>
              <a:rPr kumimoji="1" lang="en-US" altLang="zh-CN" sz="3200" b="1" dirty="0">
                <a:solidFill>
                  <a:srgbClr val="FF0000"/>
                </a:solidFill>
                <a:latin typeface="Times New Roman" panose="02020603050405020304" pitchFamily="18" charset="0"/>
              </a:rPr>
              <a:t>, </a:t>
            </a:r>
            <a:r>
              <a:rPr kumimoji="1" lang="en-US" altLang="zh-CN" sz="3200" b="1" dirty="0" err="1">
                <a:solidFill>
                  <a:srgbClr val="FF0000"/>
                </a:solidFill>
                <a:latin typeface="Times New Roman" panose="02020603050405020304" pitchFamily="18" charset="0"/>
              </a:rPr>
              <a:t>Thr</a:t>
            </a:r>
            <a:r>
              <a:rPr kumimoji="1" lang="zh-CN" altLang="en-US" sz="3200" b="1" dirty="0">
                <a:solidFill>
                  <a:srgbClr val="FF0000"/>
                </a:solidFill>
                <a:latin typeface="Times New Roman" panose="02020603050405020304" pitchFamily="18" charset="0"/>
              </a:rPr>
              <a:t>（</a:t>
            </a:r>
            <a:r>
              <a:rPr kumimoji="1" lang="en-US" altLang="zh-CN" sz="3200" b="1" dirty="0">
                <a:solidFill>
                  <a:srgbClr val="FF0000"/>
                </a:solidFill>
                <a:latin typeface="Times New Roman" panose="02020603050405020304" pitchFamily="18" charset="0"/>
              </a:rPr>
              <a:t>T</a:t>
            </a:r>
            <a:r>
              <a:rPr kumimoji="1" lang="zh-CN" altLang="en-US" sz="3200" b="1" dirty="0">
                <a:solidFill>
                  <a:srgbClr val="FF0000"/>
                </a:solidFill>
                <a:latin typeface="Times New Roman" panose="02020603050405020304" pitchFamily="18" charset="0"/>
              </a:rPr>
              <a:t>）</a:t>
            </a:r>
            <a:r>
              <a:rPr kumimoji="1" lang="en-US" altLang="zh-CN" sz="3200" b="1" dirty="0">
                <a:solidFill>
                  <a:srgbClr val="FF0000"/>
                </a:solidFill>
                <a:latin typeface="Times New Roman" panose="02020603050405020304" pitchFamily="18" charset="0"/>
              </a:rPr>
              <a:t>, or Tyr</a:t>
            </a:r>
            <a:r>
              <a:rPr kumimoji="1" lang="zh-CN" altLang="en-US" sz="3200" b="1" dirty="0">
                <a:solidFill>
                  <a:srgbClr val="FF0000"/>
                </a:solidFill>
                <a:latin typeface="Times New Roman" panose="02020603050405020304" pitchFamily="18" charset="0"/>
              </a:rPr>
              <a:t>（</a:t>
            </a:r>
            <a:r>
              <a:rPr kumimoji="1" lang="en-US" altLang="zh-CN" sz="3200" b="1" dirty="0">
                <a:solidFill>
                  <a:srgbClr val="FF0000"/>
                </a:solidFill>
                <a:latin typeface="Times New Roman" panose="02020603050405020304" pitchFamily="18" charset="0"/>
              </a:rPr>
              <a:t>Y</a:t>
            </a:r>
            <a:r>
              <a:rPr kumimoji="1" lang="zh-CN" altLang="en-US" sz="3200" b="1" dirty="0">
                <a:solidFill>
                  <a:srgbClr val="FF0000"/>
                </a:solidFill>
                <a:latin typeface="Times New Roman" panose="02020603050405020304" pitchFamily="18" charset="0"/>
              </a:rPr>
              <a:t>）</a:t>
            </a:r>
            <a:r>
              <a:rPr kumimoji="1" lang="en-US" altLang="zh-CN" sz="3200" b="1" dirty="0">
                <a:solidFill>
                  <a:srgbClr val="FF0000"/>
                </a:solidFill>
                <a:latin typeface="Times New Roman" panose="02020603050405020304" pitchFamily="18" charset="0"/>
              </a:rPr>
              <a:t> </a:t>
            </a:r>
            <a:r>
              <a:rPr kumimoji="1" lang="en-US" altLang="zh-CN" sz="3200" b="1" dirty="0">
                <a:latin typeface="Times New Roman" panose="02020603050405020304" pitchFamily="18" charset="0"/>
              </a:rPr>
              <a:t>residues in proteins.	</a:t>
            </a:r>
          </a:p>
          <a:p>
            <a:pPr eaLnBrk="1" hangingPunct="1">
              <a:spcBef>
                <a:spcPct val="10000"/>
              </a:spcBef>
            </a:pPr>
            <a:r>
              <a:rPr kumimoji="1" lang="en-US" altLang="zh-CN" sz="3200" b="1" dirty="0">
                <a:latin typeface="Times New Roman" panose="02020603050405020304" pitchFamily="18" charset="0"/>
              </a:rPr>
              <a:t>        3.3 </a:t>
            </a:r>
            <a:r>
              <a:rPr kumimoji="1" lang="en-US" altLang="zh-CN" sz="3200" b="1" dirty="0">
                <a:solidFill>
                  <a:srgbClr val="FF0000"/>
                </a:solidFill>
                <a:latin typeface="Times New Roman" panose="02020603050405020304" pitchFamily="18" charset="0"/>
              </a:rPr>
              <a:t>Protein phosphatases </a:t>
            </a:r>
            <a:r>
              <a:rPr kumimoji="1" lang="zh-CN" altLang="en-US" sz="3200" b="1" dirty="0">
                <a:solidFill>
                  <a:srgbClr val="FF0000"/>
                </a:solidFill>
                <a:latin typeface="Times New Roman" panose="02020603050405020304" pitchFamily="18" charset="0"/>
              </a:rPr>
              <a:t>（磷酸酶）</a:t>
            </a:r>
            <a:r>
              <a:rPr kumimoji="1" lang="en-US" altLang="zh-CN" sz="3200" b="1" dirty="0">
                <a:latin typeface="Times New Roman" panose="02020603050405020304" pitchFamily="18" charset="0"/>
              </a:rPr>
              <a:t>catalyze the hydrolysis of phosphoryl groups attached to proteins, thus reversing the effects of kinases.</a:t>
            </a:r>
          </a:p>
          <a:p>
            <a:pPr eaLnBrk="1" hangingPunct="1">
              <a:lnSpc>
                <a:spcPct val="70000"/>
              </a:lnSpc>
              <a:spcBef>
                <a:spcPct val="10000"/>
              </a:spcBef>
            </a:pPr>
            <a:r>
              <a:rPr kumimoji="1" lang="en-US" altLang="zh-CN" sz="3200" b="1" dirty="0">
                <a:latin typeface="Times New Roman" panose="02020603050405020304" pitchFamily="18" charset="0"/>
              </a:rPr>
              <a:t>	</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Text Box 2">
            <a:extLst>
              <a:ext uri="{FF2B5EF4-FFF2-40B4-BE49-F238E27FC236}">
                <a16:creationId xmlns:a16="http://schemas.microsoft.com/office/drawing/2014/main" id="{CE1810D6-08D9-48C8-93F8-7175D8B2F586}"/>
              </a:ext>
            </a:extLst>
          </p:cNvPr>
          <p:cNvSpPr txBox="1">
            <a:spLocks noChangeArrowheads="1"/>
          </p:cNvSpPr>
          <p:nvPr/>
        </p:nvSpPr>
        <p:spPr bwMode="auto">
          <a:xfrm>
            <a:off x="381000" y="304800"/>
            <a:ext cx="8305800" cy="60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10000"/>
              </a:spcBef>
            </a:pPr>
            <a:r>
              <a:rPr kumimoji="1" lang="en-US" altLang="zh-CN" sz="3200" b="1" dirty="0">
                <a:latin typeface="Times New Roman" panose="02020603050405020304" pitchFamily="18" charset="0"/>
              </a:rPr>
              <a:t>       3.4 The degree of </a:t>
            </a:r>
            <a:r>
              <a:rPr kumimoji="1" lang="en-US" altLang="zh-CN" sz="3200" b="1" dirty="0">
                <a:solidFill>
                  <a:srgbClr val="FF0000"/>
                </a:solidFill>
                <a:latin typeface="Times New Roman" panose="02020603050405020304" pitchFamily="18" charset="0"/>
              </a:rPr>
              <a:t>specificity of protein kinases varies</a:t>
            </a:r>
            <a:r>
              <a:rPr kumimoji="1" lang="en-US" altLang="zh-CN" sz="3200" b="1" dirty="0">
                <a:latin typeface="Times New Roman" panose="02020603050405020304" pitchFamily="18" charset="0"/>
              </a:rPr>
              <a:t>. Some catalyze the phosphorylation of many different target proteins (at sites of conserved sequences, e.g., protein kinase A recognizes a conserved sequence made of </a:t>
            </a:r>
            <a:r>
              <a:rPr kumimoji="1" lang="en-US" altLang="zh-CN" sz="3200" b="1" dirty="0" err="1">
                <a:latin typeface="Times New Roman" panose="02020603050405020304" pitchFamily="18" charset="0"/>
              </a:rPr>
              <a:t>Arg</a:t>
            </a:r>
            <a:r>
              <a:rPr kumimoji="1" lang="en-US" altLang="zh-CN" sz="3200" b="1" dirty="0">
                <a:latin typeface="Times New Roman" panose="02020603050405020304" pitchFamily="18" charset="0"/>
              </a:rPr>
              <a:t>-</a:t>
            </a:r>
            <a:r>
              <a:rPr kumimoji="1" lang="en-US" altLang="zh-CN" sz="3200" b="1" dirty="0" err="1">
                <a:latin typeface="Times New Roman" panose="02020603050405020304" pitchFamily="18" charset="0"/>
              </a:rPr>
              <a:t>Arg</a:t>
            </a:r>
            <a:r>
              <a:rPr kumimoji="1" lang="en-US" altLang="zh-CN" sz="3200" b="1" dirty="0">
                <a:latin typeface="Times New Roman" panose="02020603050405020304" pitchFamily="18" charset="0"/>
              </a:rPr>
              <a:t>-X-Ser-Z or </a:t>
            </a:r>
            <a:r>
              <a:rPr kumimoji="1" lang="en-US" altLang="zh-CN" sz="3200" b="1" dirty="0" err="1">
                <a:latin typeface="Times New Roman" panose="02020603050405020304" pitchFamily="18" charset="0"/>
              </a:rPr>
              <a:t>Arg</a:t>
            </a:r>
            <a:r>
              <a:rPr kumimoji="1" lang="en-US" altLang="zh-CN" sz="3200" b="1" dirty="0">
                <a:latin typeface="Times New Roman" panose="02020603050405020304" pitchFamily="18" charset="0"/>
              </a:rPr>
              <a:t>-</a:t>
            </a:r>
            <a:r>
              <a:rPr kumimoji="1" lang="en-US" altLang="zh-CN" sz="3200" b="1" dirty="0" err="1">
                <a:latin typeface="Times New Roman" panose="02020603050405020304" pitchFamily="18" charset="0"/>
              </a:rPr>
              <a:t>Arg</a:t>
            </a:r>
            <a:r>
              <a:rPr kumimoji="1" lang="en-US" altLang="zh-CN" sz="3200" b="1" dirty="0">
                <a:latin typeface="Times New Roman" panose="02020603050405020304" pitchFamily="18" charset="0"/>
              </a:rPr>
              <a:t>-X-</a:t>
            </a:r>
            <a:r>
              <a:rPr kumimoji="1" lang="en-US" altLang="zh-CN" sz="3200" b="1" dirty="0" err="1">
                <a:latin typeface="Times New Roman" panose="02020603050405020304" pitchFamily="18" charset="0"/>
              </a:rPr>
              <a:t>Thr</a:t>
            </a:r>
            <a:r>
              <a:rPr kumimoji="1" lang="en-US" altLang="zh-CN" sz="3200" b="1" dirty="0">
                <a:latin typeface="Times New Roman" panose="02020603050405020304" pitchFamily="18" charset="0"/>
              </a:rPr>
              <a:t>-Z). Some phosphorylate a single protein or several closely related ones.</a:t>
            </a:r>
          </a:p>
          <a:p>
            <a:pPr eaLnBrk="1" hangingPunct="1">
              <a:spcBef>
                <a:spcPct val="10000"/>
              </a:spcBef>
            </a:pPr>
            <a:r>
              <a:rPr kumimoji="1" lang="en-US" altLang="zh-CN" sz="3200" b="1" dirty="0">
                <a:latin typeface="Times New Roman" panose="02020603050405020304" pitchFamily="18" charset="0"/>
              </a:rPr>
              <a:t>       3.5 Phosphorylation is </a:t>
            </a:r>
            <a:r>
              <a:rPr kumimoji="1" lang="en-US" altLang="zh-CN" sz="3200" b="1" dirty="0">
                <a:solidFill>
                  <a:srgbClr val="FF0000"/>
                </a:solidFill>
                <a:latin typeface="Times New Roman" panose="02020603050405020304" pitchFamily="18" charset="0"/>
              </a:rPr>
              <a:t>a highly effective means </a:t>
            </a:r>
            <a:r>
              <a:rPr kumimoji="1" lang="en-US" altLang="zh-CN" sz="3200" b="1" dirty="0">
                <a:latin typeface="Times New Roman" panose="02020603050405020304" pitchFamily="18" charset="0"/>
              </a:rPr>
              <a:t>of controlling the activity of proteins for structural, thermodynamic, and kinetic reasons.</a:t>
            </a:r>
            <a:endParaRPr kumimoji="1" lang="en-US" altLang="zh-CN" sz="2400" dirty="0">
              <a:latin typeface="Times New Roman" panose="02020603050405020304" pitchFamily="18" charset="0"/>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DD3EE91F-33D2-42F5-80CF-54C530EB685D}"/>
              </a:ext>
            </a:extLst>
          </p:cNvPr>
          <p:cNvSpPr txBox="1">
            <a:spLocks noChangeArrowheads="1"/>
          </p:cNvSpPr>
          <p:nvPr/>
        </p:nvSpPr>
        <p:spPr>
          <a:xfrm>
            <a:off x="441784" y="430188"/>
            <a:ext cx="3266120" cy="2782788"/>
          </a:xfrm>
          <a:prstGeom prst="rect">
            <a:avLst/>
          </a:prstGeom>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altLang="zh-CN" sz="2400" dirty="0">
                <a:latin typeface="Arial" panose="020B0604020202020204" pitchFamily="34" charset="0"/>
              </a:rPr>
              <a:t>Glycine (</a:t>
            </a:r>
            <a:r>
              <a:rPr lang="en-US" altLang="zh-CN" sz="2400" dirty="0" err="1">
                <a:latin typeface="Arial" panose="020B0604020202020204" pitchFamily="34" charset="0"/>
              </a:rPr>
              <a:t>Gly</a:t>
            </a:r>
            <a:r>
              <a:rPr lang="en-US" altLang="zh-CN" sz="2400" dirty="0">
                <a:latin typeface="Arial" panose="020B0604020202020204" pitchFamily="34" charset="0"/>
              </a:rPr>
              <a:t>, G)	</a:t>
            </a:r>
            <a:endParaRPr lang="zh-CN" altLang="en-US" sz="2400" dirty="0">
              <a:latin typeface="Arial" panose="020B0604020202020204" pitchFamily="34" charset="0"/>
              <a:ea typeface="华文中宋" panose="02010600040101010101" pitchFamily="2" charset="-122"/>
            </a:endParaRPr>
          </a:p>
          <a:p>
            <a:pPr eaLnBrk="1" hangingPunct="1"/>
            <a:r>
              <a:rPr lang="en-US" altLang="zh-CN" sz="2400" dirty="0">
                <a:latin typeface="Arial" panose="020B0604020202020204" pitchFamily="34" charset="0"/>
                <a:ea typeface="华文中宋" panose="02010600040101010101" pitchFamily="2" charset="-122"/>
              </a:rPr>
              <a:t>Alanine (Ala, A)	</a:t>
            </a:r>
            <a:endParaRPr lang="zh-CN" altLang="en-US" sz="2400" dirty="0">
              <a:latin typeface="Arial" panose="020B0604020202020204" pitchFamily="34" charset="0"/>
              <a:ea typeface="华文中宋" panose="02010600040101010101" pitchFamily="2" charset="-122"/>
            </a:endParaRPr>
          </a:p>
          <a:p>
            <a:pPr eaLnBrk="1" hangingPunct="1"/>
            <a:r>
              <a:rPr lang="en-US" altLang="zh-CN" sz="2400" dirty="0">
                <a:latin typeface="Arial" panose="020B0604020202020204" pitchFamily="34" charset="0"/>
                <a:ea typeface="华文中宋" panose="02010600040101010101" pitchFamily="2" charset="-122"/>
              </a:rPr>
              <a:t>Valine (Val, V)	</a:t>
            </a:r>
            <a:endParaRPr lang="zh-CN" altLang="en-US" sz="2400" dirty="0">
              <a:latin typeface="Arial" panose="020B0604020202020204" pitchFamily="34" charset="0"/>
              <a:ea typeface="华文中宋" panose="02010600040101010101" pitchFamily="2" charset="-122"/>
            </a:endParaRPr>
          </a:p>
          <a:p>
            <a:pPr eaLnBrk="1" hangingPunct="1"/>
            <a:r>
              <a:rPr lang="en-US" altLang="zh-CN" sz="2400" dirty="0">
                <a:latin typeface="Arial" panose="020B0604020202020204" pitchFamily="34" charset="0"/>
                <a:ea typeface="华文中宋" panose="02010600040101010101" pitchFamily="2" charset="-122"/>
              </a:rPr>
              <a:t>Leucine (Leu, L)</a:t>
            </a:r>
            <a:endParaRPr lang="zh-CN" altLang="en-US" sz="2400" dirty="0">
              <a:latin typeface="Arial" panose="020B0604020202020204" pitchFamily="34" charset="0"/>
              <a:ea typeface="华文中宋" panose="02010600040101010101" pitchFamily="2" charset="-122"/>
            </a:endParaRPr>
          </a:p>
          <a:p>
            <a:pPr eaLnBrk="1" hangingPunct="1"/>
            <a:r>
              <a:rPr lang="en-US" altLang="zh-CN" sz="2400" dirty="0">
                <a:latin typeface="Arial" panose="020B0604020202020204" pitchFamily="34" charset="0"/>
                <a:ea typeface="华文中宋" panose="02010600040101010101" pitchFamily="2" charset="-122"/>
              </a:rPr>
              <a:t>Isoleucine (Ile, I) 	</a:t>
            </a:r>
            <a:endParaRPr lang="zh-CN" altLang="en-US" sz="2400" dirty="0">
              <a:latin typeface="Arial" panose="020B0604020202020204" pitchFamily="34" charset="0"/>
              <a:ea typeface="华文中宋" panose="02010600040101010101" pitchFamily="2" charset="-122"/>
            </a:endParaRPr>
          </a:p>
          <a:p>
            <a:pPr eaLnBrk="1" hangingPunct="1"/>
            <a:r>
              <a:rPr lang="en-US" altLang="zh-CN" sz="2400" dirty="0">
                <a:latin typeface="Arial" panose="020B0604020202020204" pitchFamily="34" charset="0"/>
                <a:ea typeface="华文中宋" panose="02010600040101010101" pitchFamily="2" charset="-122"/>
              </a:rPr>
              <a:t>Methionine(Met, M)</a:t>
            </a:r>
            <a:endParaRPr lang="zh-CN" altLang="en-US" sz="2400" dirty="0">
              <a:latin typeface="Arial" panose="020B0604020202020204" pitchFamily="34" charset="0"/>
              <a:ea typeface="华文中宋" panose="02010600040101010101" pitchFamily="2" charset="-122"/>
            </a:endParaRPr>
          </a:p>
          <a:p>
            <a:pPr eaLnBrk="1" hangingPunct="1"/>
            <a:endParaRPr lang="zh-CN" altLang="en-US" sz="2400" dirty="0">
              <a:latin typeface="Arial" panose="020B0604020202020204" pitchFamily="34" charset="0"/>
            </a:endParaRPr>
          </a:p>
        </p:txBody>
      </p:sp>
      <p:sp>
        <p:nvSpPr>
          <p:cNvPr id="3" name="Rectangle 2">
            <a:extLst>
              <a:ext uri="{FF2B5EF4-FFF2-40B4-BE49-F238E27FC236}">
                <a16:creationId xmlns:a16="http://schemas.microsoft.com/office/drawing/2014/main" id="{AD94D4A4-1638-48BE-87E4-7F2415B6DFFD}"/>
              </a:ext>
            </a:extLst>
          </p:cNvPr>
          <p:cNvSpPr txBox="1">
            <a:spLocks noChangeArrowheads="1"/>
          </p:cNvSpPr>
          <p:nvPr/>
        </p:nvSpPr>
        <p:spPr>
          <a:xfrm>
            <a:off x="4139952" y="3635136"/>
            <a:ext cx="3744416" cy="2026568"/>
          </a:xfrm>
          <a:prstGeom prst="rect">
            <a:avLst/>
          </a:prstGeom>
          <a:noFill/>
        </p:spPr>
        <p:txBody>
          <a:bodyPr/>
          <a:lstStyle>
            <a:defPPr>
              <a:defRPr lang="zh-CN"/>
            </a:defPPr>
            <a:lvl1pPr marL="0" indent="-342900" eaLnBrk="1" hangingPunct="1">
              <a:spcBef>
                <a:spcPts val="0"/>
              </a:spcBef>
              <a:buFont typeface="Arial" charset="0"/>
              <a:buChar char="•"/>
              <a:defRPr sz="2800">
                <a:latin typeface="+mn-lt"/>
                <a:ea typeface="+mn-ea"/>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r>
              <a:rPr lang="en-US" altLang="zh-CN" dirty="0"/>
              <a:t>Phenylalanine (</a:t>
            </a:r>
            <a:r>
              <a:rPr lang="en-US" altLang="zh-CN" dirty="0" err="1"/>
              <a:t>Phe,F</a:t>
            </a:r>
            <a:r>
              <a:rPr lang="en-US" altLang="zh-CN" dirty="0"/>
              <a:t>) </a:t>
            </a:r>
          </a:p>
          <a:p>
            <a:r>
              <a:rPr lang="en-US" altLang="zh-CN" dirty="0"/>
              <a:t>Tyrosine (</a:t>
            </a:r>
            <a:r>
              <a:rPr lang="en-US" altLang="zh-CN" dirty="0" err="1"/>
              <a:t>Tyr,Y</a:t>
            </a:r>
            <a:r>
              <a:rPr lang="en-US" altLang="zh-CN" dirty="0"/>
              <a:t>) 	</a:t>
            </a:r>
          </a:p>
          <a:p>
            <a:r>
              <a:rPr lang="en-US" altLang="zh-CN" dirty="0"/>
              <a:t>Tryptophan (</a:t>
            </a:r>
            <a:r>
              <a:rPr lang="en-US" altLang="zh-CN" dirty="0" err="1"/>
              <a:t>Trp</a:t>
            </a:r>
            <a:r>
              <a:rPr lang="en-US" altLang="zh-CN" dirty="0"/>
              <a:t>, W)</a:t>
            </a:r>
            <a:endParaRPr lang="zh-CN" altLang="en-US" dirty="0"/>
          </a:p>
        </p:txBody>
      </p:sp>
      <p:sp>
        <p:nvSpPr>
          <p:cNvPr id="4" name="Rectangle 2">
            <a:extLst>
              <a:ext uri="{FF2B5EF4-FFF2-40B4-BE49-F238E27FC236}">
                <a16:creationId xmlns:a16="http://schemas.microsoft.com/office/drawing/2014/main" id="{296FB423-98B2-4968-B8D7-A692A28614E8}"/>
              </a:ext>
            </a:extLst>
          </p:cNvPr>
          <p:cNvSpPr txBox="1">
            <a:spLocks noChangeArrowheads="1"/>
          </p:cNvSpPr>
          <p:nvPr/>
        </p:nvSpPr>
        <p:spPr>
          <a:xfrm>
            <a:off x="467544" y="3501008"/>
            <a:ext cx="3528392" cy="3168352"/>
          </a:xfrm>
          <a:prstGeom prst="rect">
            <a:avLst/>
          </a:prstGeom>
          <a:noFill/>
        </p:spPr>
        <p:txBody>
          <a:bodyPr/>
          <a:lstStyle>
            <a:defPPr>
              <a:defRPr lang="zh-CN"/>
            </a:defPPr>
            <a:lvl1pPr marL="0" indent="-342900" eaLnBrk="1" hangingPunct="1">
              <a:spcBef>
                <a:spcPts val="0"/>
              </a:spcBef>
              <a:buFont typeface="Arial" charset="0"/>
              <a:buChar char="•"/>
              <a:defRPr sz="2800">
                <a:latin typeface="+mn-lt"/>
                <a:ea typeface="+mn-ea"/>
              </a:defRPr>
            </a:lvl1pPr>
            <a:lvl2pPr marL="742950" indent="-285750" eaLnBrk="0" hangingPunct="0">
              <a:spcBef>
                <a:spcPct val="20000"/>
              </a:spcBef>
              <a:buFont typeface="Arial" charset="0"/>
              <a:buChar char="–"/>
              <a:defRPr sz="2800">
                <a:latin typeface="+mn-lt"/>
                <a:ea typeface="+mn-ea"/>
              </a:defRPr>
            </a:lvl2pPr>
            <a:lvl3pPr marL="1143000" indent="-228600" eaLnBrk="0" hangingPunct="0">
              <a:spcBef>
                <a:spcPct val="20000"/>
              </a:spcBef>
              <a:buFont typeface="Arial" charset="0"/>
              <a:buChar char="•"/>
              <a:defRPr sz="2400">
                <a:latin typeface="+mn-lt"/>
                <a:ea typeface="+mn-ea"/>
              </a:defRPr>
            </a:lvl3pPr>
            <a:lvl4pPr marL="1600200" indent="-228600" eaLnBrk="0" hangingPunct="0">
              <a:spcBef>
                <a:spcPct val="20000"/>
              </a:spcBef>
              <a:buFont typeface="Arial" charset="0"/>
              <a:buChar char="–"/>
              <a:defRPr sz="2000">
                <a:latin typeface="+mn-lt"/>
                <a:ea typeface="+mn-ea"/>
              </a:defRPr>
            </a:lvl4pPr>
            <a:lvl5pPr marL="2057400" indent="-228600" eaLnBrk="0" hangingPunct="0">
              <a:spcBef>
                <a:spcPct val="20000"/>
              </a:spcBef>
              <a:buFont typeface="Arial" charset="0"/>
              <a:buChar char="»"/>
              <a:defRPr sz="2000">
                <a:latin typeface="+mn-lt"/>
                <a:ea typeface="+mn-ea"/>
              </a:defRPr>
            </a:lvl5pPr>
            <a:lvl6pPr marL="2514600" indent="-228600">
              <a:spcBef>
                <a:spcPct val="20000"/>
              </a:spcBef>
              <a:buFont typeface="Arial" pitchFamily="34" charset="0"/>
              <a:buChar char="•"/>
              <a:defRPr sz="2000">
                <a:latin typeface="+mn-lt"/>
                <a:ea typeface="+mn-ea"/>
              </a:defRPr>
            </a:lvl6pPr>
            <a:lvl7pPr marL="2971800" indent="-228600">
              <a:spcBef>
                <a:spcPct val="20000"/>
              </a:spcBef>
              <a:buFont typeface="Arial" pitchFamily="34" charset="0"/>
              <a:buChar char="•"/>
              <a:defRPr sz="2000">
                <a:latin typeface="+mn-lt"/>
                <a:ea typeface="+mn-ea"/>
              </a:defRPr>
            </a:lvl7pPr>
            <a:lvl8pPr marL="3429000" indent="-228600">
              <a:spcBef>
                <a:spcPct val="20000"/>
              </a:spcBef>
              <a:buFont typeface="Arial" pitchFamily="34" charset="0"/>
              <a:buChar char="•"/>
              <a:defRPr sz="2000">
                <a:latin typeface="+mn-lt"/>
                <a:ea typeface="+mn-ea"/>
              </a:defRPr>
            </a:lvl8pPr>
            <a:lvl9pPr marL="3886200" indent="-228600">
              <a:spcBef>
                <a:spcPct val="20000"/>
              </a:spcBef>
              <a:buFont typeface="Arial" pitchFamily="34" charset="0"/>
              <a:buChar char="•"/>
              <a:defRPr sz="2000">
                <a:latin typeface="+mn-lt"/>
                <a:ea typeface="+mn-ea"/>
              </a:defRPr>
            </a:lvl9pPr>
          </a:lstStyle>
          <a:p>
            <a:r>
              <a:rPr lang="en-US" altLang="zh-CN" dirty="0"/>
              <a:t>Arginine (</a:t>
            </a:r>
            <a:r>
              <a:rPr lang="en-US" altLang="zh-CN" dirty="0" err="1"/>
              <a:t>Arg</a:t>
            </a:r>
            <a:r>
              <a:rPr lang="en-US" altLang="zh-CN" dirty="0"/>
              <a:t>, R)</a:t>
            </a:r>
            <a:endParaRPr lang="zh-CN" altLang="en-US" dirty="0"/>
          </a:p>
          <a:p>
            <a:r>
              <a:rPr lang="en-US" altLang="zh-CN" dirty="0"/>
              <a:t>Lysine (Lys, K)</a:t>
            </a:r>
            <a:endParaRPr lang="zh-CN" altLang="en-US" dirty="0"/>
          </a:p>
          <a:p>
            <a:r>
              <a:rPr lang="en-US" altLang="zh-CN" dirty="0"/>
              <a:t>Histidine (His, H)</a:t>
            </a:r>
            <a:endParaRPr lang="zh-CN" altLang="en-US" dirty="0"/>
          </a:p>
          <a:p>
            <a:r>
              <a:rPr lang="en-US" altLang="zh-CN" dirty="0"/>
              <a:t>Aspartate (Asp, D)</a:t>
            </a:r>
            <a:endParaRPr lang="zh-CN" altLang="en-US" dirty="0"/>
          </a:p>
          <a:p>
            <a:r>
              <a:rPr lang="en-US" altLang="zh-CN" dirty="0"/>
              <a:t>Glutamate (Glu, E)</a:t>
            </a:r>
            <a:endParaRPr lang="zh-CN" altLang="en-US" dirty="0"/>
          </a:p>
        </p:txBody>
      </p:sp>
      <p:sp>
        <p:nvSpPr>
          <p:cNvPr id="5" name="Rectangle 2">
            <a:extLst>
              <a:ext uri="{FF2B5EF4-FFF2-40B4-BE49-F238E27FC236}">
                <a16:creationId xmlns:a16="http://schemas.microsoft.com/office/drawing/2014/main" id="{0553C2F3-8816-49AE-A562-11613744D160}"/>
              </a:ext>
            </a:extLst>
          </p:cNvPr>
          <p:cNvSpPr txBox="1">
            <a:spLocks noChangeArrowheads="1"/>
          </p:cNvSpPr>
          <p:nvPr/>
        </p:nvSpPr>
        <p:spPr>
          <a:xfrm>
            <a:off x="4139952" y="363489"/>
            <a:ext cx="3266120" cy="3281536"/>
          </a:xfrm>
          <a:prstGeom prst="rect">
            <a:avLst/>
          </a:prstGeom>
          <a:noFill/>
        </p:spPr>
        <p:txBody>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eaLnBrk="1" hangingPunct="1">
              <a:spcBef>
                <a:spcPts val="0"/>
              </a:spcBef>
            </a:pPr>
            <a:r>
              <a:rPr lang="en-US" altLang="zh-CN" sz="2800" dirty="0"/>
              <a:t>Serine (Ser, S)</a:t>
            </a:r>
            <a:endParaRPr lang="zh-CN" altLang="en-US" sz="2800" dirty="0">
              <a:ea typeface="华文中宋" panose="02010600040101010101" pitchFamily="2" charset="-122"/>
            </a:endParaRPr>
          </a:p>
          <a:p>
            <a:pPr marL="0" eaLnBrk="1" hangingPunct="1">
              <a:spcBef>
                <a:spcPts val="0"/>
              </a:spcBef>
            </a:pPr>
            <a:r>
              <a:rPr lang="en-US" altLang="zh-CN" sz="2800" dirty="0"/>
              <a:t>Threonine (</a:t>
            </a:r>
            <a:r>
              <a:rPr lang="en-US" altLang="zh-CN" sz="2800" dirty="0" err="1"/>
              <a:t>Thr</a:t>
            </a:r>
            <a:r>
              <a:rPr lang="en-US" altLang="zh-CN" sz="2800" dirty="0"/>
              <a:t>, T)</a:t>
            </a:r>
          </a:p>
          <a:p>
            <a:pPr marL="0" eaLnBrk="1" hangingPunct="1">
              <a:spcBef>
                <a:spcPts val="0"/>
              </a:spcBef>
            </a:pPr>
            <a:r>
              <a:rPr lang="en-US" altLang="zh-CN" sz="2800" dirty="0">
                <a:ea typeface="华文中宋" panose="02010600040101010101" pitchFamily="2" charset="-122"/>
              </a:rPr>
              <a:t>Proline (Pro, P)</a:t>
            </a:r>
          </a:p>
          <a:p>
            <a:pPr marL="0" eaLnBrk="1" hangingPunct="1">
              <a:spcBef>
                <a:spcPts val="0"/>
              </a:spcBef>
            </a:pPr>
            <a:r>
              <a:rPr lang="en-US" altLang="zh-CN" sz="2800" dirty="0">
                <a:ea typeface="华文中宋" panose="02010600040101010101" pitchFamily="2" charset="-122"/>
              </a:rPr>
              <a:t>Cysteine (</a:t>
            </a:r>
            <a:r>
              <a:rPr lang="en-US" altLang="zh-CN" sz="2800" dirty="0" err="1">
                <a:ea typeface="华文中宋" panose="02010600040101010101" pitchFamily="2" charset="-122"/>
              </a:rPr>
              <a:t>Cys</a:t>
            </a:r>
            <a:r>
              <a:rPr lang="en-US" altLang="zh-CN" sz="2800" dirty="0">
                <a:ea typeface="华文中宋" panose="02010600040101010101" pitchFamily="2" charset="-122"/>
              </a:rPr>
              <a:t>, C)</a:t>
            </a:r>
            <a:endParaRPr lang="zh-CN" altLang="en-US" sz="2800" dirty="0">
              <a:ea typeface="华文中宋" panose="02010600040101010101" pitchFamily="2" charset="-122"/>
            </a:endParaRPr>
          </a:p>
          <a:p>
            <a:pPr marL="0" eaLnBrk="1" hangingPunct="1">
              <a:spcBef>
                <a:spcPts val="0"/>
              </a:spcBef>
            </a:pPr>
            <a:r>
              <a:rPr lang="en-US" altLang="zh-CN" sz="2800" dirty="0"/>
              <a:t>Asparagine (</a:t>
            </a:r>
            <a:r>
              <a:rPr lang="en-US" altLang="zh-CN" sz="2800" dirty="0" err="1"/>
              <a:t>Asn</a:t>
            </a:r>
            <a:r>
              <a:rPr lang="en-US" altLang="zh-CN" sz="2800" dirty="0"/>
              <a:t>, N)</a:t>
            </a:r>
            <a:endParaRPr lang="zh-CN" altLang="en-US" sz="2800" dirty="0">
              <a:ea typeface="华文中宋" panose="02010600040101010101" pitchFamily="2" charset="-122"/>
            </a:endParaRPr>
          </a:p>
          <a:p>
            <a:pPr marL="0" eaLnBrk="1" hangingPunct="1">
              <a:spcBef>
                <a:spcPts val="0"/>
              </a:spcBef>
            </a:pPr>
            <a:r>
              <a:rPr lang="en-US" altLang="zh-CN" sz="2800" dirty="0"/>
              <a:t>Glutamine (</a:t>
            </a:r>
            <a:r>
              <a:rPr lang="en-US" altLang="zh-CN" sz="2800" dirty="0" err="1"/>
              <a:t>Gln</a:t>
            </a:r>
            <a:r>
              <a:rPr lang="en-US" altLang="zh-CN" sz="2800" dirty="0"/>
              <a:t>, Q)</a:t>
            </a:r>
          </a:p>
          <a:p>
            <a:pPr marL="0" indent="0" eaLnBrk="1" hangingPunct="1">
              <a:spcBef>
                <a:spcPts val="0"/>
              </a:spcBef>
              <a:buNone/>
            </a:pPr>
            <a:endParaRPr lang="en-US" altLang="zh-CN" sz="2800" dirty="0">
              <a:ea typeface="华文中宋" panose="02010600040101010101" pitchFamily="2" charset="-122"/>
            </a:endParaRPr>
          </a:p>
          <a:p>
            <a:pPr marL="0" eaLnBrk="1" hangingPunct="1">
              <a:spcBef>
                <a:spcPts val="0"/>
              </a:spcBef>
            </a:pPr>
            <a:endParaRPr lang="zh-CN" altLang="en-US" sz="2800" dirty="0">
              <a:ea typeface="华文中宋" panose="02010600040101010101" pitchFamily="2" charset="-122"/>
            </a:endParaRPr>
          </a:p>
        </p:txBody>
      </p:sp>
    </p:spTree>
    <p:extLst>
      <p:ext uri="{BB962C8B-B14F-4D97-AF65-F5344CB8AC3E}">
        <p14:creationId xmlns:p14="http://schemas.microsoft.com/office/powerpoint/2010/main" val="377811061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3538" name="Picture 2">
            <a:extLst>
              <a:ext uri="{FF2B5EF4-FFF2-40B4-BE49-F238E27FC236}">
                <a16:creationId xmlns:a16="http://schemas.microsoft.com/office/drawing/2014/main" id="{A6347AEE-6E3C-476E-AFFF-CF59022BCB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04800"/>
            <a:ext cx="4724400" cy="4708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3539" name="Text Box 3">
            <a:extLst>
              <a:ext uri="{FF2B5EF4-FFF2-40B4-BE49-F238E27FC236}">
                <a16:creationId xmlns:a16="http://schemas.microsoft.com/office/drawing/2014/main" id="{4B9AD334-9296-4C66-932C-7C99CEA73247}"/>
              </a:ext>
            </a:extLst>
          </p:cNvPr>
          <p:cNvSpPr txBox="1">
            <a:spLocks noChangeArrowheads="1"/>
          </p:cNvSpPr>
          <p:nvPr/>
        </p:nvSpPr>
        <p:spPr bwMode="auto">
          <a:xfrm>
            <a:off x="1252221" y="-99392"/>
            <a:ext cx="7696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rPr>
              <a:t>Regulation of glycogen phosphorylase activity</a:t>
            </a:r>
          </a:p>
        </p:txBody>
      </p:sp>
      <p:sp>
        <p:nvSpPr>
          <p:cNvPr id="4" name="文本框 3">
            <a:extLst>
              <a:ext uri="{FF2B5EF4-FFF2-40B4-BE49-F238E27FC236}">
                <a16:creationId xmlns:a16="http://schemas.microsoft.com/office/drawing/2014/main" id="{098DBB20-33B5-D36F-00EE-D766DC61F49E}"/>
              </a:ext>
            </a:extLst>
          </p:cNvPr>
          <p:cNvSpPr txBox="1"/>
          <p:nvPr/>
        </p:nvSpPr>
        <p:spPr>
          <a:xfrm>
            <a:off x="195579" y="2732369"/>
            <a:ext cx="4572000" cy="646331"/>
          </a:xfrm>
          <a:prstGeom prst="rect">
            <a:avLst/>
          </a:prstGeom>
          <a:noFill/>
        </p:spPr>
        <p:txBody>
          <a:bodyPr wrap="square">
            <a:spAutoFit/>
          </a:bodyPr>
          <a:lstStyle/>
          <a:p>
            <a:r>
              <a:rPr lang="zh-CN" altLang="en-US" b="1" dirty="0"/>
              <a:t>磷酸化酶</a:t>
            </a:r>
            <a:r>
              <a:rPr lang="en-US" altLang="zh-CN" b="1" dirty="0"/>
              <a:t>/</a:t>
            </a:r>
            <a:r>
              <a:rPr lang="zh-CN" altLang="en-US" b="1" dirty="0"/>
              <a:t>磷酸解酶</a:t>
            </a:r>
            <a:endParaRPr lang="en-US" altLang="zh-CN" b="1" dirty="0"/>
          </a:p>
          <a:p>
            <a:r>
              <a:rPr lang="zh-CN" altLang="en-US" b="1" dirty="0"/>
              <a:t>磷酸酶</a:t>
            </a:r>
          </a:p>
        </p:txBody>
      </p:sp>
      <p:grpSp>
        <p:nvGrpSpPr>
          <p:cNvPr id="7" name="组合 6">
            <a:extLst>
              <a:ext uri="{FF2B5EF4-FFF2-40B4-BE49-F238E27FC236}">
                <a16:creationId xmlns:a16="http://schemas.microsoft.com/office/drawing/2014/main" id="{4136B3FE-011E-D535-97D6-227F4A3AA33B}"/>
              </a:ext>
            </a:extLst>
          </p:cNvPr>
          <p:cNvGrpSpPr/>
          <p:nvPr/>
        </p:nvGrpSpPr>
        <p:grpSpPr>
          <a:xfrm>
            <a:off x="1252221" y="5301208"/>
            <a:ext cx="6801483" cy="1135832"/>
            <a:chOff x="1252221" y="5417368"/>
            <a:chExt cx="6801483" cy="1135832"/>
          </a:xfrm>
        </p:grpSpPr>
        <p:pic>
          <p:nvPicPr>
            <p:cNvPr id="3" name="图片 2">
              <a:extLst>
                <a:ext uri="{FF2B5EF4-FFF2-40B4-BE49-F238E27FC236}">
                  <a16:creationId xmlns:a16="http://schemas.microsoft.com/office/drawing/2014/main" id="{DF47C956-2270-1C36-5FB4-70AE63B69FA3}"/>
                </a:ext>
              </a:extLst>
            </p:cNvPr>
            <p:cNvPicPr>
              <a:picLocks noChangeAspect="1"/>
            </p:cNvPicPr>
            <p:nvPr/>
          </p:nvPicPr>
          <p:blipFill>
            <a:blip r:embed="rId4"/>
            <a:stretch>
              <a:fillRect/>
            </a:stretch>
          </p:blipFill>
          <p:spPr>
            <a:xfrm>
              <a:off x="1481454" y="5737696"/>
              <a:ext cx="6572250" cy="815504"/>
            </a:xfrm>
            <a:prstGeom prst="rect">
              <a:avLst/>
            </a:prstGeom>
          </p:spPr>
        </p:pic>
        <p:sp>
          <p:nvSpPr>
            <p:cNvPr id="5" name="文本框 4">
              <a:extLst>
                <a:ext uri="{FF2B5EF4-FFF2-40B4-BE49-F238E27FC236}">
                  <a16:creationId xmlns:a16="http://schemas.microsoft.com/office/drawing/2014/main" id="{859E0D43-335B-EA86-2267-7B67C4747C77}"/>
                </a:ext>
              </a:extLst>
            </p:cNvPr>
            <p:cNvSpPr txBox="1"/>
            <p:nvPr/>
          </p:nvSpPr>
          <p:spPr>
            <a:xfrm>
              <a:off x="2886923" y="5506682"/>
              <a:ext cx="1455848" cy="307777"/>
            </a:xfrm>
            <a:prstGeom prst="rect">
              <a:avLst/>
            </a:prstGeom>
            <a:noFill/>
          </p:spPr>
          <p:txBody>
            <a:bodyPr wrap="none" rtlCol="0">
              <a:spAutoFit/>
            </a:bodyPr>
            <a:lstStyle/>
            <a:p>
              <a:r>
                <a:rPr lang="en-US" altLang="zh-CN" sz="1400" b="1" dirty="0">
                  <a:solidFill>
                    <a:srgbClr val="FF0000"/>
                  </a:solidFill>
                </a:rPr>
                <a:t>phosphorylase</a:t>
              </a:r>
              <a:endParaRPr lang="zh-CN" altLang="en-US" sz="1400" b="1" dirty="0">
                <a:solidFill>
                  <a:srgbClr val="FF0000"/>
                </a:solidFill>
              </a:endParaRPr>
            </a:p>
          </p:txBody>
        </p:sp>
        <p:sp>
          <p:nvSpPr>
            <p:cNvPr id="6" name="矩形: 圆角 5">
              <a:extLst>
                <a:ext uri="{FF2B5EF4-FFF2-40B4-BE49-F238E27FC236}">
                  <a16:creationId xmlns:a16="http://schemas.microsoft.com/office/drawing/2014/main" id="{B127DEC2-ECF7-4114-4747-2D9CA2FA339A}"/>
                </a:ext>
              </a:extLst>
            </p:cNvPr>
            <p:cNvSpPr/>
            <p:nvPr/>
          </p:nvSpPr>
          <p:spPr>
            <a:xfrm>
              <a:off x="1252221" y="5417368"/>
              <a:ext cx="6704155" cy="113583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62" name="Picture 2">
            <a:extLst>
              <a:ext uri="{FF2B5EF4-FFF2-40B4-BE49-F238E27FC236}">
                <a16:creationId xmlns:a16="http://schemas.microsoft.com/office/drawing/2014/main" id="{757617F1-7D39-449F-A1EC-0FB772E46E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400" y="1447800"/>
            <a:ext cx="7569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63" name="Text Box 3">
            <a:extLst>
              <a:ext uri="{FF2B5EF4-FFF2-40B4-BE49-F238E27FC236}">
                <a16:creationId xmlns:a16="http://schemas.microsoft.com/office/drawing/2014/main" id="{B1BA62F1-1E1F-4777-8854-20ABE7918D15}"/>
              </a:ext>
            </a:extLst>
          </p:cNvPr>
          <p:cNvSpPr txBox="1">
            <a:spLocks noChangeArrowheads="1"/>
          </p:cNvSpPr>
          <p:nvPr/>
        </p:nvSpPr>
        <p:spPr bwMode="auto">
          <a:xfrm>
            <a:off x="669925" y="117475"/>
            <a:ext cx="7940675"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200" b="1" dirty="0">
                <a:latin typeface="Times New Roman" panose="02020603050405020304" pitchFamily="18" charset="0"/>
              </a:rPr>
              <a:t>Glucose (red), AMP (dark blue, allosteric activator), pyridoxal phosphate (PLP, B6 derivative, light blue), and ser14 (yellow)</a:t>
            </a:r>
            <a:endParaRPr kumimoji="1" lang="en-US" altLang="zh-CN" sz="2400" dirty="0">
              <a:latin typeface="Times New Roman" panose="02020603050405020304" pitchFamily="18" charset="0"/>
            </a:endParaRPr>
          </a:p>
        </p:txBody>
      </p:sp>
      <p:sp>
        <p:nvSpPr>
          <p:cNvPr id="194564" name="Text Box 4">
            <a:extLst>
              <a:ext uri="{FF2B5EF4-FFF2-40B4-BE49-F238E27FC236}">
                <a16:creationId xmlns:a16="http://schemas.microsoft.com/office/drawing/2014/main" id="{4113C7E8-A567-462C-BD80-86A2531879FD}"/>
              </a:ext>
            </a:extLst>
          </p:cNvPr>
          <p:cNvSpPr txBox="1">
            <a:spLocks noChangeArrowheads="1"/>
          </p:cNvSpPr>
          <p:nvPr/>
        </p:nvSpPr>
        <p:spPr bwMode="auto">
          <a:xfrm>
            <a:off x="0" y="6019800"/>
            <a:ext cx="44180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200" b="1" dirty="0">
                <a:latin typeface="Times New Roman" panose="02020603050405020304" pitchFamily="18" charset="0"/>
              </a:rPr>
              <a:t>Glycogen phosphorylase</a:t>
            </a:r>
            <a:endParaRPr kumimoji="1" lang="en-US" altLang="zh-CN" sz="2400" dirty="0">
              <a:latin typeface="Times New Roman" panose="02020603050405020304" pitchFamily="18" charset="0"/>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6610" name="Picture 2">
            <a:extLst>
              <a:ext uri="{FF2B5EF4-FFF2-40B4-BE49-F238E27FC236}">
                <a16:creationId xmlns:a16="http://schemas.microsoft.com/office/drawing/2014/main" id="{2B212B2F-BA22-47B9-8992-64CF91BD28C0}"/>
              </a:ext>
            </a:extLst>
          </p:cNvPr>
          <p:cNvPicPr>
            <a:picLocks noChangeAspect="1" noChangeArrowheads="1"/>
          </p:cNvPicPr>
          <p:nvPr/>
        </p:nvPicPr>
        <p:blipFill>
          <a:blip r:embed="rId3">
            <a:lum bright="-36000" contrast="54000"/>
            <a:extLst>
              <a:ext uri="{28A0092B-C50C-407E-A947-70E740481C1C}">
                <a14:useLocalDpi xmlns:a14="http://schemas.microsoft.com/office/drawing/2010/main" val="0"/>
              </a:ext>
            </a:extLst>
          </a:blip>
          <a:srcRect/>
          <a:stretch>
            <a:fillRect/>
          </a:stretch>
        </p:blipFill>
        <p:spPr bwMode="auto">
          <a:xfrm>
            <a:off x="1600200" y="285750"/>
            <a:ext cx="5943600"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7634" name="Picture 2" descr="49033-15-18 copy">
            <a:extLst>
              <a:ext uri="{FF2B5EF4-FFF2-40B4-BE49-F238E27FC236}">
                <a16:creationId xmlns:a16="http://schemas.microsoft.com/office/drawing/2014/main" id="{9A800A9E-158A-4329-A817-5DA2C61F6438}"/>
              </a:ext>
            </a:extLst>
          </p:cNvPr>
          <p:cNvPicPr>
            <a:picLocks noChangeAspect="1" noChangeArrowheads="1"/>
          </p:cNvPicPr>
          <p:nvPr/>
        </p:nvPicPr>
        <p:blipFill>
          <a:blip r:embed="rId3">
            <a:lum bright="-42000" contrast="60000"/>
            <a:extLst>
              <a:ext uri="{28A0092B-C50C-407E-A947-70E740481C1C}">
                <a14:useLocalDpi xmlns:a14="http://schemas.microsoft.com/office/drawing/2010/main" val="0"/>
              </a:ext>
            </a:extLst>
          </a:blip>
          <a:srcRect/>
          <a:stretch>
            <a:fillRect/>
          </a:stretch>
        </p:blipFill>
        <p:spPr bwMode="auto">
          <a:xfrm>
            <a:off x="323850" y="476250"/>
            <a:ext cx="8532813" cy="413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E3DF1BB3-7D97-4CB6-A1E5-BAF0534F203F}"/>
              </a:ext>
            </a:extLst>
          </p:cNvPr>
          <p:cNvSpPr/>
          <p:nvPr/>
        </p:nvSpPr>
        <p:spPr>
          <a:xfrm>
            <a:off x="1043608" y="5157192"/>
            <a:ext cx="5109091" cy="461665"/>
          </a:xfrm>
          <a:prstGeom prst="rect">
            <a:avLst/>
          </a:prstGeom>
        </p:spPr>
        <p:txBody>
          <a:bodyPr wrap="none">
            <a:spAutoFit/>
          </a:bodyPr>
          <a:lstStyle/>
          <a:p>
            <a:r>
              <a:rPr lang="zh-CN" altLang="en-US" sz="2400" dirty="0"/>
              <a:t>级联放大反应，应用于信号转到途径</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586" name="Picture 2">
            <a:extLst>
              <a:ext uri="{FF2B5EF4-FFF2-40B4-BE49-F238E27FC236}">
                <a16:creationId xmlns:a16="http://schemas.microsoft.com/office/drawing/2014/main" id="{418F487D-759B-49B7-9495-F6F4AA304F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400" y="254000"/>
            <a:ext cx="85852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587" name="Text Box 3">
            <a:extLst>
              <a:ext uri="{FF2B5EF4-FFF2-40B4-BE49-F238E27FC236}">
                <a16:creationId xmlns:a16="http://schemas.microsoft.com/office/drawing/2014/main" id="{63C3F8FB-55BF-4DA2-8E6A-FA49D48680C8}"/>
              </a:ext>
            </a:extLst>
          </p:cNvPr>
          <p:cNvSpPr txBox="1">
            <a:spLocks noChangeArrowheads="1"/>
          </p:cNvSpPr>
          <p:nvPr/>
        </p:nvSpPr>
        <p:spPr bwMode="auto">
          <a:xfrm>
            <a:off x="457200" y="16002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latin typeface="Times New Roman" panose="02020603050405020304" pitchFamily="18" charset="0"/>
              </a:rPr>
              <a:t>磷酸化</a:t>
            </a:r>
          </a:p>
        </p:txBody>
      </p:sp>
      <p:sp>
        <p:nvSpPr>
          <p:cNvPr id="195588" name="Text Box 4">
            <a:extLst>
              <a:ext uri="{FF2B5EF4-FFF2-40B4-BE49-F238E27FC236}">
                <a16:creationId xmlns:a16="http://schemas.microsoft.com/office/drawing/2014/main" id="{A7244CD5-763F-4D31-ADEC-421D8E0989E7}"/>
              </a:ext>
            </a:extLst>
          </p:cNvPr>
          <p:cNvSpPr txBox="1">
            <a:spLocks noChangeArrowheads="1"/>
          </p:cNvSpPr>
          <p:nvPr/>
        </p:nvSpPr>
        <p:spPr bwMode="auto">
          <a:xfrm>
            <a:off x="533400" y="25908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latin typeface="Times New Roman" panose="02020603050405020304" pitchFamily="18" charset="0"/>
              </a:rPr>
              <a:t>腺苷酰化</a:t>
            </a:r>
          </a:p>
        </p:txBody>
      </p:sp>
      <p:sp>
        <p:nvSpPr>
          <p:cNvPr id="195589" name="Text Box 5">
            <a:extLst>
              <a:ext uri="{FF2B5EF4-FFF2-40B4-BE49-F238E27FC236}">
                <a16:creationId xmlns:a16="http://schemas.microsoft.com/office/drawing/2014/main" id="{9BC5A497-9054-4D93-AACE-D4628069A547}"/>
              </a:ext>
            </a:extLst>
          </p:cNvPr>
          <p:cNvSpPr txBox="1">
            <a:spLocks noChangeArrowheads="1"/>
          </p:cNvSpPr>
          <p:nvPr/>
        </p:nvSpPr>
        <p:spPr bwMode="auto">
          <a:xfrm>
            <a:off x="533400" y="38862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latin typeface="Times New Roman" panose="02020603050405020304" pitchFamily="18" charset="0"/>
              </a:rPr>
              <a:t>尿苷酰化</a:t>
            </a:r>
          </a:p>
        </p:txBody>
      </p:sp>
      <p:sp>
        <p:nvSpPr>
          <p:cNvPr id="195590" name="Text Box 6">
            <a:extLst>
              <a:ext uri="{FF2B5EF4-FFF2-40B4-BE49-F238E27FC236}">
                <a16:creationId xmlns:a16="http://schemas.microsoft.com/office/drawing/2014/main" id="{52A7F1C2-C4FA-4BF3-A348-AF13B99C655C}"/>
              </a:ext>
            </a:extLst>
          </p:cNvPr>
          <p:cNvSpPr txBox="1">
            <a:spLocks noChangeArrowheads="1"/>
          </p:cNvSpPr>
          <p:nvPr/>
        </p:nvSpPr>
        <p:spPr bwMode="auto">
          <a:xfrm>
            <a:off x="533400" y="5257800"/>
            <a:ext cx="144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latin typeface="Times New Roman" panose="02020603050405020304" pitchFamily="18" charset="0"/>
              </a:rPr>
              <a:t>糖基化</a:t>
            </a:r>
          </a:p>
        </p:txBody>
      </p:sp>
      <p:sp>
        <p:nvSpPr>
          <p:cNvPr id="195591" name="Text Box 7">
            <a:extLst>
              <a:ext uri="{FF2B5EF4-FFF2-40B4-BE49-F238E27FC236}">
                <a16:creationId xmlns:a16="http://schemas.microsoft.com/office/drawing/2014/main" id="{2308E239-EB54-4755-B90F-0A0C9A1DFA36}"/>
              </a:ext>
            </a:extLst>
          </p:cNvPr>
          <p:cNvSpPr txBox="1">
            <a:spLocks noChangeArrowheads="1"/>
          </p:cNvSpPr>
          <p:nvPr/>
        </p:nvSpPr>
        <p:spPr bwMode="auto">
          <a:xfrm>
            <a:off x="457200" y="6172200"/>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latin typeface="Times New Roman" panose="02020603050405020304" pitchFamily="18" charset="0"/>
              </a:rPr>
              <a:t>甲基化</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Text Box 2">
            <a:extLst>
              <a:ext uri="{FF2B5EF4-FFF2-40B4-BE49-F238E27FC236}">
                <a16:creationId xmlns:a16="http://schemas.microsoft.com/office/drawing/2014/main" id="{8D4A932D-E1C3-4C6C-839B-25A20D0999C8}"/>
              </a:ext>
            </a:extLst>
          </p:cNvPr>
          <p:cNvSpPr txBox="1">
            <a:spLocks noChangeArrowheads="1"/>
          </p:cNvSpPr>
          <p:nvPr/>
        </p:nvSpPr>
        <p:spPr bwMode="auto">
          <a:xfrm>
            <a:off x="228600" y="304800"/>
            <a:ext cx="8763000" cy="595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30000"/>
              </a:spcBef>
            </a:pPr>
            <a:r>
              <a:rPr kumimoji="1" lang="en-US" altLang="zh-CN" sz="3200" b="1" dirty="0">
                <a:latin typeface="Times New Roman" panose="02020603050405020304" pitchFamily="18" charset="0"/>
              </a:rPr>
              <a:t>4. Many enzymes are activated by specific </a:t>
            </a:r>
            <a:r>
              <a:rPr kumimoji="1" lang="en-US" altLang="zh-CN" sz="3200" b="1" dirty="0">
                <a:solidFill>
                  <a:srgbClr val="FF0000"/>
                </a:solidFill>
                <a:latin typeface="Times New Roman" panose="02020603050405020304" pitchFamily="18" charset="0"/>
              </a:rPr>
              <a:t>proteolytic cleavage </a:t>
            </a:r>
            <a:r>
              <a:rPr kumimoji="1" lang="zh-CN" altLang="en-US" sz="3200" b="1" dirty="0">
                <a:solidFill>
                  <a:srgbClr val="FF0000"/>
                </a:solidFill>
                <a:latin typeface="Times New Roman" panose="02020603050405020304" pitchFamily="18" charset="0"/>
              </a:rPr>
              <a:t>（</a:t>
            </a:r>
            <a:r>
              <a:rPr kumimoji="1" lang="en-US" altLang="zh-CN" sz="3200" b="1" dirty="0">
                <a:solidFill>
                  <a:srgbClr val="FF0000"/>
                </a:solidFill>
                <a:latin typeface="Times New Roman" panose="02020603050405020304" pitchFamily="18" charset="0"/>
              </a:rPr>
              <a:t> Proteolytic activation </a:t>
            </a:r>
            <a:r>
              <a:rPr kumimoji="1" lang="zh-CN" altLang="en-US" sz="3200" b="1" dirty="0">
                <a:solidFill>
                  <a:srgbClr val="FF0000"/>
                </a:solidFill>
                <a:latin typeface="Times New Roman" panose="02020603050405020304" pitchFamily="18" charset="0"/>
              </a:rPr>
              <a:t>）</a:t>
            </a:r>
            <a:r>
              <a:rPr kumimoji="1" lang="en-US" altLang="zh-CN" sz="3200" b="1" dirty="0">
                <a:solidFill>
                  <a:srgbClr val="FF0000"/>
                </a:solidFill>
                <a:latin typeface="Times New Roman" panose="02020603050405020304" pitchFamily="18" charset="0"/>
              </a:rPr>
              <a:t>.</a:t>
            </a:r>
          </a:p>
          <a:p>
            <a:pPr eaLnBrk="1" hangingPunct="1">
              <a:spcBef>
                <a:spcPct val="30000"/>
              </a:spcBef>
            </a:pPr>
            <a:r>
              <a:rPr kumimoji="1" lang="en-US" altLang="zh-CN" sz="3200" b="1" dirty="0">
                <a:latin typeface="Times New Roman" panose="02020603050405020304" pitchFamily="18" charset="0"/>
              </a:rPr>
              <a:t>	4.1 These enzymes are synthesized as inactive precursors called </a:t>
            </a:r>
            <a:r>
              <a:rPr kumimoji="1" lang="en-US" altLang="zh-CN" sz="3200" b="1" dirty="0">
                <a:solidFill>
                  <a:srgbClr val="FF0000"/>
                </a:solidFill>
                <a:latin typeface="Times New Roman" panose="02020603050405020304" pitchFamily="18" charset="0"/>
              </a:rPr>
              <a:t>zymogens</a:t>
            </a:r>
            <a:r>
              <a:rPr kumimoji="1" lang="en-US" altLang="zh-CN" sz="3200" b="1" dirty="0">
                <a:latin typeface="Times New Roman" panose="02020603050405020304" pitchFamily="18" charset="0"/>
              </a:rPr>
              <a:t> or </a:t>
            </a:r>
            <a:r>
              <a:rPr kumimoji="1" lang="en-US" altLang="zh-CN" sz="3200" b="1" dirty="0">
                <a:solidFill>
                  <a:srgbClr val="FF0000"/>
                </a:solidFill>
                <a:latin typeface="Times New Roman" panose="02020603050405020304" pitchFamily="18" charset="0"/>
              </a:rPr>
              <a:t>proenzyme</a:t>
            </a:r>
            <a:r>
              <a:rPr kumimoji="1" lang="en-US" altLang="zh-CN" sz="3200" b="1" dirty="0">
                <a:solidFill>
                  <a:schemeClr val="accent2"/>
                </a:solidFill>
                <a:latin typeface="Times New Roman" panose="02020603050405020304" pitchFamily="18" charset="0"/>
              </a:rPr>
              <a:t>.</a:t>
            </a:r>
          </a:p>
          <a:p>
            <a:pPr eaLnBrk="1" hangingPunct="1">
              <a:spcBef>
                <a:spcPct val="30000"/>
              </a:spcBef>
            </a:pPr>
            <a:r>
              <a:rPr kumimoji="1" lang="en-US" altLang="zh-CN" sz="3200" b="1" dirty="0">
                <a:latin typeface="Times New Roman" panose="02020603050405020304" pitchFamily="18" charset="0"/>
              </a:rPr>
              <a:t>	4.2 They are activated by cleavage of one or several specific peptide bonds.</a:t>
            </a:r>
          </a:p>
          <a:p>
            <a:pPr eaLnBrk="1" hangingPunct="1">
              <a:spcBef>
                <a:spcPct val="30000"/>
              </a:spcBef>
            </a:pPr>
            <a:r>
              <a:rPr kumimoji="1" lang="en-US" altLang="zh-CN" sz="3200" b="1" dirty="0">
                <a:latin typeface="Times New Roman" panose="02020603050405020304" pitchFamily="18" charset="0"/>
              </a:rPr>
              <a:t>	4.3 </a:t>
            </a:r>
            <a:r>
              <a:rPr kumimoji="1" lang="en-US" altLang="zh-CN" sz="3200" b="1" dirty="0">
                <a:solidFill>
                  <a:srgbClr val="FF0000"/>
                </a:solidFill>
                <a:latin typeface="Times New Roman" panose="02020603050405020304" pitchFamily="18" charset="0"/>
              </a:rPr>
              <a:t>Proteolytic activation</a:t>
            </a:r>
            <a:r>
              <a:rPr kumimoji="1" lang="en-US" altLang="zh-CN" sz="3200" b="1" dirty="0">
                <a:latin typeface="Times New Roman" panose="02020603050405020304" pitchFamily="18" charset="0"/>
              </a:rPr>
              <a:t>, in contrast with allosteric control and reversible covalent modification, can </a:t>
            </a:r>
            <a:r>
              <a:rPr kumimoji="1" lang="en-US" altLang="zh-CN" sz="3200" b="1" dirty="0">
                <a:solidFill>
                  <a:srgbClr val="FF0000"/>
                </a:solidFill>
                <a:latin typeface="Times New Roman" panose="02020603050405020304" pitchFamily="18" charset="0"/>
              </a:rPr>
              <a:t>occur just once in the life of the enzyme molecule</a:t>
            </a:r>
            <a:r>
              <a:rPr kumimoji="1" lang="en-US" altLang="zh-CN" sz="3200" b="1" dirty="0">
                <a:latin typeface="Times New Roman" panose="02020603050405020304" pitchFamily="18" charset="0"/>
              </a:rPr>
              <a:t>.</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Text Box 2">
            <a:extLst>
              <a:ext uri="{FF2B5EF4-FFF2-40B4-BE49-F238E27FC236}">
                <a16:creationId xmlns:a16="http://schemas.microsoft.com/office/drawing/2014/main" id="{0F2E029B-1F07-4F85-9E91-FAEF75ABAA40}"/>
              </a:ext>
            </a:extLst>
          </p:cNvPr>
          <p:cNvSpPr txBox="1">
            <a:spLocks noChangeArrowheads="1"/>
          </p:cNvSpPr>
          <p:nvPr/>
        </p:nvSpPr>
        <p:spPr bwMode="auto">
          <a:xfrm>
            <a:off x="228600" y="260648"/>
            <a:ext cx="86868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15000"/>
              </a:spcBef>
            </a:pPr>
            <a:r>
              <a:rPr kumimoji="1" lang="en-US" altLang="zh-CN" sz="2400" dirty="0">
                <a:latin typeface="Times New Roman" panose="02020603050405020304" pitchFamily="18" charset="0"/>
              </a:rPr>
              <a:t>	</a:t>
            </a:r>
            <a:r>
              <a:rPr kumimoji="1" lang="en-US" altLang="zh-CN" sz="3200" b="1" dirty="0">
                <a:latin typeface="Times New Roman" panose="02020603050405020304" pitchFamily="18" charset="0"/>
              </a:rPr>
              <a:t>4.4 The </a:t>
            </a:r>
            <a:r>
              <a:rPr kumimoji="1" lang="en-US" altLang="zh-CN" sz="3200" b="1" dirty="0">
                <a:solidFill>
                  <a:srgbClr val="FF0000"/>
                </a:solidFill>
                <a:latin typeface="Times New Roman" panose="02020603050405020304" pitchFamily="18" charset="0"/>
              </a:rPr>
              <a:t>digestive enzymes </a:t>
            </a:r>
            <a:r>
              <a:rPr kumimoji="1" lang="en-US" altLang="zh-CN" sz="3200" b="1" dirty="0">
                <a:latin typeface="Times New Roman" panose="02020603050405020304" pitchFamily="18" charset="0"/>
              </a:rPr>
              <a:t>that hydrolyze proteins are synthesized as zymogens in the </a:t>
            </a:r>
            <a:r>
              <a:rPr kumimoji="1" lang="en-US" altLang="zh-CN" sz="3200" b="1" dirty="0">
                <a:solidFill>
                  <a:srgbClr val="FF0000"/>
                </a:solidFill>
                <a:latin typeface="Times New Roman" panose="02020603050405020304" pitchFamily="18" charset="0"/>
              </a:rPr>
              <a:t>stomach</a:t>
            </a:r>
            <a:r>
              <a:rPr kumimoji="1" lang="en-US" altLang="zh-CN" sz="3200" b="1" dirty="0">
                <a:latin typeface="Times New Roman" panose="02020603050405020304" pitchFamily="18" charset="0"/>
              </a:rPr>
              <a:t> and </a:t>
            </a:r>
            <a:r>
              <a:rPr kumimoji="1" lang="en-US" altLang="zh-CN" sz="3200" b="1" dirty="0">
                <a:solidFill>
                  <a:srgbClr val="FF0000"/>
                </a:solidFill>
                <a:latin typeface="Times New Roman" panose="02020603050405020304" pitchFamily="18" charset="0"/>
              </a:rPr>
              <a:t>pancreas</a:t>
            </a:r>
            <a:r>
              <a:rPr kumimoji="1" lang="en-US" altLang="zh-CN" sz="3200" b="1" dirty="0">
                <a:latin typeface="Times New Roman" panose="02020603050405020304" pitchFamily="18" charset="0"/>
              </a:rPr>
              <a:t>.	</a:t>
            </a:r>
            <a:endParaRPr kumimoji="1" lang="en-US" altLang="zh-CN" sz="2400" dirty="0">
              <a:latin typeface="Times New Roman" panose="02020603050405020304" pitchFamily="18" charset="0"/>
            </a:endParaRPr>
          </a:p>
        </p:txBody>
      </p:sp>
      <p:pic>
        <p:nvPicPr>
          <p:cNvPr id="2" name="图片 1">
            <a:extLst>
              <a:ext uri="{FF2B5EF4-FFF2-40B4-BE49-F238E27FC236}">
                <a16:creationId xmlns:a16="http://schemas.microsoft.com/office/drawing/2014/main" id="{69C0558C-F6C8-4473-923B-0D12F9DC4FB3}"/>
              </a:ext>
            </a:extLst>
          </p:cNvPr>
          <p:cNvPicPr>
            <a:picLocks noChangeAspect="1"/>
          </p:cNvPicPr>
          <p:nvPr/>
        </p:nvPicPr>
        <p:blipFill>
          <a:blip r:embed="rId3"/>
          <a:stretch>
            <a:fillRect/>
          </a:stretch>
        </p:blipFill>
        <p:spPr>
          <a:xfrm>
            <a:off x="1331640" y="1844823"/>
            <a:ext cx="7251875" cy="4300179"/>
          </a:xfrm>
          <a:prstGeom prst="rect">
            <a:avLst/>
          </a:prstGeom>
        </p:spPr>
      </p:pic>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1730" name="Picture 2" descr="p472">
            <a:extLst>
              <a:ext uri="{FF2B5EF4-FFF2-40B4-BE49-F238E27FC236}">
                <a16:creationId xmlns:a16="http://schemas.microsoft.com/office/drawing/2014/main" id="{E9DA2A07-18E6-4950-94BE-04F9BEFD54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3938" y="571500"/>
            <a:ext cx="7096125"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8005708"/>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2754" name="Picture 2">
            <a:extLst>
              <a:ext uri="{FF2B5EF4-FFF2-40B4-BE49-F238E27FC236}">
                <a16:creationId xmlns:a16="http://schemas.microsoft.com/office/drawing/2014/main" id="{C1A38E1B-B019-4523-8831-9919AC7F2C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571500"/>
            <a:ext cx="7620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8866554"/>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B4699B22-51C8-4E55-A1BD-6FE7AC7A47A6}"/>
              </a:ext>
            </a:extLst>
          </p:cNvPr>
          <p:cNvSpPr>
            <a:spLocks noGrp="1" noRot="1" noChangeArrowheads="1"/>
          </p:cNvSpPr>
          <p:nvPr>
            <p:ph type="title"/>
          </p:nvPr>
        </p:nvSpPr>
        <p:spPr/>
        <p:txBody>
          <a:bodyPr/>
          <a:lstStyle/>
          <a:p>
            <a:pPr eaLnBrk="1" hangingPunct="1"/>
            <a:endParaRPr lang="zh-CN" altLang="zh-CN"/>
          </a:p>
        </p:txBody>
      </p:sp>
      <p:sp>
        <p:nvSpPr>
          <p:cNvPr id="203779" name="Rectangle 3">
            <a:extLst>
              <a:ext uri="{FF2B5EF4-FFF2-40B4-BE49-F238E27FC236}">
                <a16:creationId xmlns:a16="http://schemas.microsoft.com/office/drawing/2014/main" id="{E627200C-9278-4CE9-ABC7-56ECACD6F135}"/>
              </a:ext>
            </a:extLst>
          </p:cNvPr>
          <p:cNvSpPr>
            <a:spLocks noGrp="1" noRot="1" noChangeArrowheads="1"/>
          </p:cNvSpPr>
          <p:nvPr>
            <p:ph type="body" idx="1"/>
          </p:nvPr>
        </p:nvSpPr>
        <p:spPr/>
        <p:txBody>
          <a:bodyPr/>
          <a:lstStyle/>
          <a:p>
            <a:pPr eaLnBrk="1" hangingPunct="1"/>
            <a:endParaRPr lang="zh-CN" altLang="zh-CN"/>
          </a:p>
        </p:txBody>
      </p:sp>
      <p:pic>
        <p:nvPicPr>
          <p:cNvPr id="203780" name="Picture 4">
            <a:extLst>
              <a:ext uri="{FF2B5EF4-FFF2-40B4-BE49-F238E27FC236}">
                <a16:creationId xmlns:a16="http://schemas.microsoft.com/office/drawing/2014/main" id="{23EF377F-FA5D-4F4B-9629-EC55D4EDF0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571500"/>
            <a:ext cx="7620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1492327"/>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02" name="Picture 2">
            <a:extLst>
              <a:ext uri="{FF2B5EF4-FFF2-40B4-BE49-F238E27FC236}">
                <a16:creationId xmlns:a16="http://schemas.microsoft.com/office/drawing/2014/main" id="{FD625D4B-0AF7-472F-B4B5-5323CD484B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571500"/>
            <a:ext cx="7620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5527077"/>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826" name="Picture 2" descr="49033-14-20 copy">
            <a:extLst>
              <a:ext uri="{FF2B5EF4-FFF2-40B4-BE49-F238E27FC236}">
                <a16:creationId xmlns:a16="http://schemas.microsoft.com/office/drawing/2014/main" id="{88E78CF5-C88E-4FE9-B7FE-8FA6623CBE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957263"/>
            <a:ext cx="7620000" cy="494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236031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8ED0C9E-B9FF-4C92-8A92-8E035756647A}"/>
              </a:ext>
            </a:extLst>
          </p:cNvPr>
          <p:cNvPicPr>
            <a:picLocks noChangeAspect="1"/>
          </p:cNvPicPr>
          <p:nvPr/>
        </p:nvPicPr>
        <p:blipFill rotWithShape="1">
          <a:blip r:embed="rId3"/>
          <a:srcRect l="25588" t="15467" r="33463" b="22001"/>
          <a:stretch/>
        </p:blipFill>
        <p:spPr>
          <a:xfrm>
            <a:off x="827584" y="332656"/>
            <a:ext cx="5616624" cy="4824536"/>
          </a:xfrm>
          <a:prstGeom prst="rect">
            <a:avLst/>
          </a:prstGeom>
        </p:spPr>
      </p:pic>
      <p:cxnSp>
        <p:nvCxnSpPr>
          <p:cNvPr id="4" name="直接连接符 3">
            <a:extLst>
              <a:ext uri="{FF2B5EF4-FFF2-40B4-BE49-F238E27FC236}">
                <a16:creationId xmlns:a16="http://schemas.microsoft.com/office/drawing/2014/main" id="{758FD77C-B4CA-4F17-BB08-CD9468F948CC}"/>
              </a:ext>
            </a:extLst>
          </p:cNvPr>
          <p:cNvCxnSpPr>
            <a:cxnSpLocks/>
          </p:cNvCxnSpPr>
          <p:nvPr/>
        </p:nvCxnSpPr>
        <p:spPr>
          <a:xfrm>
            <a:off x="827584" y="908720"/>
            <a:ext cx="36004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8D125239-A211-4044-9A3E-6E35349B55B9}"/>
              </a:ext>
            </a:extLst>
          </p:cNvPr>
          <p:cNvCxnSpPr>
            <a:cxnSpLocks/>
          </p:cNvCxnSpPr>
          <p:nvPr/>
        </p:nvCxnSpPr>
        <p:spPr>
          <a:xfrm>
            <a:off x="827584" y="5013176"/>
            <a:ext cx="36004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16B63CA5-F210-4FA0-A107-A8E6242D1DEF}"/>
              </a:ext>
            </a:extLst>
          </p:cNvPr>
          <p:cNvSpPr/>
          <p:nvPr/>
        </p:nvSpPr>
        <p:spPr>
          <a:xfrm>
            <a:off x="827584" y="5229200"/>
            <a:ext cx="8055768" cy="830997"/>
          </a:xfrm>
          <a:prstGeom prst="rect">
            <a:avLst/>
          </a:prstGeom>
        </p:spPr>
        <p:txBody>
          <a:bodyPr wrap="square">
            <a:spAutoFit/>
          </a:bodyPr>
          <a:lstStyle/>
          <a:p>
            <a:r>
              <a:rPr lang="en-US" altLang="zh-CN" sz="1600" b="1" dirty="0">
                <a:solidFill>
                  <a:srgbClr val="222222"/>
                </a:solidFill>
                <a:latin typeface="Arial" panose="020B0604020202020204" pitchFamily="34" charset="0"/>
              </a:rPr>
              <a:t>Elastase(</a:t>
            </a:r>
            <a:r>
              <a:rPr lang="zh-CN" altLang="en-US" sz="1600" b="1" dirty="0">
                <a:solidFill>
                  <a:srgbClr val="222222"/>
                </a:solidFill>
                <a:latin typeface="Arial" panose="020B0604020202020204" pitchFamily="34" charset="0"/>
              </a:rPr>
              <a:t>胰肽酶</a:t>
            </a:r>
            <a:r>
              <a:rPr lang="en-US" altLang="zh-CN" sz="1600" b="1" dirty="0">
                <a:solidFill>
                  <a:srgbClr val="222222"/>
                </a:solidFill>
                <a:latin typeface="Arial" panose="020B0604020202020204" pitchFamily="34" charset="0"/>
              </a:rPr>
              <a:t>,</a:t>
            </a:r>
            <a:r>
              <a:rPr lang="zh-CN" altLang="en-US" sz="1600" b="1" dirty="0">
                <a:solidFill>
                  <a:srgbClr val="222222"/>
                </a:solidFill>
                <a:latin typeface="Arial" panose="020B0604020202020204" pitchFamily="34" charset="0"/>
              </a:rPr>
              <a:t>丝氨酸蛋白酶类</a:t>
            </a:r>
            <a:r>
              <a:rPr lang="en-US" altLang="zh-CN" sz="1600" b="1" dirty="0">
                <a:solidFill>
                  <a:srgbClr val="222222"/>
                </a:solidFill>
                <a:latin typeface="Arial" panose="020B0604020202020204" pitchFamily="34" charset="0"/>
              </a:rPr>
              <a:t>)</a:t>
            </a:r>
            <a:r>
              <a:rPr lang="en-US" altLang="zh-CN" sz="1600" dirty="0">
                <a:solidFill>
                  <a:srgbClr val="222222"/>
                </a:solidFill>
                <a:latin typeface="Arial" panose="020B0604020202020204" pitchFamily="34" charset="0"/>
              </a:rPr>
              <a:t>: The specific peptide bonds cleaved are those on the carboxyl side of small, hydrophobic amino acids such as </a:t>
            </a:r>
            <a:r>
              <a:rPr lang="en-US" altLang="zh-CN" sz="1600" dirty="0">
                <a:solidFill>
                  <a:srgbClr val="0B0080"/>
                </a:solidFill>
                <a:latin typeface="Arial" panose="020B0604020202020204" pitchFamily="34" charset="0"/>
                <a:hlinkClick r:id="rId4" tooltip="Glycine"/>
              </a:rPr>
              <a:t>glycine</a:t>
            </a:r>
            <a:r>
              <a:rPr lang="en-US" altLang="zh-CN" sz="1600" dirty="0">
                <a:solidFill>
                  <a:srgbClr val="222222"/>
                </a:solidFill>
                <a:latin typeface="Arial" panose="020B0604020202020204" pitchFamily="34" charset="0"/>
              </a:rPr>
              <a:t>, </a:t>
            </a:r>
            <a:r>
              <a:rPr lang="en-US" altLang="zh-CN" sz="1600" dirty="0">
                <a:solidFill>
                  <a:srgbClr val="0B0080"/>
                </a:solidFill>
                <a:latin typeface="Arial" panose="020B0604020202020204" pitchFamily="34" charset="0"/>
                <a:hlinkClick r:id="rId5" tooltip="Alanine"/>
              </a:rPr>
              <a:t>alanine</a:t>
            </a:r>
            <a:r>
              <a:rPr lang="en-US" altLang="zh-CN" sz="1600" dirty="0">
                <a:solidFill>
                  <a:srgbClr val="222222"/>
                </a:solidFill>
                <a:latin typeface="Arial" panose="020B0604020202020204" pitchFamily="34" charset="0"/>
              </a:rPr>
              <a:t>, and </a:t>
            </a:r>
            <a:r>
              <a:rPr lang="en-US" altLang="zh-CN" sz="1600" dirty="0">
                <a:solidFill>
                  <a:srgbClr val="0B0080"/>
                </a:solidFill>
                <a:latin typeface="Arial" panose="020B0604020202020204" pitchFamily="34" charset="0"/>
                <a:hlinkClick r:id="rId6" tooltip="Valine"/>
              </a:rPr>
              <a:t>valine</a:t>
            </a:r>
            <a:r>
              <a:rPr lang="en-US" altLang="zh-CN" sz="1600" dirty="0">
                <a:solidFill>
                  <a:srgbClr val="222222"/>
                </a:solidFill>
                <a:latin typeface="Arial" panose="020B0604020202020204" pitchFamily="34" charset="0"/>
              </a:rPr>
              <a:t>. For more on how this is accomplished, see </a:t>
            </a:r>
            <a:r>
              <a:rPr lang="en-US" altLang="zh-CN" sz="1600" dirty="0">
                <a:solidFill>
                  <a:srgbClr val="0B0080"/>
                </a:solidFill>
                <a:latin typeface="Arial" panose="020B0604020202020204" pitchFamily="34" charset="0"/>
                <a:hlinkClick r:id="rId7" tooltip="Serine protease"/>
              </a:rPr>
              <a:t>serine protease</a:t>
            </a:r>
            <a:r>
              <a:rPr lang="en-US" altLang="zh-CN" sz="1600" dirty="0">
                <a:solidFill>
                  <a:srgbClr val="222222"/>
                </a:solidFill>
                <a:latin typeface="Arial" panose="020B0604020202020204" pitchFamily="34" charset="0"/>
              </a:rPr>
              <a:t>.</a:t>
            </a:r>
            <a:endParaRPr lang="zh-CN" altLang="en-US" sz="1600" dirty="0"/>
          </a:p>
        </p:txBody>
      </p:sp>
    </p:spTree>
    <p:extLst>
      <p:ext uri="{BB962C8B-B14F-4D97-AF65-F5344CB8AC3E}">
        <p14:creationId xmlns:p14="http://schemas.microsoft.com/office/powerpoint/2010/main" val="379640744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Text Box 2">
            <a:extLst>
              <a:ext uri="{FF2B5EF4-FFF2-40B4-BE49-F238E27FC236}">
                <a16:creationId xmlns:a16="http://schemas.microsoft.com/office/drawing/2014/main" id="{0F2E029B-1F07-4F85-9E91-FAEF75ABAA40}"/>
              </a:ext>
            </a:extLst>
          </p:cNvPr>
          <p:cNvSpPr txBox="1">
            <a:spLocks noChangeArrowheads="1"/>
          </p:cNvSpPr>
          <p:nvPr/>
        </p:nvSpPr>
        <p:spPr bwMode="auto">
          <a:xfrm>
            <a:off x="304800" y="669925"/>
            <a:ext cx="8686800" cy="150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15000"/>
              </a:spcBef>
            </a:pPr>
            <a:r>
              <a:rPr kumimoji="1" lang="en-US" altLang="zh-CN" sz="3200" b="1" dirty="0">
                <a:latin typeface="Times New Roman" panose="02020603050405020304" pitchFamily="18" charset="0"/>
              </a:rPr>
              <a:t>	4.5 </a:t>
            </a:r>
            <a:r>
              <a:rPr kumimoji="1" lang="en-US" altLang="zh-CN" sz="3200" b="1" dirty="0">
                <a:solidFill>
                  <a:srgbClr val="FF0000"/>
                </a:solidFill>
                <a:latin typeface="Times New Roman" panose="02020603050405020304" pitchFamily="18" charset="0"/>
              </a:rPr>
              <a:t>Blood clotting </a:t>
            </a:r>
            <a:r>
              <a:rPr kumimoji="1" lang="en-US" altLang="zh-CN" sz="3200" b="1" dirty="0">
                <a:latin typeface="Times New Roman" panose="02020603050405020304" pitchFamily="18" charset="0"/>
              </a:rPr>
              <a:t>is mediated by a cascade of proteolytic activation.</a:t>
            </a:r>
          </a:p>
          <a:p>
            <a:pPr eaLnBrk="1" hangingPunct="1">
              <a:spcBef>
                <a:spcPct val="15000"/>
              </a:spcBef>
            </a:pPr>
            <a:endParaRPr kumimoji="1" lang="en-US" altLang="zh-CN" sz="2400" dirty="0">
              <a:latin typeface="Times New Roman" panose="02020603050405020304" pitchFamily="18" charset="0"/>
            </a:endParaRPr>
          </a:p>
        </p:txBody>
      </p:sp>
    </p:spTree>
    <p:extLst>
      <p:ext uri="{BB962C8B-B14F-4D97-AF65-F5344CB8AC3E}">
        <p14:creationId xmlns:p14="http://schemas.microsoft.com/office/powerpoint/2010/main" val="168299679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3E3DBCE-8EF7-40B9-8784-4F50471AB16E}"/>
              </a:ext>
            </a:extLst>
          </p:cNvPr>
          <p:cNvSpPr/>
          <p:nvPr/>
        </p:nvSpPr>
        <p:spPr>
          <a:xfrm>
            <a:off x="827584" y="404664"/>
            <a:ext cx="7488832" cy="1631216"/>
          </a:xfrm>
          <a:prstGeom prst="rect">
            <a:avLst/>
          </a:prstGeom>
        </p:spPr>
        <p:txBody>
          <a:bodyPr wrap="square">
            <a:spAutoFit/>
          </a:bodyPr>
          <a:lstStyle/>
          <a:p>
            <a:r>
              <a:rPr lang="zh-CN" altLang="en-US" sz="2800" dirty="0">
                <a:solidFill>
                  <a:srgbClr val="136EC2"/>
                </a:solidFill>
                <a:latin typeface="arial" panose="020B0604020202020204" pitchFamily="34" charset="0"/>
                <a:hlinkClick r:id="rId2"/>
              </a:rPr>
              <a:t>血液凝固</a:t>
            </a:r>
            <a:r>
              <a:rPr lang="zh-CN" altLang="en-US" sz="2800" dirty="0">
                <a:solidFill>
                  <a:srgbClr val="136EC2"/>
                </a:solidFill>
                <a:latin typeface="arial" panose="020B0604020202020204" pitchFamily="34" charset="0"/>
              </a:rPr>
              <a:t>（</a:t>
            </a:r>
            <a:r>
              <a:rPr kumimoji="1" lang="en-US" altLang="zh-CN" sz="2800" b="1" dirty="0">
                <a:latin typeface="Times New Roman" panose="02020603050405020304" pitchFamily="18" charset="0"/>
              </a:rPr>
              <a:t> Blood clotting </a:t>
            </a:r>
            <a:r>
              <a:rPr lang="zh-CN" altLang="en-US" sz="2800" dirty="0">
                <a:solidFill>
                  <a:srgbClr val="136EC2"/>
                </a:solidFill>
                <a:latin typeface="arial" panose="020B0604020202020204" pitchFamily="34" charset="0"/>
              </a:rPr>
              <a:t>）</a:t>
            </a:r>
            <a:r>
              <a:rPr lang="zh-CN" altLang="en-US" dirty="0">
                <a:solidFill>
                  <a:srgbClr val="333333"/>
                </a:solidFill>
                <a:latin typeface="arial" panose="020B0604020202020204" pitchFamily="34" charset="0"/>
              </a:rPr>
              <a:t>简称凝血，是血液由流动状态变为凝胶状态的过程，它是止血功能的重要组成部分。凝血过程是一系列凝血因子被相继酶解激活的过程，最终生成凝血酶，形成纤维蛋白凝块。迄今为止，参与凝血的因子共有</a:t>
            </a:r>
            <a:r>
              <a:rPr lang="en-US" altLang="zh-CN" dirty="0">
                <a:solidFill>
                  <a:srgbClr val="333333"/>
                </a:solidFill>
                <a:latin typeface="arial" panose="020B0604020202020204" pitchFamily="34" charset="0"/>
              </a:rPr>
              <a:t>12</a:t>
            </a:r>
            <a:r>
              <a:rPr lang="zh-CN" altLang="en-US" dirty="0">
                <a:solidFill>
                  <a:srgbClr val="333333"/>
                </a:solidFill>
                <a:latin typeface="arial" panose="020B0604020202020204" pitchFamily="34" charset="0"/>
              </a:rPr>
              <a:t>个。其中用罗马数字编号的有</a:t>
            </a:r>
            <a:r>
              <a:rPr lang="en-US" altLang="zh-CN" dirty="0">
                <a:solidFill>
                  <a:srgbClr val="333333"/>
                </a:solidFill>
                <a:latin typeface="arial" panose="020B0604020202020204" pitchFamily="34" charset="0"/>
              </a:rPr>
              <a:t>12</a:t>
            </a:r>
            <a:r>
              <a:rPr lang="zh-CN" altLang="en-US" dirty="0">
                <a:solidFill>
                  <a:srgbClr val="333333"/>
                </a:solidFill>
                <a:latin typeface="arial" panose="020B0604020202020204" pitchFamily="34" charset="0"/>
              </a:rPr>
              <a:t>个（从</a:t>
            </a:r>
            <a:r>
              <a:rPr lang="en-US" altLang="zh-CN" dirty="0">
                <a:solidFill>
                  <a:srgbClr val="333333"/>
                </a:solidFill>
                <a:latin typeface="arial" panose="020B0604020202020204" pitchFamily="34" charset="0"/>
              </a:rPr>
              <a:t>Ⅰ</a:t>
            </a:r>
            <a:r>
              <a:rPr lang="zh-CN" altLang="en-US" dirty="0">
                <a:solidFill>
                  <a:srgbClr val="333333"/>
                </a:solidFill>
                <a:latin typeface="arial" panose="020B0604020202020204" pitchFamily="34" charset="0"/>
              </a:rPr>
              <a:t>－</a:t>
            </a:r>
            <a:r>
              <a:rPr lang="en-US" altLang="zh-CN" dirty="0">
                <a:solidFill>
                  <a:srgbClr val="333333"/>
                </a:solidFill>
                <a:latin typeface="arial" panose="020B0604020202020204" pitchFamily="34" charset="0"/>
              </a:rPr>
              <a:t>XIII</a:t>
            </a:r>
            <a:r>
              <a:rPr lang="zh-CN" altLang="en-US" dirty="0">
                <a:solidFill>
                  <a:srgbClr val="333333"/>
                </a:solidFill>
                <a:latin typeface="arial" panose="020B0604020202020204" pitchFamily="34" charset="0"/>
              </a:rPr>
              <a:t>，其中因子</a:t>
            </a:r>
            <a:r>
              <a:rPr lang="en-US" altLang="zh-CN" dirty="0">
                <a:solidFill>
                  <a:srgbClr val="333333"/>
                </a:solidFill>
                <a:latin typeface="arial" panose="020B0604020202020204" pitchFamily="34" charset="0"/>
              </a:rPr>
              <a:t>Ⅵ</a:t>
            </a:r>
            <a:r>
              <a:rPr lang="zh-CN" altLang="en-US" dirty="0">
                <a:solidFill>
                  <a:srgbClr val="333333"/>
                </a:solidFill>
                <a:latin typeface="arial" panose="020B0604020202020204" pitchFamily="34" charset="0"/>
              </a:rPr>
              <a:t>并不存在）。</a:t>
            </a:r>
            <a:endParaRPr lang="zh-CN" altLang="en-US" dirty="0"/>
          </a:p>
        </p:txBody>
      </p:sp>
      <p:pic>
        <p:nvPicPr>
          <p:cNvPr id="3" name="图片 2">
            <a:extLst>
              <a:ext uri="{FF2B5EF4-FFF2-40B4-BE49-F238E27FC236}">
                <a16:creationId xmlns:a16="http://schemas.microsoft.com/office/drawing/2014/main" id="{A9866AE1-6D6F-4F51-B8B4-BAC2B8455B3A}"/>
              </a:ext>
            </a:extLst>
          </p:cNvPr>
          <p:cNvPicPr>
            <a:picLocks noChangeAspect="1"/>
          </p:cNvPicPr>
          <p:nvPr/>
        </p:nvPicPr>
        <p:blipFill>
          <a:blip r:embed="rId3"/>
          <a:stretch>
            <a:fillRect/>
          </a:stretch>
        </p:blipFill>
        <p:spPr>
          <a:xfrm>
            <a:off x="1403648" y="2161836"/>
            <a:ext cx="6067425" cy="4038600"/>
          </a:xfrm>
          <a:prstGeom prst="rect">
            <a:avLst/>
          </a:prstGeom>
        </p:spPr>
      </p:pic>
    </p:spTree>
    <p:extLst>
      <p:ext uri="{BB962C8B-B14F-4D97-AF65-F5344CB8AC3E}">
        <p14:creationId xmlns:p14="http://schemas.microsoft.com/office/powerpoint/2010/main" val="281300602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Text Box 2">
            <a:extLst>
              <a:ext uri="{FF2B5EF4-FFF2-40B4-BE49-F238E27FC236}">
                <a16:creationId xmlns:a16="http://schemas.microsoft.com/office/drawing/2014/main" id="{0F2E029B-1F07-4F85-9E91-FAEF75ABAA40}"/>
              </a:ext>
            </a:extLst>
          </p:cNvPr>
          <p:cNvSpPr txBox="1">
            <a:spLocks noChangeArrowheads="1"/>
          </p:cNvSpPr>
          <p:nvPr/>
        </p:nvSpPr>
        <p:spPr bwMode="auto">
          <a:xfrm>
            <a:off x="304800" y="669925"/>
            <a:ext cx="8686800" cy="2486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15000"/>
              </a:spcBef>
            </a:pPr>
            <a:r>
              <a:rPr kumimoji="1" lang="en-US" altLang="zh-CN" sz="3200" b="1" dirty="0">
                <a:latin typeface="Times New Roman" panose="02020603050405020304" pitchFamily="18" charset="0"/>
              </a:rPr>
              <a:t>	4.6 Some </a:t>
            </a:r>
            <a:r>
              <a:rPr kumimoji="1" lang="en-US" altLang="zh-CN" sz="3200" b="1" dirty="0">
                <a:solidFill>
                  <a:srgbClr val="FF0000"/>
                </a:solidFill>
                <a:latin typeface="Times New Roman" panose="02020603050405020304" pitchFamily="18" charset="0"/>
              </a:rPr>
              <a:t>protein hormones </a:t>
            </a:r>
            <a:r>
              <a:rPr kumimoji="1" lang="en-US" altLang="zh-CN" sz="3200" b="1" dirty="0">
                <a:latin typeface="Times New Roman" panose="02020603050405020304" pitchFamily="18" charset="0"/>
              </a:rPr>
              <a:t>are synthesized as inactive precursors (e.g., insulin is derived from proinsulin by proteolytic removal of a peptide).</a:t>
            </a:r>
          </a:p>
          <a:p>
            <a:pPr eaLnBrk="1" hangingPunct="1">
              <a:spcBef>
                <a:spcPct val="15000"/>
              </a:spcBef>
            </a:pPr>
            <a:endParaRPr kumimoji="1" lang="en-US" altLang="zh-CN" sz="2400" dirty="0">
              <a:latin typeface="Times New Roman" panose="02020603050405020304" pitchFamily="18" charset="0"/>
            </a:endParaRPr>
          </a:p>
        </p:txBody>
      </p:sp>
    </p:spTree>
    <p:extLst>
      <p:ext uri="{BB962C8B-B14F-4D97-AF65-F5344CB8AC3E}">
        <p14:creationId xmlns:p14="http://schemas.microsoft.com/office/powerpoint/2010/main" val="135209704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Text Box 2">
            <a:extLst>
              <a:ext uri="{FF2B5EF4-FFF2-40B4-BE49-F238E27FC236}">
                <a16:creationId xmlns:a16="http://schemas.microsoft.com/office/drawing/2014/main" id="{78A536AD-A2B6-4195-BA1B-AD926157814E}"/>
              </a:ext>
            </a:extLst>
          </p:cNvPr>
          <p:cNvSpPr txBox="1">
            <a:spLocks noChangeArrowheads="1"/>
          </p:cNvSpPr>
          <p:nvPr/>
        </p:nvSpPr>
        <p:spPr bwMode="auto">
          <a:xfrm>
            <a:off x="228600" y="381000"/>
            <a:ext cx="8610600" cy="5656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15000"/>
              </a:spcBef>
            </a:pPr>
            <a:r>
              <a:rPr kumimoji="1" lang="en-US" altLang="zh-CN" sz="3200" b="1" dirty="0">
                <a:latin typeface="Times New Roman" panose="02020603050405020304" pitchFamily="18" charset="0"/>
              </a:rPr>
              <a:t>5. Both the </a:t>
            </a:r>
            <a:r>
              <a:rPr kumimoji="1" lang="en-US" altLang="zh-CN" sz="3200" b="1" dirty="0">
                <a:solidFill>
                  <a:srgbClr val="FF0000"/>
                </a:solidFill>
                <a:latin typeface="Times New Roman" panose="02020603050405020304" pitchFamily="18" charset="0"/>
              </a:rPr>
              <a:t>synthesis</a:t>
            </a:r>
            <a:r>
              <a:rPr kumimoji="1" lang="en-US" altLang="zh-CN" sz="3200" b="1" dirty="0">
                <a:latin typeface="Times New Roman" panose="02020603050405020304" pitchFamily="18" charset="0"/>
              </a:rPr>
              <a:t> and </a:t>
            </a:r>
            <a:r>
              <a:rPr kumimoji="1" lang="en-US" altLang="zh-CN" sz="3200" b="1" dirty="0">
                <a:solidFill>
                  <a:srgbClr val="FF0000"/>
                </a:solidFill>
                <a:latin typeface="Times New Roman" panose="02020603050405020304" pitchFamily="18" charset="0"/>
              </a:rPr>
              <a:t>degradation</a:t>
            </a:r>
            <a:r>
              <a:rPr kumimoji="1" lang="en-US" altLang="zh-CN" sz="3200" b="1" dirty="0">
                <a:latin typeface="Times New Roman" panose="02020603050405020304" pitchFamily="18" charset="0"/>
              </a:rPr>
              <a:t> of the certain important enzymes are tightly controlled.</a:t>
            </a:r>
            <a:r>
              <a:rPr kumimoji="1" lang="en-US" altLang="zh-CN" sz="2800" b="1" dirty="0">
                <a:latin typeface="Times New Roman" panose="02020603050405020304" pitchFamily="18" charset="0"/>
              </a:rPr>
              <a:t> </a:t>
            </a:r>
            <a:endParaRPr kumimoji="1" lang="en-US" altLang="zh-CN" sz="3200" b="1" dirty="0">
              <a:latin typeface="Times New Roman" panose="02020603050405020304" pitchFamily="18" charset="0"/>
            </a:endParaRPr>
          </a:p>
          <a:p>
            <a:pPr eaLnBrk="1" hangingPunct="1">
              <a:spcBef>
                <a:spcPct val="15000"/>
              </a:spcBef>
            </a:pPr>
            <a:r>
              <a:rPr kumimoji="1" lang="en-US" altLang="zh-CN" sz="3200" b="1" dirty="0">
                <a:latin typeface="Times New Roman" panose="02020603050405020304" pitchFamily="18" charset="0"/>
              </a:rPr>
              <a:t> 	5.1 Amount of some </a:t>
            </a:r>
            <a:r>
              <a:rPr kumimoji="1" lang="en-US" altLang="zh-CN" sz="3200" b="1" dirty="0">
                <a:solidFill>
                  <a:srgbClr val="FF0000"/>
                </a:solidFill>
                <a:latin typeface="Times New Roman" panose="02020603050405020304" pitchFamily="18" charset="0"/>
              </a:rPr>
              <a:t>enzymes are increased when certain inducers</a:t>
            </a:r>
            <a:r>
              <a:rPr kumimoji="1" lang="en-US" altLang="zh-CN" sz="3200" b="1" dirty="0">
                <a:latin typeface="Times New Roman" panose="02020603050405020304" pitchFamily="18" charset="0"/>
              </a:rPr>
              <a:t> (often enzyme substrates) are present in the cells. This is often seen in bacterium cells.</a:t>
            </a:r>
          </a:p>
          <a:p>
            <a:pPr eaLnBrk="1" hangingPunct="1">
              <a:spcBef>
                <a:spcPct val="15000"/>
              </a:spcBef>
            </a:pPr>
            <a:r>
              <a:rPr kumimoji="1" lang="en-US" altLang="zh-CN" sz="3200" b="1" dirty="0">
                <a:latin typeface="Times New Roman" panose="02020603050405020304" pitchFamily="18" charset="0"/>
              </a:rPr>
              <a:t>	5.2 The presence of lactose </a:t>
            </a:r>
            <a:r>
              <a:rPr kumimoji="1" lang="zh-CN" altLang="en-US" sz="2400" b="1" dirty="0">
                <a:solidFill>
                  <a:schemeClr val="accent2"/>
                </a:solidFill>
                <a:latin typeface="Times New Roman" panose="02020603050405020304" pitchFamily="18" charset="0"/>
              </a:rPr>
              <a:t>乳糖</a:t>
            </a:r>
            <a:r>
              <a:rPr kumimoji="1" lang="zh-CN" altLang="en-US" sz="2400" b="1" dirty="0">
                <a:latin typeface="Times New Roman" panose="02020603050405020304" pitchFamily="18" charset="0"/>
              </a:rPr>
              <a:t> </a:t>
            </a:r>
            <a:r>
              <a:rPr kumimoji="1" lang="en-US" altLang="zh-CN" sz="3200" b="1" dirty="0">
                <a:latin typeface="Times New Roman" panose="02020603050405020304" pitchFamily="18" charset="0"/>
              </a:rPr>
              <a:t>in a culture medium induces a large increase in the amount of </a:t>
            </a:r>
            <a:r>
              <a:rPr kumimoji="1" lang="en-US" altLang="zh-CN" sz="3200" b="1" dirty="0">
                <a:latin typeface="Symbol" panose="05050102010706020507" pitchFamily="18" charset="2"/>
              </a:rPr>
              <a:t>b</a:t>
            </a:r>
            <a:r>
              <a:rPr kumimoji="1" lang="en-US" altLang="zh-CN" sz="3200" b="1" dirty="0">
                <a:latin typeface="Times New Roman" panose="02020603050405020304" pitchFamily="18" charset="0"/>
              </a:rPr>
              <a:t>-galactosidase </a:t>
            </a:r>
            <a:r>
              <a:rPr kumimoji="1" lang="zh-CN" altLang="en-US" sz="2400" b="1" dirty="0">
                <a:solidFill>
                  <a:schemeClr val="accent2"/>
                </a:solidFill>
                <a:latin typeface="Times New Roman" panose="02020603050405020304" pitchFamily="18" charset="0"/>
              </a:rPr>
              <a:t>半乳糖苷酶</a:t>
            </a:r>
            <a:r>
              <a:rPr kumimoji="1" lang="zh-CN" altLang="en-US" sz="3200" b="1" dirty="0">
                <a:latin typeface="Times New Roman" panose="02020603050405020304" pitchFamily="18" charset="0"/>
              </a:rPr>
              <a:t> </a:t>
            </a:r>
            <a:r>
              <a:rPr kumimoji="1" lang="en-US" altLang="zh-CN" sz="3200" b="1" dirty="0">
                <a:latin typeface="Times New Roman" panose="02020603050405020304" pitchFamily="18" charset="0"/>
              </a:rPr>
              <a:t>(and two other enzymes, </a:t>
            </a:r>
            <a:r>
              <a:rPr kumimoji="1" lang="en-US" altLang="zh-CN" sz="3200" b="1" dirty="0" err="1">
                <a:latin typeface="Times New Roman" panose="02020603050405020304" pitchFamily="18" charset="0"/>
              </a:rPr>
              <a:t>galatoside</a:t>
            </a:r>
            <a:r>
              <a:rPr kumimoji="1" lang="en-US" altLang="zh-CN" sz="3200" b="1" dirty="0">
                <a:latin typeface="Times New Roman" panose="02020603050405020304" pitchFamily="18" charset="0"/>
              </a:rPr>
              <a:t> permease </a:t>
            </a:r>
            <a:r>
              <a:rPr kumimoji="1" lang="zh-CN" altLang="en-US" sz="2400" b="1" dirty="0">
                <a:solidFill>
                  <a:schemeClr val="accent2"/>
                </a:solidFill>
                <a:latin typeface="Times New Roman" panose="02020603050405020304" pitchFamily="18" charset="0"/>
              </a:rPr>
              <a:t>半乳糖苷透过酶</a:t>
            </a:r>
            <a:r>
              <a:rPr kumimoji="1" lang="zh-CN" altLang="en-US" sz="3200" b="1" dirty="0">
                <a:latin typeface="Times New Roman" panose="02020603050405020304" pitchFamily="18" charset="0"/>
              </a:rPr>
              <a:t> </a:t>
            </a:r>
            <a:r>
              <a:rPr kumimoji="1" lang="en-US" altLang="zh-CN" sz="3200" b="1" dirty="0">
                <a:latin typeface="Times New Roman" panose="02020603050405020304" pitchFamily="18" charset="0"/>
              </a:rPr>
              <a:t>and </a:t>
            </a:r>
            <a:r>
              <a:rPr kumimoji="1" lang="en-US" altLang="zh-CN" sz="3200" b="1" dirty="0" err="1">
                <a:latin typeface="Times New Roman" panose="02020603050405020304" pitchFamily="18" charset="0"/>
              </a:rPr>
              <a:t>thiogalactoside</a:t>
            </a:r>
            <a:r>
              <a:rPr kumimoji="1" lang="en-US" altLang="zh-CN" sz="3200" b="1" dirty="0">
                <a:latin typeface="Times New Roman" panose="02020603050405020304" pitchFamily="18" charset="0"/>
              </a:rPr>
              <a:t> transacetylase </a:t>
            </a:r>
            <a:r>
              <a:rPr kumimoji="1" lang="zh-CN" altLang="en-US" sz="2400" b="1" dirty="0">
                <a:solidFill>
                  <a:schemeClr val="accent2"/>
                </a:solidFill>
                <a:latin typeface="Times New Roman" panose="02020603050405020304" pitchFamily="18" charset="0"/>
              </a:rPr>
              <a:t>硫代半乳糖苷转乙酰酶</a:t>
            </a:r>
            <a:r>
              <a:rPr kumimoji="1" lang="en-US" altLang="zh-CN" sz="3200" b="1" dirty="0">
                <a:latin typeface="Times New Roman" panose="02020603050405020304" pitchFamily="18" charset="0"/>
              </a:rPr>
              <a:t>)</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7874" name="Group 2">
            <a:extLst>
              <a:ext uri="{FF2B5EF4-FFF2-40B4-BE49-F238E27FC236}">
                <a16:creationId xmlns:a16="http://schemas.microsoft.com/office/drawing/2014/main" id="{DF6C7BE2-87D8-4F26-817F-8CC1CE3D3ADE}"/>
              </a:ext>
            </a:extLst>
          </p:cNvPr>
          <p:cNvGrpSpPr>
            <a:grpSpLocks/>
          </p:cNvGrpSpPr>
          <p:nvPr/>
        </p:nvGrpSpPr>
        <p:grpSpPr bwMode="auto">
          <a:xfrm>
            <a:off x="0" y="1989138"/>
            <a:ext cx="8229600" cy="641350"/>
            <a:chOff x="0" y="2112"/>
            <a:chExt cx="5184" cy="404"/>
          </a:xfrm>
        </p:grpSpPr>
        <p:grpSp>
          <p:nvGrpSpPr>
            <p:cNvPr id="207894" name="Group 3">
              <a:extLst>
                <a:ext uri="{FF2B5EF4-FFF2-40B4-BE49-F238E27FC236}">
                  <a16:creationId xmlns:a16="http://schemas.microsoft.com/office/drawing/2014/main" id="{EC2423BF-A675-4295-986A-A083729FD2A7}"/>
                </a:ext>
              </a:extLst>
            </p:cNvPr>
            <p:cNvGrpSpPr>
              <a:grpSpLocks/>
            </p:cNvGrpSpPr>
            <p:nvPr/>
          </p:nvGrpSpPr>
          <p:grpSpPr bwMode="auto">
            <a:xfrm>
              <a:off x="720" y="2112"/>
              <a:ext cx="4464" cy="404"/>
              <a:chOff x="720" y="2112"/>
              <a:chExt cx="4464" cy="404"/>
            </a:xfrm>
          </p:grpSpPr>
          <p:sp>
            <p:nvSpPr>
              <p:cNvPr id="207896" name="Line 4">
                <a:extLst>
                  <a:ext uri="{FF2B5EF4-FFF2-40B4-BE49-F238E27FC236}">
                    <a16:creationId xmlns:a16="http://schemas.microsoft.com/office/drawing/2014/main" id="{322192C3-66E2-4610-93A0-5BE66C3413D0}"/>
                  </a:ext>
                </a:extLst>
              </p:cNvPr>
              <p:cNvSpPr>
                <a:spLocks noChangeShapeType="1"/>
              </p:cNvSpPr>
              <p:nvPr/>
            </p:nvSpPr>
            <p:spPr bwMode="auto">
              <a:xfrm>
                <a:off x="720" y="2160"/>
                <a:ext cx="4464" cy="0"/>
              </a:xfrm>
              <a:prstGeom prst="line">
                <a:avLst/>
              </a:prstGeom>
              <a:noFill/>
              <a:ln w="571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7897" name="Line 5">
                <a:extLst>
                  <a:ext uri="{FF2B5EF4-FFF2-40B4-BE49-F238E27FC236}">
                    <a16:creationId xmlns:a16="http://schemas.microsoft.com/office/drawing/2014/main" id="{192278B1-6B8F-4F16-BE7F-C0AAA02DF0ED}"/>
                  </a:ext>
                </a:extLst>
              </p:cNvPr>
              <p:cNvSpPr>
                <a:spLocks noChangeShapeType="1"/>
              </p:cNvSpPr>
              <p:nvPr/>
            </p:nvSpPr>
            <p:spPr bwMode="auto">
              <a:xfrm>
                <a:off x="720" y="2448"/>
                <a:ext cx="4464" cy="0"/>
              </a:xfrm>
              <a:prstGeom prst="line">
                <a:avLst/>
              </a:prstGeom>
              <a:noFill/>
              <a:ln w="571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07898" name="Rectangle 6">
                <a:extLst>
                  <a:ext uri="{FF2B5EF4-FFF2-40B4-BE49-F238E27FC236}">
                    <a16:creationId xmlns:a16="http://schemas.microsoft.com/office/drawing/2014/main" id="{9E7E314F-B6F2-4F5A-9236-9A734B164756}"/>
                  </a:ext>
                </a:extLst>
              </p:cNvPr>
              <p:cNvSpPr>
                <a:spLocks noChangeArrowheads="1"/>
              </p:cNvSpPr>
              <p:nvPr/>
            </p:nvSpPr>
            <p:spPr bwMode="auto">
              <a:xfrm>
                <a:off x="3168" y="2160"/>
                <a:ext cx="528" cy="28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3200">
                  <a:latin typeface="Calibri" panose="020F0502020204030204" pitchFamily="34" charset="0"/>
                  <a:ea typeface="华文楷体" panose="02010600040101010101" pitchFamily="2" charset="-122"/>
                </a:endParaRPr>
              </a:p>
            </p:txBody>
          </p:sp>
          <p:sp>
            <p:nvSpPr>
              <p:cNvPr id="207899" name="Rectangle 7">
                <a:extLst>
                  <a:ext uri="{FF2B5EF4-FFF2-40B4-BE49-F238E27FC236}">
                    <a16:creationId xmlns:a16="http://schemas.microsoft.com/office/drawing/2014/main" id="{A6E59BFE-A9B6-4ED8-9DFB-A858D0846ACC}"/>
                  </a:ext>
                </a:extLst>
              </p:cNvPr>
              <p:cNvSpPr>
                <a:spLocks noChangeArrowheads="1"/>
              </p:cNvSpPr>
              <p:nvPr/>
            </p:nvSpPr>
            <p:spPr bwMode="auto">
              <a:xfrm>
                <a:off x="3696" y="2160"/>
                <a:ext cx="576" cy="28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3200">
                  <a:latin typeface="Calibri" panose="020F0502020204030204" pitchFamily="34" charset="0"/>
                  <a:ea typeface="华文楷体" panose="02010600040101010101" pitchFamily="2" charset="-122"/>
                </a:endParaRPr>
              </a:p>
            </p:txBody>
          </p:sp>
          <p:sp>
            <p:nvSpPr>
              <p:cNvPr id="207900" name="Rectangle 8">
                <a:extLst>
                  <a:ext uri="{FF2B5EF4-FFF2-40B4-BE49-F238E27FC236}">
                    <a16:creationId xmlns:a16="http://schemas.microsoft.com/office/drawing/2014/main" id="{546F5D58-396C-4026-B27A-C2589D16CB73}"/>
                  </a:ext>
                </a:extLst>
              </p:cNvPr>
              <p:cNvSpPr>
                <a:spLocks noChangeArrowheads="1"/>
              </p:cNvSpPr>
              <p:nvPr/>
            </p:nvSpPr>
            <p:spPr bwMode="auto">
              <a:xfrm>
                <a:off x="4272" y="2160"/>
                <a:ext cx="576" cy="28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kumimoji="1" lang="zh-CN" altLang="zh-CN" sz="3200">
                  <a:latin typeface="Calibri" panose="020F0502020204030204" pitchFamily="34" charset="0"/>
                  <a:ea typeface="华文楷体" panose="02010600040101010101" pitchFamily="2" charset="-122"/>
                </a:endParaRPr>
              </a:p>
            </p:txBody>
          </p:sp>
          <p:sp>
            <p:nvSpPr>
              <p:cNvPr id="207901" name="Text Box 9">
                <a:extLst>
                  <a:ext uri="{FF2B5EF4-FFF2-40B4-BE49-F238E27FC236}">
                    <a16:creationId xmlns:a16="http://schemas.microsoft.com/office/drawing/2014/main" id="{9C6BD632-80B5-476F-87C1-95A3CEF85B44}"/>
                  </a:ext>
                </a:extLst>
              </p:cNvPr>
              <p:cNvSpPr txBox="1">
                <a:spLocks noChangeArrowheads="1"/>
              </p:cNvSpPr>
              <p:nvPr/>
            </p:nvSpPr>
            <p:spPr bwMode="auto">
              <a:xfrm>
                <a:off x="3264" y="2112"/>
                <a:ext cx="3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600" b="1">
                    <a:latin typeface="Calibri" panose="020F0502020204030204" pitchFamily="34" charset="0"/>
                    <a:ea typeface="华文楷体" panose="02010600040101010101" pitchFamily="2" charset="-122"/>
                  </a:rPr>
                  <a:t>Z</a:t>
                </a:r>
              </a:p>
            </p:txBody>
          </p:sp>
          <p:sp>
            <p:nvSpPr>
              <p:cNvPr id="207902" name="Text Box 10">
                <a:extLst>
                  <a:ext uri="{FF2B5EF4-FFF2-40B4-BE49-F238E27FC236}">
                    <a16:creationId xmlns:a16="http://schemas.microsoft.com/office/drawing/2014/main" id="{3542013A-BBA4-42EC-92E0-91759B1CFD1E}"/>
                  </a:ext>
                </a:extLst>
              </p:cNvPr>
              <p:cNvSpPr txBox="1">
                <a:spLocks noChangeArrowheads="1"/>
              </p:cNvSpPr>
              <p:nvPr/>
            </p:nvSpPr>
            <p:spPr bwMode="auto">
              <a:xfrm>
                <a:off x="3840" y="2112"/>
                <a:ext cx="3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600" b="1">
                    <a:latin typeface="Calibri" panose="020F0502020204030204" pitchFamily="34" charset="0"/>
                    <a:ea typeface="华文楷体" panose="02010600040101010101" pitchFamily="2" charset="-122"/>
                  </a:rPr>
                  <a:t>Y</a:t>
                </a:r>
              </a:p>
            </p:txBody>
          </p:sp>
          <p:sp>
            <p:nvSpPr>
              <p:cNvPr id="207903" name="Text Box 11">
                <a:extLst>
                  <a:ext uri="{FF2B5EF4-FFF2-40B4-BE49-F238E27FC236}">
                    <a16:creationId xmlns:a16="http://schemas.microsoft.com/office/drawing/2014/main" id="{460FA58E-0BDA-43C9-9BD1-78DB8CB60E44}"/>
                  </a:ext>
                </a:extLst>
              </p:cNvPr>
              <p:cNvSpPr txBox="1">
                <a:spLocks noChangeArrowheads="1"/>
              </p:cNvSpPr>
              <p:nvPr/>
            </p:nvSpPr>
            <p:spPr bwMode="auto">
              <a:xfrm>
                <a:off x="4416" y="2112"/>
                <a:ext cx="3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600" b="1">
                    <a:latin typeface="Calibri" panose="020F0502020204030204" pitchFamily="34" charset="0"/>
                    <a:ea typeface="华文楷体" panose="02010600040101010101" pitchFamily="2" charset="-122"/>
                  </a:rPr>
                  <a:t>A</a:t>
                </a:r>
              </a:p>
            </p:txBody>
          </p:sp>
          <p:sp>
            <p:nvSpPr>
              <p:cNvPr id="207904" name="Rectangle 12" descr="浅色上对角线">
                <a:extLst>
                  <a:ext uri="{FF2B5EF4-FFF2-40B4-BE49-F238E27FC236}">
                    <a16:creationId xmlns:a16="http://schemas.microsoft.com/office/drawing/2014/main" id="{8EE01B5D-1104-48FD-9F9B-080881D0D004}"/>
                  </a:ext>
                </a:extLst>
              </p:cNvPr>
              <p:cNvSpPr>
                <a:spLocks noChangeArrowheads="1"/>
              </p:cNvSpPr>
              <p:nvPr/>
            </p:nvSpPr>
            <p:spPr bwMode="auto">
              <a:xfrm>
                <a:off x="2544" y="2160"/>
                <a:ext cx="624" cy="288"/>
              </a:xfrm>
              <a:prstGeom prst="rect">
                <a:avLst/>
              </a:prstGeom>
              <a:pattFill prst="ltUpDiag">
                <a:fgClr>
                  <a:srgbClr val="D9820F"/>
                </a:fgClr>
                <a:bgClr>
                  <a:schemeClr val="bg1"/>
                </a:bgClr>
              </a:patt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latin typeface="Calibri" panose="020F0502020204030204" pitchFamily="34" charset="0"/>
                </a:endParaRPr>
              </a:p>
            </p:txBody>
          </p:sp>
          <p:sp>
            <p:nvSpPr>
              <p:cNvPr id="207905" name="Text Box 13">
                <a:extLst>
                  <a:ext uri="{FF2B5EF4-FFF2-40B4-BE49-F238E27FC236}">
                    <a16:creationId xmlns:a16="http://schemas.microsoft.com/office/drawing/2014/main" id="{FB5C7A48-6BE5-4DA6-AFA9-A96CB9F73619}"/>
                  </a:ext>
                </a:extLst>
              </p:cNvPr>
              <p:cNvSpPr txBox="1">
                <a:spLocks noChangeArrowheads="1"/>
              </p:cNvSpPr>
              <p:nvPr/>
            </p:nvSpPr>
            <p:spPr bwMode="auto">
              <a:xfrm>
                <a:off x="2688" y="2112"/>
                <a:ext cx="43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600" b="1">
                    <a:latin typeface="Calibri" panose="020F0502020204030204" pitchFamily="34" charset="0"/>
                    <a:ea typeface="华文楷体" panose="02010600040101010101" pitchFamily="2" charset="-122"/>
                  </a:rPr>
                  <a:t>O</a:t>
                </a:r>
              </a:p>
            </p:txBody>
          </p:sp>
          <p:sp>
            <p:nvSpPr>
              <p:cNvPr id="207906" name="Rectangle 14" descr="之字形">
                <a:extLst>
                  <a:ext uri="{FF2B5EF4-FFF2-40B4-BE49-F238E27FC236}">
                    <a16:creationId xmlns:a16="http://schemas.microsoft.com/office/drawing/2014/main" id="{40C3BE17-95BD-4809-BE3A-65F21C6B5203}"/>
                  </a:ext>
                </a:extLst>
              </p:cNvPr>
              <p:cNvSpPr>
                <a:spLocks noChangeArrowheads="1"/>
              </p:cNvSpPr>
              <p:nvPr/>
            </p:nvSpPr>
            <p:spPr bwMode="auto">
              <a:xfrm>
                <a:off x="1872" y="2160"/>
                <a:ext cx="672" cy="288"/>
              </a:xfrm>
              <a:prstGeom prst="rect">
                <a:avLst/>
              </a:prstGeom>
              <a:pattFill prst="zigZag">
                <a:fgClr>
                  <a:srgbClr val="669900"/>
                </a:fgClr>
                <a:bgClr>
                  <a:srgbClr val="FFFFFF"/>
                </a:bgClr>
              </a:patt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latin typeface="Calibri" panose="020F0502020204030204" pitchFamily="34" charset="0"/>
                </a:endParaRPr>
              </a:p>
            </p:txBody>
          </p:sp>
          <p:sp>
            <p:nvSpPr>
              <p:cNvPr id="207907" name="Text Box 15">
                <a:extLst>
                  <a:ext uri="{FF2B5EF4-FFF2-40B4-BE49-F238E27FC236}">
                    <a16:creationId xmlns:a16="http://schemas.microsoft.com/office/drawing/2014/main" id="{25B15E9B-B131-41D6-89BC-B7FA3516AF24}"/>
                  </a:ext>
                </a:extLst>
              </p:cNvPr>
              <p:cNvSpPr txBox="1">
                <a:spLocks noChangeArrowheads="1"/>
              </p:cNvSpPr>
              <p:nvPr/>
            </p:nvSpPr>
            <p:spPr bwMode="auto">
              <a:xfrm>
                <a:off x="2064" y="2112"/>
                <a:ext cx="3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3600" b="1">
                    <a:latin typeface="Calibri" panose="020F0502020204030204" pitchFamily="34" charset="0"/>
                    <a:ea typeface="华文楷体" panose="02010600040101010101" pitchFamily="2" charset="-122"/>
                  </a:rPr>
                  <a:t>P</a:t>
                </a:r>
              </a:p>
            </p:txBody>
          </p:sp>
          <p:sp>
            <p:nvSpPr>
              <p:cNvPr id="207908" name="Rectangle 16" descr="90%">
                <a:extLst>
                  <a:ext uri="{FF2B5EF4-FFF2-40B4-BE49-F238E27FC236}">
                    <a16:creationId xmlns:a16="http://schemas.microsoft.com/office/drawing/2014/main" id="{7A9C7E45-5BB2-48B2-AAD7-737D71AACB14}"/>
                  </a:ext>
                </a:extLst>
              </p:cNvPr>
              <p:cNvSpPr>
                <a:spLocks noChangeArrowheads="1"/>
              </p:cNvSpPr>
              <p:nvPr/>
            </p:nvSpPr>
            <p:spPr bwMode="auto">
              <a:xfrm>
                <a:off x="1296" y="2160"/>
                <a:ext cx="432" cy="288"/>
              </a:xfrm>
              <a:prstGeom prst="rect">
                <a:avLst/>
              </a:prstGeom>
              <a:pattFill prst="pct90">
                <a:fgClr>
                  <a:schemeClr val="tx2"/>
                </a:fgClr>
                <a:bgClr>
                  <a:schemeClr val="bg1"/>
                </a:bgClr>
              </a:patt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latin typeface="Calibri" panose="020F0502020204030204" pitchFamily="34" charset="0"/>
                </a:endParaRPr>
              </a:p>
            </p:txBody>
          </p:sp>
        </p:grpSp>
        <p:sp>
          <p:nvSpPr>
            <p:cNvPr id="207895" name="Text Box 17">
              <a:extLst>
                <a:ext uri="{FF2B5EF4-FFF2-40B4-BE49-F238E27FC236}">
                  <a16:creationId xmlns:a16="http://schemas.microsoft.com/office/drawing/2014/main" id="{FEA0F47C-AFD7-4A91-8ECD-8A7F4B0A3FE0}"/>
                </a:ext>
              </a:extLst>
            </p:cNvPr>
            <p:cNvSpPr txBox="1">
              <a:spLocks noChangeArrowheads="1"/>
            </p:cNvSpPr>
            <p:nvPr/>
          </p:nvSpPr>
          <p:spPr bwMode="auto">
            <a:xfrm>
              <a:off x="0" y="2112"/>
              <a:ext cx="6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Calibri" panose="020F0502020204030204" pitchFamily="34" charset="0"/>
                  <a:ea typeface="华文楷体" panose="02010600040101010101" pitchFamily="2" charset="-122"/>
                </a:rPr>
                <a:t>DNA</a:t>
              </a:r>
            </a:p>
          </p:txBody>
        </p:sp>
      </p:grpSp>
      <p:grpSp>
        <p:nvGrpSpPr>
          <p:cNvPr id="207875" name="Group 18">
            <a:extLst>
              <a:ext uri="{FF2B5EF4-FFF2-40B4-BE49-F238E27FC236}">
                <a16:creationId xmlns:a16="http://schemas.microsoft.com/office/drawing/2014/main" id="{4A1C79A7-7919-48AB-9A21-81A25FBFF3ED}"/>
              </a:ext>
            </a:extLst>
          </p:cNvPr>
          <p:cNvGrpSpPr>
            <a:grpSpLocks/>
          </p:cNvGrpSpPr>
          <p:nvPr/>
        </p:nvGrpSpPr>
        <p:grpSpPr bwMode="auto">
          <a:xfrm>
            <a:off x="533400" y="1282700"/>
            <a:ext cx="4876800" cy="3957638"/>
            <a:chOff x="336" y="1488"/>
            <a:chExt cx="3072" cy="2493"/>
          </a:xfrm>
        </p:grpSpPr>
        <p:sp>
          <p:nvSpPr>
            <p:cNvPr id="207883" name="Text Box 19">
              <a:extLst>
                <a:ext uri="{FF2B5EF4-FFF2-40B4-BE49-F238E27FC236}">
                  <a16:creationId xmlns:a16="http://schemas.microsoft.com/office/drawing/2014/main" id="{EEEB4FA5-363B-4571-AB9F-E77CFED54827}"/>
                </a:ext>
              </a:extLst>
            </p:cNvPr>
            <p:cNvSpPr txBox="1">
              <a:spLocks noChangeArrowheads="1"/>
            </p:cNvSpPr>
            <p:nvPr/>
          </p:nvSpPr>
          <p:spPr bwMode="auto">
            <a:xfrm>
              <a:off x="1632" y="1488"/>
              <a:ext cx="9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Calibri" panose="020F0502020204030204" pitchFamily="34" charset="0"/>
                  <a:ea typeface="华文楷体" panose="02010600040101010101" pitchFamily="2" charset="-122"/>
                </a:rPr>
                <a:t> </a:t>
              </a:r>
              <a:r>
                <a:rPr kumimoji="1" lang="zh-CN" altLang="en-US" sz="2800" b="1">
                  <a:latin typeface="Calibri" panose="020F0502020204030204" pitchFamily="34" charset="0"/>
                  <a:ea typeface="华文楷体" panose="02010600040101010101" pitchFamily="2" charset="-122"/>
                </a:rPr>
                <a:t>调控区</a:t>
              </a:r>
            </a:p>
          </p:txBody>
        </p:sp>
        <p:sp>
          <p:nvSpPr>
            <p:cNvPr id="207884" name="AutoShape 20">
              <a:extLst>
                <a:ext uri="{FF2B5EF4-FFF2-40B4-BE49-F238E27FC236}">
                  <a16:creationId xmlns:a16="http://schemas.microsoft.com/office/drawing/2014/main" id="{3B27200F-2245-42D3-A797-A2E312E83B57}"/>
                </a:ext>
              </a:extLst>
            </p:cNvPr>
            <p:cNvSpPr>
              <a:spLocks/>
            </p:cNvSpPr>
            <p:nvPr/>
          </p:nvSpPr>
          <p:spPr bwMode="auto">
            <a:xfrm rot="5406250">
              <a:off x="1968" y="1392"/>
              <a:ext cx="192" cy="1056"/>
            </a:xfrm>
            <a:prstGeom prst="leftBrace">
              <a:avLst>
                <a:gd name="adj1" fmla="val 45833"/>
                <a:gd name="adj2" fmla="val 48861"/>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latin typeface="Calibri" panose="020F0502020204030204" pitchFamily="34" charset="0"/>
              </a:endParaRPr>
            </a:p>
          </p:txBody>
        </p:sp>
        <p:grpSp>
          <p:nvGrpSpPr>
            <p:cNvPr id="207885" name="Group 21">
              <a:extLst>
                <a:ext uri="{FF2B5EF4-FFF2-40B4-BE49-F238E27FC236}">
                  <a16:creationId xmlns:a16="http://schemas.microsoft.com/office/drawing/2014/main" id="{CAF8237B-763B-4AFE-87D9-DD7C942CF761}"/>
                </a:ext>
              </a:extLst>
            </p:cNvPr>
            <p:cNvGrpSpPr>
              <a:grpSpLocks/>
            </p:cNvGrpSpPr>
            <p:nvPr/>
          </p:nvGrpSpPr>
          <p:grpSpPr bwMode="auto">
            <a:xfrm>
              <a:off x="336" y="2544"/>
              <a:ext cx="1488" cy="1437"/>
              <a:chOff x="336" y="2544"/>
              <a:chExt cx="1488" cy="1437"/>
            </a:xfrm>
          </p:grpSpPr>
          <p:sp>
            <p:nvSpPr>
              <p:cNvPr id="207892" name="Text Box 22">
                <a:extLst>
                  <a:ext uri="{FF2B5EF4-FFF2-40B4-BE49-F238E27FC236}">
                    <a16:creationId xmlns:a16="http://schemas.microsoft.com/office/drawing/2014/main" id="{14FF577E-494D-4E46-8817-75F3CEDA5803}"/>
                  </a:ext>
                </a:extLst>
              </p:cNvPr>
              <p:cNvSpPr txBox="1">
                <a:spLocks noChangeArrowheads="1"/>
              </p:cNvSpPr>
              <p:nvPr/>
            </p:nvSpPr>
            <p:spPr bwMode="auto">
              <a:xfrm>
                <a:off x="336" y="3648"/>
                <a:ext cx="1488" cy="333"/>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solidFill>
                      <a:schemeClr val="tx2"/>
                    </a:solidFill>
                    <a:latin typeface="Calibri" panose="020F0502020204030204" pitchFamily="34" charset="0"/>
                    <a:ea typeface="华文楷体" panose="02010600040101010101" pitchFamily="2" charset="-122"/>
                  </a:rPr>
                  <a:t>CAP</a:t>
                </a:r>
                <a:r>
                  <a:rPr kumimoji="1" lang="zh-CN" altLang="en-US" sz="2800" b="1">
                    <a:solidFill>
                      <a:schemeClr val="tx2"/>
                    </a:solidFill>
                    <a:latin typeface="Calibri" panose="020F0502020204030204" pitchFamily="34" charset="0"/>
                    <a:ea typeface="华文楷体" panose="02010600040101010101" pitchFamily="2" charset="-122"/>
                  </a:rPr>
                  <a:t>结合位点</a:t>
                </a:r>
              </a:p>
            </p:txBody>
          </p:sp>
          <p:sp>
            <p:nvSpPr>
              <p:cNvPr id="207893" name="Line 23">
                <a:extLst>
                  <a:ext uri="{FF2B5EF4-FFF2-40B4-BE49-F238E27FC236}">
                    <a16:creationId xmlns:a16="http://schemas.microsoft.com/office/drawing/2014/main" id="{B8444FBE-E62C-4899-A45D-EF7160621EF4}"/>
                  </a:ext>
                </a:extLst>
              </p:cNvPr>
              <p:cNvSpPr>
                <a:spLocks noChangeShapeType="1"/>
              </p:cNvSpPr>
              <p:nvPr/>
            </p:nvSpPr>
            <p:spPr bwMode="auto">
              <a:xfrm>
                <a:off x="1440" y="2544"/>
                <a:ext cx="0" cy="1104"/>
              </a:xfrm>
              <a:prstGeom prst="line">
                <a:avLst/>
              </a:prstGeom>
              <a:noFill/>
              <a:ln w="38100">
                <a:solidFill>
                  <a:schemeClr val="tx2"/>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07886" name="Group 24">
              <a:extLst>
                <a:ext uri="{FF2B5EF4-FFF2-40B4-BE49-F238E27FC236}">
                  <a16:creationId xmlns:a16="http://schemas.microsoft.com/office/drawing/2014/main" id="{8AB24CBD-7105-4D5F-AACC-CF462D665C81}"/>
                </a:ext>
              </a:extLst>
            </p:cNvPr>
            <p:cNvGrpSpPr>
              <a:grpSpLocks/>
            </p:cNvGrpSpPr>
            <p:nvPr/>
          </p:nvGrpSpPr>
          <p:grpSpPr bwMode="auto">
            <a:xfrm>
              <a:off x="1632" y="2496"/>
              <a:ext cx="1033" cy="1101"/>
              <a:chOff x="1632" y="2496"/>
              <a:chExt cx="1033" cy="1101"/>
            </a:xfrm>
          </p:grpSpPr>
          <p:sp>
            <p:nvSpPr>
              <p:cNvPr id="207890" name="Text Box 25">
                <a:extLst>
                  <a:ext uri="{FF2B5EF4-FFF2-40B4-BE49-F238E27FC236}">
                    <a16:creationId xmlns:a16="http://schemas.microsoft.com/office/drawing/2014/main" id="{136ABA7B-619D-4464-89B2-4A41FAEA980F}"/>
                  </a:ext>
                </a:extLst>
              </p:cNvPr>
              <p:cNvSpPr txBox="1">
                <a:spLocks noChangeArrowheads="1"/>
              </p:cNvSpPr>
              <p:nvPr/>
            </p:nvSpPr>
            <p:spPr bwMode="auto">
              <a:xfrm>
                <a:off x="1632" y="3264"/>
                <a:ext cx="1033" cy="333"/>
              </a:xfrm>
              <a:prstGeom prst="rect">
                <a:avLst/>
              </a:prstGeom>
              <a:noFill/>
              <a:ln w="9525">
                <a:solidFill>
                  <a:srgbClr val="5F4A4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5F4A43"/>
                    </a:solidFill>
                    <a:latin typeface="Calibri" panose="020F0502020204030204" pitchFamily="34" charset="0"/>
                    <a:ea typeface="华文楷体" panose="02010600040101010101" pitchFamily="2" charset="-122"/>
                  </a:rPr>
                  <a:t>启动序列</a:t>
                </a:r>
              </a:p>
            </p:txBody>
          </p:sp>
          <p:sp>
            <p:nvSpPr>
              <p:cNvPr id="207891" name="Line 26">
                <a:extLst>
                  <a:ext uri="{FF2B5EF4-FFF2-40B4-BE49-F238E27FC236}">
                    <a16:creationId xmlns:a16="http://schemas.microsoft.com/office/drawing/2014/main" id="{8B550771-C65C-416A-AA39-D105F8309339}"/>
                  </a:ext>
                </a:extLst>
              </p:cNvPr>
              <p:cNvSpPr>
                <a:spLocks noChangeShapeType="1"/>
              </p:cNvSpPr>
              <p:nvPr/>
            </p:nvSpPr>
            <p:spPr bwMode="auto">
              <a:xfrm flipV="1">
                <a:off x="2112" y="2496"/>
                <a:ext cx="0" cy="768"/>
              </a:xfrm>
              <a:prstGeom prst="line">
                <a:avLst/>
              </a:prstGeom>
              <a:noFill/>
              <a:ln w="381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207887" name="Group 27">
              <a:extLst>
                <a:ext uri="{FF2B5EF4-FFF2-40B4-BE49-F238E27FC236}">
                  <a16:creationId xmlns:a16="http://schemas.microsoft.com/office/drawing/2014/main" id="{B77A5CD0-D1DA-45ED-ABB0-1B3AF4F9005A}"/>
                </a:ext>
              </a:extLst>
            </p:cNvPr>
            <p:cNvGrpSpPr>
              <a:grpSpLocks/>
            </p:cNvGrpSpPr>
            <p:nvPr/>
          </p:nvGrpSpPr>
          <p:grpSpPr bwMode="auto">
            <a:xfrm>
              <a:off x="2352" y="2496"/>
              <a:ext cx="1056" cy="717"/>
              <a:chOff x="2352" y="2496"/>
              <a:chExt cx="1056" cy="717"/>
            </a:xfrm>
          </p:grpSpPr>
          <p:sp>
            <p:nvSpPr>
              <p:cNvPr id="207888" name="Text Box 28">
                <a:extLst>
                  <a:ext uri="{FF2B5EF4-FFF2-40B4-BE49-F238E27FC236}">
                    <a16:creationId xmlns:a16="http://schemas.microsoft.com/office/drawing/2014/main" id="{4FA837E2-0D60-4E8E-ADD3-2874264D2245}"/>
                  </a:ext>
                </a:extLst>
              </p:cNvPr>
              <p:cNvSpPr txBox="1">
                <a:spLocks noChangeArrowheads="1"/>
              </p:cNvSpPr>
              <p:nvPr/>
            </p:nvSpPr>
            <p:spPr bwMode="auto">
              <a:xfrm>
                <a:off x="2352" y="2880"/>
                <a:ext cx="1056" cy="333"/>
              </a:xfrm>
              <a:prstGeom prst="rect">
                <a:avLst/>
              </a:prstGeom>
              <a:noFill/>
              <a:ln w="9525">
                <a:solidFill>
                  <a:srgbClr val="D9820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CC6600"/>
                    </a:solidFill>
                    <a:latin typeface="Calibri" panose="020F0502020204030204" pitchFamily="34" charset="0"/>
                    <a:ea typeface="华文楷体" panose="02010600040101010101" pitchFamily="2" charset="-122"/>
                  </a:rPr>
                  <a:t>操纵序列</a:t>
                </a:r>
              </a:p>
            </p:txBody>
          </p:sp>
          <p:sp>
            <p:nvSpPr>
              <p:cNvPr id="207889" name="Line 29">
                <a:extLst>
                  <a:ext uri="{FF2B5EF4-FFF2-40B4-BE49-F238E27FC236}">
                    <a16:creationId xmlns:a16="http://schemas.microsoft.com/office/drawing/2014/main" id="{84D47B72-F86D-4EB2-BCD6-502B2B7C0BB7}"/>
                  </a:ext>
                </a:extLst>
              </p:cNvPr>
              <p:cNvSpPr>
                <a:spLocks noChangeShapeType="1"/>
              </p:cNvSpPr>
              <p:nvPr/>
            </p:nvSpPr>
            <p:spPr bwMode="auto">
              <a:xfrm flipV="1">
                <a:off x="2688" y="2496"/>
                <a:ext cx="0" cy="384"/>
              </a:xfrm>
              <a:prstGeom prst="line">
                <a:avLst/>
              </a:prstGeom>
              <a:noFill/>
              <a:ln w="38100">
                <a:solidFill>
                  <a:srgbClr val="D9820F"/>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207876" name="Group 30">
            <a:extLst>
              <a:ext uri="{FF2B5EF4-FFF2-40B4-BE49-F238E27FC236}">
                <a16:creationId xmlns:a16="http://schemas.microsoft.com/office/drawing/2014/main" id="{3350DA76-A8FE-45B6-9A26-DD754052CFF3}"/>
              </a:ext>
            </a:extLst>
          </p:cNvPr>
          <p:cNvGrpSpPr>
            <a:grpSpLocks/>
          </p:cNvGrpSpPr>
          <p:nvPr/>
        </p:nvGrpSpPr>
        <p:grpSpPr bwMode="auto">
          <a:xfrm>
            <a:off x="5410200" y="1125538"/>
            <a:ext cx="3733800" cy="3533775"/>
            <a:chOff x="3408" y="1488"/>
            <a:chExt cx="2352" cy="2226"/>
          </a:xfrm>
        </p:grpSpPr>
        <p:sp>
          <p:nvSpPr>
            <p:cNvPr id="207880" name="Text Box 31">
              <a:extLst>
                <a:ext uri="{FF2B5EF4-FFF2-40B4-BE49-F238E27FC236}">
                  <a16:creationId xmlns:a16="http://schemas.microsoft.com/office/drawing/2014/main" id="{5FC1BCE5-5662-4A8F-9829-DA0F0BB7D2FA}"/>
                </a:ext>
              </a:extLst>
            </p:cNvPr>
            <p:cNvSpPr txBox="1">
              <a:spLocks noChangeArrowheads="1"/>
            </p:cNvSpPr>
            <p:nvPr/>
          </p:nvSpPr>
          <p:spPr bwMode="auto">
            <a:xfrm>
              <a:off x="3408" y="1488"/>
              <a:ext cx="14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Calibri" panose="020F0502020204030204" pitchFamily="34" charset="0"/>
                  <a:ea typeface="华文楷体" panose="02010600040101010101" pitchFamily="2" charset="-122"/>
                </a:rPr>
                <a:t>  </a:t>
              </a:r>
              <a:r>
                <a:rPr kumimoji="1" lang="zh-CN" altLang="en-US" sz="2800" b="1">
                  <a:latin typeface="Calibri" panose="020F0502020204030204" pitchFamily="34" charset="0"/>
                  <a:ea typeface="华文楷体" panose="02010600040101010101" pitchFamily="2" charset="-122"/>
                </a:rPr>
                <a:t>结构基因</a:t>
              </a:r>
            </a:p>
          </p:txBody>
        </p:sp>
        <p:sp>
          <p:nvSpPr>
            <p:cNvPr id="207881" name="AutoShape 32">
              <a:extLst>
                <a:ext uri="{FF2B5EF4-FFF2-40B4-BE49-F238E27FC236}">
                  <a16:creationId xmlns:a16="http://schemas.microsoft.com/office/drawing/2014/main" id="{9DB47D11-36B7-48F7-AC86-796F398CD1F0}"/>
                </a:ext>
              </a:extLst>
            </p:cNvPr>
            <p:cNvSpPr>
              <a:spLocks/>
            </p:cNvSpPr>
            <p:nvPr/>
          </p:nvSpPr>
          <p:spPr bwMode="auto">
            <a:xfrm rot="5406250">
              <a:off x="3888" y="1392"/>
              <a:ext cx="192" cy="1056"/>
            </a:xfrm>
            <a:prstGeom prst="leftBrace">
              <a:avLst>
                <a:gd name="adj1" fmla="val 45833"/>
                <a:gd name="adj2" fmla="val 48861"/>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latin typeface="Calibri" panose="020F0502020204030204" pitchFamily="34" charset="0"/>
              </a:endParaRPr>
            </a:p>
          </p:txBody>
        </p:sp>
        <p:sp>
          <p:nvSpPr>
            <p:cNvPr id="207882" name="Text Box 33">
              <a:extLst>
                <a:ext uri="{FF2B5EF4-FFF2-40B4-BE49-F238E27FC236}">
                  <a16:creationId xmlns:a16="http://schemas.microsoft.com/office/drawing/2014/main" id="{3691CD3E-106F-4648-853D-7F2AC2CB33FD}"/>
                </a:ext>
              </a:extLst>
            </p:cNvPr>
            <p:cNvSpPr txBox="1">
              <a:spLocks noChangeArrowheads="1"/>
            </p:cNvSpPr>
            <p:nvPr/>
          </p:nvSpPr>
          <p:spPr bwMode="auto">
            <a:xfrm>
              <a:off x="3696" y="2736"/>
              <a:ext cx="2064" cy="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a:latin typeface="Calibri" panose="020F0502020204030204" pitchFamily="34" charset="0"/>
                  <a:ea typeface="华文楷体" panose="02010600040101010101" pitchFamily="2" charset="-122"/>
                </a:rPr>
                <a:t>Z</a:t>
              </a:r>
              <a:r>
                <a:rPr kumimoji="1" lang="zh-CN" altLang="en-US" b="1">
                  <a:latin typeface="Calibri" panose="020F0502020204030204" pitchFamily="34" charset="0"/>
                  <a:ea typeface="华文楷体" panose="02010600040101010101" pitchFamily="2" charset="-122"/>
                </a:rPr>
                <a:t>： </a:t>
              </a:r>
              <a:r>
                <a:rPr kumimoji="1" lang="en-US" altLang="zh-CN" b="1">
                  <a:latin typeface="Calibri" panose="020F0502020204030204" pitchFamily="34" charset="0"/>
                  <a:cs typeface="Times New Roman" panose="02020603050405020304" pitchFamily="18" charset="0"/>
                </a:rPr>
                <a:t>β-</a:t>
              </a:r>
              <a:r>
                <a:rPr kumimoji="1" lang="zh-CN" altLang="en-US" b="1">
                  <a:latin typeface="Calibri" panose="020F0502020204030204" pitchFamily="34" charset="0"/>
                </a:rPr>
                <a:t>半乳糖苷酶</a:t>
              </a:r>
            </a:p>
            <a:p>
              <a:pPr eaLnBrk="1" hangingPunct="1">
                <a:spcBef>
                  <a:spcPct val="50000"/>
                </a:spcBef>
              </a:pPr>
              <a:r>
                <a:rPr kumimoji="1" lang="en-US" altLang="zh-CN" b="1">
                  <a:latin typeface="Calibri" panose="020F0502020204030204" pitchFamily="34" charset="0"/>
                </a:rPr>
                <a:t>Y</a:t>
              </a:r>
              <a:r>
                <a:rPr kumimoji="1" lang="zh-CN" altLang="en-US" b="1">
                  <a:latin typeface="Calibri" panose="020F0502020204030204" pitchFamily="34" charset="0"/>
                </a:rPr>
                <a:t>： 透酶</a:t>
              </a:r>
            </a:p>
            <a:p>
              <a:pPr eaLnBrk="1" hangingPunct="1">
                <a:spcBef>
                  <a:spcPct val="50000"/>
                </a:spcBef>
              </a:pPr>
              <a:r>
                <a:rPr kumimoji="1" lang="en-US" altLang="zh-CN" b="1">
                  <a:latin typeface="Calibri" panose="020F0502020204030204" pitchFamily="34" charset="0"/>
                </a:rPr>
                <a:t>A</a:t>
              </a:r>
              <a:r>
                <a:rPr kumimoji="1" lang="zh-CN" altLang="en-US" b="1">
                  <a:latin typeface="Calibri" panose="020F0502020204030204" pitchFamily="34" charset="0"/>
                </a:rPr>
                <a:t>：乙酰基转移酶</a:t>
              </a:r>
            </a:p>
          </p:txBody>
        </p:sp>
      </p:grpSp>
      <p:sp>
        <p:nvSpPr>
          <p:cNvPr id="207877" name="AutoShape 34">
            <a:hlinkClick r:id="" action="ppaction://hlinkshowjump?jump=nextslide" highlightClick="1"/>
            <a:extLst>
              <a:ext uri="{FF2B5EF4-FFF2-40B4-BE49-F238E27FC236}">
                <a16:creationId xmlns:a16="http://schemas.microsoft.com/office/drawing/2014/main" id="{1F61B0AD-41CE-4634-8670-DE0ABD920190}"/>
              </a:ext>
            </a:extLst>
          </p:cNvPr>
          <p:cNvSpPr>
            <a:spLocks noChangeArrowheads="1"/>
          </p:cNvSpPr>
          <p:nvPr/>
        </p:nvSpPr>
        <p:spPr bwMode="auto">
          <a:xfrm>
            <a:off x="8027988" y="6165850"/>
            <a:ext cx="647700" cy="476250"/>
          </a:xfrm>
          <a:prstGeom prst="actionButtonForwardNex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latin typeface="Calibri" panose="020F0502020204030204" pitchFamily="34" charset="0"/>
            </a:endParaRPr>
          </a:p>
        </p:txBody>
      </p:sp>
      <p:sp>
        <p:nvSpPr>
          <p:cNvPr id="207878" name="AutoShape 35">
            <a:hlinkClick r:id="" action="ppaction://hlinkshowjump?jump=previousslide" highlightClick="1"/>
            <a:extLst>
              <a:ext uri="{FF2B5EF4-FFF2-40B4-BE49-F238E27FC236}">
                <a16:creationId xmlns:a16="http://schemas.microsoft.com/office/drawing/2014/main" id="{896E74DB-F070-4C5F-BC48-8771FFCA62C8}"/>
              </a:ext>
            </a:extLst>
          </p:cNvPr>
          <p:cNvSpPr>
            <a:spLocks noChangeArrowheads="1"/>
          </p:cNvSpPr>
          <p:nvPr/>
        </p:nvSpPr>
        <p:spPr bwMode="auto">
          <a:xfrm>
            <a:off x="7019925" y="6165850"/>
            <a:ext cx="649288" cy="476250"/>
          </a:xfrm>
          <a:prstGeom prst="actionButtonBackPrevious">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latin typeface="Calibri" panose="020F0502020204030204" pitchFamily="34" charset="0"/>
            </a:endParaRPr>
          </a:p>
        </p:txBody>
      </p:sp>
      <p:sp>
        <p:nvSpPr>
          <p:cNvPr id="207879" name="Rectangle 36">
            <a:extLst>
              <a:ext uri="{FF2B5EF4-FFF2-40B4-BE49-F238E27FC236}">
                <a16:creationId xmlns:a16="http://schemas.microsoft.com/office/drawing/2014/main" id="{F5584EC9-654E-434A-B14C-023EDDA6C4FF}"/>
              </a:ext>
            </a:extLst>
          </p:cNvPr>
          <p:cNvSpPr>
            <a:spLocks noChangeArrowheads="1"/>
          </p:cNvSpPr>
          <p:nvPr/>
        </p:nvSpPr>
        <p:spPr bwMode="auto">
          <a:xfrm>
            <a:off x="395288" y="5734050"/>
            <a:ext cx="2851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a:solidFill>
                  <a:schemeClr val="accent2"/>
                </a:solidFill>
                <a:latin typeface="黑体" panose="02010609060101010101" pitchFamily="49" charset="-122"/>
                <a:ea typeface="黑体" panose="02010609060101010101" pitchFamily="49" charset="-122"/>
              </a:rPr>
              <a:t>cAMP</a:t>
            </a:r>
            <a:r>
              <a:rPr kumimoji="1" lang="en-US" altLang="zh-CN" sz="2800">
                <a:solidFill>
                  <a:schemeClr val="accent2"/>
                </a:solidFill>
                <a:ea typeface="黑体" panose="02010609060101010101" pitchFamily="49" charset="-122"/>
              </a:rPr>
              <a:t>—</a:t>
            </a:r>
            <a:r>
              <a:rPr kumimoji="1" lang="en-US" altLang="zh-CN" sz="2800">
                <a:solidFill>
                  <a:schemeClr val="accent2"/>
                </a:solidFill>
                <a:latin typeface="黑体" panose="02010609060101010101" pitchFamily="49" charset="-122"/>
                <a:ea typeface="黑体" panose="02010609060101010101" pitchFamily="49" charset="-122"/>
              </a:rPr>
              <a:t>CAP</a:t>
            </a:r>
            <a:r>
              <a:rPr kumimoji="1" lang="zh-CN" altLang="en-US" sz="2800">
                <a:solidFill>
                  <a:schemeClr val="accent2"/>
                </a:solidFill>
                <a:latin typeface="黑体" panose="02010609060101010101" pitchFamily="49" charset="-122"/>
                <a:ea typeface="黑体" panose="02010609060101010101" pitchFamily="49" charset="-122"/>
              </a:rPr>
              <a:t>复合物</a:t>
            </a:r>
          </a:p>
        </p:txBody>
      </p:sp>
      <p:sp>
        <p:nvSpPr>
          <p:cNvPr id="2" name="文本框 1">
            <a:extLst>
              <a:ext uri="{FF2B5EF4-FFF2-40B4-BE49-F238E27FC236}">
                <a16:creationId xmlns:a16="http://schemas.microsoft.com/office/drawing/2014/main" id="{AC480CB7-28C4-417B-B2DC-3A8F30D6AE8D}"/>
              </a:ext>
            </a:extLst>
          </p:cNvPr>
          <p:cNvSpPr txBox="1"/>
          <p:nvPr/>
        </p:nvSpPr>
        <p:spPr>
          <a:xfrm>
            <a:off x="642529" y="430087"/>
            <a:ext cx="4201342" cy="646331"/>
          </a:xfrm>
          <a:prstGeom prst="rect">
            <a:avLst/>
          </a:prstGeom>
          <a:noFill/>
        </p:spPr>
        <p:txBody>
          <a:bodyPr wrap="square" rtlCol="0">
            <a:spAutoFit/>
          </a:bodyPr>
          <a:lstStyle/>
          <a:p>
            <a:r>
              <a:rPr lang="zh-CN" altLang="en-US" sz="3600" dirty="0"/>
              <a:t>乳糖操纵子</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898" name="Picture 2" descr="&#10;F28-05.GIF010                                                  00006FCASumanas' Hard Drive            B4EBCDA7:">
            <a:extLst>
              <a:ext uri="{FF2B5EF4-FFF2-40B4-BE49-F238E27FC236}">
                <a16:creationId xmlns:a16="http://schemas.microsoft.com/office/drawing/2014/main" id="{0C3BD9AA-C384-407F-8CAC-22DAD3D9F9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628775"/>
            <a:ext cx="80264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Text Box 2">
            <a:extLst>
              <a:ext uri="{FF2B5EF4-FFF2-40B4-BE49-F238E27FC236}">
                <a16:creationId xmlns:a16="http://schemas.microsoft.com/office/drawing/2014/main" id="{9A96E271-5869-4FA7-BC0D-2CF1C3F1906F}"/>
              </a:ext>
            </a:extLst>
          </p:cNvPr>
          <p:cNvSpPr txBox="1">
            <a:spLocks noChangeArrowheads="1"/>
          </p:cNvSpPr>
          <p:nvPr/>
        </p:nvSpPr>
        <p:spPr bwMode="auto">
          <a:xfrm>
            <a:off x="609600" y="609600"/>
            <a:ext cx="76962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rPr>
              <a:t>           </a:t>
            </a:r>
            <a:r>
              <a:rPr kumimoji="1" lang="en-US" altLang="zh-CN" sz="3200" b="1" dirty="0">
                <a:latin typeface="Times New Roman" panose="02020603050405020304" pitchFamily="18" charset="0"/>
              </a:rPr>
              <a:t>5.3 Once the enzyme protein has been synthesized, the rate of its </a:t>
            </a:r>
            <a:r>
              <a:rPr kumimoji="1" lang="en-US" altLang="zh-CN" sz="3200" b="1" dirty="0">
                <a:solidFill>
                  <a:srgbClr val="FF0000"/>
                </a:solidFill>
                <a:latin typeface="Times New Roman" panose="02020603050405020304" pitchFamily="18" charset="0"/>
              </a:rPr>
              <a:t>breakdown</a:t>
            </a:r>
            <a:r>
              <a:rPr kumimoji="1" lang="en-US" altLang="zh-CN" sz="3200" b="1" dirty="0">
                <a:latin typeface="Times New Roman" panose="02020603050405020304" pitchFamily="18" charset="0"/>
              </a:rPr>
              <a:t> can also be altered as a means of regulatory enzyme activity.</a:t>
            </a:r>
            <a:endParaRPr kumimoji="1" lang="en-US" altLang="zh-CN" sz="3200" dirty="0">
              <a:latin typeface="Times New Roman" panose="02020603050405020304" pitchFamily="18" charset="0"/>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a:extLst>
              <a:ext uri="{FF2B5EF4-FFF2-40B4-BE49-F238E27FC236}">
                <a16:creationId xmlns:a16="http://schemas.microsoft.com/office/drawing/2014/main" id="{3FF7F6EC-B75A-4BE7-891A-9425A5399DBB}"/>
              </a:ext>
            </a:extLst>
          </p:cNvPr>
          <p:cNvSpPr>
            <a:spLocks noGrp="1" noRot="1" noChangeArrowheads="1"/>
          </p:cNvSpPr>
          <p:nvPr>
            <p:ph type="title"/>
          </p:nvPr>
        </p:nvSpPr>
        <p:spPr>
          <a:xfrm>
            <a:off x="3348038" y="-76200"/>
            <a:ext cx="1981200" cy="876300"/>
          </a:xfrm>
        </p:spPr>
        <p:txBody>
          <a:bodyPr/>
          <a:lstStyle/>
          <a:p>
            <a:pPr eaLnBrk="1" hangingPunct="1"/>
            <a:r>
              <a:rPr lang="zh-CN" altLang="en-US" sz="2400" b="1">
                <a:solidFill>
                  <a:srgbClr val="CC0000"/>
                </a:solidFill>
              </a:rPr>
              <a:t>问答题</a:t>
            </a:r>
          </a:p>
        </p:txBody>
      </p:sp>
      <p:sp>
        <p:nvSpPr>
          <p:cNvPr id="210947" name="AutoShape 3">
            <a:hlinkClick r:id="rId2" action="ppaction://hlinksldjump" highlightClick="1"/>
            <a:extLst>
              <a:ext uri="{FF2B5EF4-FFF2-40B4-BE49-F238E27FC236}">
                <a16:creationId xmlns:a16="http://schemas.microsoft.com/office/drawing/2014/main" id="{174959B0-B2F4-458B-93AB-13966F8A87A3}"/>
              </a:ext>
            </a:extLst>
          </p:cNvPr>
          <p:cNvSpPr>
            <a:spLocks noChangeArrowheads="1"/>
          </p:cNvSpPr>
          <p:nvPr/>
        </p:nvSpPr>
        <p:spPr bwMode="auto">
          <a:xfrm>
            <a:off x="8534400" y="6400800"/>
            <a:ext cx="457200" cy="304800"/>
          </a:xfrm>
          <a:prstGeom prst="actionButtonBackPrevious">
            <a:avLst/>
          </a:prstGeom>
          <a:solidFill>
            <a:srgbClr val="C0C0C0"/>
          </a:solidFill>
          <a:ln w="9525">
            <a:solidFill>
              <a:srgbClr val="C0C0C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10948" name="Text Box 4">
            <a:extLst>
              <a:ext uri="{FF2B5EF4-FFF2-40B4-BE49-F238E27FC236}">
                <a16:creationId xmlns:a16="http://schemas.microsoft.com/office/drawing/2014/main" id="{4C0992C6-B193-46C5-9049-A66899C53272}"/>
              </a:ext>
            </a:extLst>
          </p:cNvPr>
          <p:cNvSpPr txBox="1">
            <a:spLocks noChangeArrowheads="1"/>
          </p:cNvSpPr>
          <p:nvPr/>
        </p:nvSpPr>
        <p:spPr bwMode="auto">
          <a:xfrm>
            <a:off x="228600" y="533400"/>
            <a:ext cx="8534400"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50000"/>
              </a:spcBef>
            </a:pPr>
            <a:r>
              <a:rPr lang="en-US" altLang="zh-CN" sz="2000" b="1" dirty="0">
                <a:latin typeface="Times New Roman" panose="02020603050405020304" pitchFamily="18" charset="0"/>
              </a:rPr>
              <a:t>1</a:t>
            </a:r>
            <a:r>
              <a:rPr lang="zh-CN" altLang="en-US" sz="2000" b="1" dirty="0">
                <a:latin typeface="Times New Roman" panose="02020603050405020304" pitchFamily="18" charset="0"/>
              </a:rPr>
              <a:t>、影响酶促反应的因素有哪些？它们是如何影响的？</a:t>
            </a:r>
          </a:p>
          <a:p>
            <a:pPr algn="just">
              <a:spcBef>
                <a:spcPct val="50000"/>
              </a:spcBef>
            </a:pPr>
            <a:r>
              <a:rPr lang="en-US" altLang="zh-CN" sz="2000" b="1" dirty="0">
                <a:latin typeface="Times New Roman" panose="02020603050405020304" pitchFamily="18" charset="0"/>
              </a:rPr>
              <a:t>2</a:t>
            </a:r>
            <a:r>
              <a:rPr lang="zh-CN" altLang="en-US" sz="2000" b="1" dirty="0">
                <a:latin typeface="Times New Roman" panose="02020603050405020304" pitchFamily="18" charset="0"/>
              </a:rPr>
              <a:t>、试比较酶的竞争性抑制作用与非竞争性抑制作用的异同。</a:t>
            </a:r>
          </a:p>
          <a:p>
            <a:pPr algn="just">
              <a:spcBef>
                <a:spcPct val="50000"/>
              </a:spcBef>
            </a:pPr>
            <a:r>
              <a:rPr lang="en-US" altLang="zh-CN" sz="2000" b="1" dirty="0">
                <a:latin typeface="Times New Roman" panose="02020603050405020304" pitchFamily="18" charset="0"/>
              </a:rPr>
              <a:t>3</a:t>
            </a:r>
            <a:r>
              <a:rPr lang="zh-CN" altLang="en-US" sz="2000" b="1" dirty="0">
                <a:latin typeface="Times New Roman" panose="02020603050405020304" pitchFamily="18" charset="0"/>
              </a:rPr>
              <a:t>、</a:t>
            </a:r>
            <a:r>
              <a:rPr lang="zh-CN" altLang="en-US" sz="2000" b="1" dirty="0">
                <a:solidFill>
                  <a:srgbClr val="FF0000"/>
                </a:solidFill>
                <a:latin typeface="Times New Roman" panose="02020603050405020304" pitchFamily="18" charset="0"/>
              </a:rPr>
              <a:t>什么是米氏方程，米氏常数</a:t>
            </a:r>
            <a:r>
              <a:rPr lang="en-US" altLang="zh-CN" sz="2000" b="1" dirty="0">
                <a:solidFill>
                  <a:srgbClr val="FF0000"/>
                </a:solidFill>
                <a:latin typeface="Times New Roman" panose="02020603050405020304" pitchFamily="18" charset="0"/>
              </a:rPr>
              <a:t>Km</a:t>
            </a:r>
            <a:r>
              <a:rPr lang="zh-CN" altLang="en-US" sz="2000" b="1" dirty="0">
                <a:solidFill>
                  <a:srgbClr val="FF0000"/>
                </a:solidFill>
                <a:latin typeface="Times New Roman" panose="02020603050405020304" pitchFamily="18" charset="0"/>
              </a:rPr>
              <a:t>的意义是什么？试求酶反应速度达到最大反应速度的</a:t>
            </a:r>
            <a:r>
              <a:rPr lang="en-US" altLang="zh-CN" sz="2000" b="1" dirty="0">
                <a:solidFill>
                  <a:srgbClr val="FF0000"/>
                </a:solidFill>
                <a:latin typeface="Times New Roman" panose="02020603050405020304" pitchFamily="18" charset="0"/>
              </a:rPr>
              <a:t>99</a:t>
            </a:r>
            <a:r>
              <a:rPr lang="zh-CN" altLang="en-US" sz="2000" b="1" dirty="0">
                <a:solidFill>
                  <a:srgbClr val="FF0000"/>
                </a:solidFill>
                <a:latin typeface="Times New Roman" panose="02020603050405020304" pitchFamily="18" charset="0"/>
              </a:rPr>
              <a:t>％时，所需求的底物浓度（用</a:t>
            </a:r>
            <a:r>
              <a:rPr lang="en-US" altLang="zh-CN" sz="2000" b="1" dirty="0">
                <a:solidFill>
                  <a:srgbClr val="FF0000"/>
                </a:solidFill>
                <a:latin typeface="Times New Roman" panose="02020603050405020304" pitchFamily="18" charset="0"/>
              </a:rPr>
              <a:t>Km</a:t>
            </a:r>
            <a:r>
              <a:rPr lang="zh-CN" altLang="en-US" sz="2000" b="1" dirty="0">
                <a:solidFill>
                  <a:srgbClr val="FF0000"/>
                </a:solidFill>
                <a:latin typeface="Times New Roman" panose="02020603050405020304" pitchFamily="18" charset="0"/>
              </a:rPr>
              <a:t>表示）</a:t>
            </a:r>
          </a:p>
          <a:p>
            <a:pPr algn="just">
              <a:spcBef>
                <a:spcPct val="50000"/>
              </a:spcBef>
            </a:pPr>
            <a:r>
              <a:rPr lang="en-US" altLang="zh-CN" sz="2000" b="1" dirty="0">
                <a:latin typeface="Times New Roman" panose="02020603050405020304" pitchFamily="18" charset="0"/>
              </a:rPr>
              <a:t>4</a:t>
            </a:r>
            <a:r>
              <a:rPr lang="zh-CN" altLang="en-US" sz="2000" b="1" dirty="0">
                <a:latin typeface="Times New Roman" panose="02020603050405020304" pitchFamily="18" charset="0"/>
              </a:rPr>
              <a:t>、举例说明蛋白质的结构和功能之间的相互关系。</a:t>
            </a:r>
          </a:p>
          <a:p>
            <a:pPr algn="just">
              <a:spcBef>
                <a:spcPct val="50000"/>
              </a:spcBef>
            </a:pPr>
            <a:r>
              <a:rPr lang="en-US" altLang="zh-CN" sz="2000" b="1" dirty="0">
                <a:latin typeface="Times New Roman" panose="02020603050405020304" pitchFamily="18" charset="0"/>
              </a:rPr>
              <a:t>5</a:t>
            </a:r>
            <a:r>
              <a:rPr lang="zh-CN" altLang="en-US" sz="2000" b="1" dirty="0">
                <a:latin typeface="Times New Roman" panose="02020603050405020304" pitchFamily="18" charset="0"/>
              </a:rPr>
              <a:t>、称取</a:t>
            </a:r>
            <a:r>
              <a:rPr lang="en-US" altLang="zh-CN" sz="2000" b="1" dirty="0">
                <a:latin typeface="Times New Roman" panose="02020603050405020304" pitchFamily="18" charset="0"/>
              </a:rPr>
              <a:t>25</a:t>
            </a:r>
            <a:r>
              <a:rPr lang="zh-CN" altLang="en-US" sz="2000" b="1" dirty="0">
                <a:latin typeface="Times New Roman" panose="02020603050405020304" pitchFamily="18" charset="0"/>
              </a:rPr>
              <a:t>毫克某蛋白酶制剂配成</a:t>
            </a:r>
            <a:r>
              <a:rPr lang="en-US" altLang="zh-CN" sz="2000" b="1" dirty="0">
                <a:latin typeface="Times New Roman" panose="02020603050405020304" pitchFamily="18" charset="0"/>
              </a:rPr>
              <a:t>25</a:t>
            </a:r>
            <a:r>
              <a:rPr lang="zh-CN" altLang="en-US" sz="2000" b="1" dirty="0">
                <a:latin typeface="Times New Roman" panose="02020603050405020304" pitchFamily="18" charset="0"/>
              </a:rPr>
              <a:t>毫升溶液，取出</a:t>
            </a:r>
            <a:r>
              <a:rPr lang="en-US" altLang="zh-CN" sz="2000" b="1" dirty="0">
                <a:latin typeface="Times New Roman" panose="02020603050405020304" pitchFamily="18" charset="0"/>
              </a:rPr>
              <a:t>1</a:t>
            </a:r>
            <a:r>
              <a:rPr lang="zh-CN" altLang="en-US" sz="2000" b="1" dirty="0">
                <a:latin typeface="Times New Roman" panose="02020603050405020304" pitchFamily="18" charset="0"/>
              </a:rPr>
              <a:t>毫升该酶液以酪蛋白为底物</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用</a:t>
            </a:r>
            <a:r>
              <a:rPr lang="en-US" altLang="zh-CN" sz="2000" b="1" dirty="0" err="1">
                <a:latin typeface="Times New Roman" panose="02020603050405020304" pitchFamily="18" charset="0"/>
              </a:rPr>
              <a:t>Folin</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酚比色法测定酶活力</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得知每小时产生</a:t>
            </a:r>
            <a:r>
              <a:rPr lang="en-US" altLang="zh-CN" sz="2000" b="1" dirty="0">
                <a:latin typeface="Times New Roman" panose="02020603050405020304" pitchFamily="18" charset="0"/>
              </a:rPr>
              <a:t>1500</a:t>
            </a:r>
            <a:r>
              <a:rPr lang="zh-CN" altLang="en-US" sz="2000" b="1" dirty="0">
                <a:latin typeface="Times New Roman" panose="02020603050405020304" pitchFamily="18" charset="0"/>
              </a:rPr>
              <a:t>微克酪氨酸。另取</a:t>
            </a:r>
            <a:r>
              <a:rPr lang="en-US" altLang="zh-CN" sz="2000" b="1" dirty="0">
                <a:latin typeface="Times New Roman" panose="02020603050405020304" pitchFamily="18" charset="0"/>
              </a:rPr>
              <a:t>2</a:t>
            </a:r>
            <a:r>
              <a:rPr lang="zh-CN" altLang="en-US" sz="2000" b="1" dirty="0">
                <a:latin typeface="Times New Roman" panose="02020603050405020304" pitchFamily="18" charset="0"/>
              </a:rPr>
              <a:t>毫升酶液，用凯式定氮法测得蛋白氮为</a:t>
            </a:r>
            <a:r>
              <a:rPr lang="en-US" altLang="zh-CN" sz="2000" b="1" dirty="0">
                <a:latin typeface="Times New Roman" panose="02020603050405020304" pitchFamily="18" charset="0"/>
              </a:rPr>
              <a:t>0.2</a:t>
            </a:r>
            <a:r>
              <a:rPr lang="zh-CN" altLang="en-US" sz="2000" b="1" dirty="0">
                <a:latin typeface="Times New Roman" panose="02020603050405020304" pitchFamily="18" charset="0"/>
              </a:rPr>
              <a:t>毫克。若以每分钟产生</a:t>
            </a:r>
            <a:r>
              <a:rPr lang="en-US" altLang="zh-CN" sz="2000" b="1" dirty="0">
                <a:latin typeface="Times New Roman" panose="02020603050405020304" pitchFamily="18" charset="0"/>
              </a:rPr>
              <a:t>1</a:t>
            </a:r>
            <a:r>
              <a:rPr lang="zh-CN" altLang="en-US" sz="2000" b="1" dirty="0">
                <a:latin typeface="Times New Roman" panose="02020603050405020304" pitchFamily="18" charset="0"/>
              </a:rPr>
              <a:t>微克酪氨酸的酶量为一个活力单位计算，根据以上数据，求出（</a:t>
            </a:r>
            <a:r>
              <a:rPr lang="en-US" altLang="zh-CN" sz="2000" b="1" dirty="0">
                <a:latin typeface="Times New Roman" panose="02020603050405020304" pitchFamily="18" charset="0"/>
              </a:rPr>
              <a:t>1</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1</a:t>
            </a:r>
            <a:r>
              <a:rPr lang="zh-CN" altLang="en-US" sz="2000" b="1" dirty="0">
                <a:latin typeface="Times New Roman" panose="02020603050405020304" pitchFamily="18" charset="0"/>
              </a:rPr>
              <a:t>毫升酶液中含有的蛋白质和酶活力单位数；（</a:t>
            </a:r>
            <a:r>
              <a:rPr lang="en-US" altLang="zh-CN" sz="2000" b="1" dirty="0">
                <a:latin typeface="Times New Roman" panose="02020603050405020304" pitchFamily="18" charset="0"/>
              </a:rPr>
              <a:t>2</a:t>
            </a:r>
            <a:r>
              <a:rPr lang="zh-CN" altLang="en-US" sz="2000" b="1" dirty="0">
                <a:latin typeface="Times New Roman" panose="02020603050405020304" pitchFamily="18" charset="0"/>
              </a:rPr>
              <a:t>）该酶制剂的比活力；（</a:t>
            </a:r>
            <a:r>
              <a:rPr lang="en-US" altLang="zh-CN" sz="2000" b="1" dirty="0">
                <a:latin typeface="Times New Roman" panose="02020603050405020304" pitchFamily="18" charset="0"/>
              </a:rPr>
              <a:t>3</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1</a:t>
            </a:r>
            <a:r>
              <a:rPr lang="zh-CN" altLang="en-US" sz="2000" b="1" dirty="0">
                <a:latin typeface="Times New Roman" panose="02020603050405020304" pitchFamily="18" charset="0"/>
              </a:rPr>
              <a:t>克酶制剂的总蛋白含量和酶活力单位数。</a:t>
            </a:r>
          </a:p>
          <a:p>
            <a:pPr algn="ctr">
              <a:spcBef>
                <a:spcPct val="50000"/>
              </a:spcBef>
            </a:pPr>
            <a:r>
              <a:rPr lang="zh-CN" altLang="en-US" sz="2000" b="1" dirty="0">
                <a:solidFill>
                  <a:srgbClr val="CC0000"/>
                </a:solidFill>
                <a:latin typeface="Times New Roman" panose="02020603050405020304" pitchFamily="18" charset="0"/>
              </a:rPr>
              <a:t>名词解释</a:t>
            </a:r>
          </a:p>
          <a:p>
            <a:pPr algn="just">
              <a:spcBef>
                <a:spcPct val="50000"/>
              </a:spcBef>
            </a:pPr>
            <a:r>
              <a:rPr lang="zh-CN" altLang="en-US" sz="2000" b="1" dirty="0">
                <a:latin typeface="Times New Roman" panose="02020603050405020304" pitchFamily="18" charset="0"/>
              </a:rPr>
              <a:t>活性中心        全酶         酶原       活力单位        比活力　 米氏方程        </a:t>
            </a:r>
            <a:r>
              <a:rPr lang="en-US" altLang="zh-CN" sz="2000" b="1" dirty="0">
                <a:latin typeface="Times New Roman" panose="02020603050405020304" pitchFamily="18" charset="0"/>
              </a:rPr>
              <a:t>Km      </a:t>
            </a:r>
            <a:r>
              <a:rPr lang="zh-CN" altLang="en-US" sz="2000" b="1" dirty="0">
                <a:latin typeface="Times New Roman" panose="02020603050405020304" pitchFamily="18" charset="0"/>
              </a:rPr>
              <a:t>诱导契合　　变构效应         </a:t>
            </a:r>
            <a:r>
              <a:rPr lang="en-US" altLang="zh-CN" sz="2000" b="1" dirty="0">
                <a:latin typeface="Times New Roman" panose="02020603050405020304" pitchFamily="18" charset="0"/>
              </a:rPr>
              <a:t>ribozyme            </a:t>
            </a:r>
            <a:r>
              <a:rPr lang="zh-CN" altLang="en-US" sz="2000" b="1" dirty="0">
                <a:latin typeface="Times New Roman" panose="02020603050405020304" pitchFamily="18" charset="0"/>
              </a:rPr>
              <a:t>辅酶和辅基</a:t>
            </a:r>
          </a:p>
        </p:txBody>
      </p:sp>
    </p:spTree>
  </p:cSld>
  <p:clrMapOvr>
    <a:masterClrMapping/>
  </p:clrMapOvr>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a:extLst>
              <a:ext uri="{FF2B5EF4-FFF2-40B4-BE49-F238E27FC236}">
                <a16:creationId xmlns:a16="http://schemas.microsoft.com/office/drawing/2014/main" id="{D11BBE3A-BB08-48DC-A65F-4363DE8F1FED}"/>
              </a:ext>
            </a:extLst>
          </p:cNvPr>
          <p:cNvSpPr>
            <a:spLocks noChangeArrowheads="1"/>
          </p:cNvSpPr>
          <p:nvPr/>
        </p:nvSpPr>
        <p:spPr bwMode="auto">
          <a:xfrm>
            <a:off x="1676400" y="1336675"/>
            <a:ext cx="4276725"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13970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13970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13970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13970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13970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13970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13970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13970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1397000" algn="l"/>
              </a:tabLs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a:t>1</a:t>
            </a:r>
            <a:r>
              <a:rPr lang="zh-CN" altLang="en-US" sz="2400"/>
              <a:t>． </a:t>
            </a:r>
            <a:r>
              <a:rPr lang="en-US" altLang="zh-CN" sz="2400"/>
              <a:t>Specific activity    </a:t>
            </a:r>
          </a:p>
          <a:p>
            <a:pPr eaLnBrk="1" hangingPunct="1">
              <a:lnSpc>
                <a:spcPct val="150000"/>
              </a:lnSpc>
            </a:pPr>
            <a:r>
              <a:rPr lang="en-US" altLang="zh-CN" sz="2400"/>
              <a:t>2</a:t>
            </a:r>
            <a:r>
              <a:rPr lang="zh-CN" altLang="en-US" sz="2400"/>
              <a:t>． </a:t>
            </a:r>
            <a:r>
              <a:rPr lang="en-US" altLang="zh-CN" sz="2400"/>
              <a:t>coenzyme   	</a:t>
            </a:r>
          </a:p>
          <a:p>
            <a:pPr eaLnBrk="1" hangingPunct="1">
              <a:lnSpc>
                <a:spcPct val="150000"/>
              </a:lnSpc>
            </a:pPr>
            <a:r>
              <a:rPr lang="en-US" altLang="zh-CN" sz="2400"/>
              <a:t>3</a:t>
            </a:r>
            <a:r>
              <a:rPr lang="zh-CN" altLang="en-US" sz="2400"/>
              <a:t>． </a:t>
            </a:r>
            <a:r>
              <a:rPr lang="en-US" altLang="zh-CN" sz="2400"/>
              <a:t>Allosteric enzyme   </a:t>
            </a:r>
          </a:p>
          <a:p>
            <a:pPr eaLnBrk="1" hangingPunct="1">
              <a:lnSpc>
                <a:spcPct val="150000"/>
              </a:lnSpc>
            </a:pPr>
            <a:r>
              <a:rPr lang="en-US" altLang="zh-CN" sz="2400"/>
              <a:t>4</a:t>
            </a:r>
            <a:r>
              <a:rPr lang="zh-CN" altLang="en-US" sz="2400"/>
              <a:t>． </a:t>
            </a:r>
            <a:r>
              <a:rPr lang="en-US" altLang="zh-CN" sz="2400"/>
              <a:t>Proteolytic activation </a:t>
            </a:r>
          </a:p>
          <a:p>
            <a:pPr eaLnBrk="1" hangingPunct="1">
              <a:lnSpc>
                <a:spcPct val="150000"/>
              </a:lnSpc>
            </a:pPr>
            <a:r>
              <a:rPr lang="en-US" altLang="zh-CN" sz="2400"/>
              <a:t>5</a:t>
            </a:r>
            <a:r>
              <a:rPr lang="zh-CN" altLang="en-US" sz="2400"/>
              <a:t>． </a:t>
            </a:r>
            <a:r>
              <a:rPr lang="en-US" altLang="zh-CN" sz="2400"/>
              <a:t>Inhibitor   </a:t>
            </a:r>
          </a:p>
          <a:p>
            <a:pPr eaLnBrk="1" hangingPunct="1">
              <a:lnSpc>
                <a:spcPct val="150000"/>
              </a:lnSpc>
            </a:pPr>
            <a:r>
              <a:rPr lang="en-US" altLang="zh-CN" sz="2400"/>
              <a:t>6.  covalent modification</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a:extLst>
              <a:ext uri="{FF2B5EF4-FFF2-40B4-BE49-F238E27FC236}">
                <a16:creationId xmlns:a16="http://schemas.microsoft.com/office/drawing/2014/main" id="{D11BBE3A-BB08-48DC-A65F-4363DE8F1FED}"/>
              </a:ext>
            </a:extLst>
          </p:cNvPr>
          <p:cNvSpPr>
            <a:spLocks noChangeArrowheads="1"/>
          </p:cNvSpPr>
          <p:nvPr/>
        </p:nvSpPr>
        <p:spPr bwMode="auto">
          <a:xfrm>
            <a:off x="1676400" y="1336675"/>
            <a:ext cx="4276725"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1397000"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1397000"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1397000"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1397000"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13970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13970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13970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13970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1397000" algn="l"/>
              </a:tabLs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400"/>
              <a:t>1</a:t>
            </a:r>
            <a:r>
              <a:rPr lang="zh-CN" altLang="en-US" sz="2400"/>
              <a:t>． </a:t>
            </a:r>
            <a:r>
              <a:rPr lang="en-US" altLang="zh-CN" sz="2400"/>
              <a:t>Specific activity    </a:t>
            </a:r>
          </a:p>
          <a:p>
            <a:pPr eaLnBrk="1" hangingPunct="1">
              <a:lnSpc>
                <a:spcPct val="150000"/>
              </a:lnSpc>
            </a:pPr>
            <a:r>
              <a:rPr lang="en-US" altLang="zh-CN" sz="2400"/>
              <a:t>2</a:t>
            </a:r>
            <a:r>
              <a:rPr lang="zh-CN" altLang="en-US" sz="2400"/>
              <a:t>． </a:t>
            </a:r>
            <a:r>
              <a:rPr lang="en-US" altLang="zh-CN" sz="2400"/>
              <a:t>coenzyme   	</a:t>
            </a:r>
          </a:p>
          <a:p>
            <a:pPr eaLnBrk="1" hangingPunct="1">
              <a:lnSpc>
                <a:spcPct val="150000"/>
              </a:lnSpc>
            </a:pPr>
            <a:r>
              <a:rPr lang="en-US" altLang="zh-CN" sz="2400"/>
              <a:t>3</a:t>
            </a:r>
            <a:r>
              <a:rPr lang="zh-CN" altLang="en-US" sz="2400"/>
              <a:t>． </a:t>
            </a:r>
            <a:r>
              <a:rPr lang="en-US" altLang="zh-CN" sz="2400"/>
              <a:t>Allosteric enzyme   </a:t>
            </a:r>
          </a:p>
          <a:p>
            <a:pPr eaLnBrk="1" hangingPunct="1">
              <a:lnSpc>
                <a:spcPct val="150000"/>
              </a:lnSpc>
            </a:pPr>
            <a:r>
              <a:rPr lang="en-US" altLang="zh-CN" sz="2400"/>
              <a:t>4</a:t>
            </a:r>
            <a:r>
              <a:rPr lang="zh-CN" altLang="en-US" sz="2400"/>
              <a:t>． </a:t>
            </a:r>
            <a:r>
              <a:rPr lang="en-US" altLang="zh-CN" sz="2400"/>
              <a:t>Proteolytic activation </a:t>
            </a:r>
          </a:p>
          <a:p>
            <a:pPr eaLnBrk="1" hangingPunct="1">
              <a:lnSpc>
                <a:spcPct val="150000"/>
              </a:lnSpc>
            </a:pPr>
            <a:r>
              <a:rPr lang="en-US" altLang="zh-CN" sz="2400"/>
              <a:t>5</a:t>
            </a:r>
            <a:r>
              <a:rPr lang="zh-CN" altLang="en-US" sz="2400"/>
              <a:t>． </a:t>
            </a:r>
            <a:r>
              <a:rPr lang="en-US" altLang="zh-CN" sz="2400"/>
              <a:t>Inhibitor   </a:t>
            </a:r>
          </a:p>
          <a:p>
            <a:pPr eaLnBrk="1" hangingPunct="1">
              <a:lnSpc>
                <a:spcPct val="150000"/>
              </a:lnSpc>
            </a:pPr>
            <a:r>
              <a:rPr lang="en-US" altLang="zh-CN" sz="2400"/>
              <a:t>6.  covalent modification</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08645D2-78A9-4776-B2EC-D36DB7844B99}"/>
              </a:ext>
            </a:extLst>
          </p:cNvPr>
          <p:cNvPicPr>
            <a:picLocks noChangeAspect="1"/>
          </p:cNvPicPr>
          <p:nvPr/>
        </p:nvPicPr>
        <p:blipFill>
          <a:blip r:embed="rId2"/>
          <a:stretch>
            <a:fillRect/>
          </a:stretch>
        </p:blipFill>
        <p:spPr>
          <a:xfrm>
            <a:off x="0" y="857250"/>
            <a:ext cx="9144000" cy="5143500"/>
          </a:xfrm>
          <a:prstGeom prst="rect">
            <a:avLst/>
          </a:prstGeom>
        </p:spPr>
      </p:pic>
    </p:spTree>
    <p:extLst>
      <p:ext uri="{BB962C8B-B14F-4D97-AF65-F5344CB8AC3E}">
        <p14:creationId xmlns:p14="http://schemas.microsoft.com/office/powerpoint/2010/main" val="2503299562"/>
      </p:ext>
    </p:extLst>
  </p:cSld>
  <p:clrMapOvr>
    <a:masterClrMapping/>
  </p:clrMapOvr>
</p:sld>
</file>

<file path=ppt/theme/theme1.xml><?xml version="1.0" encoding="utf-8"?>
<a:theme xmlns:a="http://schemas.openxmlformats.org/drawingml/2006/main" name="shan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shand</Template>
  <TotalTime>5917</TotalTime>
  <Words>6166</Words>
  <Application>Microsoft Office PowerPoint</Application>
  <PresentationFormat>全屏显示(4:3)</PresentationFormat>
  <Paragraphs>633</Paragraphs>
  <Slides>218</Slides>
  <Notes>118</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2</vt:i4>
      </vt:variant>
      <vt:variant>
        <vt:lpstr>幻灯片标题</vt:lpstr>
      </vt:variant>
      <vt:variant>
        <vt:i4>218</vt:i4>
      </vt:variant>
    </vt:vector>
  </HeadingPairs>
  <TitlesOfParts>
    <vt:vector size="241" baseType="lpstr">
      <vt:lpstr>Century-Light</vt:lpstr>
      <vt:lpstr>Century-LightItalic</vt:lpstr>
      <vt:lpstr>CenturyStd-Bold</vt:lpstr>
      <vt:lpstr>CenturyStd-Light</vt:lpstr>
      <vt:lpstr>CenturyStd-LightItalic</vt:lpstr>
      <vt:lpstr>CG Times (W1)</vt:lpstr>
      <vt:lpstr>SolexBoldLining</vt:lpstr>
      <vt:lpstr>TimesNewRomanPS-BoldMT</vt:lpstr>
      <vt:lpstr>Whitney-Light</vt:lpstr>
      <vt:lpstr>Whitney-LightItalic</vt:lpstr>
      <vt:lpstr>等线</vt:lpstr>
      <vt:lpstr>黑体</vt:lpstr>
      <vt:lpstr>华文中宋</vt:lpstr>
      <vt:lpstr>楷体_GB2312</vt:lpstr>
      <vt:lpstr>arial</vt:lpstr>
      <vt:lpstr>arial</vt:lpstr>
      <vt:lpstr>Calibri</vt:lpstr>
      <vt:lpstr>Symbol</vt:lpstr>
      <vt:lpstr>Tahoma</vt:lpstr>
      <vt:lpstr>Times New Roman</vt:lpstr>
      <vt:lpstr>shand</vt:lpstr>
      <vt:lpstr>Equation.DSMT4</vt:lpstr>
      <vt:lpstr>Equation</vt:lpstr>
      <vt:lpstr>Section C       Enzyme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举例 synthase（lyase）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酶促反应速度的测量 （酶促反应初始速率initial rate or initial velocity）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米氏常数Km 的意义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Isoenzymes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C4   Enzyme inhibition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血红蛋白输氧功能和构象变化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问答题</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dc:creator>
  <cp:lastModifiedBy>洛冰 韩</cp:lastModifiedBy>
  <cp:revision>142</cp:revision>
  <dcterms:created xsi:type="dcterms:W3CDTF">2014-10-13T11:37:17Z</dcterms:created>
  <dcterms:modified xsi:type="dcterms:W3CDTF">2023-10-15T08:38:52Z</dcterms:modified>
</cp:coreProperties>
</file>