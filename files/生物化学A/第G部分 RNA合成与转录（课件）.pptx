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ink/ink1.xml" ContentType="application/inkml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ink/ink2.xml" ContentType="application/inkml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1"/>
  </p:notesMasterIdLst>
  <p:handoutMasterIdLst>
    <p:handoutMasterId r:id="rId172"/>
  </p:handoutMasterIdLst>
  <p:sldIdLst>
    <p:sldId id="256" r:id="rId2"/>
    <p:sldId id="268" r:id="rId3"/>
    <p:sldId id="414" r:id="rId4"/>
    <p:sldId id="415" r:id="rId5"/>
    <p:sldId id="475" r:id="rId6"/>
    <p:sldId id="413" r:id="rId7"/>
    <p:sldId id="279" r:id="rId8"/>
    <p:sldId id="282" r:id="rId9"/>
    <p:sldId id="281" r:id="rId10"/>
    <p:sldId id="280" r:id="rId11"/>
    <p:sldId id="283" r:id="rId12"/>
    <p:sldId id="286" r:id="rId13"/>
    <p:sldId id="287" r:id="rId14"/>
    <p:sldId id="288" r:id="rId15"/>
    <p:sldId id="416" r:id="rId16"/>
    <p:sldId id="432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300" r:id="rId27"/>
    <p:sldId id="468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488" r:id="rId42"/>
    <p:sldId id="433" r:id="rId43"/>
    <p:sldId id="314" r:id="rId44"/>
    <p:sldId id="315" r:id="rId45"/>
    <p:sldId id="316" r:id="rId46"/>
    <p:sldId id="317" r:id="rId47"/>
    <p:sldId id="330" r:id="rId48"/>
    <p:sldId id="331" r:id="rId49"/>
    <p:sldId id="333" r:id="rId50"/>
    <p:sldId id="335" r:id="rId51"/>
    <p:sldId id="334" r:id="rId52"/>
    <p:sldId id="492" r:id="rId53"/>
    <p:sldId id="493" r:id="rId54"/>
    <p:sldId id="435" r:id="rId55"/>
    <p:sldId id="332" r:id="rId56"/>
    <p:sldId id="436" r:id="rId57"/>
    <p:sldId id="437" r:id="rId58"/>
    <p:sldId id="439" r:id="rId59"/>
    <p:sldId id="438" r:id="rId60"/>
    <p:sldId id="440" r:id="rId61"/>
    <p:sldId id="447" r:id="rId62"/>
    <p:sldId id="470" r:id="rId63"/>
    <p:sldId id="441" r:id="rId64"/>
    <p:sldId id="442" r:id="rId65"/>
    <p:sldId id="443" r:id="rId66"/>
    <p:sldId id="444" r:id="rId67"/>
    <p:sldId id="446" r:id="rId68"/>
    <p:sldId id="445" r:id="rId69"/>
    <p:sldId id="337" r:id="rId70"/>
    <p:sldId id="338" r:id="rId71"/>
    <p:sldId id="339" r:id="rId72"/>
    <p:sldId id="341" r:id="rId73"/>
    <p:sldId id="342" r:id="rId74"/>
    <p:sldId id="429" r:id="rId75"/>
    <p:sldId id="449" r:id="rId76"/>
    <p:sldId id="344" r:id="rId77"/>
    <p:sldId id="345" r:id="rId78"/>
    <p:sldId id="346" r:id="rId79"/>
    <p:sldId id="347" r:id="rId80"/>
    <p:sldId id="348" r:id="rId81"/>
    <p:sldId id="351" r:id="rId82"/>
    <p:sldId id="352" r:id="rId83"/>
    <p:sldId id="426" r:id="rId84"/>
    <p:sldId id="427" r:id="rId85"/>
    <p:sldId id="478" r:id="rId86"/>
    <p:sldId id="479" r:id="rId87"/>
    <p:sldId id="431" r:id="rId88"/>
    <p:sldId id="480" r:id="rId89"/>
    <p:sldId id="434" r:id="rId90"/>
    <p:sldId id="481" r:id="rId91"/>
    <p:sldId id="482" r:id="rId92"/>
    <p:sldId id="476" r:id="rId93"/>
    <p:sldId id="450" r:id="rId94"/>
    <p:sldId id="353" r:id="rId95"/>
    <p:sldId id="355" r:id="rId96"/>
    <p:sldId id="343" r:id="rId97"/>
    <p:sldId id="356" r:id="rId98"/>
    <p:sldId id="358" r:id="rId99"/>
    <p:sldId id="359" r:id="rId100"/>
    <p:sldId id="360" r:id="rId101"/>
    <p:sldId id="448" r:id="rId102"/>
    <p:sldId id="472" r:id="rId103"/>
    <p:sldId id="495" r:id="rId104"/>
    <p:sldId id="490" r:id="rId105"/>
    <p:sldId id="362" r:id="rId106"/>
    <p:sldId id="364" r:id="rId107"/>
    <p:sldId id="453" r:id="rId108"/>
    <p:sldId id="365" r:id="rId109"/>
    <p:sldId id="366" r:id="rId110"/>
    <p:sldId id="367" r:id="rId111"/>
    <p:sldId id="368" r:id="rId112"/>
    <p:sldId id="454" r:id="rId113"/>
    <p:sldId id="455" r:id="rId114"/>
    <p:sldId id="456" r:id="rId115"/>
    <p:sldId id="458" r:id="rId116"/>
    <p:sldId id="369" r:id="rId117"/>
    <p:sldId id="370" r:id="rId118"/>
    <p:sldId id="372" r:id="rId119"/>
    <p:sldId id="373" r:id="rId120"/>
    <p:sldId id="375" r:id="rId121"/>
    <p:sldId id="376" r:id="rId122"/>
    <p:sldId id="377" r:id="rId123"/>
    <p:sldId id="378" r:id="rId124"/>
    <p:sldId id="379" r:id="rId125"/>
    <p:sldId id="380" r:id="rId126"/>
    <p:sldId id="461" r:id="rId127"/>
    <p:sldId id="471" r:id="rId128"/>
    <p:sldId id="473" r:id="rId129"/>
    <p:sldId id="494" r:id="rId130"/>
    <p:sldId id="381" r:id="rId131"/>
    <p:sldId id="382" r:id="rId132"/>
    <p:sldId id="462" r:id="rId133"/>
    <p:sldId id="383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420" r:id="rId145"/>
    <p:sldId id="399" r:id="rId146"/>
    <p:sldId id="400" r:id="rId147"/>
    <p:sldId id="401" r:id="rId148"/>
    <p:sldId id="403" r:id="rId149"/>
    <p:sldId id="469" r:id="rId150"/>
    <p:sldId id="404" r:id="rId151"/>
    <p:sldId id="405" r:id="rId152"/>
    <p:sldId id="406" r:id="rId153"/>
    <p:sldId id="409" r:id="rId154"/>
    <p:sldId id="411" r:id="rId155"/>
    <p:sldId id="412" r:id="rId156"/>
    <p:sldId id="474" r:id="rId157"/>
    <p:sldId id="276" r:id="rId158"/>
    <p:sldId id="428" r:id="rId159"/>
    <p:sldId id="464" r:id="rId160"/>
    <p:sldId id="463" r:id="rId161"/>
    <p:sldId id="465" r:id="rId162"/>
    <p:sldId id="466" r:id="rId163"/>
    <p:sldId id="467" r:id="rId164"/>
    <p:sldId id="483" r:id="rId165"/>
    <p:sldId id="484" r:id="rId166"/>
    <p:sldId id="485" r:id="rId167"/>
    <p:sldId id="486" r:id="rId168"/>
    <p:sldId id="487" r:id="rId169"/>
    <p:sldId id="329" r:id="rId17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600000"/>
    <a:srgbClr val="F8F8F8"/>
    <a:srgbClr val="008000"/>
    <a:srgbClr val="000099"/>
    <a:srgbClr val="99CCFF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3557" autoAdjust="0"/>
  </p:normalViewPr>
  <p:slideViewPr>
    <p:cSldViewPr>
      <p:cViewPr varScale="1">
        <p:scale>
          <a:sx n="60" d="100"/>
          <a:sy n="60" d="100"/>
        </p:scale>
        <p:origin x="121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2" Type="http://schemas.openxmlformats.org/officeDocument/2006/relationships/handoutMaster" Target="handoutMasters/handout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theme" Target="theme/theme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tableStyles" Target="tableStyle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A4EC9AE-754B-49FD-BA16-B62493B54AAE}" type="datetimeFigureOut">
              <a:rPr lang="zh-CN" altLang="en-US"/>
              <a:pPr>
                <a:defRPr/>
              </a:pPr>
              <a:t>2023/11/2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4895103-49AF-4E9F-8FAA-AC2C9A984A0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77900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2-10-27T08:20:30.0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4869 3581 0,'0'0'0,"-141"0"0,70 0 15,-17 0 1,17 0-16,18 0 0,0 0 15,-17 0 1,35 0 0,-18 17-16,0 19 15,-106-1 1,88-17 0,-17-1-16,0 1 15,-18 17-15,-17-17 16,-54-1-16,19 36 15,17-17 1,-36-19-16,18 36 0,-140 71 31,175-71-31,-35 17 16,36 18-16,-124 53 16,141-52-1,18 16-15,17-16 0,1-1 16,-1 35-16,1-35 15,17 36-15,35-36 16,-123 230 0,123-230-1,1 35 1,-1-17-16,-17 18 16,17 140 15,18-158-31,35-18 0,-17 18 15,35 18-15,-35-1 16,211 441 15,-176-422-15,70 140 0,-70-123-16,71 140 15,-71-140 1,0-18-16,-1 53 0,37-35 31,-54-36-31,124 283 47,-89-247-31,1-71-16,35 36 15,-1-1-15,1 1 16,18 17-16,-18-18 15,-18 1-15,-18-36 0,1 18 16,-1-53 0,301 246 15,-54-105-31,-70-52 31,-141-90-31,18-16 0,-1 17 16,1-36-1,-19 36 1,19-35-16,140 70 16,-140-70-16,387 52 31,-264-70-15,-88 0-1,-53 0-15,-35 0 16,17 0-1,-18 0-15,18 0 16,-52 0-16,17 0 0,0 0 16,-1 0-16,337-53 47,-90 18-16,-140 0-31,18-18 0,-1 35 15,18-17 1,18-18-16,17 0 0,-17 0 16,17 0-16,-53-35 15,-17 18-15,0-19 16,17 36-16,195-158 31,-266 140-31,-16 1 16,-1 17-16,53-18 15,-88 36-15,17-18 16,54-71 0,-89 72-1,0-37-15,36 1 16,-18 0 0,17 0-16,54-106 31,-18 106-31,35-89 0,-18-17 31,-52 53-15,-36 53-16,18 0 15,-35-18-15,17-53 16,-17 18-16,17-265 47,-35 336-47,-18-89 15,-17 0 17,17 36-32,-17-18 0,17-18 15,-34 53-15,34-17 16,-17 17 0,17-18-16,-105-317 46,70 335-46,35 18 0,-53-70 32,36 69-32,-18 19 0,18-1 15,17 1-15,-17 17 16,-18-35-16,18 35 16,0-18-1,-71-194 16,53 124-15,-53-35-16,-70-53 31,105 105-31,0 36 16,-34 0 0,16-18-16,-16 18 0,16 17 15,1 1-15,-406-195 47,371 177-47,35 53 0,-18 17 16,18-17-16,-18 17 15,-18 0-15,18 1 16,-88-18 0,89 35-16,-54-18 15,88 0 1,-105-35-1,-124-35 17,230 53-32,17 17 15,0 1-15,-36-1 16,19 0-16,-177-17 31,124 0-31,17 17 16,17 18-16,19 0 15,-71 0-15,-212 18 47,247 17-47,-158 0 16,105 1 0,-212 34 15,283-52-31,18-1 0,-1-17 15,1 18 1,17-18-16,-18 18 0,18-1 16,-53-17-1,36 18 1,35-18-16,-54 35 16,54-35-16,-35 18 15,34-18 1,-52 18-16,35-1 0,18 1 15,0-1 1,-1 1-16,1-18 31</inkml:trace>
  <inkml:trace contextRef="#ctx0" brushRef="#br0" timeOffset="20490.64">13953 4092 0,'-18'0'62,"0"0"-31,1 0-15,-1 0 0,1 0 15,-1 0-16,0 0 1,1 0 0,-1 0-16,-35 0 0,0 0 15,-17 0 1,17 0-16,-18 0 0,1 0 16,17 0-16,-141 0 31,88 0-31,18 36 0,-1-19 15,-52 1 1,18 35-16,17-36 0,18 36 16,17-17-1,1-19-15,-1 1 0,-105 52 47,140-52-47,19 0 16,-18-18-1,-1 17-15,19-17 16,-1 0 0,-17 18-1,-1 0 1,36-1 0,-70 36-1,35-35-15,-36-1 16,18 19-1,0 17-15,-53 17 0,53-52 16,18-1 0,-35 1-16,34 17 0,1 1 15,0-19 1,-106 124 15,0-52-15,105-54-1,-17 0-15,-17 0 0,17 1 16,0-19 0,18 19-1,-36 17-15,36-1 0,-247 178 47,193-160-47,37 1 16,16-18-1,-17 0-15,0 17 16,18-17-16,-35-18 16,17 71-16,35-88 15,0 17 1,1-17 0,-1 17 15,0 18-31,1-18 0,-36 89 31,35-1-15,1-70-16,-1 0 15,-17 18-15,17-18 16,-17-1-16,17 19 16,-35 105 15,53-158-31,0 35 15,0-35 1,0-1 0,0 1-16,0 17 15,0 0 1,0 1-16,0-1 16,0 0-1,18 18 1,17 106-1,-17-106 1,-18-18-16,17 142 31,-17-125-31,0 1 0,0-17 16,0-1 0,0 0-16,18 18 15,0 18 16,-18-36-31,0-17 16,17 34-16,1-52 16,0 36-1,-1 34-15,1-17 16,0-17 0,-1 16-16,1 1 15,88 230 16,-89-248-15,19 88 0,-19-87-1,1-1-15,-1 0 16,1 18 0,0-35-16,-1 17 15,1 0-15,0-17 16,-1 17-1,1 0 1,17 1 0,18 70-1,18-18 1,-18 18 0,-36-71-16,19 18 0,-1 35 15,18-35 1,-18 0-16,0 17 0,36 36 31,-54-88-15,1-1-1,0 1 32,17 0-31,0-1-1,-17-17 1,0 18 0,-1-18-16,1 18 15,17-1-15,-17 1 16,17 0-16,0-1 0,36 54 31,-36-54-31,18 1 16,-18 0-16,124 88 31,-71-89-15,-17 1-1,-1-1 1,-17 1-16,0-18 16,35 0-16,-35 0 15,18 0-15,176 0 47,-106 18-31,-70-1-1,-19-17-15,90 18 16,-37 17 0,-34-35-16,17 0 15,-17 0-15,-1 0 0,-17 0 16,265 0 31,-248 0-47,36-17 15,-35-1-15,52 0 0,-17 1 16,-18-19 0,-35 36-1,35-17-15,-52 17 0,-1 0 0,18-18 31,-18 18-31,18 0 32,-35 0-17,-1 0-15,18 0 16,18-17-16,-17-1 16,52 0-1,-18 1-15,19-1 0,34-17 16,106-36-1,1-17 1,-107 35-16,424-176 31,-424 193-15,-34-16 0,-1 34-16,-35 0 15,0 1 1,-18-1-16,-17 18 0,34-18 15,-34 18-15,35-17 16,18-19 0,-36 1-16,265-159 31,-177 124-15,248-213-1,-266 195 1,-16-18-16,-19-17 15,1 35-15,17-89 32,-35 89-32,-18 0 0,-17 35 15,17 18 1,-17-1-16,17-34 16,-35 35-1,0 17 1,0-17-16,0-36 15,0 36-15,0-18 16,0-53 0,35 0-16,-17 18 0,0 35 15,-1-35-15,18-318 47,-17 336-31,-18-1-16,0 18 15,0 0-15,0-53 16,0 36 0,-18 17-1,1 35-15,-1-17 16,1 0 0,-1-18-1,-53-176 16,-17 52-15,35 36 0,0-18-1,36 71 1,-72-88-16,72 88 16,-36-1-16,18 1 15,-1 18 1,-17-1-16,-70-141 47,52 177-32,19 17 1,16 1-16,-70-54 16,53 1-1,-52 17-15,52-18 16,-18 18-16,-17-53 15,53 71-15,-36 0 16,-105-89 15,88 89-31,35 0 16,0 17 0,-35-17-16,70 35 15,-35-18 1,35 18-16,-17 0 15,17 0 1,-17 0-16,0 0 16,17 0-16,-35 0 15,-105 0 17,69-17-17,72 17-15,-1 0 16,-17 0-16,-36-18 15,54 18-15,-72-18 0,37 1 16,-19-1-16,18 18 16,-18-35-16,36 35 15,-35 0 1,34 0-16,-52 0 31,35 0-15,-17 0-1,17 0-15,18 0 16,-18 0 0,17 0-16,1 0 0,-18-18 15,-53 18 32,89 0-47,-1 0 16,0 0-1,-35 0 1,36 0-16,-1 0 31,1 0-31,-1 0 16,0 0 0,1 0 30,-1 0 1,0 0-31,1 0 0,-1 0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2-10-27T08:21:32.5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7356 6262 0,'-53'0'63,"35"-18"-48,1 18-15,-19-17 16,1-1 0,17 0-16,-35 1 31,36 17-31,-36-18 15,18 18 1,17 0-16,-35-18 16,18 1-1,17 17-15,-194-36 32,124 36-17,18 0 1,34 0-1,19 0 1,-54 0-16,36 0 0,0 0 16,-1 0-1,1 0 1,0 0-16,-159 0 31,159 0-31,-1 0 31,19 0-31,-1 0 16,0 0 0,1 0 15,-1 0-31,0 18 31,-17 0-31,0 17 31,-18-17-15,18-1-16,17 1 16,0 0-1,18-1-15,-17 1 0,-1-1 16,-35 19 0,36-36-1,-1 35 1,0 0-16,1 1 0,17-19 15,-36 36 1,36-35-16,-17-1 0,17 1 16,-18 35-16,0-35 15,1-1-15,-18 89 32,17-18-1,0-35-31,18-35 15,-17 17 1,-1 0 0,18-17-16,-18 53 0,18-54 15,-17 54 1,17-54-16,0 19 0,-18 52 31,18-35-15,-18-18-1,18-17-15,0 17 16,0 18-16,0-18 16,-17 53-16,17-52 0,0 17 15,-18 141 48,18-159-63,0 18 15,0-18-15,0 0 16,0 18-16,-35 0 0,35-35 16,0 35-1,0-36-15,0 1 16,0 0 0,0-1-16,0 107 31,0-89-31,0 0 31,0 1-31,0-19 0,0 36 16,0-18-1,0 36-15,0-18 32,0-18-17,35 159 16,-35-176-31,0 17 16,18 18-16,-18-35 16,17 35-16,1-18 15,0-17 1,-1 34-16,-17-34 16,18 35-16,0 0 15,-18-35-15,0 34 16,53 195-1,-36-105 1,1-54 0,17-18-1,-17 18-15,-1-35 16,-17-17 0,18 52-16,-18-53 0,0 18 15,18 53-15,-1-53 16,72 176 31,-72-176-47,1-35 15,17 70 1,-35-53 0,18 0-16,-1 1 31,1-1-31,0 0 15,-1 18 17,1-18-32,0 36 15,-1-18 1,18 35 0,-17-53-1,0-17-15,-18 0 16,17 17-16,54 71 47,-36-53-32,-17-36-15,-1 19 16,1-1 0,0-17-16,-1-1 15,1 1 48,17-1-48,-17 19 1,0-36-16,-1 17 16,1 1-1,0-18 126</inkml:trace>
  <inkml:trace contextRef="#ctx0" brushRef="#br0" timeOffset="3605.59">4851 5521 0,'0'-18'46,"-18"18"-30,-17-17-16,-35-1 16,17 0-16,17 18 15,-34 0-15,-18 0 16,-89 0 0,54 0-1,-18 0-15,35 0 16,0 0-16,0 0 0,0 0 15,18 0-15,-18 0 16,18 18-16,35-18 16,-229 88 15,211-70-31,-105 70 16,88-53-1,0 18-15,-53 35 16,70-52-1,18-19-15,-18 19 16,19-1-16,-1 36 16,-18-36-16,-211 335 47,194-246-47,-36-1 15,54 1 1,-36-1-16,18 124 15,-18-18 1,88-70-16,-17-18 16,17-17-1,1-54-15,-1 18 0,18 212 47,0-141-31,0 0-1,0-53 1,0-53-16,0 35 16,0-18-16,0 18 15,0-35-15,0 18 0,0 17 16,0 0 0,35 212 15,18-106-16,-18-35 1,-17-88 0,35 17-16,-18-18 0,18 71 31,0-52-31,-18-19 0,18 18 16,18 18-16,193 247 31,-193-282-16,17-1-15,71 89 32,-71-71-32,18 18 15,-53-53-15,17-18 16,-34 0-16,17 18 0,-18-35 16,0 0-16,0-1 31,318 107 0,-282-107-31,17 1 16,-53-18-1,1 0-15,16 0 0,-16 0 32,-19 0-32,19 0 0,-1 0 0,194 0 62,-193 0-62,34 0 0,-35-18 16,36 1-1,17-1 1,18-53 0,88 19-1,-106-1-15,36 0 16,-71 17-1,158-87 17,-123 70-32,36-53 0,-89 36 15,0 17 1,1 0-16,17-18 0,-18 18 16,-17-35-1,17 0-15,18-18 0,0-17 16,123-442 31,-141 459-47,-35 18 15,0-18-15,0 36 16,18-71-16,-18 0 31,0 88-31,0-18 0,0-35 16,0 0-16,0-52 15,0 52-15,-35-547 47,17 530-31,18 87-16,0-34 0,-18-36 16,1 18-16,-19 35 15,19-35-15,-1 17 16,1-17-1,-1-18-15,0 18 16,-17-36-16,-71-140 31,71 176-15,17 52-16,1 1 16,-1-18-1,0-17-15,-17 17 0,17 0 16,1-35-1,-18 35-15,-1 0 16,1-18-16,-89-140 31,89 175-15,0 1-16,-18-36 31,35 54-15,1-1-16,-1-17 0,18 17 0,-18-17 15,-34 0 1,52 17-16,-36-17 16,-122-71 15,122 88-31,19 18 31,-1 0-31,0 0 16,1 0-1,-1 0 1,0 0 15,1 0 1,-19 0-17,1 18-15,18-18 16,-36 18-1,0-1-15,17 1 0,-34 0 16,35-1-16,-18 1 16,17 17-16,1-17 15,0-1-15,-53 19 32,35-19-17,17 1-15,-16 0 0,-19 17 31,18 0-31,-35 36 0,35-36 16,-18 0-16,19 18 16,-72 0-1,89-18-15,-18-17 0,18 17 32,-18 1-32,17 16 0,-69 90 31,16-19-16,54-17 1,17-71-16,1 0 16,17-17-1,-18 35-15,1-35 16,17-1 0,-18 71 15</inkml:trace>
  <inkml:trace contextRef="#ctx0" brushRef="#br0" timeOffset="8055.1">1341 7461 0,'18'-17'47,"17"17"-32,53 0 1,-35 0 0,35 0-16,18 0 15,0 0-15,35 0 16,-18 35-16,-52-17 15,52-1-15,-52 1 16,17 17-16,0-17 16,89 35-1,-142-53 1,36 17-16,-36 1 16,-18-18-16,36 18 15,0-1 1,-17 1-16,34-1 0,-17 1 15,0 17-15,-18 1 0,36-1 16,-36-17 0,53 35-1,-17-18-15,-36 18 16,0-18 0,1 0-16,17 1 0,0 16 15,-18 19 1,0-18-16,0-18 0,1 36 15,17-36 1,-36 18-16,54 106 31,-54-106-31,1-18 16,35 106 0,-53-106-1,0 1 1,18 52-1,-18-53-15,0 36 0,0 17 16,0 71 0,0-36-1,0-88 1,0 1-16,0-19 16,0 1-16,0 17 15,0 0 1,-36 89-1,19-71 1,-1 0-16,0 0 16,1-18-16,-19 0 15,19 0 1,-1 1-16,1-19 16,17 1-16,-18 35 15,0 0 1,-52 70 15,34-52-15,1-36-16,0 0 15,-106 71 1,123-70 0,-17-19-16,0 18 15,17-17 1,-17 0-16,-106 52 31,88-34-15,35-19-1,-35 18 1,35-35-16,-34 18 16,-37 17-1,54-17-15,-18 0 16,-17-1-1,17 1-15,0 17 16,-106 18 0,88-53-1,1 18 1,52-18-16,-35 17 16,18 1-16,0-18 15,-53 18-15,52-18 0,-70 17 31,71-17-31,-35 18 47,52-18 0,0 0-31,-17 18-1,17-1-15,-17-17 32,18 0-17,-1 0 1,0 18-16,1-36 406,17-17-390,-36-53-16,-34 0 15,17 35 1,0-36 0,-18-34-16,1 17 0,-71-158 31,123 193-31,0 0 16,-17 36-1,18-35 1,-1 17-16,18 17 0,-18-52 15,-17 35-15,17 0 16,1 1-16,-1-19 16,-17-35-1,35 53 1,0-17-16,-18-1 0,0-17 16,-34-71-1,52 124-15,0-18 16,0-18-16,0 18 15,0 18-15,0-71 47,0 36-47,0 35 16,0-18 0,0 35-16,0-17 15,0 17-15,0 0 16,17 1-16,-17-1 15,35-70 17,-17 35-32,0 18 15,-1-1-15,19 1 0,-36 18 16,0-19 0,35-17-16,-35 36 31,18-19-31,-1 1 0,1-35 31,17 17-15,-17 35-1,-1 0 1,1 18-16,0-17 0,-18-1 16,17 1-1,19-19-15,-1 19 0,35-19 16,-17-34 15,-35 52-15,17 18-16,1-18 15,-1 1 1,-18-1-16,1 18 0,17-17 16,-17 17-1,53 0 32,-54 0-47,1 0 16,0 0-1,-1 0 1,1 0 0,-1 0-16,19 0 0,-1 0 15,88 0 16,-105 0-31,0 0 16,-1 0 0,1 0-16</inkml:trace>
  <inkml:trace contextRef="#ctx0" brushRef="#br0" timeOffset="23349.62">7109 6191 0,'0'-17'46,"-18"17"1,1 0-31,-19-18 0,1 18-1,-18-18-15,18 1 0,-36-1 16,36 0-1,17 18-15,-17 0 0,-53-17 16,70 17 0,-70-35-16,17 17 0,1 0 31,17 1-31,18 17 16,-89-18-16,-52-17 31,158 35-31,-17 0 15,0 0 1,-1 0-16,19 0 16,-19 0-1,1 0-15,-18 0 16,18 0 0,-36 0 15,36 0-31,0 0 15,0 0 1,-36 0 0,71 17-16,-71 1 15,54 0 1,-1-18-16,-17 17 0,0 1 16,-1 17 15,36-17-31,-17 70 15,-19 0 17,36-70-32,0 35 0,-17 0 15,17-36-15,0 19 16,0-1-16,0-18 16,0 1-16,0 0 15,0 88 16,0-18-15,0-18 0,0 36-1,-18 53-15,18-124 16,0 0-16,0 18 16,0-17-16,-35 122 46,35-105-46,0 0 16,0 18-16,-18 52 0,1-52 16,-19 52-1,36-87-15,-17 69 32,-1-52-17,0 18-15,18-36 0,-52 247 47,34-246-31,18-1-16,-18 53 15,18-35 1,0 18-16,0 52 16,0 18-1,-35-53 1,35-70-16,0 53 15,0-1-15,0 265 47,0-264-31,0-18-16,0 0 16,0-18-16,0 18 15,0-18-15,0 18 16,0-18-1,18 54 1,-18-54-16,35 124 31,-35-107-31,0 1 0,18 36 16,-18-54-16,17 71 16,18 17-1,-17-70-15,17 0 16,-35-18-16,18 53 15,0-35-15,-18-17 16,53 140 15,-36-123-31,18 0 16,-17 17-16,35 19 16,-18 16-1,-17-52-15,0 18 16,-1-36-16,1 1 15,-1-1-15,19 35 16,-36-52 0,70 141 15,-17-124-31,-17 18 0,-1 17 31,0-17-31,106 106 16,-106-124-1,1 36 1,-1-36-16,0 1 16,1-1-16,-19 0 15,230 177 17,-176-177-32,-71-17 31,35-1-31,-17-17 31,-1 0-15,36 18-16,-18-18 15,124 18 17,-88-1-32,17 19 31,-53-36-16,53 0-15,18 0 16,-18-18 0,-35 0-16,18-17 0,-18 17 15,35-52 1,-17 34-16,87-69 31,-69 34 0,-54 53-31,0-17 0,-17 0 16,17-36 0,-17 18-16,-1 1 15,1-37-15,35 36 16,-18-88-16,89-141 47,-107 212-47,-17 17 15,0-18-15,18-52 16,17-142 0,-17 177-1,-18 35-15,17-53 16,1 18-16,-18 35 16,18-53-16,-18-247 31,0 247-31,0 18 15,0 18 1,0-18-16,0 17 16,0-17-1,0-18-15,-18 53 16,0-35-16,1 17 16,-18-17-16,-36-282 46,71 317-46,-18-53 16,18 71-16,-35-54 16,17-16-16,1 52 15,-19-71 1,1 36-16,-18 0 16,36 35-1,-19 0-15,19-35 0,-89-141 47,88 193-47,1-34 16,-36-36-1,-18-18 1,36 71-16,0-17 16,-1 17-1,1 0-15,17 18 16,18 17-16,-88-123 31,18 70-15,52 1-16,0 17 15,-17 18-15,17-1 16,1 1 0,-1 18-16,1-1 0,17 0 31,-36 1-16,-17-54 17,18 36-32,-35-53 15,34 52 1,19 1 0,-19 0-16,1-53 15,17 88-15,1-18 0,-19-35 31,-34 0 1,52 53-17,1-18 32,-1-17-16,18 18-15,-18-1 15,1-17-15,-1 17 0,0-17 15,1-1 0,-18 19-15,17-1 15,0-17 0,1 17-15,-19 1-1,36-1 17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8BD7D17-9F94-433F-85A9-A167373EBE7A}" type="datetimeFigureOut">
              <a:rPr lang="zh-CN" altLang="en-US"/>
              <a:pPr>
                <a:defRPr/>
              </a:pPr>
              <a:t>2023/11/2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7F5F534-2C7B-4B3E-AB7E-5181B223989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5936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5%88%86%E8%A7%A3%E4%BB%A3%E8%B0%A2" TargetMode="External"/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aike.baidu.com/item/%E4%B9%B3%E7%B3%96%E6%93%8D%E7%BA%B5%E5%AD%90/470227" TargetMode="External"/><Relationship Id="rId5" Type="http://schemas.openxmlformats.org/officeDocument/2006/relationships/hyperlink" Target="https://baike.baidu.com/item/%E8%BD%AC%E5%BD%95/1503653" TargetMode="External"/><Relationship Id="rId4" Type="http://schemas.openxmlformats.org/officeDocument/2006/relationships/hyperlink" Target="https://baike.baidu.com/item/%E9%85%B6%E4%BD%93%E7%B3%BB" TargetMode="Externa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8%89%B2%E6%B0%A8%E9%85%B8" TargetMode="External"/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8" Type="http://schemas.openxmlformats.org/officeDocument/2006/relationships/hyperlink" Target="https://baike.baidu.com/item/%E5%B8%83%E9%B2%81%E6%81%A9" TargetMode="External"/><Relationship Id="rId3" Type="http://schemas.openxmlformats.org/officeDocument/2006/relationships/hyperlink" Target="https://baike.baidu.com/item/%E7%89%A9%E7%A7%8D%E8%B5%B7%E6%BA%90" TargetMode="External"/><Relationship Id="rId7" Type="http://schemas.openxmlformats.org/officeDocument/2006/relationships/hyperlink" Target="https://baike.baidu.com/item/%E5%8D%9A%E7%89%A9%E5%AD%A6%E5%AE%B6" TargetMode="External"/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aike.baidu.com/item/%E7%A7%91%E5%AD%A6%E6%80%9D%E6%83%B3" TargetMode="External"/><Relationship Id="rId5" Type="http://schemas.openxmlformats.org/officeDocument/2006/relationships/hyperlink" Target="https://baike.baidu.com/item/%E5%AD%9F%E5%BE%B7%E5%B0%94%E5%AE%9A%E5%BE%8B" TargetMode="External"/><Relationship Id="rId4" Type="http://schemas.openxmlformats.org/officeDocument/2006/relationships/hyperlink" Target="https://baike.baidu.com/item/%E7%94%9F%E7%89%A9%E8%BF%9B%E5%8C%96" TargetMode="Externa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tRNA" TargetMode="External"/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baike.baidu.com/item/RNA" TargetMode="Externa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nzyme_Commission_number" TargetMode="External"/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RNA" TargetMode="External"/><Relationship Id="rId5" Type="http://schemas.openxmlformats.org/officeDocument/2006/relationships/hyperlink" Target="https://en.wikipedia.org/wiki/Ribonuclease" TargetMode="External"/><Relationship Id="rId4" Type="http://schemas.openxmlformats.org/officeDocument/2006/relationships/hyperlink" Target="https://enzyme.expasy.org/EC/3.1.26.5" TargetMode="Externa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RNA is the only macromolecule known to have a role both in the storage and transmission of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information and in catalysis, which has led to much speculation about its possible role as an essential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chemical intermediate in the development of life on this planet.</a:t>
            </a:r>
            <a:r>
              <a:rPr lang="en-US" altLang="zh-CN" dirty="0"/>
              <a:t> </a:t>
            </a:r>
          </a:p>
          <a:p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Many additional, specialized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RNAs have regulatory or catalytic functions or are precursors to the three main classes of RNA.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These special-function RNAs are no longer thought of as minor species in the catalog of cellular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RNAs. In vertebrates, RNAs that do not fit into one of the classical categories (mRNA, tRNA, rRNA)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seem to vastly outnumber those that do.</a:t>
            </a:r>
            <a:r>
              <a:rPr lang="en-US" altLang="zh-CN" dirty="0"/>
              <a:t> </a:t>
            </a:r>
            <a:r>
              <a:rPr lang="zh-CN" altLang="en-US" dirty="0"/>
              <a:t>（最后一句什么意思？）</a:t>
            </a:r>
            <a:br>
              <a:rPr lang="en-US" altLang="zh-CN" dirty="0"/>
            </a:br>
            <a:r>
              <a:rPr lang="en-US" altLang="zh-CN" dirty="0"/>
              <a:t>7</a:t>
            </a:r>
            <a:r>
              <a:rPr lang="en-US" altLang="zh-CN" baseline="30000" dirty="0"/>
              <a:t>th</a:t>
            </a:r>
            <a:r>
              <a:rPr lang="en-US" altLang="zh-CN" dirty="0"/>
              <a:t> p2156</a:t>
            </a:r>
          </a:p>
          <a:p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The sum of all the RNA molecules produced in a cell under a given set of conditions is called the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cellular 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TimesNewRomanPS-BoldMT"/>
              </a:rPr>
              <a:t>transcriptome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. Given the relatively small fraction of the human genome devoted to 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TimesNewRomanPSMT"/>
              </a:rPr>
              <a:t>proteincoding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 genes, we might expect that only a small part of the human genome is transcribed. This is not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the case. Modern analyses of transcription patterns have revealed that much of the genome of humans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and other mammals is transcribed into RNA. The products are predominantly not mRNAs, tRNAs, or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rRNAs, but rather special-function RNAs, a host of which are being discovered. Many of these seem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to be involved in regulation of gene expression; 7</a:t>
            </a:r>
            <a:r>
              <a:rPr lang="en-US" altLang="zh-CN" sz="1200" b="0" i="0" baseline="30000" dirty="0">
                <a:solidFill>
                  <a:srgbClr val="000000"/>
                </a:solidFill>
                <a:effectLst/>
                <a:latin typeface="TimesNewRomanPSMT"/>
              </a:rPr>
              <a:t>th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 p2157</a:t>
            </a:r>
            <a:br>
              <a:rPr lang="en-US" altLang="zh-CN" dirty="0"/>
            </a:br>
            <a:endParaRPr lang="en-US" altLang="zh-CN" dirty="0"/>
          </a:p>
          <a:p>
            <a:r>
              <a:rPr lang="zh-CN" altLang="en-US" dirty="0"/>
              <a:t>问题：</a:t>
            </a:r>
            <a:r>
              <a:rPr lang="en-US" altLang="zh-CN" dirty="0"/>
              <a:t>in E.coli</a:t>
            </a:r>
            <a:r>
              <a:rPr lang="zh-CN" altLang="en-US" dirty="0"/>
              <a:t>，三种</a:t>
            </a:r>
            <a:r>
              <a:rPr lang="en-US" altLang="zh-CN" dirty="0"/>
              <a:t>RNA</a:t>
            </a:r>
            <a:r>
              <a:rPr lang="zh-CN" altLang="en-US" dirty="0"/>
              <a:t>都是由一种</a:t>
            </a:r>
            <a:r>
              <a:rPr lang="en-US" altLang="zh-CN" dirty="0"/>
              <a:t>RNA polymerase</a:t>
            </a:r>
            <a:r>
              <a:rPr lang="zh-CN" altLang="en-US" dirty="0"/>
              <a:t>合成的吗？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A6A8501-8938-4B94-BC5C-55C939656245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228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N6-methyladenosine</a:t>
            </a:r>
            <a:r>
              <a:rPr lang="zh-CN" altLang="en-US" dirty="0"/>
              <a:t>也叫</a:t>
            </a:r>
            <a:r>
              <a:rPr lang="en-US" altLang="zh-CN" dirty="0"/>
              <a:t>m6A</a:t>
            </a:r>
            <a:r>
              <a:rPr lang="zh-CN" altLang="en-US" dirty="0"/>
              <a:t>，是一种广泛存在于</a:t>
            </a:r>
            <a:r>
              <a:rPr lang="en-US" altLang="zh-CN" dirty="0"/>
              <a:t>mRNA</a:t>
            </a:r>
            <a:r>
              <a:rPr lang="zh-CN" altLang="en-US" dirty="0"/>
              <a:t>上的碱基修饰行为，</a:t>
            </a:r>
            <a:r>
              <a:rPr lang="en-US" altLang="zh-CN" dirty="0"/>
              <a:t>mRNA</a:t>
            </a:r>
            <a:r>
              <a:rPr lang="zh-CN" altLang="en-US" dirty="0"/>
              <a:t>的内部修饰则用于维持</a:t>
            </a:r>
            <a:r>
              <a:rPr lang="en-US" altLang="zh-CN" dirty="0"/>
              <a:t>mRNA</a:t>
            </a:r>
            <a:r>
              <a:rPr lang="zh-CN" altLang="en-US" dirty="0"/>
              <a:t>的稳定性。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307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en-US" altLang="zh-CN" sz="1600" dirty="0"/>
              <a:t>Summary of RNA transcription</a:t>
            </a:r>
          </a:p>
          <a:p>
            <a:pPr algn="ctr"/>
            <a:endParaRPr lang="en-US" altLang="zh-CN" sz="1600" dirty="0"/>
          </a:p>
          <a:p>
            <a:r>
              <a:rPr lang="en-US" altLang="zh-CN" sz="1200" b="1" dirty="0">
                <a:solidFill>
                  <a:schemeClr val="folHlink"/>
                </a:solidFill>
              </a:rPr>
              <a:t>G1  RNA structure:  tRNA cloverleaf </a:t>
            </a:r>
            <a:r>
              <a:rPr lang="zh-CN" altLang="en-US" sz="1200" b="1" dirty="0">
                <a:solidFill>
                  <a:schemeClr val="folHlink"/>
                </a:solidFill>
              </a:rPr>
              <a:t>（</a:t>
            </a:r>
            <a:r>
              <a:rPr lang="en-US" altLang="zh-CN" sz="1200" b="1" dirty="0">
                <a:solidFill>
                  <a:schemeClr val="folHlink"/>
                </a:solidFill>
              </a:rPr>
              <a:t>F</a:t>
            </a:r>
            <a:r>
              <a:rPr lang="zh-CN" altLang="en-US" sz="1200" b="1" dirty="0">
                <a:solidFill>
                  <a:schemeClr val="folHlink"/>
                </a:solidFill>
              </a:rPr>
              <a:t>章节已经讲过，没有重点内容）</a:t>
            </a:r>
            <a:endParaRPr lang="en-US" altLang="zh-CN" sz="1200" b="1" dirty="0">
              <a:solidFill>
                <a:schemeClr val="folHlink"/>
              </a:solidFill>
            </a:endParaRPr>
          </a:p>
          <a:p>
            <a:r>
              <a:rPr lang="en-US" altLang="zh-CN" b="1" dirty="0">
                <a:solidFill>
                  <a:schemeClr val="folHlink"/>
                </a:solidFill>
              </a:rPr>
              <a:t>G2  RNA Transcription in Prokaryotes </a:t>
            </a:r>
            <a:r>
              <a:rPr lang="zh-CN" altLang="en-US" b="1" dirty="0">
                <a:solidFill>
                  <a:schemeClr val="folHlink"/>
                </a:solidFill>
              </a:rPr>
              <a:t>（主要讲</a:t>
            </a:r>
            <a:r>
              <a:rPr lang="en-US" altLang="zh-CN" b="1" dirty="0">
                <a:solidFill>
                  <a:schemeClr val="folHlink"/>
                </a:solidFill>
              </a:rPr>
              <a:t>RNA</a:t>
            </a:r>
            <a:r>
              <a:rPr lang="zh-CN" altLang="en-US" b="1" dirty="0">
                <a:solidFill>
                  <a:schemeClr val="folHlink"/>
                </a:solidFill>
              </a:rPr>
              <a:t>聚合酶、</a:t>
            </a:r>
            <a:r>
              <a:rPr lang="en-US" altLang="zh-CN" b="1" dirty="0">
                <a:solidFill>
                  <a:schemeClr val="folHlink"/>
                </a:solidFill>
              </a:rPr>
              <a:t>promoter</a:t>
            </a:r>
            <a:r>
              <a:rPr lang="zh-CN" altLang="en-US" b="1" dirty="0">
                <a:solidFill>
                  <a:schemeClr val="folHlink"/>
                </a:solidFill>
              </a:rPr>
              <a:t>（如何开始转录），及转录的过程）</a:t>
            </a:r>
            <a:endParaRPr lang="en-US" altLang="zh-CN" b="1" dirty="0">
              <a:solidFill>
                <a:schemeClr val="folHlink"/>
              </a:solidFill>
            </a:endParaRPr>
          </a:p>
          <a:p>
            <a:r>
              <a:rPr lang="en-US" altLang="zh-CN" sz="1200" b="1" dirty="0">
                <a:solidFill>
                  <a:schemeClr val="folHlink"/>
                </a:solidFill>
              </a:rPr>
              <a:t>       1. similar and differ</a:t>
            </a:r>
            <a:r>
              <a:rPr lang="en-US" altLang="zh-CN" b="1" dirty="0">
                <a:solidFill>
                  <a:schemeClr val="folHlink"/>
                </a:solidFill>
              </a:rPr>
              <a:t>ent aspects between DNA replication </a:t>
            </a:r>
          </a:p>
          <a:p>
            <a:r>
              <a:rPr lang="en-US" altLang="zh-CN" sz="1200" b="1" dirty="0">
                <a:solidFill>
                  <a:schemeClr val="folHlink"/>
                </a:solidFill>
              </a:rPr>
              <a:t>                                    and RNA transcription</a:t>
            </a:r>
          </a:p>
          <a:p>
            <a:r>
              <a:rPr lang="en-US" altLang="zh-CN" b="1" dirty="0">
                <a:solidFill>
                  <a:schemeClr val="folHlink"/>
                </a:solidFill>
              </a:rPr>
              <a:t>        2. RNA polymerase</a:t>
            </a:r>
          </a:p>
          <a:p>
            <a:r>
              <a:rPr lang="en-US" altLang="zh-CN" b="1" dirty="0">
                <a:solidFill>
                  <a:schemeClr val="folHlink"/>
                </a:solidFill>
              </a:rPr>
              <a:t>        3. transcriptional bubble</a:t>
            </a:r>
          </a:p>
          <a:p>
            <a:r>
              <a:rPr lang="en-US" altLang="zh-CN" b="1" dirty="0">
                <a:solidFill>
                  <a:schemeClr val="folHlink"/>
                </a:solidFill>
              </a:rPr>
              <a:t>        4. promoter</a:t>
            </a:r>
          </a:p>
          <a:p>
            <a:r>
              <a:rPr lang="en-US" altLang="zh-CN" b="1" dirty="0">
                <a:solidFill>
                  <a:schemeClr val="folHlink"/>
                </a:solidFill>
              </a:rPr>
              <a:t>        5. RNA transcription: initiation, elongation, termination</a:t>
            </a:r>
          </a:p>
          <a:p>
            <a:r>
              <a:rPr lang="en-US" altLang="zh-CN" b="1" dirty="0">
                <a:solidFill>
                  <a:schemeClr val="folHlink"/>
                </a:solidFill>
              </a:rPr>
              <a:t>G3 the Lac operon</a:t>
            </a:r>
            <a:r>
              <a:rPr lang="zh-CN" altLang="en-US" b="1" dirty="0">
                <a:solidFill>
                  <a:schemeClr val="folHlink"/>
                </a:solidFill>
              </a:rPr>
              <a:t>（两个转录调控模型，</a:t>
            </a:r>
            <a:r>
              <a:rPr lang="en-US" altLang="zh-CN" b="1" dirty="0">
                <a:solidFill>
                  <a:schemeClr val="folHlink"/>
                </a:solidFill>
              </a:rPr>
              <a:t>Lac operon</a:t>
            </a:r>
            <a:r>
              <a:rPr lang="zh-CN" altLang="en-US" b="1" dirty="0">
                <a:solidFill>
                  <a:schemeClr val="folHlink"/>
                </a:solidFill>
              </a:rPr>
              <a:t>，</a:t>
            </a:r>
            <a:r>
              <a:rPr lang="en-US" altLang="zh-CN" b="1" dirty="0" err="1">
                <a:solidFill>
                  <a:schemeClr val="folHlink"/>
                </a:solidFill>
              </a:rPr>
              <a:t>Trp</a:t>
            </a:r>
            <a:r>
              <a:rPr lang="en-US" altLang="zh-CN" b="1" dirty="0">
                <a:solidFill>
                  <a:schemeClr val="folHlink"/>
                </a:solidFill>
              </a:rPr>
              <a:t> operon</a:t>
            </a:r>
            <a:r>
              <a:rPr lang="zh-CN" altLang="en-US" b="1" dirty="0">
                <a:solidFill>
                  <a:schemeClr val="folHlink"/>
                </a:solidFill>
              </a:rPr>
              <a:t>，先讲清楚基因表达的所需条件，再讲清楚调控过程）</a:t>
            </a:r>
            <a:endParaRPr lang="en-US" altLang="zh-CN" b="1" dirty="0">
              <a:solidFill>
                <a:schemeClr val="folHlink"/>
              </a:solidFill>
            </a:endParaRPr>
          </a:p>
          <a:p>
            <a:r>
              <a:rPr lang="en-US" altLang="zh-CN" b="1" dirty="0">
                <a:solidFill>
                  <a:schemeClr val="folHlink"/>
                </a:solidFill>
              </a:rPr>
              <a:t>G5,G6 Transcription in Eukaryotes</a:t>
            </a:r>
          </a:p>
          <a:p>
            <a:r>
              <a:rPr lang="en-US" altLang="zh-CN" b="1" dirty="0">
                <a:solidFill>
                  <a:schemeClr val="folHlink"/>
                </a:solidFill>
              </a:rPr>
              <a:t>       1. Three RNA polymerases</a:t>
            </a:r>
          </a:p>
          <a:p>
            <a:r>
              <a:rPr lang="en-US" altLang="zh-CN" b="1" dirty="0">
                <a:solidFill>
                  <a:schemeClr val="folHlink"/>
                </a:solidFill>
              </a:rPr>
              <a:t>       2. Pol II binding promoter, transcription factor</a:t>
            </a:r>
          </a:p>
          <a:p>
            <a:r>
              <a:rPr lang="en-US" altLang="zh-CN" b="1" dirty="0">
                <a:solidFill>
                  <a:schemeClr val="folHlink"/>
                </a:solidFill>
              </a:rPr>
              <a:t>G8 Processing of eukaryotic pre-mRNA</a:t>
            </a:r>
          </a:p>
          <a:p>
            <a:r>
              <a:rPr lang="en-US" altLang="zh-CN" b="1" dirty="0">
                <a:solidFill>
                  <a:schemeClr val="folHlink"/>
                </a:solidFill>
              </a:rPr>
              <a:t>       1. mRNA processing</a:t>
            </a:r>
          </a:p>
          <a:p>
            <a:r>
              <a:rPr lang="en-US" altLang="zh-CN" b="1" dirty="0">
                <a:solidFill>
                  <a:schemeClr val="folHlink"/>
                </a:solidFill>
              </a:rPr>
              <a:t>       2. rRNA processing</a:t>
            </a:r>
          </a:p>
          <a:p>
            <a:r>
              <a:rPr lang="en-US" altLang="zh-CN" b="1" dirty="0">
                <a:solidFill>
                  <a:schemeClr val="folHlink"/>
                </a:solidFill>
              </a:rPr>
              <a:t>       3. tRNA processing</a:t>
            </a:r>
          </a:p>
          <a:p>
            <a:endParaRPr lang="en-US" altLang="zh-CN" b="1" dirty="0">
              <a:solidFill>
                <a:schemeClr val="folHlink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50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molecule </a:t>
            </a:r>
          </a:p>
          <a:p>
            <a:r>
              <a:rPr lang="zh-CN" altLang="en-US" dirty="0"/>
              <a:t>英 </a:t>
            </a:r>
            <a:r>
              <a:rPr lang="en-US" altLang="zh-CN" dirty="0"/>
              <a:t>[ˈ</a:t>
            </a:r>
            <a:r>
              <a:rPr lang="en-US" altLang="zh-CN" dirty="0" err="1"/>
              <a:t>mɒlɪkju:l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[ˈ</a:t>
            </a:r>
            <a:r>
              <a:rPr lang="en-US" altLang="zh-CN" dirty="0" err="1"/>
              <a:t>mɑlɪkjul</a:t>
            </a:r>
            <a:r>
              <a:rPr lang="en-US" altLang="zh-CN" dirty="0"/>
              <a:t>]</a:t>
            </a:r>
          </a:p>
          <a:p>
            <a:r>
              <a:rPr lang="en-US" altLang="zh-CN" b="1" dirty="0"/>
              <a:t>molecules </a:t>
            </a:r>
          </a:p>
          <a:p>
            <a:r>
              <a:rPr lang="zh-CN" altLang="en-US" dirty="0"/>
              <a:t>英 </a:t>
            </a:r>
            <a:r>
              <a:rPr lang="en-US" altLang="zh-CN" dirty="0"/>
              <a:t>['</a:t>
            </a:r>
            <a:r>
              <a:rPr lang="en-US" altLang="zh-CN" dirty="0" err="1"/>
              <a:t>mɒlɪkju:lz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['</a:t>
            </a:r>
            <a:r>
              <a:rPr lang="en-US" altLang="zh-CN" dirty="0" err="1"/>
              <a:t>mɒlɪkjulz</a:t>
            </a:r>
            <a:r>
              <a:rPr lang="en-US" altLang="zh-CN" dirty="0"/>
              <a:t>]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456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chemical </a:t>
            </a:r>
          </a:p>
          <a:p>
            <a:r>
              <a:rPr lang="zh-CN" altLang="en-US" dirty="0"/>
              <a:t>英 </a:t>
            </a:r>
            <a:r>
              <a:rPr lang="en-US" altLang="zh-CN" dirty="0"/>
              <a:t>[ˈ</a:t>
            </a:r>
            <a:r>
              <a:rPr lang="en-US" altLang="zh-CN" dirty="0" err="1"/>
              <a:t>kemɪkl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[ˈ</a:t>
            </a:r>
            <a:r>
              <a:rPr lang="en-US" altLang="zh-CN" dirty="0" err="1"/>
              <a:t>kɛmɪkəl</a:t>
            </a:r>
            <a:r>
              <a:rPr lang="en-US" altLang="zh-CN" dirty="0"/>
              <a:t>] </a:t>
            </a:r>
          </a:p>
          <a:p>
            <a:r>
              <a:rPr lang="en-US" altLang="zh-CN" dirty="0"/>
              <a:t>adj. </a:t>
            </a:r>
            <a:r>
              <a:rPr lang="zh-CN" altLang="en-US" dirty="0"/>
              <a:t>化学的； 用化学方法制造的，化学作用的； </a:t>
            </a:r>
          </a:p>
          <a:p>
            <a:r>
              <a:rPr lang="en-US" altLang="zh-CN" dirty="0"/>
              <a:t>n. </a:t>
            </a:r>
            <a:r>
              <a:rPr lang="zh-CN" altLang="en-US" dirty="0"/>
              <a:t>化学药品，化学制品；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5527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RNA polymerases lack a separate proofreading 3′ → 5′ exonuclease active site (such as that of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many DNA polymerases), and the error rate for transcription is higher than that for chromosomal</a:t>
            </a:r>
            <a:br>
              <a:rPr lang="en-US" altLang="zh-CN" sz="1800" dirty="0"/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DNA replication—approximately one error for every 10</a:t>
            </a:r>
            <a:r>
              <a:rPr lang="en-US" altLang="zh-CN" sz="1200" b="0" i="0" baseline="30000" dirty="0">
                <a:solidFill>
                  <a:srgbClr val="000000"/>
                </a:solidFill>
                <a:effectLst/>
                <a:latin typeface="TimesNewRomanPSMT"/>
              </a:rPr>
              <a:t>4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 to 10</a:t>
            </a:r>
            <a:r>
              <a:rPr lang="en-US" altLang="zh-CN" sz="1200" b="0" i="0" baseline="30000" dirty="0">
                <a:solidFill>
                  <a:srgbClr val="000000"/>
                </a:solidFill>
                <a:effectLst/>
                <a:latin typeface="TimesNewRomanPSMT"/>
              </a:rPr>
              <a:t>5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 ribonucleotides incorporated into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RNA. </a:t>
            </a:r>
          </a:p>
          <a:p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Many RNA polymerases, including bacterial RNA polymerase and the eukaryotic RNA polymerase II (discussed below), do pause when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a 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TimesNewRomanPSMT"/>
              </a:rPr>
              <a:t>mispaired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 base is added during transcription, and they can remove mismatched nucleotides from the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3′ end of a transcript by direct reversal of the polymerase reaction. But we do not yet know whether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this activity is a true proofreading function and to what extent it may contribute to the fidelity of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transcription.</a:t>
            </a:r>
            <a:r>
              <a:rPr lang="en-US" altLang="zh-CN" sz="2800" dirty="0"/>
              <a:t> </a:t>
            </a:r>
            <a:br>
              <a:rPr lang="en-US" altLang="zh-CN" sz="2800" dirty="0"/>
            </a:br>
            <a:br>
              <a:rPr lang="en-US" altLang="zh-CN" sz="1800" dirty="0"/>
            </a:br>
            <a:r>
              <a:rPr lang="en-US" altLang="zh-CN" sz="1800" dirty="0"/>
              <a:t>7</a:t>
            </a:r>
            <a:r>
              <a:rPr lang="en-US" altLang="zh-CN" sz="1800" baseline="30000" dirty="0"/>
              <a:t>th</a:t>
            </a:r>
            <a:r>
              <a:rPr lang="en-US" altLang="zh-CN" sz="1800" dirty="0"/>
              <a:t> –p2161</a:t>
            </a:r>
            <a:br>
              <a:rPr lang="en-US" altLang="zh-CN" dirty="0"/>
            </a:b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76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altLang="zh-CN" dirty="0"/>
              <a:t>Σ</a:t>
            </a:r>
            <a:r>
              <a:rPr lang="en-US" altLang="zh-CN" dirty="0"/>
              <a:t> Σ</a:t>
            </a:r>
          </a:p>
          <a:p>
            <a:r>
              <a:rPr lang="en-US" altLang="zh-CN" dirty="0"/>
              <a:t>Initiation, elongation</a:t>
            </a:r>
            <a:r>
              <a:rPr lang="zh-CN" altLang="en-US" dirty="0"/>
              <a:t>主要由</a:t>
            </a:r>
            <a:r>
              <a:rPr lang="en-US" altLang="zh-CN" dirty="0"/>
              <a:t>RNA polymerase</a:t>
            </a:r>
            <a:r>
              <a:rPr lang="zh-CN" altLang="en-US" dirty="0"/>
              <a:t>去识别，而</a:t>
            </a:r>
            <a:r>
              <a:rPr lang="en-US" altLang="zh-CN" dirty="0"/>
              <a:t>termination</a:t>
            </a:r>
            <a:r>
              <a:rPr lang="zh-CN" altLang="en-US" dirty="0"/>
              <a:t>主要依赖</a:t>
            </a:r>
            <a:r>
              <a:rPr lang="en-US" altLang="zh-CN" dirty="0"/>
              <a:t>RNA</a:t>
            </a:r>
            <a:r>
              <a:rPr lang="zh-CN" altLang="en-US" dirty="0"/>
              <a:t>或者其它的蛋白。（见后面转录的终止）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5122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i="0" dirty="0">
                <a:solidFill>
                  <a:srgbClr val="0076A3"/>
                </a:solidFill>
                <a:effectLst/>
                <a:latin typeface="TimesNewRomanPS-BoldMT"/>
              </a:rPr>
              <a:t>FIGURE 26-4 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TimesNewRomanPS-BoldMT"/>
              </a:rPr>
              <a:t>Structure of the RNA polymerase holoenzyme of the bacterium </a:t>
            </a:r>
            <a:r>
              <a:rPr lang="en-US" altLang="zh-CN" sz="1200" b="1" i="1" dirty="0">
                <a:solidFill>
                  <a:srgbClr val="000000"/>
                </a:solidFill>
                <a:effectLst/>
                <a:latin typeface="TimesNewRomanPS-BoldItalicMT"/>
              </a:rPr>
              <a:t>Thermus aquaticus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TimesNewRomanPS-BoldMT"/>
              </a:rPr>
              <a:t>.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The overall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structure of this enzyme is very similar to that of the </a:t>
            </a:r>
            <a:r>
              <a:rPr lang="en-US" altLang="zh-CN" sz="1200" b="0" i="1" dirty="0">
                <a:solidFill>
                  <a:srgbClr val="000000"/>
                </a:solidFill>
                <a:effectLst/>
                <a:latin typeface="TimesNewRomanPS-ItalicMT"/>
              </a:rPr>
              <a:t>E. coli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RNA polymerase; no DNA or RNA is shown here. </a:t>
            </a:r>
            <a:br>
              <a:rPr lang="en-US" altLang="zh-CN" dirty="0"/>
            </a:br>
            <a:r>
              <a:rPr lang="en-US" altLang="zh-CN" dirty="0"/>
              <a:t>7</a:t>
            </a:r>
            <a:r>
              <a:rPr lang="en-US" altLang="zh-CN" baseline="30000" dirty="0"/>
              <a:t>thp</a:t>
            </a:r>
            <a:r>
              <a:rPr lang="en-US" altLang="zh-CN" dirty="0"/>
              <a:t>-2161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5398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In </a:t>
            </a:r>
            <a:r>
              <a:rPr lang="en-US" altLang="zh-CN" sz="1200" b="0" i="1" dirty="0">
                <a:solidFill>
                  <a:srgbClr val="000000"/>
                </a:solidFill>
                <a:effectLst/>
                <a:latin typeface="TimesNewRomanPS-ItalicMT"/>
              </a:rPr>
              <a:t>E. coli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, RNA polymerase binding occurs within a region stretching from about 70 bp before the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transcription start site to about 30 bp beyond it.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endParaRPr lang="en-US" altLang="zh-CN" sz="1200" b="0" i="0" dirty="0">
              <a:solidFill>
                <a:srgbClr val="000000"/>
              </a:solidFill>
              <a:effectLst/>
              <a:latin typeface="TimesNewRomanPSMT"/>
            </a:endParaRPr>
          </a:p>
          <a:p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The promoter region thus extends between positions </a:t>
            </a:r>
            <a:r>
              <a:rPr lang="en-US" altLang="zh-CN" sz="1200" b="0" i="1" dirty="0">
                <a:solidFill>
                  <a:srgbClr val="000000"/>
                </a:solidFill>
                <a:effectLst/>
                <a:latin typeface="TimesNewRomanPS-ItalicMT"/>
              </a:rPr>
              <a:t>-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70 and +30.</a:t>
            </a:r>
            <a:r>
              <a:rPr lang="en-US" altLang="zh-CN" sz="1800" dirty="0"/>
              <a:t> </a:t>
            </a:r>
            <a:br>
              <a:rPr lang="en-US" altLang="zh-CN" sz="1800" dirty="0"/>
            </a:br>
            <a:endParaRPr lang="en-US" altLang="zh-CN" sz="1200" b="0" i="0" dirty="0">
              <a:solidFill>
                <a:srgbClr val="000000"/>
              </a:solidFill>
              <a:effectLst/>
              <a:latin typeface="TimesNewRomanPSMT"/>
            </a:endParaRPr>
          </a:p>
          <a:p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7</a:t>
            </a:r>
            <a:r>
              <a:rPr lang="en-US" altLang="zh-CN" sz="1200" b="0" i="0" baseline="30000" dirty="0">
                <a:solidFill>
                  <a:srgbClr val="000000"/>
                </a:solidFill>
                <a:effectLst/>
                <a:latin typeface="TimesNewRomanPSMT"/>
              </a:rPr>
              <a:t>th </a:t>
            </a:r>
            <a:r>
              <a:rPr lang="en-US" altLang="zh-CN" sz="1200" b="0" i="0" baseline="0" dirty="0">
                <a:solidFill>
                  <a:srgbClr val="000000"/>
                </a:solidFill>
                <a:effectLst/>
                <a:latin typeface="TimesNewRomanPSMT"/>
              </a:rPr>
              <a:t>p2162</a:t>
            </a:r>
          </a:p>
          <a:p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-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306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The 5′-triphosphate group of the first residue in a nascent (newly formed) RNA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molecule is not cleaved to release 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TimesNewRomanPSMT"/>
              </a:rPr>
              <a:t>PPi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, but instead remains intact throughout the transcription process.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During the elongation phase of transcription, the growing end of the new RNA strand base-pairs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temporarily with the DNA template to form a short hybrid RNA-DNA double helix, about 8 bp long.</a:t>
            </a:r>
          </a:p>
          <a:p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To enable RNA polymerase to synthesize an RNA strand complementary to one of the DNA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strands, the DNA duplex must unwind over a short distance, forming a transcription “bubble.” During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transcription, the </a:t>
            </a:r>
            <a:r>
              <a:rPr lang="en-US" altLang="zh-CN" sz="1200" b="0" i="1" dirty="0">
                <a:solidFill>
                  <a:srgbClr val="000000"/>
                </a:solidFill>
                <a:effectLst/>
                <a:latin typeface="TimesNewRomanPS-ItalicMT"/>
              </a:rPr>
              <a:t>E. coli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RNA polymerase generally keeps about 17 bp unwound. The 8 bp RNADNA hybrid occurs in this unwound region. </a:t>
            </a:r>
            <a:br>
              <a:rPr lang="en-US" altLang="zh-CN" dirty="0"/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Elongation of a transcript by </a:t>
            </a:r>
            <a:r>
              <a:rPr lang="en-US" altLang="zh-CN" sz="1200" b="0" i="1" dirty="0">
                <a:solidFill>
                  <a:srgbClr val="000000"/>
                </a:solidFill>
                <a:effectLst/>
                <a:latin typeface="TimesNewRomanPS-ItalicMT"/>
              </a:rPr>
              <a:t>E. coli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RNA polymerase proceeds at a rate of 50 to 90 nucleotides/s. 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-7</a:t>
            </a:r>
            <a:r>
              <a:rPr lang="en-US" altLang="zh-CN" baseline="30000" dirty="0"/>
              <a:t>th</a:t>
            </a:r>
            <a:r>
              <a:rPr lang="en-US" altLang="zh-CN" dirty="0"/>
              <a:t> p2160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570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altLang="zh-CN" dirty="0"/>
              <a:t>Σ</a:t>
            </a:r>
            <a:r>
              <a:rPr lang="en-US" altLang="zh-CN" dirty="0"/>
              <a:t> 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9103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palindromic sequence</a:t>
            </a:r>
            <a:r>
              <a:rPr lang="zh-CN" altLang="en-US" dirty="0"/>
              <a:t>回文顺序</a:t>
            </a:r>
            <a:endParaRPr lang="en-US" altLang="zh-CN" dirty="0"/>
          </a:p>
          <a:p>
            <a:r>
              <a:rPr lang="en-US" altLang="zh-CN" b="1" dirty="0"/>
              <a:t>palindromic </a:t>
            </a:r>
          </a:p>
          <a:p>
            <a:r>
              <a:rPr lang="zh-CN" altLang="en-US" dirty="0"/>
              <a:t>英 </a:t>
            </a:r>
            <a:r>
              <a:rPr lang="en-US" altLang="zh-CN" dirty="0"/>
              <a:t>[ˌ</a:t>
            </a:r>
            <a:r>
              <a:rPr lang="en-US" altLang="zh-CN" dirty="0" err="1"/>
              <a:t>pælɪn'drɒmɪk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[ˌ</a:t>
            </a:r>
            <a:r>
              <a:rPr lang="en-US" altLang="zh-CN" dirty="0" err="1"/>
              <a:t>pælɪn'drɒmɪk</a:t>
            </a:r>
            <a:r>
              <a:rPr lang="en-US" altLang="zh-CN" dirty="0"/>
              <a:t>] </a:t>
            </a:r>
          </a:p>
          <a:p>
            <a:r>
              <a:rPr lang="en-US" altLang="zh-CN" dirty="0" err="1"/>
              <a:t>Palindrom</a:t>
            </a:r>
            <a:r>
              <a:rPr lang="en-US" altLang="zh-CN" dirty="0"/>
              <a:t>  </a:t>
            </a:r>
            <a:r>
              <a:rPr lang="zh-CN" altLang="en-US" dirty="0"/>
              <a:t>回文结构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3475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理解</a:t>
            </a:r>
            <a:r>
              <a:rPr lang="en-US" altLang="zh-CN" dirty="0" err="1"/>
              <a:t>panlindrome</a:t>
            </a:r>
            <a:r>
              <a:rPr lang="en-US" altLang="zh-CN" dirty="0"/>
              <a:t> sequences</a:t>
            </a:r>
            <a:r>
              <a:rPr lang="zh-CN" altLang="en-US" dirty="0"/>
              <a:t>的三种方式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，自己回折</a:t>
            </a:r>
            <a:r>
              <a:rPr lang="zh-CN" altLang="en-US"/>
              <a:t>可以完全反向互补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，两条链的序列成中心对称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，两条链序列完全相同。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3048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palindrome</a:t>
            </a:r>
            <a:r>
              <a:rPr lang="zh-CN" altLang="en-US" dirty="0"/>
              <a:t>回文（指顺读和倒读都一样的词语）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7210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isomerize </a:t>
            </a:r>
          </a:p>
          <a:p>
            <a:r>
              <a:rPr lang="zh-CN" altLang="en-US" dirty="0"/>
              <a:t>英 </a:t>
            </a:r>
            <a:r>
              <a:rPr lang="en-US" altLang="zh-CN" dirty="0"/>
              <a:t>[</a:t>
            </a:r>
            <a:r>
              <a:rPr lang="en-US" altLang="zh-CN" dirty="0" err="1"/>
              <a:t>aɪ'sɒməraɪz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</a:t>
            </a:r>
            <a:r>
              <a:rPr lang="en-US" altLang="zh-CN" dirty="0" err="1"/>
              <a:t>aɪ'sɒməˌraɪz</a:t>
            </a:r>
            <a:r>
              <a:rPr lang="en-US" altLang="zh-CN" dirty="0"/>
              <a:t>]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18104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The </a:t>
            </a:r>
            <a:r>
              <a:rPr lang="en-US" altLang="zh-CN" sz="1200" b="0" i="1" dirty="0">
                <a:solidFill>
                  <a:srgbClr val="000000"/>
                </a:solidFill>
                <a:effectLst/>
                <a:latin typeface="TimesNewRomanPS-ItalicMT"/>
              </a:rPr>
              <a:t>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-dependent terminators lack the sequence of repeated A residues in the template strand but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usually include a CA-rich sequence called a </a:t>
            </a:r>
            <a:r>
              <a:rPr lang="en-US" altLang="zh-CN" sz="1200" b="0" i="1" dirty="0">
                <a:solidFill>
                  <a:srgbClr val="000000"/>
                </a:solidFill>
                <a:effectLst/>
                <a:latin typeface="TimesNewRomanPS-ItalicMT"/>
              </a:rPr>
              <a:t>rut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(</a:t>
            </a:r>
            <a:r>
              <a:rPr lang="en-US" altLang="zh-CN" sz="1200" b="0" i="1" dirty="0">
                <a:solidFill>
                  <a:srgbClr val="000000"/>
                </a:solidFill>
                <a:effectLst/>
                <a:latin typeface="TimesNewRomanPS-ItalicMT"/>
              </a:rPr>
              <a:t>r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ho </a:t>
            </a:r>
            <a:r>
              <a:rPr lang="en-US" altLang="zh-CN" sz="1200" b="0" i="1" dirty="0">
                <a:solidFill>
                  <a:srgbClr val="000000"/>
                </a:solidFill>
                <a:effectLst/>
                <a:latin typeface="TimesNewRomanPS-ItalicMT"/>
              </a:rPr>
              <a:t>ut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ilization) element. The </a:t>
            </a:r>
            <a:r>
              <a:rPr lang="en-US" altLang="zh-CN" sz="1200" b="0" i="1" dirty="0">
                <a:solidFill>
                  <a:srgbClr val="000000"/>
                </a:solidFill>
                <a:effectLst/>
                <a:latin typeface="TimesNewRomanPS-ItalicMT"/>
              </a:rPr>
              <a:t>ρ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protein associates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with the RNA at specific binding sites and migrates in the 5′ → 3′ direction until it reaches the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transcription complex that is paused at a termination site (</a:t>
            </a:r>
            <a:r>
              <a:rPr lang="en-US" altLang="zh-CN" sz="1200" b="0" i="0" dirty="0">
                <a:solidFill>
                  <a:srgbClr val="0000EE"/>
                </a:solidFill>
                <a:effectLst/>
                <a:latin typeface="TimesNewRomanPSMT"/>
              </a:rPr>
              <a:t>Fig. 26-7b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). Here it contributes to release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of the RNA transcript. The </a:t>
            </a:r>
            <a:r>
              <a:rPr lang="en-US" altLang="zh-CN" sz="1200" b="0" i="1" dirty="0">
                <a:solidFill>
                  <a:srgbClr val="000000"/>
                </a:solidFill>
                <a:effectLst/>
                <a:latin typeface="TimesNewRomanPS-ItalicMT"/>
              </a:rPr>
              <a:t>ρ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protein has an ATP-dependent RNA-DNA helicase activity that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promotes translocation of the protein along the RNA, and ATP is hydrolyzed by the </a:t>
            </a:r>
            <a:r>
              <a:rPr lang="en-US" altLang="zh-CN" sz="1200" b="0" i="1" dirty="0">
                <a:solidFill>
                  <a:srgbClr val="000000"/>
                </a:solidFill>
                <a:effectLst/>
                <a:latin typeface="TimesNewRomanPS-ItalicMT"/>
              </a:rPr>
              <a:t>ρ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protein during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the termination process. The detailed mechanism by which the protein promotes the release of the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RNA transcript is not known.</a:t>
            </a:r>
            <a:r>
              <a:rPr lang="en-US" altLang="zh-CN" dirty="0"/>
              <a:t> </a:t>
            </a:r>
            <a:br>
              <a:rPr lang="en-US" altLang="zh-CN" dirty="0"/>
            </a:br>
            <a:r>
              <a:rPr lang="en-US" altLang="zh-CN" dirty="0"/>
              <a:t>-7</a:t>
            </a:r>
            <a:r>
              <a:rPr lang="en-US" altLang="zh-CN" baseline="30000" dirty="0"/>
              <a:t>th</a:t>
            </a:r>
            <a:r>
              <a:rPr lang="en-US" altLang="zh-CN" dirty="0"/>
              <a:t> p2168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4632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/>
              <a:t>7</a:t>
            </a:r>
            <a:r>
              <a:rPr lang="en-US" altLang="zh-CN" baseline="30000" dirty="0"/>
              <a:t>th</a:t>
            </a:r>
            <a:r>
              <a:rPr lang="en-US" altLang="zh-CN" dirty="0"/>
              <a:t> </a:t>
            </a:r>
            <a:r>
              <a:rPr lang="zh-CN" altLang="en-US" dirty="0"/>
              <a:t>中，对</a:t>
            </a:r>
            <a:r>
              <a:rPr lang="en-US" altLang="zh-CN" dirty="0"/>
              <a:t>p</a:t>
            </a:r>
            <a:r>
              <a:rPr lang="zh-CN" altLang="en-US" dirty="0"/>
              <a:t>蛋白的假设没有重复 </a:t>
            </a:r>
            <a:r>
              <a:rPr lang="en-US" altLang="zh-CN" dirty="0"/>
              <a:t>p2170</a:t>
            </a:r>
          </a:p>
          <a:p>
            <a:r>
              <a:rPr lang="en-US" altLang="zh-CN" sz="1800" b="1" i="0" dirty="0">
                <a:solidFill>
                  <a:srgbClr val="0076A3"/>
                </a:solidFill>
                <a:effectLst/>
                <a:latin typeface="TimesNewRomanPS-BoldMT"/>
              </a:rPr>
              <a:t>FIGURE 26-7 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-BoldMT"/>
              </a:rPr>
              <a:t>Termination of transcription in </a:t>
            </a:r>
            <a:r>
              <a:rPr lang="en-US" altLang="zh-CN" sz="1800" b="1" i="1" dirty="0">
                <a:solidFill>
                  <a:srgbClr val="000000"/>
                </a:solidFill>
                <a:effectLst/>
                <a:latin typeface="TimesNewRomanPS-BoldItalicMT"/>
              </a:rPr>
              <a:t>E. coli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-BoldMT"/>
              </a:rPr>
              <a:t>. (a) </a:t>
            </a:r>
            <a:r>
              <a:rPr lang="en-US" altLang="zh-CN" sz="1800" b="0" i="1" dirty="0">
                <a:solidFill>
                  <a:srgbClr val="000000"/>
                </a:solidFill>
                <a:effectLst/>
                <a:latin typeface="TimesNewRomanPS-ItalicMT"/>
              </a:rPr>
              <a:t>ρ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-Independent termination. RNA polymerase pauses at a</a:t>
            </a:r>
            <a:b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variety of DNA sequences, some of which are terminators. One of two outcomes is then possible: either the polymerase</a:t>
            </a:r>
            <a:b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bypasses the site and continues on its way, or the complex undergoes a conformational change (isomerization). In the latter</a:t>
            </a:r>
            <a:b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case, intramolecular pairing of complementary sequences in the newly formed RNA transcript may form a hairpin that</a:t>
            </a:r>
            <a:b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disrupts the RNA-DNA hybrid or the interactions between RNA and polymerase, or both, resulting in isomerization. An</a:t>
            </a:r>
            <a:b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A=U hybrid region at the 3′ end of the new transcript is relatively unstable, and the RNA dissociates from the complex</a:t>
            </a:r>
            <a:b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completely, leading to termination. This is the usual outcome at terminators. At other pause sites, the complex may escape</a:t>
            </a:r>
            <a:b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after the isomerization step to continue RNA synthesis. 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-BoldMT"/>
              </a:rPr>
              <a:t>(b) </a:t>
            </a:r>
            <a:r>
              <a:rPr lang="en-US" altLang="zh-CN" sz="1800" b="0" i="1" dirty="0">
                <a:solidFill>
                  <a:srgbClr val="000000"/>
                </a:solidFill>
                <a:effectLst/>
                <a:latin typeface="TimesNewRomanPS-ItalicMT"/>
              </a:rPr>
              <a:t>ρ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-Dependent termination. RNAs that include a rut site (purple)</a:t>
            </a:r>
            <a:b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recruit the </a:t>
            </a:r>
            <a:r>
              <a:rPr lang="en-US" altLang="zh-CN" sz="1800" b="0" i="1" dirty="0">
                <a:solidFill>
                  <a:srgbClr val="000000"/>
                </a:solidFill>
                <a:effectLst/>
                <a:latin typeface="TimesNewRomanPS-ItalicMT"/>
              </a:rPr>
              <a:t>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helicase. The </a:t>
            </a:r>
            <a:r>
              <a:rPr lang="en-US" altLang="zh-CN" sz="1800" b="0" i="1" dirty="0">
                <a:solidFill>
                  <a:srgbClr val="000000"/>
                </a:solidFill>
                <a:effectLst/>
                <a:latin typeface="TimesNewRomanPS-ItalicMT"/>
              </a:rPr>
              <a:t>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helicase migrates along the mRNA in the 5′ → 3′ direction and separates it from the</a:t>
            </a:r>
            <a:b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polymerase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0080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231F20"/>
                </a:solidFill>
                <a:latin typeface="Whitney-Light"/>
              </a:rPr>
              <a:t>The initiation phase encompasses transcription initiation and promoter clearance (steps </a:t>
            </a:r>
            <a:r>
              <a:rPr lang="en-US" altLang="zh-CN" dirty="0">
                <a:solidFill>
                  <a:srgbClr val="636366"/>
                </a:solidFill>
                <a:latin typeface="WhitneyIndexBlack-RoundBd"/>
              </a:rPr>
              <a:t>1 </a:t>
            </a:r>
            <a:r>
              <a:rPr lang="en-US" altLang="zh-CN" dirty="0">
                <a:solidFill>
                  <a:srgbClr val="231F20"/>
                </a:solidFill>
                <a:latin typeface="Whitney-Light"/>
              </a:rPr>
              <a:t>through </a:t>
            </a:r>
            <a:r>
              <a:rPr lang="en-US" altLang="zh-CN" dirty="0">
                <a:solidFill>
                  <a:srgbClr val="636366"/>
                </a:solidFill>
                <a:latin typeface="WhitneyIndexBlack-RoundBd"/>
              </a:rPr>
              <a:t>4 </a:t>
            </a:r>
            <a:r>
              <a:rPr lang="en-US" altLang="zh-CN" dirty="0">
                <a:solidFill>
                  <a:srgbClr val="231F20"/>
                </a:solidFill>
                <a:latin typeface="Whitney-Light"/>
              </a:rPr>
              <a:t>here).</a:t>
            </a:r>
            <a:br>
              <a:rPr lang="en-US" altLang="zh-CN" dirty="0">
                <a:solidFill>
                  <a:srgbClr val="231F20"/>
                </a:solidFill>
                <a:latin typeface="Whitney-Light"/>
              </a:rPr>
            </a:br>
            <a:r>
              <a:rPr lang="en-US" altLang="zh-CN" dirty="0">
                <a:solidFill>
                  <a:srgbClr val="231F20"/>
                </a:solidFill>
                <a:latin typeface="Whitney-Light"/>
              </a:rPr>
              <a:t>The σ subunit is released and it is replaced by the protein </a:t>
            </a:r>
            <a:r>
              <a:rPr lang="en-US" altLang="zh-CN" dirty="0" err="1">
                <a:solidFill>
                  <a:srgbClr val="231F20"/>
                </a:solidFill>
                <a:latin typeface="Whitney-Light"/>
              </a:rPr>
              <a:t>NusA</a:t>
            </a:r>
            <a:r>
              <a:rPr lang="en-US" altLang="zh-CN" dirty="0">
                <a:solidFill>
                  <a:srgbClr val="231F20"/>
                </a:solidFill>
                <a:latin typeface="Whitney-Light"/>
              </a:rPr>
              <a:t>. The polymerase leaves the promoter and becomes committed to elongation of the RNA (step </a:t>
            </a:r>
            <a:r>
              <a:rPr lang="en-US" altLang="zh-CN" dirty="0">
                <a:solidFill>
                  <a:srgbClr val="636366"/>
                </a:solidFill>
                <a:latin typeface="WhitneyIndexBlack-RoundBd"/>
              </a:rPr>
              <a:t>5</a:t>
            </a:r>
            <a:r>
              <a:rPr lang="en-US" altLang="zh-CN" dirty="0">
                <a:solidFill>
                  <a:srgbClr val="231F20"/>
                </a:solidFill>
                <a:latin typeface="Whitney-Light"/>
              </a:rPr>
              <a:t>).</a:t>
            </a:r>
          </a:p>
          <a:p>
            <a:r>
              <a:rPr lang="en-US" altLang="zh-CN" dirty="0">
                <a:solidFill>
                  <a:srgbClr val="231F20"/>
                </a:solidFill>
                <a:latin typeface="Whitney-Light"/>
              </a:rPr>
              <a:t>When transcription is complete, the RNA is released, the </a:t>
            </a:r>
            <a:r>
              <a:rPr lang="en-US" altLang="zh-CN" dirty="0" err="1">
                <a:solidFill>
                  <a:srgbClr val="231F20"/>
                </a:solidFill>
                <a:latin typeface="Whitney-Light"/>
              </a:rPr>
              <a:t>NusA</a:t>
            </a:r>
            <a:r>
              <a:rPr lang="en-US" altLang="zh-CN" dirty="0">
                <a:solidFill>
                  <a:srgbClr val="231F20"/>
                </a:solidFill>
                <a:latin typeface="Whitney-Light"/>
              </a:rPr>
              <a:t> protein dissociates, and </a:t>
            </a:r>
            <a:r>
              <a:rPr lang="en-US" altLang="zh-CN" dirty="0" err="1">
                <a:solidFill>
                  <a:srgbClr val="231F20"/>
                </a:solidFill>
                <a:latin typeface="Whitney-Light"/>
              </a:rPr>
              <a:t>theRNA</a:t>
            </a:r>
            <a:r>
              <a:rPr lang="en-US" altLang="zh-CN" dirty="0">
                <a:solidFill>
                  <a:srgbClr val="231F20"/>
                </a:solidFill>
                <a:latin typeface="Whitney-Light"/>
              </a:rPr>
              <a:t> polymerase dissociates from the DNA (step </a:t>
            </a:r>
            <a:r>
              <a:rPr lang="en-US" altLang="zh-CN" dirty="0">
                <a:solidFill>
                  <a:srgbClr val="636366"/>
                </a:solidFill>
                <a:latin typeface="WhitneyIndexBlack-RoundBd"/>
              </a:rPr>
              <a:t>6</a:t>
            </a:r>
            <a:r>
              <a:rPr lang="en-US" altLang="zh-CN" dirty="0">
                <a:solidFill>
                  <a:srgbClr val="231F20"/>
                </a:solidFill>
                <a:latin typeface="Whitney-Light"/>
              </a:rPr>
              <a:t>)</a:t>
            </a:r>
            <a:r>
              <a:rPr lang="en-US" altLang="zh-CN" dirty="0"/>
              <a:t> </a:t>
            </a:r>
          </a:p>
          <a:p>
            <a:endParaRPr lang="en-US" altLang="zh-CN" dirty="0"/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protein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NusA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altLang="zh-CN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54,430) binds to the elongating RNA polymerase, competitively with the </a:t>
            </a:r>
            <a:r>
              <a:rPr lang="en-US" altLang="zh-CN" dirty="0" err="1">
                <a:solidFill>
                  <a:srgbClr val="231F20"/>
                </a:solidFill>
                <a:latin typeface="Whitney-Light"/>
              </a:rPr>
              <a:t>σ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subunit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Once transcription is complete,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NusA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dissociates from the enzyme, 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RNA polymerase dissociates from the DNA, and a </a:t>
            </a:r>
            <a:r>
              <a:rPr lang="en-US" altLang="zh-CN" dirty="0" err="1">
                <a:solidFill>
                  <a:srgbClr val="231F20"/>
                </a:solidFill>
                <a:latin typeface="Whitney-Light"/>
              </a:rPr>
              <a:t>σ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factor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altLang="zh-CN" dirty="0">
                <a:solidFill>
                  <a:srgbClr val="231F20"/>
                </a:solidFill>
                <a:latin typeface="Whitney-Light"/>
              </a:rPr>
              <a:t>σ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70 or another) can again bind to the enzyme to initiate transcription.</a:t>
            </a:r>
            <a:r>
              <a:rPr lang="en-US" altLang="zh-CN" dirty="0"/>
              <a:t> </a:t>
            </a:r>
          </a:p>
          <a:p>
            <a:r>
              <a:rPr lang="en-US" altLang="zh-CN" dirty="0" err="1"/>
              <a:t>NusA</a:t>
            </a:r>
            <a:r>
              <a:rPr lang="zh-CN" altLang="en-US" dirty="0"/>
              <a:t>蛋白可以竞争性结合</a:t>
            </a:r>
            <a:r>
              <a:rPr lang="en-US" altLang="zh-CN" dirty="0">
                <a:solidFill>
                  <a:srgbClr val="231F20"/>
                </a:solidFill>
                <a:latin typeface="Whitney-Light"/>
              </a:rPr>
              <a:t>σ</a:t>
            </a:r>
            <a:r>
              <a:rPr lang="zh-CN" altLang="en-US" dirty="0">
                <a:solidFill>
                  <a:srgbClr val="231F20"/>
                </a:solidFill>
                <a:latin typeface="Whitney-Light"/>
              </a:rPr>
              <a:t>因子</a:t>
            </a:r>
            <a:br>
              <a:rPr lang="en-US" altLang="zh-CN" dirty="0"/>
            </a:br>
            <a:br>
              <a:rPr lang="en-US" altLang="zh-CN" dirty="0"/>
            </a:b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6549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Many of the RNA molecules in bacteria and virtually all RNA molecules in eukaryotes are processed</a:t>
            </a:r>
            <a:b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to some degree after synthesis. </a:t>
            </a:r>
            <a:br>
              <a:rPr lang="en-US" altLang="zh-CN" dirty="0"/>
            </a:br>
            <a:r>
              <a:rPr lang="en-US" altLang="zh-CN" dirty="0"/>
              <a:t>7</a:t>
            </a:r>
            <a:r>
              <a:rPr lang="en-US" altLang="zh-CN" baseline="30000" dirty="0"/>
              <a:t>th</a:t>
            </a:r>
            <a:r>
              <a:rPr lang="en-US" altLang="zh-CN" dirty="0"/>
              <a:t> –p2179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5681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simultaneously </a:t>
            </a:r>
            <a:r>
              <a:rPr lang="zh-CN" altLang="en-US" dirty="0"/>
              <a:t>英 </a:t>
            </a:r>
            <a:r>
              <a:rPr lang="en-US" altLang="zh-CN" dirty="0"/>
              <a:t>[ˌ</a:t>
            </a:r>
            <a:r>
              <a:rPr lang="en-US" altLang="zh-CN" dirty="0" err="1"/>
              <a:t>sɪməl'teɪnɪəslɪ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</a:t>
            </a:r>
            <a:r>
              <a:rPr lang="en-US" altLang="zh-CN" dirty="0" err="1"/>
              <a:t>saɪməlˈtenɪəslɪ</a:t>
            </a:r>
            <a:r>
              <a:rPr lang="en-US" altLang="zh-CN" dirty="0"/>
              <a:t>] adv. </a:t>
            </a:r>
            <a:r>
              <a:rPr lang="zh-CN" altLang="en-US" dirty="0"/>
              <a:t>同时地</a:t>
            </a:r>
            <a:r>
              <a:rPr lang="en-US" altLang="zh-CN" dirty="0"/>
              <a:t>; </a:t>
            </a:r>
            <a:r>
              <a:rPr lang="zh-CN" altLang="en-US" dirty="0"/>
              <a:t>一壁</a:t>
            </a:r>
            <a:r>
              <a:rPr lang="en-US" altLang="zh-CN" dirty="0"/>
              <a:t>; </a:t>
            </a:r>
            <a:r>
              <a:rPr lang="zh-CN" altLang="en-US" dirty="0"/>
              <a:t>齐</a:t>
            </a:r>
            <a:r>
              <a:rPr lang="en-US" altLang="zh-CN" dirty="0"/>
              <a:t>; </a:t>
            </a:r>
            <a:r>
              <a:rPr lang="zh-CN" altLang="en-US" dirty="0"/>
              <a:t>一齐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4349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01222EFA-DF9D-4D7D-9CE9-0F32E05511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6B91BBB-72F2-4ABA-92A0-C983A433BD15}" type="slidenum">
              <a:rPr lang="en-US" altLang="zh-CN"/>
              <a:pPr/>
              <a:t>45</a:t>
            </a:fld>
            <a:endParaRPr lang="en-US" altLang="zh-CN"/>
          </a:p>
        </p:txBody>
      </p:sp>
      <p:sp>
        <p:nvSpPr>
          <p:cNvPr id="49155" name="Rectangle 7">
            <a:extLst>
              <a:ext uri="{FF2B5EF4-FFF2-40B4-BE49-F238E27FC236}">
                <a16:creationId xmlns:a16="http://schemas.microsoft.com/office/drawing/2014/main" id="{1EA0CF54-BA78-45A1-BFF9-56BE5F843F1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D78D8052-187D-42EC-82BB-B9071BD24A75}" type="slidenum">
              <a:rPr kumimoji="1" lang="en-US" altLang="en-US" sz="1200">
                <a:latin typeface="Times New Roman" panose="02020603050405020304" pitchFamily="18" charset="0"/>
              </a:rPr>
              <a:pPr algn="r" eaLnBrk="1" hangingPunct="1"/>
              <a:t>45</a:t>
            </a:fld>
            <a:endParaRPr kumimoji="1"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49156" name="Rectangle 2">
            <a:extLst>
              <a:ext uri="{FF2B5EF4-FFF2-40B4-BE49-F238E27FC236}">
                <a16:creationId xmlns:a16="http://schemas.microsoft.com/office/drawing/2014/main" id="{AF4148F4-C936-4D6E-892F-517706F9EC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7" name="Rectangle 3">
            <a:extLst>
              <a:ext uri="{FF2B5EF4-FFF2-40B4-BE49-F238E27FC236}">
                <a16:creationId xmlns:a16="http://schemas.microsoft.com/office/drawing/2014/main" id="{E1457961-83DF-4D16-98DF-CB48E6B4CE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78275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cistron</a:t>
            </a:r>
            <a:r>
              <a:rPr lang="en-US" altLang="zh-CN" dirty="0"/>
              <a:t> </a:t>
            </a:r>
            <a:r>
              <a:rPr lang="zh-CN" altLang="en-US" dirty="0"/>
              <a:t>英 </a:t>
            </a:r>
            <a:r>
              <a:rPr lang="en-US" altLang="zh-CN" dirty="0"/>
              <a:t>['</a:t>
            </a:r>
            <a:r>
              <a:rPr lang="en-US" altLang="zh-CN" dirty="0" err="1"/>
              <a:t>sɪstrɒn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['</a:t>
            </a:r>
            <a:r>
              <a:rPr lang="en-US" altLang="zh-CN" dirty="0" err="1"/>
              <a:t>sɪsˌtrɒn</a:t>
            </a:r>
            <a:r>
              <a:rPr lang="en-US" altLang="zh-CN" dirty="0"/>
              <a:t>]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92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Regulation of transcription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1181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2384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The operator to which it binds most tightly (O1) abuts the transcription start site</a:t>
            </a:r>
            <a:b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(</a:t>
            </a:r>
            <a:r>
              <a:rPr lang="en-US" altLang="zh-CN" sz="1800" b="0" i="0" dirty="0">
                <a:solidFill>
                  <a:srgbClr val="0000EE"/>
                </a:solidFill>
                <a:effectLst/>
                <a:latin typeface="TimesNewRomanPSMT"/>
              </a:rPr>
              <a:t>Fig. 28-8a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). The </a:t>
            </a:r>
            <a:r>
              <a:rPr lang="en-US" altLang="zh-CN" sz="1800" b="0" i="1" dirty="0">
                <a:solidFill>
                  <a:srgbClr val="000000"/>
                </a:solidFill>
                <a:effectLst/>
                <a:latin typeface="TimesNewRomanPS-ItalicMT"/>
              </a:rPr>
              <a:t>I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gene is transcribed from its own promoter (PI) independent of the </a:t>
            </a:r>
            <a:r>
              <a:rPr lang="en-US" altLang="zh-CN" sz="1800" b="0" i="1" dirty="0">
                <a:solidFill>
                  <a:srgbClr val="000000"/>
                </a:solidFill>
                <a:effectLst/>
                <a:latin typeface="TimesNewRomanPS-ItalicMT"/>
              </a:rPr>
              <a:t>lac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operon</a:t>
            </a:r>
            <a:b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genes. The </a:t>
            </a:r>
            <a:r>
              <a:rPr lang="en-US" altLang="zh-CN" sz="1800" b="0" i="1" dirty="0">
                <a:solidFill>
                  <a:srgbClr val="000000"/>
                </a:solidFill>
                <a:effectLst/>
                <a:latin typeface="TimesNewRomanPS-ItalicMT"/>
              </a:rPr>
              <a:t>lac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operon has two secondary binding sites for the Lac repressor, O2 and O3. O2 is</a:t>
            </a:r>
            <a:b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centered near position +410, within the gene encoding </a:t>
            </a:r>
            <a:r>
              <a:rPr lang="en-US" altLang="zh-CN" sz="1800" b="0" i="1" dirty="0">
                <a:solidFill>
                  <a:srgbClr val="000000"/>
                </a:solidFill>
                <a:effectLst/>
                <a:latin typeface="TimesNewRomanPS-ItalicMT"/>
              </a:rPr>
              <a:t>β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-galactosidase (</a:t>
            </a:r>
            <a:r>
              <a:rPr lang="en-US" altLang="zh-CN" sz="1800" b="0" i="1" dirty="0">
                <a:solidFill>
                  <a:srgbClr val="000000"/>
                </a:solidFill>
                <a:effectLst/>
                <a:latin typeface="TimesNewRomanPS-ItalicMT"/>
              </a:rPr>
              <a:t>Z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); O3 is near position -90,</a:t>
            </a:r>
            <a:r>
              <a:rPr lang="en-US" altLang="zh-CN" dirty="0"/>
              <a:t> </a:t>
            </a:r>
            <a:br>
              <a:rPr lang="en-US" altLang="zh-CN" dirty="0"/>
            </a:br>
            <a:r>
              <a:rPr lang="en-US" altLang="zh-CN" dirty="0"/>
              <a:t>7</a:t>
            </a:r>
            <a:r>
              <a:rPr lang="en-US" altLang="zh-CN" baseline="30000" dirty="0"/>
              <a:t>th</a:t>
            </a:r>
            <a:r>
              <a:rPr lang="en-US" altLang="zh-CN" dirty="0"/>
              <a:t> p2356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0836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b="1" i="0" dirty="0">
                <a:solidFill>
                  <a:srgbClr val="0076A3"/>
                </a:solidFill>
                <a:effectLst/>
                <a:latin typeface="TimesNewRomanPS-BoldMT"/>
              </a:rPr>
              <a:t>FIGURE 28-7 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-BoldMT"/>
              </a:rPr>
              <a:t>Lactose metabolism in </a:t>
            </a:r>
            <a:r>
              <a:rPr lang="en-US" altLang="zh-CN" sz="1800" b="1" i="1" dirty="0">
                <a:solidFill>
                  <a:srgbClr val="000000"/>
                </a:solidFill>
                <a:effectLst/>
                <a:latin typeface="TimesNewRomanPS-BoldItalicMT"/>
              </a:rPr>
              <a:t>E. coli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-BoldMT"/>
              </a:rPr>
              <a:t>.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Uptake and metabolism of lactose require the activities of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NewRomanPSMT"/>
              </a:rPr>
              <a:t>galactoside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 (lactose) permease and </a:t>
            </a:r>
            <a:r>
              <a:rPr lang="el-GR" altLang="zh-CN" sz="1800" b="0" i="1" dirty="0">
                <a:solidFill>
                  <a:srgbClr val="000000"/>
                </a:solidFill>
                <a:effectLst/>
                <a:latin typeface="TimesNewRomanPS-ItalicMT"/>
              </a:rPr>
              <a:t>β</a:t>
            </a:r>
            <a:r>
              <a:rPr lang="el-GR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-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galactosidase. Conversion of lactose to allolactose by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NewRomanPSMT"/>
              </a:rPr>
              <a:t>transglycosylation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 is a minor reaction also catalyzed by </a:t>
            </a:r>
            <a:r>
              <a:rPr lang="el-GR" altLang="zh-CN" sz="1800" b="0" i="1" dirty="0">
                <a:solidFill>
                  <a:srgbClr val="000000"/>
                </a:solidFill>
                <a:effectLst/>
                <a:latin typeface="TimesNewRomanPS-ItalicMT"/>
              </a:rPr>
              <a:t>β</a:t>
            </a:r>
            <a:r>
              <a:rPr lang="el-GR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-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galactosidase.</a:t>
            </a:r>
            <a:r>
              <a:rPr lang="en-US" altLang="zh-CN" dirty="0"/>
              <a:t> </a:t>
            </a:r>
          </a:p>
          <a:p>
            <a:endParaRPr lang="en-US" altLang="zh-CN" dirty="0"/>
          </a:p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The inducer in the </a:t>
            </a:r>
            <a:r>
              <a:rPr lang="en-US" altLang="zh-CN" sz="1800" b="0" i="1" dirty="0">
                <a:solidFill>
                  <a:srgbClr val="000000"/>
                </a:solidFill>
                <a:effectLst/>
                <a:latin typeface="TimesNewRomanPS-ItalicMT"/>
              </a:rPr>
              <a:t>lac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operon system is not lactose itself but allolactose(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异乳糖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, an isomer of lactose (</a:t>
            </a:r>
            <a:r>
              <a:rPr lang="en-US" altLang="zh-CN" sz="1800" b="0" i="0" dirty="0">
                <a:solidFill>
                  <a:srgbClr val="0000EE"/>
                </a:solidFill>
                <a:effectLst/>
                <a:latin typeface="TimesNewRomanPSMT"/>
              </a:rPr>
              <a:t>Fig. 28-7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). </a:t>
            </a:r>
            <a:br>
              <a:rPr lang="en-US" altLang="zh-CN" dirty="0"/>
            </a:b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5827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lactose </a:t>
            </a:r>
          </a:p>
          <a:p>
            <a:r>
              <a:rPr lang="zh-CN" altLang="en-US" dirty="0"/>
              <a:t>英 </a:t>
            </a:r>
            <a:r>
              <a:rPr lang="en-US" altLang="zh-CN" dirty="0"/>
              <a:t>[ˈ</a:t>
            </a:r>
            <a:r>
              <a:rPr lang="en-US" altLang="zh-CN" dirty="0" err="1"/>
              <a:t>læktəʊs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[ˈ</a:t>
            </a:r>
            <a:r>
              <a:rPr lang="en-US" altLang="zh-CN" dirty="0" err="1"/>
              <a:t>læktoʊs</a:t>
            </a:r>
            <a:r>
              <a:rPr lang="en-US" altLang="zh-CN" dirty="0"/>
              <a:t>] </a:t>
            </a:r>
          </a:p>
          <a:p>
            <a:r>
              <a:rPr lang="en-US" altLang="zh-CN" dirty="0"/>
              <a:t>n. </a:t>
            </a:r>
            <a:r>
              <a:rPr lang="zh-CN" altLang="en-US" dirty="0"/>
              <a:t>乳糖； </a:t>
            </a:r>
            <a:endParaRPr lang="en-US" altLang="zh-CN" dirty="0"/>
          </a:p>
          <a:p>
            <a:r>
              <a:rPr lang="en-US" altLang="zh-CN" dirty="0"/>
              <a:t>Monomer, dimer, trimer, tetramer, pentamer, hexamer, </a:t>
            </a:r>
            <a:r>
              <a:rPr lang="en-US" altLang="zh-CN" dirty="0" err="1"/>
              <a:t>heptamer</a:t>
            </a:r>
            <a:r>
              <a:rPr lang="en-US" altLang="zh-CN" dirty="0"/>
              <a:t>, octamer , </a:t>
            </a:r>
            <a:r>
              <a:rPr lang="en-US" altLang="zh-CN" dirty="0" err="1"/>
              <a:t>nonamer</a:t>
            </a:r>
            <a:r>
              <a:rPr lang="en-US" altLang="zh-CN" b="1" dirty="0"/>
              <a:t>[ˈ</a:t>
            </a:r>
            <a:r>
              <a:rPr lang="en-US" altLang="zh-CN" b="1" dirty="0" err="1"/>
              <a:t>nɔnəmə</a:t>
            </a:r>
            <a:r>
              <a:rPr lang="en-US" altLang="zh-CN" b="1" dirty="0"/>
              <a:t>]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Primary structure, secondary structure, tertiary structure, </a:t>
            </a:r>
            <a:r>
              <a:rPr lang="en-US" altLang="zh-CN" dirty="0" err="1"/>
              <a:t>quarternary</a:t>
            </a:r>
            <a:r>
              <a:rPr lang="en-US" altLang="zh-CN" dirty="0"/>
              <a:t> structure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0263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7A4E02E6-3FA2-4093-AC6A-57A2CEBE60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EA9BED3-EDEF-480B-AF42-C4E5AF06A35B}" type="slidenum">
              <a:rPr lang="en-US" altLang="zh-CN">
                <a:latin typeface="Times New Roman" panose="02020603050405020304" pitchFamily="18" charset="0"/>
              </a:rPr>
              <a:pPr/>
              <a:t>55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1443" name="Rectangle 7">
            <a:extLst>
              <a:ext uri="{FF2B5EF4-FFF2-40B4-BE49-F238E27FC236}">
                <a16:creationId xmlns:a16="http://schemas.microsoft.com/office/drawing/2014/main" id="{2CBDF1DF-F60F-41D5-B09E-77D38F163E0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E1474D4D-22FC-4828-B891-4388560DB0EA}" type="slidenum">
              <a:rPr lang="en-US" altLang="en-US" sz="1200">
                <a:latin typeface="Calibri" panose="020F0502020204030204" pitchFamily="34" charset="0"/>
              </a:rPr>
              <a:pPr algn="r" eaLnBrk="1" hangingPunct="1"/>
              <a:t>55</a:t>
            </a:fld>
            <a:endParaRPr lang="en-US" altLang="en-US" sz="1200">
              <a:latin typeface="Calibri" panose="020F0502020204030204" pitchFamily="34" charset="0"/>
            </a:endParaRPr>
          </a:p>
        </p:txBody>
      </p:sp>
      <p:sp>
        <p:nvSpPr>
          <p:cNvPr id="61444" name="Rectangle 2">
            <a:extLst>
              <a:ext uri="{FF2B5EF4-FFF2-40B4-BE49-F238E27FC236}">
                <a16:creationId xmlns:a16="http://schemas.microsoft.com/office/drawing/2014/main" id="{809C90AF-7E4A-47CD-960A-83696CF312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5" name="Rectangle 3">
            <a:extLst>
              <a:ext uri="{FF2B5EF4-FFF2-40B4-BE49-F238E27FC236}">
                <a16:creationId xmlns:a16="http://schemas.microsoft.com/office/drawing/2014/main" id="{36B35CF3-0771-44BE-B05D-862C7D88F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77651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葡萄糖效应又称葡萄糖阻遏或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分解代谢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产生阻遏作用。葡萄糖或某些容易利用的碳源，其分解代谢产物阻遏某些编码诱导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酶体系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的基因的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转录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的现象。如大肠埃希氏菌培养在含葡萄糖和乳糖的培养基上，在葡萄糖没有被利用完之前，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乳糖操纵子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就一直被阻遏，乳糖不能被利用，这是因为葡萄糖的分解物引起细胞内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含量降低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6165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constitutive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英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kənˈstɪtjutɪv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[ˈ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kɑːnstɪtuːtɪv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adj.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组成部分的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本质的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基本的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Constitutive expression   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组成型表达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1843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constitutive </a:t>
            </a:r>
            <a:r>
              <a:rPr lang="zh-CN" altLang="en-US" dirty="0"/>
              <a:t>英 </a:t>
            </a:r>
            <a:r>
              <a:rPr lang="en-US" altLang="zh-CN" dirty="0"/>
              <a:t>[ˌ</a:t>
            </a:r>
            <a:r>
              <a:rPr lang="en-US" altLang="zh-CN" dirty="0" err="1"/>
              <a:t>kɒnstɪˈtju:tɪv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[ˌ</a:t>
            </a:r>
            <a:r>
              <a:rPr lang="en-US" altLang="zh-CN" dirty="0" err="1"/>
              <a:t>kɑ:nstəˈtu:tɪv</a:t>
            </a:r>
            <a:r>
              <a:rPr lang="en-US" altLang="zh-CN" dirty="0"/>
              <a:t>]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9528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Trp</a:t>
            </a:r>
            <a:r>
              <a:rPr lang="zh-CN" altLang="en-US" dirty="0"/>
              <a:t>合成途径较漫长，消耗大量能量和前体物，如丝氨酸、</a:t>
            </a:r>
            <a:r>
              <a:rPr lang="en-US" altLang="zh-CN" dirty="0"/>
              <a:t>PRPP</a:t>
            </a:r>
            <a:r>
              <a:rPr lang="zh-CN" altLang="en-US" dirty="0"/>
              <a:t>、谷氨酰氨等，是细胞内最昂贵的代谢途径之一，因此受到严格调控，其中</a:t>
            </a:r>
            <a:r>
              <a:rPr lang="zh-CN" altLang="en-US" dirty="0">
                <a:hlinkClick r:id="rId3"/>
              </a:rPr>
              <a:t>色氨酸</a:t>
            </a:r>
            <a:r>
              <a:rPr lang="zh-CN" altLang="en-US" dirty="0"/>
              <a:t>操纵子发挥着关键作用。调控作用主要有三种方式：阻遏作用、弱化作用以及终产物</a:t>
            </a:r>
            <a:r>
              <a:rPr lang="en-US" altLang="zh-CN" dirty="0" err="1"/>
              <a:t>Trp</a:t>
            </a:r>
            <a:r>
              <a:rPr lang="en-US" altLang="zh-CN" dirty="0"/>
              <a:t> </a:t>
            </a:r>
            <a:r>
              <a:rPr lang="zh-CN" altLang="en-US" dirty="0"/>
              <a:t>对合成酶的反馈抑制作用。</a:t>
            </a:r>
            <a:endParaRPr lang="en-US" altLang="zh-CN" dirty="0"/>
          </a:p>
          <a:p>
            <a:r>
              <a:rPr lang="en-US" altLang="zh-CN" dirty="0"/>
              <a:t>attenuator </a:t>
            </a:r>
            <a:r>
              <a:rPr lang="zh-CN" altLang="en-US" dirty="0"/>
              <a:t>英 </a:t>
            </a:r>
            <a:r>
              <a:rPr lang="en-US" altLang="zh-CN" dirty="0"/>
              <a:t>[</a:t>
            </a:r>
            <a:r>
              <a:rPr lang="en-US" altLang="zh-CN" dirty="0" err="1"/>
              <a:t>əˈtenjueɪtə</a:t>
            </a:r>
            <a:r>
              <a:rPr lang="en-US" altLang="zh-CN" dirty="0"/>
              <a:t>(r)] </a:t>
            </a:r>
            <a:r>
              <a:rPr lang="zh-CN" altLang="en-US" dirty="0"/>
              <a:t>美 </a:t>
            </a:r>
            <a:r>
              <a:rPr lang="en-US" altLang="zh-CN" dirty="0"/>
              <a:t>[</a:t>
            </a:r>
            <a:r>
              <a:rPr lang="en-US" altLang="zh-CN" dirty="0" err="1"/>
              <a:t>əˈtɛnjuˌetɚ</a:t>
            </a:r>
            <a:r>
              <a:rPr lang="en-US" altLang="zh-CN" dirty="0"/>
              <a:t>] n. </a:t>
            </a:r>
            <a:r>
              <a:rPr lang="zh-CN" altLang="en-US" dirty="0"/>
              <a:t>衰减器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59653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理解</a:t>
            </a:r>
            <a:r>
              <a:rPr lang="en-US" altLang="zh-CN" dirty="0" err="1"/>
              <a:t>Trp</a:t>
            </a:r>
            <a:r>
              <a:rPr lang="en-US" altLang="zh-CN" dirty="0"/>
              <a:t> operon </a:t>
            </a:r>
            <a:r>
              <a:rPr lang="zh-CN" altLang="en-US" dirty="0"/>
              <a:t>注意三点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号片段编码一段多肽，里面有</a:t>
            </a:r>
            <a:r>
              <a:rPr lang="en-US" altLang="zh-CN" dirty="0" err="1"/>
              <a:t>trp</a:t>
            </a:r>
            <a:r>
              <a:rPr lang="zh-CN" altLang="en-US" dirty="0"/>
              <a:t>密码子</a:t>
            </a:r>
            <a:endParaRPr lang="en-US" altLang="zh-CN" dirty="0"/>
          </a:p>
          <a:p>
            <a:r>
              <a:rPr lang="en-US" altLang="zh-CN" dirty="0"/>
              <a:t>2 ½</a:t>
            </a:r>
            <a:r>
              <a:rPr lang="zh-CN" altLang="en-US" dirty="0"/>
              <a:t>、</a:t>
            </a:r>
            <a:r>
              <a:rPr lang="en-US" altLang="zh-CN" dirty="0"/>
              <a:t>/3/4</a:t>
            </a:r>
            <a:r>
              <a:rPr lang="zh-CN" altLang="en-US" dirty="0"/>
              <a:t>、片段之间存在回文结构，可以相互之间形成互补结果（</a:t>
            </a:r>
            <a:r>
              <a:rPr lang="en-US" altLang="zh-CN" dirty="0"/>
              <a:t>stem-loop</a:t>
            </a:r>
            <a:r>
              <a:rPr lang="zh-CN" altLang="en-US" dirty="0"/>
              <a:t>，</a:t>
            </a:r>
            <a:r>
              <a:rPr lang="en-US" altLang="zh-CN" dirty="0"/>
              <a:t>hairpin</a:t>
            </a:r>
            <a:r>
              <a:rPr lang="zh-CN" altLang="en-US" dirty="0"/>
              <a:t>结构）</a:t>
            </a:r>
            <a:endParaRPr lang="en-US" altLang="zh-CN" dirty="0"/>
          </a:p>
          <a:p>
            <a:r>
              <a:rPr lang="en-US" altLang="zh-CN" dirty="0"/>
              <a:t>3 </a:t>
            </a:r>
            <a:r>
              <a:rPr lang="zh-CN" altLang="en-US" dirty="0"/>
              <a:t>原核生物转录、翻译连锁，所以才会造成翻译过程调控转录。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核糖体翻译</a:t>
            </a:r>
            <a:r>
              <a:rPr lang="en-US" altLang="zh-CN" dirty="0"/>
              <a:t>1</a:t>
            </a:r>
            <a:r>
              <a:rPr lang="zh-CN" altLang="en-US" dirty="0"/>
              <a:t>号片段时，</a:t>
            </a:r>
            <a:r>
              <a:rPr lang="en-US" altLang="zh-CN" dirty="0"/>
              <a:t>RNA</a:t>
            </a:r>
            <a:r>
              <a:rPr lang="zh-CN" altLang="en-US" dirty="0"/>
              <a:t>聚合酶滑动至</a:t>
            </a:r>
            <a:r>
              <a:rPr lang="en-US" altLang="zh-CN" dirty="0"/>
              <a:t>3</a:t>
            </a:r>
            <a:r>
              <a:rPr lang="zh-CN" altLang="en-US" dirty="0"/>
              <a:t>号片段（正在转录</a:t>
            </a:r>
            <a:r>
              <a:rPr lang="en-US" altLang="zh-CN" dirty="0"/>
              <a:t>3</a:t>
            </a:r>
            <a:r>
              <a:rPr lang="zh-CN" altLang="en-US" dirty="0"/>
              <a:t>号片段）</a:t>
            </a:r>
            <a:endParaRPr lang="en-US" altLang="zh-CN" dirty="0"/>
          </a:p>
          <a:p>
            <a:r>
              <a:rPr lang="en-US" altLang="zh-CN" dirty="0" err="1"/>
              <a:t>Trp</a:t>
            </a:r>
            <a:r>
              <a:rPr lang="zh-CN" altLang="en-US" dirty="0"/>
              <a:t>少时，核糖体停在</a:t>
            </a:r>
            <a:r>
              <a:rPr lang="en-US" altLang="zh-CN" dirty="0"/>
              <a:t>1</a:t>
            </a:r>
            <a:r>
              <a:rPr lang="zh-CN" altLang="en-US" dirty="0"/>
              <a:t>号片段，转录出来的</a:t>
            </a:r>
            <a:r>
              <a:rPr lang="en-US" altLang="zh-CN" dirty="0"/>
              <a:t>2,3</a:t>
            </a:r>
            <a:r>
              <a:rPr lang="zh-CN" altLang="en-US" dirty="0"/>
              <a:t>之间形成发卡结构，时转录继续</a:t>
            </a:r>
            <a:endParaRPr lang="en-US" altLang="zh-CN" dirty="0"/>
          </a:p>
          <a:p>
            <a:r>
              <a:rPr lang="en-US" altLang="zh-CN" dirty="0" err="1"/>
              <a:t>Trp</a:t>
            </a:r>
            <a:r>
              <a:rPr lang="zh-CN" altLang="en-US" dirty="0"/>
              <a:t>多时，核糖体顺利翻译完成</a:t>
            </a:r>
            <a:r>
              <a:rPr lang="en-US" altLang="zh-CN" dirty="0"/>
              <a:t>1</a:t>
            </a:r>
            <a:r>
              <a:rPr lang="zh-CN" altLang="en-US" dirty="0"/>
              <a:t>号片段，占据部分</a:t>
            </a:r>
            <a:r>
              <a:rPr lang="en-US" altLang="zh-CN" dirty="0"/>
              <a:t>2</a:t>
            </a:r>
            <a:r>
              <a:rPr lang="zh-CN" altLang="en-US" dirty="0"/>
              <a:t>号片段，转录出来的</a:t>
            </a:r>
            <a:r>
              <a:rPr lang="en-US" altLang="zh-CN" dirty="0"/>
              <a:t>3</a:t>
            </a:r>
            <a:r>
              <a:rPr lang="zh-CN" altLang="en-US" dirty="0"/>
              <a:t>号片段不能与</a:t>
            </a:r>
            <a:r>
              <a:rPr lang="en-US" altLang="zh-CN" dirty="0"/>
              <a:t>2</a:t>
            </a:r>
            <a:r>
              <a:rPr lang="zh-CN" altLang="en-US" dirty="0"/>
              <a:t>号片段形成发卡，而与随后转录出来的</a:t>
            </a:r>
            <a:r>
              <a:rPr lang="en-US" altLang="zh-CN" dirty="0"/>
              <a:t>4</a:t>
            </a:r>
            <a:r>
              <a:rPr lang="zh-CN" altLang="en-US" dirty="0"/>
              <a:t>号片段形成发卡，终止转录。</a:t>
            </a:r>
            <a:endParaRPr lang="en-US" altLang="zh-CN" dirty="0"/>
          </a:p>
          <a:p>
            <a:r>
              <a:rPr lang="en-US" altLang="zh-CN" dirty="0"/>
              <a:t>2,3</a:t>
            </a:r>
            <a:r>
              <a:rPr lang="zh-CN" altLang="en-US" dirty="0"/>
              <a:t>形成发卡，之后没有富含</a:t>
            </a:r>
            <a:r>
              <a:rPr lang="en-US" altLang="zh-CN" dirty="0"/>
              <a:t>A,U</a:t>
            </a:r>
            <a:r>
              <a:rPr lang="zh-CN" altLang="en-US" dirty="0"/>
              <a:t>的序列，所以不容易终止</a:t>
            </a:r>
            <a:endParaRPr lang="en-US" altLang="zh-CN" dirty="0"/>
          </a:p>
          <a:p>
            <a:r>
              <a:rPr lang="en-US" altLang="zh-CN" dirty="0"/>
              <a:t>3,4</a:t>
            </a:r>
            <a:r>
              <a:rPr lang="zh-CN" altLang="en-US" dirty="0"/>
              <a:t>形成的发卡，之后富含</a:t>
            </a:r>
            <a:r>
              <a:rPr lang="en-US" altLang="zh-CN" dirty="0"/>
              <a:t>U</a:t>
            </a:r>
            <a:r>
              <a:rPr lang="zh-CN" altLang="en-US" dirty="0"/>
              <a:t>的序列，是转录容易终止。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2912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367F7867-5FD2-4169-A729-37BC10AF0E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5898C1B9-7E53-48E2-A51C-A162E34576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/>
              <a:t>attenuation </a:t>
            </a:r>
            <a:r>
              <a:rPr lang="zh-CN" altLang="en-US" dirty="0"/>
              <a:t>英 </a:t>
            </a:r>
            <a:r>
              <a:rPr lang="en-US" altLang="zh-CN" dirty="0"/>
              <a:t>[</a:t>
            </a:r>
            <a:r>
              <a:rPr lang="en-US" altLang="zh-CN" dirty="0" err="1"/>
              <a:t>əˌtenjʊ'eɪʃn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</a:t>
            </a:r>
            <a:r>
              <a:rPr lang="en-US" altLang="zh-CN" dirty="0" err="1"/>
              <a:t>əˌtenjʊ'eɪʃn</a:t>
            </a:r>
            <a:r>
              <a:rPr lang="en-US" altLang="zh-CN" dirty="0"/>
              <a:t>] n. </a:t>
            </a:r>
            <a:r>
              <a:rPr lang="zh-CN" altLang="en-US" dirty="0"/>
              <a:t>变薄</a:t>
            </a:r>
            <a:r>
              <a:rPr lang="en-US" altLang="zh-CN" dirty="0"/>
              <a:t>; </a:t>
            </a:r>
            <a:r>
              <a:rPr lang="zh-CN" altLang="en-US" dirty="0"/>
              <a:t>弄细</a:t>
            </a:r>
            <a:r>
              <a:rPr lang="en-US" altLang="zh-CN" dirty="0"/>
              <a:t>; </a:t>
            </a:r>
            <a:r>
              <a:rPr lang="zh-CN" altLang="en-US" dirty="0"/>
              <a:t>稀薄化</a:t>
            </a:r>
            <a:r>
              <a:rPr lang="en-US" altLang="zh-CN" dirty="0"/>
              <a:t>; </a:t>
            </a:r>
            <a:r>
              <a:rPr lang="zh-CN" altLang="en-US" dirty="0"/>
              <a:t>减少</a:t>
            </a:r>
            <a:endParaRPr lang="en-US" altLang="zh-CN" dirty="0"/>
          </a:p>
          <a:p>
            <a:r>
              <a:rPr lang="zh-CN" altLang="en-US" dirty="0"/>
              <a:t>先讲</a:t>
            </a:r>
            <a:r>
              <a:rPr lang="en-US" altLang="zh-CN" dirty="0"/>
              <a:t>b</a:t>
            </a:r>
            <a:r>
              <a:rPr lang="zh-CN" altLang="en-US" dirty="0"/>
              <a:t>，再讲</a:t>
            </a:r>
            <a:r>
              <a:rPr lang="en-US" altLang="zh-CN" dirty="0"/>
              <a:t>a</a:t>
            </a:r>
            <a:r>
              <a:rPr lang="zh-CN" altLang="en-US" dirty="0"/>
              <a:t>，不讲</a:t>
            </a:r>
            <a:r>
              <a:rPr lang="en-US" altLang="zh-CN" dirty="0"/>
              <a:t>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32483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35CF5FE8-C76D-4696-AC3E-EC8C2D2AAB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39A6529E-D74F-4E42-9CEA-E6009BB3DB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9345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D271A6EA-D26A-4ABF-B95E-F3D40B7061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FF8B4A8F-D19A-40F4-8D07-2008C564C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9195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amanitin </a:t>
            </a:r>
          </a:p>
          <a:p>
            <a:r>
              <a:rPr lang="zh-CN" altLang="en-US" dirty="0"/>
              <a:t>英 </a:t>
            </a:r>
            <a:r>
              <a:rPr lang="en-US" altLang="zh-CN" dirty="0"/>
              <a:t>[</a:t>
            </a:r>
            <a:r>
              <a:rPr lang="en-US" altLang="zh-CN" dirty="0" err="1"/>
              <a:t>ə'meɪnɪtɪn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</a:t>
            </a:r>
            <a:r>
              <a:rPr lang="en-US" altLang="zh-CN" dirty="0" err="1"/>
              <a:t>ə'meɪnɪtɪn</a:t>
            </a:r>
            <a:r>
              <a:rPr lang="en-US" altLang="zh-CN" dirty="0"/>
              <a:t>]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8527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Transposon </a:t>
            </a:r>
            <a:r>
              <a:rPr lang="zh-CN" altLang="en-US" dirty="0"/>
              <a:t>转座子</a:t>
            </a:r>
            <a:endParaRPr lang="en-US" altLang="zh-CN" dirty="0"/>
          </a:p>
          <a:p>
            <a:r>
              <a:rPr lang="en-US" altLang="zh-CN" dirty="0"/>
              <a:t>DNA </a:t>
            </a:r>
            <a:r>
              <a:rPr lang="zh-CN" altLang="en-US" dirty="0"/>
              <a:t>甲基化 发生在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5—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甲基胞嘧啶（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5—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mC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）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zh-CN" b="0" i="0" dirty="0">
                <a:solidFill>
                  <a:srgbClr val="191919"/>
                </a:solidFill>
                <a:effectLst/>
                <a:latin typeface="PingFang SC"/>
              </a:rPr>
              <a:t>m6A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PingFang SC"/>
              </a:rPr>
              <a:t>（</a:t>
            </a:r>
            <a:r>
              <a:rPr lang="en-US" altLang="zh-CN" b="0" i="0" dirty="0">
                <a:solidFill>
                  <a:srgbClr val="191919"/>
                </a:solidFill>
                <a:effectLst/>
                <a:latin typeface="PingFang SC"/>
              </a:rPr>
              <a:t>N6-methyladenosine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PingFang SC"/>
              </a:rPr>
              <a:t>，</a:t>
            </a:r>
            <a:r>
              <a:rPr lang="en-US" altLang="zh-CN" b="0" i="0" dirty="0">
                <a:solidFill>
                  <a:srgbClr val="191919"/>
                </a:solidFill>
                <a:effectLst/>
                <a:latin typeface="PingFang SC"/>
              </a:rPr>
              <a:t>6-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PingFang SC"/>
              </a:rPr>
              <a:t>甲基腺嘌呤）</a:t>
            </a:r>
            <a:endParaRPr lang="en-US" altLang="zh-CN" b="0" i="0" dirty="0">
              <a:solidFill>
                <a:srgbClr val="191919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191919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小干扰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RNA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Small interfering RNA</a:t>
            </a:r>
          </a:p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Chromatin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染色质  </a:t>
            </a:r>
            <a:endParaRPr lang="en-US" altLang="zh-CN" b="0" i="0" dirty="0">
              <a:solidFill>
                <a:srgbClr val="191919"/>
              </a:solidFill>
              <a:effectLst/>
              <a:latin typeface="PingFang SC"/>
            </a:endParaRPr>
          </a:p>
          <a:p>
            <a:r>
              <a:rPr lang="en-US" altLang="zh-CN" dirty="0"/>
              <a:t>Heterochromatin</a:t>
            </a:r>
          </a:p>
          <a:p>
            <a:r>
              <a:rPr lang="en-US" altLang="zh-CN" dirty="0"/>
              <a:t>Euchromatin</a:t>
            </a:r>
          </a:p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RNA-dependent RNA polymerases are not limited to viruses. Enzymes of this type are found in</a:t>
            </a:r>
            <a:b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plants, protists, fungi, and some simpler animals, but not in insects or mammals. Those found in the</a:t>
            </a:r>
            <a:b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genomes of eukaryotes generally play a role in the metabolism of another class of small RNAs, called</a:t>
            </a:r>
            <a:b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small interfering RNAs (siRNAs), which participate in gene regulation  7</a:t>
            </a:r>
            <a:r>
              <a:rPr lang="en-US" altLang="zh-CN" sz="1800" b="0" i="0" baseline="30000" dirty="0">
                <a:solidFill>
                  <a:srgbClr val="000000"/>
                </a:solidFill>
                <a:effectLst/>
                <a:latin typeface="TimesNewRomanPSMT"/>
              </a:rPr>
              <a:t>th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 p2234 RDR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NewRomanPSMT"/>
              </a:rPr>
              <a:t>在高等动物中未发现。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2361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/>
              <a:t>1951</a:t>
            </a:r>
            <a:r>
              <a:rPr lang="zh-CN" altLang="en-US" dirty="0"/>
              <a:t>年</a:t>
            </a:r>
            <a:r>
              <a:rPr lang="en-US" altLang="zh-CN" dirty="0"/>
              <a:t>Barbara </a:t>
            </a:r>
            <a:r>
              <a:rPr lang="en-US" altLang="zh-CN" dirty="0" err="1"/>
              <a:t>Mclintock</a:t>
            </a:r>
            <a:r>
              <a:rPr lang="zh-CN" altLang="en-US" dirty="0"/>
              <a:t>首先在玉米中发现了控制元件</a:t>
            </a:r>
            <a:r>
              <a:rPr lang="en-US" altLang="zh-CN" dirty="0"/>
              <a:t>,</a:t>
            </a:r>
            <a:r>
              <a:rPr lang="zh-CN" altLang="en-US" dirty="0"/>
              <a:t>后来命名为转座元件或转座子</a:t>
            </a:r>
            <a:r>
              <a:rPr lang="en-US" altLang="zh-CN" dirty="0"/>
              <a:t>(transposon)</a:t>
            </a:r>
            <a:r>
              <a:rPr lang="zh-CN" altLang="en-US" dirty="0"/>
              <a:t>。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1983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年，她以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岁高龄拿到了迟来的诺贝尔生理学或医学奖。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dirty="0"/>
              <a:t>科研成就在生时没有得到重视，死后被重新发现的有孟德尔、弗兰克林（</a:t>
            </a:r>
            <a:r>
              <a:rPr lang="en-US" altLang="zh-CN" dirty="0"/>
              <a:t>DNA</a:t>
            </a:r>
            <a:r>
              <a:rPr lang="zh-CN" altLang="en-US" dirty="0"/>
              <a:t>双螺旋）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孟德尔用心血浇灌的豌豆所告诉他的秘密，时人不能与之共识，一直被埋没了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35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年之久！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豌豆的杂交实验从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1856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年至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1864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年共进行了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年。孟德尔将其研究的结果整理成论文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《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植物杂交试验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发表，但未能引起当时学术界的重视！其原因有三个。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第一，在孟德尔论文发表前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1859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年），达尔文的名著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《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物种起源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出版了。这部著作引起了科学界的兴趣，几乎全部的生物学家转向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生物进化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的讨论。这一点也许对孟德尔论文的命运起了决定性的作用。孟德尔修士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第二，当时的科学界缺乏理解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孟德尔定律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的思想基础。首先那个时代的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科学思想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还没有包含孟德尔论文所提出的命题：遗传的不是一个个体的全貌，而是一个个性状。其次，孟德尔论文的表达方式是全新的，他把生物学和统计学、数学结合了起来，使得同时代的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博物学家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很难理解论文的真正含义。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第三，有的权威出于偏见或不理解，把孟德尔的研究视为一般的杂交实验，和别人做的没有多大差别。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孟德尔晚年曾经充满信心地对他的好友，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布鲁恩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高等技术学院大地测量学教授尼耶塞尔说：“看吧，我的时代来到了。”这句话成为伟大的预言。直到孟德尔逝世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年后，豌豆实验论文正式出版后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年，他从事豌豆试验后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年，预言才变成现实。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08450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67E8450D-C643-4CC0-A8D9-A0D1BB7045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6A78F037-9849-4129-B67B-5D49A36F74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AD</a:t>
            </a:r>
            <a:r>
              <a:rPr lang="zh-CN" altLang="en-US" dirty="0"/>
              <a:t>是与</a:t>
            </a:r>
            <a:r>
              <a:rPr lang="en-US" altLang="zh-CN" dirty="0"/>
              <a:t>Pol II</a:t>
            </a:r>
            <a:r>
              <a:rPr lang="zh-CN" altLang="en-US" dirty="0"/>
              <a:t>的结合结构与吗？不一定，可能是通过中间蛋白激活</a:t>
            </a:r>
            <a:r>
              <a:rPr lang="en-US" altLang="zh-CN" dirty="0"/>
              <a:t>Pol II, (</a:t>
            </a:r>
            <a:r>
              <a:rPr lang="zh-CN" altLang="en-US" dirty="0"/>
              <a:t>那么中间蛋白就没有</a:t>
            </a:r>
            <a:r>
              <a:rPr lang="en-US" altLang="zh-CN" dirty="0"/>
              <a:t>DNA</a:t>
            </a:r>
            <a:r>
              <a:rPr lang="zh-CN" altLang="en-US" dirty="0"/>
              <a:t>结构与了，它也是</a:t>
            </a:r>
            <a:r>
              <a:rPr lang="en-US" altLang="zh-CN" dirty="0"/>
              <a:t>TF</a:t>
            </a:r>
            <a:r>
              <a:rPr lang="zh-CN" altLang="en-US" dirty="0"/>
              <a:t>吗？）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90720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mature  </a:t>
            </a:r>
            <a:r>
              <a:rPr lang="zh-CN" altLang="en-US" dirty="0"/>
              <a:t>英 </a:t>
            </a:r>
            <a:r>
              <a:rPr lang="en-US" altLang="zh-CN" dirty="0"/>
              <a:t>[</a:t>
            </a:r>
            <a:r>
              <a:rPr lang="en-US" altLang="zh-CN" dirty="0" err="1"/>
              <a:t>məˈtʃʊə</a:t>
            </a:r>
            <a:r>
              <a:rPr lang="en-US" altLang="zh-CN" dirty="0"/>
              <a:t>(r)] </a:t>
            </a:r>
            <a:r>
              <a:rPr lang="zh-CN" altLang="en-US" dirty="0"/>
              <a:t>美 </a:t>
            </a:r>
            <a:r>
              <a:rPr lang="en-US" altLang="zh-CN" dirty="0"/>
              <a:t>[</a:t>
            </a:r>
            <a:r>
              <a:rPr lang="en-US" altLang="zh-CN" dirty="0" err="1"/>
              <a:t>məˈtʃʊr</a:t>
            </a:r>
            <a:r>
              <a:rPr lang="en-US" altLang="zh-CN" dirty="0"/>
              <a:t>] adj. </a:t>
            </a:r>
            <a:r>
              <a:rPr lang="zh-CN" altLang="en-US" dirty="0"/>
              <a:t>（人、树木、鸟或动物）成熟的； 仔细考虑过的； 到期（应该支付）的； 成年人的 </a:t>
            </a:r>
            <a:r>
              <a:rPr lang="en-US" altLang="zh-CN" dirty="0"/>
              <a:t>vi. </a:t>
            </a:r>
            <a:r>
              <a:rPr lang="zh-CN" altLang="en-US" dirty="0"/>
              <a:t>成熟，长成； （票据等）到期； </a:t>
            </a:r>
            <a:r>
              <a:rPr lang="en-US" altLang="zh-CN" dirty="0" err="1"/>
              <a:t>vt.</a:t>
            </a:r>
            <a:r>
              <a:rPr lang="en-US" altLang="zh-CN" dirty="0"/>
              <a:t> </a:t>
            </a:r>
            <a:r>
              <a:rPr lang="zh-CN" altLang="en-US" dirty="0"/>
              <a:t>使</a:t>
            </a:r>
            <a:r>
              <a:rPr lang="en-US" altLang="zh-CN" dirty="0"/>
              <a:t>…</a:t>
            </a:r>
            <a:r>
              <a:rPr lang="zh-CN" altLang="en-US" dirty="0"/>
              <a:t>成熟； 使</a:t>
            </a:r>
            <a:r>
              <a:rPr lang="en-US" altLang="zh-CN" dirty="0"/>
              <a:t>…</a:t>
            </a:r>
            <a:r>
              <a:rPr lang="zh-CN" altLang="en-US" dirty="0"/>
              <a:t>长成； 慎重拟定（计划等）；</a:t>
            </a:r>
            <a:endParaRPr lang="en-US" altLang="zh-CN" dirty="0"/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ovalbumin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英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[ˌ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əʊvæl'bju:mən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[ˌ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oʊvæl'bju:mən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卵清蛋白，卵白蛋白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oval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英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[ˈ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əʊvl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[ˈ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oʊvl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adj.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椭圆形的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卵形的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;n.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椭圆形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椭圆运动场（等）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椭圆，美式足球用球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[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物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卵形线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例句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]He was a man in his late thirties, with fine, dark hair and a pale oval face.</a:t>
            </a:r>
          </a:p>
          <a:p>
            <a:pPr latinLnBrk="0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他年近四十，头发乌黑亮泽，长着一张苍白的鹅蛋脸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断裂基因（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split gene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）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96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26938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adenylation </a:t>
            </a:r>
          </a:p>
          <a:p>
            <a:r>
              <a:rPr lang="zh-CN" altLang="en-US" dirty="0"/>
              <a:t>英 </a:t>
            </a:r>
            <a:r>
              <a:rPr lang="en-US" altLang="zh-CN" dirty="0"/>
              <a:t>[</a:t>
            </a:r>
            <a:r>
              <a:rPr lang="en-US" altLang="zh-CN" dirty="0" err="1"/>
              <a:t>ədɪnɪ'leɪʃn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</a:t>
            </a:r>
            <a:r>
              <a:rPr lang="en-US" altLang="zh-CN" dirty="0" err="1"/>
              <a:t>ədɪnɪ'leɪʃn</a:t>
            </a:r>
            <a:r>
              <a:rPr lang="en-US" altLang="zh-CN" dirty="0"/>
              <a:t>]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97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32312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98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15686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RNA</a:t>
            </a:r>
            <a:r>
              <a:rPr lang="zh-CN" altLang="en-US" dirty="0"/>
              <a:t>是生命的起源假说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99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72747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(</a:t>
            </a:r>
            <a:r>
              <a:rPr lang="en-US" altLang="zh-CN" dirty="0" err="1"/>
              <a:t>adoHcy</a:t>
            </a:r>
            <a:r>
              <a:rPr lang="en-US" altLang="zh-CN" dirty="0"/>
              <a:t> is </a:t>
            </a:r>
            <a:r>
              <a:rPr lang="en-US" altLang="zh-CN" i="1" dirty="0"/>
              <a:t>S</a:t>
            </a:r>
            <a:r>
              <a:rPr lang="en-US" altLang="zh-CN" dirty="0"/>
              <a:t>-adenosylhomocysteine) </a:t>
            </a:r>
            <a:r>
              <a:rPr lang="zh-CN" altLang="en-US" dirty="0"/>
              <a:t>是如何由</a:t>
            </a:r>
            <a:r>
              <a:rPr lang="en-US" altLang="zh-CN" dirty="0" err="1"/>
              <a:t>adoMet</a:t>
            </a:r>
            <a:r>
              <a:rPr lang="zh-CN" altLang="en-US" dirty="0"/>
              <a:t>变为</a:t>
            </a:r>
            <a:r>
              <a:rPr lang="en-US" altLang="zh-CN" dirty="0" err="1"/>
              <a:t>adoHcy</a:t>
            </a:r>
            <a:r>
              <a:rPr lang="zh-CN" altLang="en-US" dirty="0"/>
              <a:t>的？</a:t>
            </a:r>
            <a:endParaRPr lang="en-US" altLang="zh-CN" dirty="0"/>
          </a:p>
          <a:p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methyl groups are derived</a:t>
            </a:r>
            <a:b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</a:t>
            </a:r>
            <a:r>
              <a:rPr lang="en-US" altLang="zh-CN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en-US" altLang="zh-CN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adenosylmethionine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All these reactions occur</a:t>
            </a:r>
            <a:b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very early in transcription, after the first 20 to 30 nucleotides of the transcript have been added</a:t>
            </a:r>
            <a:r>
              <a:rPr lang="en-US" altLang="zh-CN" dirty="0"/>
              <a:t> </a:t>
            </a:r>
          </a:p>
          <a:p>
            <a:endParaRPr lang="en-US" altLang="zh-CN" dirty="0"/>
          </a:p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The 5′ cap is formed by condensation of a molecule of GTP with the triphosphate at the 5′ end of</a:t>
            </a:r>
            <a:b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the transcript. The guanine is subsequently methylated at N-7, and additional methyl groups are often</a:t>
            </a:r>
            <a:b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added at the 2′ hydroxyls of the first and second nucleotides adjacent to the cap (</a:t>
            </a:r>
            <a:r>
              <a:rPr lang="en-US" altLang="zh-CN" sz="1800" b="0" i="0" dirty="0">
                <a:solidFill>
                  <a:srgbClr val="0000EE"/>
                </a:solidFill>
                <a:effectLst/>
                <a:latin typeface="TimesNewRomanPSMT"/>
              </a:rPr>
              <a:t>Fig. 26-12a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).</a:t>
            </a:r>
            <a:r>
              <a:rPr lang="en-US" altLang="zh-CN" dirty="0"/>
              <a:t> </a:t>
            </a:r>
            <a:br>
              <a:rPr lang="en-US" altLang="zh-CN" dirty="0"/>
            </a:br>
            <a:r>
              <a:rPr lang="en-US" altLang="zh-CN" dirty="0"/>
              <a:t>7</a:t>
            </a:r>
            <a:r>
              <a:rPr lang="en-US" altLang="zh-CN" baseline="30000" dirty="0"/>
              <a:t>th</a:t>
            </a:r>
            <a:r>
              <a:rPr lang="en-US" altLang="zh-CN" dirty="0"/>
              <a:t> p2181</a:t>
            </a:r>
            <a:br>
              <a:rPr lang="en-US" altLang="zh-CN" dirty="0"/>
            </a:br>
            <a:br>
              <a:rPr lang="en-US" altLang="zh-CN" dirty="0"/>
            </a:b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101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有的文献</a:t>
            </a:r>
            <a:r>
              <a:rPr lang="en-US" altLang="zh-CN" dirty="0"/>
              <a:t>homocysteine</a:t>
            </a:r>
          </a:p>
          <a:p>
            <a:pPr algn="l"/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homocysteine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9195A3"/>
                </a:solidFill>
                <a:effectLst/>
                <a:latin typeface="Arial" panose="020B0604020202020204" pitchFamily="34" charset="0"/>
              </a:rPr>
              <a:t>n.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高半胱氨酸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;</a:t>
            </a:r>
          </a:p>
          <a:p>
            <a:pPr algn="l"/>
            <a:r>
              <a:rPr lang="en-US" altLang="zh-C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homocystine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9195A3"/>
                </a:solidFill>
                <a:effectLst/>
                <a:latin typeface="Arial" panose="020B0604020202020204" pitchFamily="34" charset="0"/>
              </a:rPr>
              <a:t>n.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高半胱氨酸；同型半胱氨酸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;</a:t>
            </a:r>
            <a:endParaRPr lang="en-US" altLang="zh-CN" dirty="0"/>
          </a:p>
          <a:p>
            <a:r>
              <a:rPr lang="en-US" altLang="zh-CN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SAM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转甲基后水解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生成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高半胱氨酸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也称为同型半胱氨酸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altLang="zh-CN" b="0" i="0" dirty="0" err="1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homocysteine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,Hcy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103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097221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在转录的早期，在添加转录本的前 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 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到 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 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个核苷酸之后
图 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26-12 mRNA 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 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5′ 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帽。（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 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甲基鸟苷 （</a:t>
            </a:r>
            <a:r>
              <a:rPr lang="en-US" altLang="zh-CN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m7G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 与几乎所有真核生物的 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5' 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端相连</a:t>
            </a:r>
            <a:b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mRNA 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处于不寻常的 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5'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5'-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三磷酸键中。甲基（浅红色）通常位于第一个和</a:t>
            </a:r>
            <a:b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第二核苷酸。酵母细胞中的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RNA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缺乏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2′-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甲基。第二个核苷酸上的 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2′-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甲基是</a:t>
            </a:r>
            <a:b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通常只存在于脊椎动物细胞的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RNA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中。（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 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5′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帽的产生需要四个独立的步骤（</a:t>
            </a:r>
            <a:r>
              <a:rPr lang="en-US" altLang="zh-CN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adoHcy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是唾腺苷同型半胱氨酸）。（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 帽的合成是通过拴在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Pol II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CTD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上的酶进行的。上限仍然存在</a:t>
            </a:r>
            <a:b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通过与帽结合复合物 （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CBC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 的结合与 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CTD 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相连
第 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 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页 </a:t>
            </a:r>
            <a:r>
              <a:rPr lang="en-US" altLang="zh-CN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p2186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104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82606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phosphatase </a:t>
            </a:r>
            <a:r>
              <a:rPr lang="zh-CN" altLang="en-US" dirty="0"/>
              <a:t>英 </a:t>
            </a:r>
            <a:r>
              <a:rPr lang="en-US" altLang="zh-CN" dirty="0"/>
              <a:t>['</a:t>
            </a:r>
            <a:r>
              <a:rPr lang="en-US" altLang="zh-CN" dirty="0" err="1"/>
              <a:t>fɒsfəteɪs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['</a:t>
            </a:r>
            <a:r>
              <a:rPr lang="en-US" altLang="zh-CN" dirty="0" err="1"/>
              <a:t>fɒsfəˌteɪs</a:t>
            </a:r>
            <a:r>
              <a:rPr lang="en-US" altLang="zh-CN" dirty="0"/>
              <a:t>] n. </a:t>
            </a:r>
            <a:r>
              <a:rPr lang="zh-CN" altLang="en-US" dirty="0"/>
              <a:t>磷酸（酯）酶； </a:t>
            </a:r>
          </a:p>
          <a:p>
            <a:r>
              <a:rPr lang="en-US" altLang="zh-CN" b="1" dirty="0"/>
              <a:t>hydroxyl </a:t>
            </a:r>
            <a:r>
              <a:rPr lang="zh-CN" altLang="en-US" dirty="0"/>
              <a:t>英 </a:t>
            </a:r>
            <a:r>
              <a:rPr lang="en-US" altLang="zh-CN" dirty="0"/>
              <a:t>[</a:t>
            </a:r>
            <a:r>
              <a:rPr lang="en-US" altLang="zh-CN" dirty="0" err="1"/>
              <a:t>haɪ'drɒksɪl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</a:t>
            </a:r>
            <a:r>
              <a:rPr lang="en-US" altLang="zh-CN" dirty="0" err="1"/>
              <a:t>haɪ'drɒksɪl</a:t>
            </a:r>
            <a:r>
              <a:rPr lang="en-US" altLang="zh-CN" dirty="0"/>
              <a:t>] n. </a:t>
            </a:r>
            <a:r>
              <a:rPr lang="zh-CN" altLang="en-US" dirty="0"/>
              <a:t>羟（基）氢氧基； 羟基； </a:t>
            </a:r>
          </a:p>
          <a:p>
            <a:r>
              <a:rPr lang="en-US" altLang="zh-CN" dirty="0"/>
              <a:t>methionine </a:t>
            </a:r>
            <a:r>
              <a:rPr lang="zh-CN" altLang="en-US" dirty="0"/>
              <a:t>英 </a:t>
            </a:r>
            <a:r>
              <a:rPr lang="en-US" altLang="zh-CN" dirty="0"/>
              <a:t>[me'</a:t>
            </a:r>
            <a:r>
              <a:rPr lang="el-GR" altLang="zh-CN" dirty="0"/>
              <a:t>θ</a:t>
            </a:r>
            <a:r>
              <a:rPr lang="en-US" altLang="zh-CN" dirty="0" err="1"/>
              <a:t>aɪəni:n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</a:t>
            </a:r>
            <a:r>
              <a:rPr lang="en-US" altLang="zh-CN" dirty="0" err="1"/>
              <a:t>mə</a:t>
            </a:r>
            <a:r>
              <a:rPr lang="en-US" altLang="zh-CN" dirty="0"/>
              <a:t>'</a:t>
            </a:r>
            <a:r>
              <a:rPr lang="el-GR" altLang="zh-CN" dirty="0"/>
              <a:t>θ</a:t>
            </a:r>
            <a:r>
              <a:rPr lang="en-US" altLang="zh-CN" dirty="0" err="1"/>
              <a:t>aɪəˌni:n</a:t>
            </a:r>
            <a:r>
              <a:rPr lang="en-US" altLang="zh-CN" dirty="0"/>
              <a:t>] n. </a:t>
            </a:r>
            <a:r>
              <a:rPr lang="zh-CN" altLang="en-US" dirty="0"/>
              <a:t>蛋氨酸，甲硫氨酸</a:t>
            </a:r>
            <a:endParaRPr lang="en-US" altLang="zh-CN" dirty="0"/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S-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腺苷基甲硫氨酸（英语：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S-adenosyl methionine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，缩写为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3203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问题：</a:t>
            </a:r>
            <a:r>
              <a:rPr lang="en-US" altLang="zh-CN" dirty="0"/>
              <a:t>polyadenylate polymerase </a:t>
            </a:r>
            <a:r>
              <a:rPr lang="zh-CN" altLang="en-US" dirty="0"/>
              <a:t>具有</a:t>
            </a:r>
            <a:r>
              <a:rPr lang="en-US" altLang="zh-CN" dirty="0"/>
              <a:t>endonuclease activity</a:t>
            </a:r>
            <a:r>
              <a:rPr lang="zh-CN" altLang="en-US" dirty="0"/>
              <a:t>吗？不是</a:t>
            </a:r>
            <a:r>
              <a:rPr lang="en-US" altLang="zh-CN" dirty="0"/>
              <a:t>polymerase</a:t>
            </a:r>
            <a:r>
              <a:rPr lang="zh-CN" altLang="en-US" dirty="0"/>
              <a:t>具有的</a:t>
            </a:r>
            <a:r>
              <a:rPr lang="en-US" altLang="zh-CN" dirty="0"/>
              <a:t>endonuclease</a:t>
            </a:r>
            <a:r>
              <a:rPr lang="zh-CN" altLang="en-US" dirty="0"/>
              <a:t>，是同在一个</a:t>
            </a:r>
            <a:r>
              <a:rPr lang="en-US" altLang="zh-CN" dirty="0"/>
              <a:t>complex</a:t>
            </a:r>
            <a:r>
              <a:rPr lang="zh-CN" altLang="en-US" dirty="0"/>
              <a:t>的其他蛋白具有的</a:t>
            </a:r>
            <a:r>
              <a:rPr lang="en-US" altLang="zh-CN" dirty="0"/>
              <a:t>endonuclease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106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6143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26–17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poly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 尾添加到真核生物的初级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RNA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转录本中。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 II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合成的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RNA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超出了</a:t>
            </a:r>
            <a:b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包含切割信号序列的转录本，包括高度</a:t>
            </a:r>
            <a:b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保守的上游序列（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5'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en-US" altLang="zh-C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AAUAAA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。该切割信号序列由包含核酸内切酶的酶复合物结合，</a:t>
            </a:r>
            <a:b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一种聚腺苷酸聚合酶，以及参与序列识别、刺激切割和调节</a:t>
            </a:r>
            <a:b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poly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 尾巴的长度，所有这些都拴在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CTD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上。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已将</a:t>
            </a:r>
            <a:b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RNA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至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个核苷酸 </a:t>
            </a:r>
            <a:r>
              <a:rPr lang="en-US" altLang="zh-C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3'to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（下游）序列 </a:t>
            </a:r>
            <a:r>
              <a:rPr lang="en-US" altLang="zh-C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AAUAAA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处被核酸内切酶切割。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聚腺苷酸聚合酶合成一个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至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250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个核苷酸长的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poly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 尾，开始</a:t>
            </a:r>
            <a:b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在解理部位。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107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06087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ovalbumin </a:t>
            </a:r>
          </a:p>
          <a:p>
            <a:r>
              <a:rPr lang="zh-CN" altLang="en-US" dirty="0"/>
              <a:t>英 </a:t>
            </a:r>
            <a:r>
              <a:rPr lang="en-US" altLang="zh-CN" dirty="0"/>
              <a:t>[ˌ</a:t>
            </a:r>
            <a:r>
              <a:rPr lang="en-US" altLang="zh-CN" dirty="0" err="1"/>
              <a:t>əʊvæl'bju:mən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[ˌ</a:t>
            </a:r>
            <a:r>
              <a:rPr lang="en-US" altLang="zh-CN" dirty="0" err="1"/>
              <a:t>oʊvæl'bjumən</a:t>
            </a:r>
            <a:r>
              <a:rPr lang="en-US" altLang="zh-CN" dirty="0"/>
              <a:t>] </a:t>
            </a:r>
          </a:p>
          <a:p>
            <a:r>
              <a:rPr lang="en-US" altLang="zh-CN" dirty="0"/>
              <a:t>n. </a:t>
            </a:r>
            <a:r>
              <a:rPr lang="zh-CN" altLang="en-US" dirty="0"/>
              <a:t>卵清蛋白，卵白蛋白；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109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6401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32056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Self-splicing of introns was first revealed in 1982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instudies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splicing mechanism of the group I rRNA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intron from the ciliated protozoan 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Tetrahymena </a:t>
            </a:r>
            <a:r>
              <a:rPr lang="en-US" altLang="zh-CN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thermophila</a:t>
            </a:r>
            <a:r>
              <a:rPr lang="en-US" altLang="zh-CN" dirty="0"/>
              <a:t> </a:t>
            </a:r>
          </a:p>
          <a:p>
            <a:endParaRPr lang="en-US" altLang="zh-CN" dirty="0"/>
          </a:p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In eukaryotes, most introns undergo splicing by the same lariat-forming mechanism as the group II</a:t>
            </a:r>
            <a:b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introns. However, the intron splicing takes place within a large protein complex called a</a:t>
            </a:r>
            <a:b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1" i="0" dirty="0">
                <a:solidFill>
                  <a:srgbClr val="0000EE"/>
                </a:solidFill>
                <a:effectLst/>
                <a:latin typeface="TimesNewRomanPS-BoldMT"/>
              </a:rPr>
              <a:t>spliceosome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, and these introns, the </a:t>
            </a:r>
            <a:r>
              <a:rPr lang="en-US" altLang="zh-CN" sz="1800" b="1" i="0" dirty="0" err="1">
                <a:solidFill>
                  <a:srgbClr val="000000"/>
                </a:solidFill>
                <a:effectLst/>
                <a:latin typeface="TimesNewRomanPS-BoldMT"/>
              </a:rPr>
              <a:t>spliceosomal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-BoldMT"/>
              </a:rPr>
              <a:t> introns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, </a:t>
            </a:r>
            <a:r>
              <a:rPr lang="en-US" altLang="zh-CN" sz="1800" b="1" i="0" dirty="0">
                <a:solidFill>
                  <a:schemeClr val="tx1"/>
                </a:solidFill>
                <a:effectLst/>
                <a:latin typeface="TimesNewRomanPSMT"/>
              </a:rPr>
              <a:t>are not assigned a group number.</a:t>
            </a:r>
            <a:r>
              <a:rPr lang="en-US" altLang="zh-CN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</a:rPr>
              <a:t>（啥意思，这些不属于</a:t>
            </a:r>
            <a:r>
              <a:rPr lang="en-US" altLang="zh-CN" b="1" dirty="0">
                <a:solidFill>
                  <a:schemeClr val="tx1"/>
                </a:solidFill>
              </a:rPr>
              <a:t>group iii</a:t>
            </a:r>
            <a:r>
              <a:rPr lang="zh-CN" altLang="en-US" b="1" dirty="0">
                <a:solidFill>
                  <a:schemeClr val="tx1"/>
                </a:solidFill>
              </a:rPr>
              <a:t>，</a:t>
            </a:r>
            <a:r>
              <a:rPr lang="en-US" altLang="zh-CN" b="1" dirty="0">
                <a:solidFill>
                  <a:schemeClr val="tx1"/>
                </a:solidFill>
              </a:rPr>
              <a:t>iv</a:t>
            </a:r>
            <a:r>
              <a:rPr lang="zh-CN" altLang="en-US" b="1" dirty="0">
                <a:solidFill>
                  <a:schemeClr val="tx1"/>
                </a:solidFill>
              </a:rPr>
              <a:t>吗？）</a:t>
            </a:r>
            <a:br>
              <a:rPr lang="en-US" altLang="zh-CN" dirty="0"/>
            </a:br>
            <a:r>
              <a:rPr lang="en-US" altLang="zh-CN" dirty="0"/>
              <a:t>GROUP </a:t>
            </a:r>
            <a:r>
              <a:rPr lang="en-US" altLang="zh-CN" dirty="0" err="1"/>
              <a:t>IV: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NewRomanPSMT"/>
              </a:rPr>
              <a:t>found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 in certain tRNAs, is distinguished from the group I and II</a:t>
            </a:r>
            <a:b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introns in that the splicing reaction requires ATP and an endonuclease. The splicing endonuclease</a:t>
            </a:r>
            <a:b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cleaves the phosphodiester bonds at both ends of the intron, and the two exons are joined by a</a:t>
            </a:r>
            <a:b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mechanism similar to the DNA ligase reaction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en-US" altLang="zh-CN" dirty="0"/>
          </a:p>
          <a:p>
            <a:pPr algn="l" latinLnBrk="1"/>
            <a:r>
              <a:rPr lang="en-US" altLang="zh-CN" b="1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algae</a:t>
            </a:r>
          </a:p>
          <a:p>
            <a:pPr algn="l"/>
            <a:r>
              <a:rPr lang="en-US" altLang="zh-CN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TOEFL/IELTS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英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[ˈ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ældʒi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ː]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[ˈ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ældʒi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ː]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zh-CN" b="0" i="0" dirty="0">
              <a:solidFill>
                <a:srgbClr val="333333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 latinLnBrk="1"/>
            <a:r>
              <a:rPr lang="en-US" altLang="zh-CN" b="1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ribonucleoprotein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英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raɪbəʊnjʊkli:əʊ'prəʊti:n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]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[ˌ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raɪboʊˌnjuklioʊ'proʊtin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]</a:t>
            </a:r>
          </a:p>
          <a:p>
            <a:pPr algn="l"/>
            <a:r>
              <a:rPr lang="zh-CN" altLang="en-US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释义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i="1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n.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核蛋白（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zh-CN" b="0" i="0" dirty="0">
              <a:solidFill>
                <a:srgbClr val="333333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dirty="0"/>
              <a:t>Group III: In eukaryotes, most introns undergo splicing by the same lariat-forming mechanism as the group II introns. However, the intron splicing takes place within a large protein complex called a </a:t>
            </a:r>
            <a:r>
              <a:rPr lang="en-US" altLang="zh-CN" b="1" dirty="0"/>
              <a:t>spliceosome</a:t>
            </a:r>
            <a:r>
              <a:rPr lang="en-US" altLang="zh-CN" dirty="0"/>
              <a:t>, and these introns, the </a:t>
            </a:r>
            <a:r>
              <a:rPr lang="en-US" altLang="zh-CN" b="1" dirty="0" err="1"/>
              <a:t>spliceosomal</a:t>
            </a:r>
            <a:r>
              <a:rPr lang="en-US" altLang="zh-CN" b="1" dirty="0"/>
              <a:t> introns</a:t>
            </a:r>
            <a:r>
              <a:rPr lang="en-US" altLang="zh-CN" dirty="0"/>
              <a:t>, are not assigned a group number.</a:t>
            </a:r>
          </a:p>
          <a:p>
            <a:endParaRPr lang="en-US" altLang="zh-CN" dirty="0"/>
          </a:p>
          <a:p>
            <a:r>
              <a:rPr lang="en-US" altLang="zh-CN" b="1" dirty="0">
                <a:solidFill>
                  <a:srgbClr val="231F20"/>
                </a:solidFill>
                <a:latin typeface="CenturyStd-Bold"/>
              </a:rPr>
              <a:t>spliceosome</a:t>
            </a:r>
            <a:r>
              <a:rPr lang="en-US" altLang="zh-CN" dirty="0">
                <a:solidFill>
                  <a:srgbClr val="231F20"/>
                </a:solidFill>
                <a:latin typeface="CenturyStd-Light"/>
              </a:rPr>
              <a:t> (protein complex) , containing:</a:t>
            </a:r>
          </a:p>
          <a:p>
            <a:endParaRPr lang="en-US" altLang="zh-CN" dirty="0">
              <a:solidFill>
                <a:srgbClr val="231F20"/>
              </a:solidFill>
              <a:latin typeface="CenturyStd-Light"/>
            </a:endParaRPr>
          </a:p>
          <a:p>
            <a:r>
              <a:rPr lang="en-US" altLang="zh-CN" b="1" dirty="0">
                <a:solidFill>
                  <a:srgbClr val="231F20"/>
                </a:solidFill>
                <a:latin typeface="CenturyStd-Bold"/>
              </a:rPr>
              <a:t>small nuclear RNAs</a:t>
            </a:r>
            <a:br>
              <a:rPr lang="en-US" altLang="zh-CN" b="1" dirty="0">
                <a:solidFill>
                  <a:srgbClr val="231F20"/>
                </a:solidFill>
                <a:latin typeface="CenturyStd-Bold"/>
              </a:rPr>
            </a:br>
            <a:r>
              <a:rPr lang="en-US" altLang="zh-CN" b="1" dirty="0">
                <a:solidFill>
                  <a:srgbClr val="231F20"/>
                </a:solidFill>
                <a:latin typeface="CenturyStd-Bold"/>
              </a:rPr>
              <a:t>(snRNAs)</a:t>
            </a:r>
            <a:r>
              <a:rPr lang="en-US" altLang="zh-CN" dirty="0"/>
              <a:t> : </a:t>
            </a:r>
            <a:r>
              <a:rPr lang="pl-PL" altLang="zh-CN" dirty="0">
                <a:solidFill>
                  <a:srgbClr val="231F20"/>
                </a:solidFill>
                <a:latin typeface="CenturyStd-Light"/>
              </a:rPr>
              <a:t>Five snRNAs (U1, U2, U4, U5, and U6)</a:t>
            </a:r>
            <a:endParaRPr lang="en-US" altLang="zh-CN" dirty="0">
              <a:solidFill>
                <a:srgbClr val="231F20"/>
              </a:solidFill>
              <a:latin typeface="CenturyStd-Light"/>
            </a:endParaRPr>
          </a:p>
          <a:p>
            <a:endParaRPr lang="en-US" altLang="zh-CN" dirty="0">
              <a:solidFill>
                <a:srgbClr val="231F20"/>
              </a:solidFill>
              <a:latin typeface="CenturyStd-Light"/>
            </a:endParaRPr>
          </a:p>
          <a:p>
            <a:r>
              <a:rPr lang="en-US" altLang="zh-CN" b="1" dirty="0">
                <a:solidFill>
                  <a:srgbClr val="231F20"/>
                </a:solidFill>
                <a:latin typeface="CenturyStd-Bold"/>
              </a:rPr>
              <a:t>small nuclear ribonucleoproteins (snRNPs)</a:t>
            </a:r>
          </a:p>
          <a:p>
            <a:endParaRPr lang="en-US" altLang="zh-CN" b="1" dirty="0">
              <a:solidFill>
                <a:srgbClr val="231F20"/>
              </a:solidFill>
              <a:latin typeface="CenturyStd-Bold"/>
            </a:endParaRPr>
          </a:p>
          <a:p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TimesNewRomanPSMT"/>
              </a:rPr>
              <a:t>Spliceosomal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 introns generally have the dinucleotide sequence 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TimesNewRomanPSMT"/>
              </a:rPr>
              <a:t>GU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 at the 5′ end and 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TimesNewRomanPSMT"/>
              </a:rPr>
              <a:t>AG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 at the 3′end (U1, U2).</a:t>
            </a:r>
            <a:r>
              <a:rPr lang="en-US" altLang="zh-CN" dirty="0"/>
              <a:t> </a:t>
            </a:r>
          </a:p>
          <a:p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Some mRNA introns are spliced by a less common type of spliceosome with 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TimesNewRomanPSMT"/>
              </a:rPr>
              <a:t>(5′)AU and AC(3′)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terminal sequences to mark the splice sites (U11, U12).</a:t>
            </a:r>
            <a:r>
              <a:rPr lang="en-US" altLang="zh-CN" dirty="0"/>
              <a:t> </a:t>
            </a:r>
          </a:p>
          <a:p>
            <a:endParaRPr lang="en-US" altLang="zh-CN" dirty="0"/>
          </a:p>
          <a:p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The spliceosomes used in nuclear RNA splicing almost certainly evolved from more ancient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group II introns, with the snRNPs contributing much greater levels of catalytic flexibility and</a:t>
            </a:r>
            <a:b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NewRomanPSMT"/>
              </a:rPr>
              <a:t>regulation relative to their self-splicing ancestors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23104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 </a:t>
            </a:r>
            <a:r>
              <a:rPr lang="en-US" altLang="zh-CN" dirty="0"/>
              <a:t>26–14 </a:t>
            </a:r>
            <a:r>
              <a:rPr lang="en-US" altLang="zh-CN" dirty="0" err="1"/>
              <a:t>Iintrons</a:t>
            </a:r>
            <a:r>
              <a:rPr lang="zh-CN" altLang="en-US" dirty="0"/>
              <a:t>群的剪接机制。第一步中的亲核试剂可能是
鸟苷、</a:t>
            </a:r>
            <a:r>
              <a:rPr lang="en-US" altLang="zh-CN" dirty="0" err="1"/>
              <a:t>GMP</a:t>
            </a:r>
            <a:r>
              <a:rPr lang="zh-CN" altLang="en-US" dirty="0"/>
              <a:t>、</a:t>
            </a:r>
            <a:r>
              <a:rPr lang="en-US" altLang="zh-CN" dirty="0"/>
              <a:t>GDP </a:t>
            </a:r>
            <a:r>
              <a:rPr lang="zh-CN" altLang="en-US" dirty="0"/>
              <a:t>或 </a:t>
            </a:r>
            <a:r>
              <a:rPr lang="en-US" altLang="zh-CN" dirty="0" err="1"/>
              <a:t>GTP</a:t>
            </a:r>
            <a:r>
              <a:rPr lang="zh-CN" altLang="en-US" dirty="0"/>
              <a:t>。拼接的内含子甚至降解。
内含子的自剪接于</a:t>
            </a:r>
            <a:r>
              <a:rPr lang="en-US" altLang="zh-CN" dirty="0"/>
              <a:t>1982</a:t>
            </a:r>
            <a:r>
              <a:rPr lang="zh-CN" altLang="en-US" dirty="0"/>
              <a:t>年在对内含子剪接机制的研究中首次被发现。</a:t>
            </a:r>
            <a:br>
              <a:rPr lang="zh-CN" altLang="en-US" dirty="0"/>
            </a:br>
            <a:r>
              <a:rPr lang="zh-CN" altLang="en-US" dirty="0"/>
              <a:t>来自纤毛原生动物嗜热四膜虫的</a:t>
            </a:r>
            <a:r>
              <a:rPr lang="en-US" altLang="zh-CN" dirty="0"/>
              <a:t>I</a:t>
            </a:r>
            <a:r>
              <a:rPr lang="zh-CN" altLang="en-US" dirty="0"/>
              <a:t>组</a:t>
            </a:r>
            <a:r>
              <a:rPr lang="en-US" altLang="zh-CN" dirty="0"/>
              <a:t>rRNA</a:t>
            </a:r>
            <a:r>
              <a:rPr lang="zh-CN" altLang="en-US" dirty="0"/>
              <a:t>内含子，由</a:t>
            </a:r>
            <a:r>
              <a:rPr lang="en-US" altLang="zh-CN" dirty="0"/>
              <a:t>Thomas</a:t>
            </a:r>
            <a:r>
              <a:rPr lang="zh-CN" altLang="en-US" dirty="0"/>
              <a:t>进行</a:t>
            </a:r>
            <a:br>
              <a:rPr lang="zh-CN" altLang="en-US" dirty="0"/>
            </a:br>
            <a:r>
              <a:rPr lang="zh-CN" altLang="en-US" dirty="0"/>
              <a:t>切赫和同事们。这些工作人员转录了分离的四膜虫</a:t>
            </a:r>
            <a:r>
              <a:rPr lang="en-US" altLang="zh-CN" dirty="0"/>
              <a:t>DNA</a:t>
            </a:r>
            <a:r>
              <a:rPr lang="zh-CN" altLang="en-US" dirty="0"/>
              <a:t>（包括内含子）</a:t>
            </a:r>
            <a:br>
              <a:rPr lang="zh-CN" altLang="en-US" dirty="0"/>
            </a:br>
            <a:r>
              <a:rPr lang="zh-CN" altLang="en-US" dirty="0"/>
              <a:t>体外，使用纯化的细菌</a:t>
            </a:r>
            <a:r>
              <a:rPr lang="en-US" altLang="zh-CN" dirty="0"/>
              <a:t>RNA</a:t>
            </a:r>
            <a:r>
              <a:rPr lang="zh-CN" altLang="en-US" dirty="0"/>
              <a:t>聚合酶。得到的</a:t>
            </a:r>
            <a:r>
              <a:rPr lang="en-US" altLang="zh-CN" dirty="0"/>
              <a:t>RNA</a:t>
            </a:r>
            <a:r>
              <a:rPr lang="zh-CN" altLang="en-US" dirty="0"/>
              <a:t>可以准确地剪接自身，而无需</a:t>
            </a:r>
            <a:br>
              <a:rPr lang="zh-CN" altLang="en-US" dirty="0"/>
            </a:br>
            <a:r>
              <a:rPr lang="zh-CN" altLang="en-US" dirty="0"/>
              <a:t>来自四膜虫的任何蛋白质酶。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18972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26–15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Splicing mechanism of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 II introns. The chemistry is similar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that of group I intron splicing, except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the identity of the nucleophile in the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 step and formation of a lariat like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intermediate, in which one branch is a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29,59-phosphodiester bond.</a:t>
            </a:r>
            <a:r>
              <a:rPr lang="en-US" altLang="zh-CN" dirty="0"/>
              <a:t> </a:t>
            </a:r>
          </a:p>
          <a:p>
            <a:r>
              <a:rPr lang="zh-CN" altLang="en-US" dirty="0"/>
              <a:t>问题：</a:t>
            </a:r>
            <a:r>
              <a:rPr lang="en-US" altLang="zh-CN" dirty="0"/>
              <a:t>self-splicing</a:t>
            </a:r>
            <a:r>
              <a:rPr lang="en-US" altLang="zh-CN" baseline="0" dirty="0"/>
              <a:t> </a:t>
            </a:r>
            <a:r>
              <a:rPr lang="zh-CN" altLang="en-US" baseline="0" dirty="0"/>
              <a:t>说明</a:t>
            </a:r>
            <a:r>
              <a:rPr lang="en-US" altLang="zh-CN" baseline="0" dirty="0" err="1"/>
              <a:t>intron</a:t>
            </a:r>
            <a:r>
              <a:rPr lang="zh-CN" altLang="en-US" baseline="0" dirty="0"/>
              <a:t>本身是核酶吗？是的</a:t>
            </a:r>
            <a:endParaRPr lang="en-US" altLang="zh-CN" baseline="0" dirty="0"/>
          </a:p>
          <a:p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resulting RNA spliced itself accurately without any protein enzymes</a:t>
            </a:r>
            <a:b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</a:t>
            </a:r>
            <a:r>
              <a:rPr lang="en-US" altLang="zh-CN" sz="1200" b="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Tetrahymena</a:t>
            </a:r>
            <a:r>
              <a:rPr lang="en-US" altLang="zh-CN" sz="12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discovery that RNAs could have catalytic functions was a milestone in our understanding of biological systems.</a:t>
            </a:r>
            <a:r>
              <a:rPr lang="en-US" altLang="zh-CN" dirty="0"/>
              <a:t> </a:t>
            </a:r>
            <a:br>
              <a:rPr lang="en-US" altLang="zh-CN" dirty="0"/>
            </a:b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12494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ATP is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需要组装剪接体，但 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RNA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切割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-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连接反应</a:t>
            </a:r>
            <a:b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不需要 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ATP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。一些 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mRNA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内含子由一种不太常见的剪接体剪接，其中</a:t>
            </a:r>
            <a:b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1" i="0" dirty="0" err="1">
                <a:solidFill>
                  <a:srgbClr val="000000"/>
                </a:solidFill>
                <a:effectLst/>
                <a:latin typeface="TimesNewRomanPSMT"/>
              </a:rPr>
              <a:t>U1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和 </a:t>
            </a:r>
            <a:r>
              <a:rPr lang="en-US" altLang="zh-CN" sz="1800" b="1" i="0" dirty="0" err="1">
                <a:solidFill>
                  <a:srgbClr val="000000"/>
                </a:solidFill>
                <a:effectLst/>
                <a:latin typeface="TimesNewRomanPSMT"/>
              </a:rPr>
              <a:t>U2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 snRNP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被 </a:t>
            </a:r>
            <a:r>
              <a:rPr lang="en-US" altLang="zh-CN" sz="1800" b="1" i="0" dirty="0" err="1">
                <a:solidFill>
                  <a:srgbClr val="000000"/>
                </a:solidFill>
                <a:effectLst/>
                <a:latin typeface="TimesNewRomanPSMT"/>
              </a:rPr>
              <a:t>U11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和 </a:t>
            </a:r>
            <a:r>
              <a:rPr lang="en-US" altLang="zh-CN" sz="1800" b="1" i="0" dirty="0" err="1">
                <a:solidFill>
                  <a:srgbClr val="000000"/>
                </a:solidFill>
                <a:effectLst/>
                <a:latin typeface="TimesNewRomanPSMT"/>
              </a:rPr>
              <a:t>U12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 snRNP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取代。而含有 </a:t>
            </a:r>
            <a:r>
              <a:rPr lang="en-US" altLang="zh-CN" sz="1800" b="1" i="0" dirty="0" err="1">
                <a:solidFill>
                  <a:srgbClr val="000000"/>
                </a:solidFill>
                <a:effectLst/>
                <a:latin typeface="TimesNewRomanPSMT"/>
              </a:rPr>
              <a:t>U1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和 </a:t>
            </a:r>
            <a:r>
              <a:rPr lang="en-US" altLang="zh-CN" sz="1800" b="1" i="0" dirty="0" err="1">
                <a:solidFill>
                  <a:srgbClr val="000000"/>
                </a:solidFill>
                <a:effectLst/>
                <a:latin typeface="TimesNewRomanPSMT"/>
              </a:rPr>
              <a:t>U2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的</a:t>
            </a:r>
            <a:b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剪接体去除具有（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5′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）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GU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和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AG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（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3′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）末端序列的内含子，如图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26-16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所示，</a:t>
            </a:r>
            <a:b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含有 </a:t>
            </a:r>
            <a:r>
              <a:rPr lang="en-US" altLang="zh-CN" sz="1800" b="1" i="0" dirty="0" err="1">
                <a:solidFill>
                  <a:srgbClr val="000000"/>
                </a:solidFill>
                <a:effectLst/>
                <a:latin typeface="TimesNewRomanPSMT"/>
              </a:rPr>
              <a:t>U11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和 </a:t>
            </a:r>
            <a:r>
              <a:rPr lang="en-US" altLang="zh-CN" sz="1800" b="1" i="0" dirty="0" err="1">
                <a:solidFill>
                  <a:srgbClr val="000000"/>
                </a:solidFill>
                <a:effectLst/>
                <a:latin typeface="TimesNewRomanPSMT"/>
              </a:rPr>
              <a:t>U12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的剪接体去除了一类罕见的内含子，这些内含子具有 （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5′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）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AU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和</a:t>
            </a:r>
            <a:b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AC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（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3′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） 末端序列来标记剪接位点。</a:t>
            </a:r>
            <a:b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</a:br>
            <a:b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
图 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26–16 mRNA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初级转录本的剪接机制。（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a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） 剪接体复合物形成中的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RNA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配对相互作用。</a:t>
            </a:r>
            <a:r>
              <a:rPr lang="en-US" altLang="zh-CN" sz="1800" b="1" i="0" dirty="0" err="1">
                <a:solidFill>
                  <a:srgbClr val="000000"/>
                </a:solidFill>
                <a:effectLst/>
                <a:latin typeface="TimesNewRomanPSMT"/>
              </a:rPr>
              <a:t>U1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 snRNA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在其 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59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端附近具有酶序，与内含子 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59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端的剪接位点互补。</a:t>
            </a:r>
            <a:r>
              <a:rPr lang="en-US" altLang="zh-CN" sz="1800" b="1" i="0" dirty="0" err="1">
                <a:solidFill>
                  <a:srgbClr val="000000"/>
                </a:solidFill>
                <a:effectLst/>
                <a:latin typeface="TimesNewRomanPSMT"/>
              </a:rPr>
              <a:t>U1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与主转录本的该区域的碱基配对有助于定义</a:t>
            </a:r>
            <a:b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剪接体组装过程中的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59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个剪接位点（是假尿苷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;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见图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26-22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）。</a:t>
            </a:r>
            <a:b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1" i="0" dirty="0" err="1">
                <a:solidFill>
                  <a:srgbClr val="000000"/>
                </a:solidFill>
                <a:effectLst/>
                <a:latin typeface="TimesNewRomanPSMT"/>
              </a:rPr>
              <a:t>U2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在包含 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A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残基（阴影光）的位置与内含子配对</a:t>
            </a:r>
            <a:b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红色），在剪接反应过程中成为亲核试剂。</a:t>
            </a:r>
            <a:r>
              <a:rPr lang="en-US" altLang="zh-CN" sz="1800" b="1" i="0" dirty="0" err="1">
                <a:solidFill>
                  <a:srgbClr val="000000"/>
                </a:solidFill>
                <a:effectLst/>
                <a:latin typeface="TimesNewRomanPSMT"/>
              </a:rPr>
              <a:t>U2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的碱基配对</a:t>
            </a:r>
            <a:b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snRNA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引起隆起，移位并帮助激活腺苷酸，即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29</a:t>
            </a:r>
            <a:b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其中的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OH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将通过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29,59-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磷酸二酯键形成套板结构。</a:t>
            </a:r>
            <a:b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（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b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） 剪接体的组装。</a:t>
            </a:r>
            <a:r>
              <a:rPr lang="en-US" altLang="zh-CN" sz="1800" b="1" i="0" dirty="0" err="1">
                <a:solidFill>
                  <a:srgbClr val="000000"/>
                </a:solidFill>
                <a:effectLst/>
                <a:latin typeface="TimesNewRomanPSMT"/>
              </a:rPr>
              <a:t>U1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和 </a:t>
            </a:r>
            <a:r>
              <a:rPr lang="en-US" altLang="zh-CN" sz="1800" b="1" i="0" dirty="0" err="1">
                <a:solidFill>
                  <a:srgbClr val="000000"/>
                </a:solidFill>
                <a:effectLst/>
                <a:latin typeface="TimesNewRomanPSMT"/>
              </a:rPr>
              <a:t>U2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 snRNP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结合，然后剩余的 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snRNP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（</a:t>
            </a:r>
            <a:r>
              <a:rPr lang="en-US" altLang="zh-CN" sz="1800" b="1" i="0" dirty="0" err="1">
                <a:solidFill>
                  <a:srgbClr val="000000"/>
                </a:solidFill>
                <a:effectLst/>
                <a:latin typeface="TimesNewRomanPSMT"/>
              </a:rPr>
              <a:t>U4-U6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复合物和 </a:t>
            </a:r>
            <a:r>
              <a:rPr lang="en-US" altLang="zh-CN" sz="1800" b="1" i="0" dirty="0" err="1">
                <a:solidFill>
                  <a:srgbClr val="000000"/>
                </a:solidFill>
                <a:effectLst/>
                <a:latin typeface="TimesNewRomanPSMT"/>
              </a:rPr>
              <a:t>U5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）结合形成无活性剪接体。</a:t>
            </a:r>
            <a:b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内部重排将该物种转化为活性剪接体，其中</a:t>
            </a:r>
            <a:b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1" i="0" dirty="0" err="1">
                <a:solidFill>
                  <a:srgbClr val="000000"/>
                </a:solidFill>
                <a:effectLst/>
                <a:latin typeface="TimesNewRomanPSMT"/>
              </a:rPr>
              <a:t>U1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和 </a:t>
            </a:r>
            <a:r>
              <a:rPr lang="en-US" altLang="zh-CN" sz="1800" b="1" i="0" dirty="0" err="1">
                <a:solidFill>
                  <a:srgbClr val="000000"/>
                </a:solidFill>
                <a:effectLst/>
                <a:latin typeface="TimesNewRomanPSMT"/>
              </a:rPr>
              <a:t>U4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已被驱逐，</a:t>
            </a:r>
            <a:r>
              <a:rPr lang="en-US" altLang="zh-CN" sz="1800" b="1" i="0" dirty="0" err="1">
                <a:solidFill>
                  <a:srgbClr val="000000"/>
                </a:solidFill>
                <a:effectLst/>
                <a:latin typeface="TimesNewRomanPSMT"/>
              </a:rPr>
              <a:t>U6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与 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59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拼接位点和</a:t>
            </a:r>
            <a:b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en-US" altLang="zh-CN" sz="1800" b="1" i="0" dirty="0" err="1">
                <a:solidFill>
                  <a:srgbClr val="000000"/>
                </a:solidFill>
                <a:effectLst/>
                <a:latin typeface="TimesNewRomanPSMT"/>
              </a:rPr>
              <a:t>U2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中。接下来是催化步骤，其与剪接步骤平行</a:t>
            </a:r>
            <a:b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第二组内含子（见图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26-15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）。</a:t>
            </a:r>
            <a:b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（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NewRomanPSMT"/>
              </a:rPr>
              <a:t>c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） 剪接和转录的协调使两个剪接位点</a:t>
            </a:r>
            <a:b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一起。有关详细信息，请参阅正文。剪接体比指示的要大得多</a:t>
            </a:r>
            <a:b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</a:b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NewRomanPSMT"/>
              </a:rPr>
              <a:t>这里。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58488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核酶是指的</a:t>
            </a:r>
            <a:r>
              <a:rPr lang="en-US" altLang="zh-CN" dirty="0"/>
              <a:t>intron</a:t>
            </a:r>
            <a:r>
              <a:rPr lang="zh-CN" altLang="en-US" dirty="0"/>
              <a:t>本身吗？还是指的其他的</a:t>
            </a:r>
            <a:r>
              <a:rPr lang="en-US" altLang="zh-CN" dirty="0"/>
              <a:t>RNA</a:t>
            </a:r>
            <a:r>
              <a:rPr lang="zh-CN" altLang="en-US" dirty="0"/>
              <a:t>是核酶？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20128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nucleophile </a:t>
            </a:r>
            <a:r>
              <a:rPr lang="zh-CN" altLang="en-US" dirty="0"/>
              <a:t>英 </a:t>
            </a:r>
            <a:r>
              <a:rPr lang="en-US" altLang="zh-CN" dirty="0"/>
              <a:t>['</a:t>
            </a:r>
            <a:r>
              <a:rPr lang="en-US" altLang="zh-CN" dirty="0" err="1"/>
              <a:t>nju:klɪəfaɪl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['</a:t>
            </a:r>
            <a:r>
              <a:rPr lang="en-US" altLang="zh-CN" dirty="0" err="1"/>
              <a:t>nju:kli:əˌfaɪl</a:t>
            </a:r>
            <a:r>
              <a:rPr lang="en-US" altLang="zh-CN" dirty="0"/>
              <a:t>] n. </a:t>
            </a:r>
            <a:r>
              <a:rPr lang="zh-CN" altLang="en-US" dirty="0"/>
              <a:t>亲核试剂</a:t>
            </a:r>
            <a:endParaRPr lang="en-US" altLang="zh-CN" dirty="0"/>
          </a:p>
          <a:p>
            <a:r>
              <a:rPr lang="en-US" altLang="zh-CN" dirty="0"/>
              <a:t>lariat </a:t>
            </a:r>
            <a:r>
              <a:rPr lang="zh-CN" altLang="en-US" dirty="0"/>
              <a:t>英 </a:t>
            </a:r>
            <a:r>
              <a:rPr lang="en-US" altLang="zh-CN" dirty="0"/>
              <a:t>['</a:t>
            </a:r>
            <a:r>
              <a:rPr lang="en-US" altLang="zh-CN" dirty="0" err="1"/>
              <a:t>lærɪət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['</a:t>
            </a:r>
            <a:r>
              <a:rPr lang="en-US" altLang="zh-CN" dirty="0" err="1"/>
              <a:t>lærɪrt</a:t>
            </a:r>
            <a:r>
              <a:rPr lang="en-US" altLang="zh-CN" dirty="0"/>
              <a:t>] n. </a:t>
            </a:r>
            <a:r>
              <a:rPr lang="zh-CN" altLang="en-US" dirty="0"/>
              <a:t>（套捕马、牛等用的） 套索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205329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apolipoprotein </a:t>
            </a:r>
            <a:r>
              <a:rPr lang="zh-CN" altLang="en-US" dirty="0"/>
              <a:t>英 </a:t>
            </a:r>
            <a:r>
              <a:rPr lang="en-US" altLang="zh-CN" dirty="0"/>
              <a:t>[ˌ</a:t>
            </a:r>
            <a:r>
              <a:rPr lang="en-US" altLang="zh-CN" dirty="0" err="1"/>
              <a:t>æpəˌlɪpə‘prəʊtɪn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[ˌ</a:t>
            </a:r>
            <a:r>
              <a:rPr lang="en-US" altLang="zh-CN" dirty="0" err="1"/>
              <a:t>æpəˌlɪpə’proʊtɪn</a:t>
            </a:r>
            <a:r>
              <a:rPr lang="en-US" altLang="zh-CN" dirty="0"/>
              <a:t>] </a:t>
            </a:r>
            <a:r>
              <a:rPr lang="zh-CN" altLang="en-US" dirty="0"/>
              <a:t>载脂蛋白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CAA =</a:t>
            </a:r>
            <a:r>
              <a:rPr lang="en-US" altLang="zh-CN" dirty="0" err="1"/>
              <a:t>gln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UAA</a:t>
            </a:r>
            <a:r>
              <a:rPr lang="en-US" altLang="zh-CN" baseline="0" dirty="0"/>
              <a:t> =stop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07713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nuclease </a:t>
            </a:r>
            <a:r>
              <a:rPr lang="zh-CN" altLang="en-US" dirty="0"/>
              <a:t>英 </a:t>
            </a:r>
            <a:r>
              <a:rPr lang="en-US" altLang="zh-CN" dirty="0"/>
              <a:t>['</a:t>
            </a:r>
            <a:r>
              <a:rPr lang="en-US" altLang="zh-CN" dirty="0" err="1"/>
              <a:t>nju:klɪeɪs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['</a:t>
            </a:r>
            <a:r>
              <a:rPr lang="en-US" altLang="zh-CN" dirty="0" err="1"/>
              <a:t>nju:kəlɪˌeɪs</a:t>
            </a:r>
            <a:r>
              <a:rPr lang="en-US" altLang="zh-CN" dirty="0"/>
              <a:t>] </a:t>
            </a:r>
          </a:p>
          <a:p>
            <a:r>
              <a:rPr lang="en-US" altLang="zh-CN" dirty="0"/>
              <a:t>n. </a:t>
            </a:r>
            <a:r>
              <a:rPr lang="zh-CN" altLang="en-US" dirty="0"/>
              <a:t>核酸酶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Cleavage liberates precursors of </a:t>
            </a:r>
            <a:r>
              <a:rPr lang="en-US" altLang="zh-CN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rRNAs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en-US" altLang="zh-CN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tRNA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(s).</a:t>
            </a:r>
            <a:b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Cleavage at the points labeled 1, 2, and 3 is carried</a:t>
            </a:r>
            <a:b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 by the enzymes </a:t>
            </a:r>
            <a:r>
              <a:rPr lang="en-US" altLang="zh-CN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RNase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III, </a:t>
            </a:r>
            <a:r>
              <a:rPr lang="en-US" altLang="zh-CN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RNase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P, and </a:t>
            </a:r>
            <a:r>
              <a:rPr lang="en-US" altLang="zh-CN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RNase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E,</a:t>
            </a:r>
            <a:b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respectively. As discussed later in the text, </a:t>
            </a:r>
            <a:r>
              <a:rPr lang="en-US" altLang="zh-CN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RNase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 is a</a:t>
            </a:r>
            <a:b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ribozyme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nucleolar </a:t>
            </a:r>
            <a:r>
              <a:rPr lang="zh-CN" altLang="en-US" dirty="0"/>
              <a:t>英 </a:t>
            </a:r>
            <a:r>
              <a:rPr lang="en-US" altLang="zh-CN" dirty="0"/>
              <a:t>[</a:t>
            </a:r>
            <a:r>
              <a:rPr lang="en-US" altLang="zh-CN" dirty="0" err="1"/>
              <a:t>nju</a:t>
            </a:r>
            <a:r>
              <a:rPr lang="en-US" altLang="zh-CN" dirty="0"/>
              <a:t>:'</a:t>
            </a:r>
            <a:r>
              <a:rPr lang="en-US" altLang="zh-CN" dirty="0" err="1"/>
              <a:t>kli:ələ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</a:t>
            </a:r>
            <a:r>
              <a:rPr lang="en-US" altLang="zh-CN" dirty="0" err="1"/>
              <a:t>nju</a:t>
            </a:r>
            <a:r>
              <a:rPr lang="en-US" altLang="zh-CN" dirty="0"/>
              <a:t>:'</a:t>
            </a:r>
            <a:r>
              <a:rPr lang="en-US" altLang="zh-CN" dirty="0" err="1"/>
              <a:t>kli:ələ</a:t>
            </a:r>
            <a:r>
              <a:rPr lang="en-US" altLang="zh-CN" dirty="0"/>
              <a:t>] adj. </a:t>
            </a:r>
            <a:r>
              <a:rPr lang="zh-CN" altLang="en-US" dirty="0"/>
              <a:t>核仁的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cleavage reactions and all of the modifications require small </a:t>
            </a:r>
            <a:r>
              <a:rPr lang="en-US" altLang="zh-CN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nucleolar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RNAs (</a:t>
            </a:r>
            <a:r>
              <a:rPr lang="en-US" altLang="zh-CN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snoRNAs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b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found in protein complexes (</a:t>
            </a:r>
            <a:r>
              <a:rPr lang="en-US" altLang="zh-CN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snoRNPs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in the nucleolus that are reminiscent of </a:t>
            </a:r>
            <a:r>
              <a:rPr lang="en-US" altLang="zh-CN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spliceosomes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The 5S </a:t>
            </a:r>
            <a:r>
              <a:rPr lang="en-US" altLang="zh-CN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rRNA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 produced separately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91042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在研究细菌</a:t>
            </a:r>
            <a:r>
              <a:rPr lang="en-US" altLang="zh-CN" dirty="0" err="1">
                <a:hlinkClick r:id="rId3"/>
              </a:rPr>
              <a:t>tRNA</a:t>
            </a:r>
            <a:r>
              <a:rPr lang="zh-CN" altLang="en-US" dirty="0"/>
              <a:t>的合成中，发现</a:t>
            </a:r>
            <a:r>
              <a:rPr lang="en-US" altLang="zh-CN" dirty="0">
                <a:hlinkClick r:id="rId4"/>
              </a:rPr>
              <a:t>RNA</a:t>
            </a:r>
            <a:r>
              <a:rPr lang="zh-CN" altLang="en-US" dirty="0"/>
              <a:t>具有催化作用，为此，</a:t>
            </a:r>
            <a:r>
              <a:rPr lang="en-US" altLang="zh-CN" dirty="0"/>
              <a:t>1989</a:t>
            </a:r>
            <a:r>
              <a:rPr lang="zh-CN" altLang="en-US" dirty="0"/>
              <a:t>年获诺贝尔化学奖。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cloverleaf </a:t>
            </a:r>
            <a:r>
              <a:rPr lang="zh-CN" altLang="en-US" dirty="0"/>
              <a:t>英 </a:t>
            </a:r>
            <a:r>
              <a:rPr lang="en-US" altLang="zh-CN" dirty="0"/>
              <a:t>[ˈ</a:t>
            </a:r>
            <a:r>
              <a:rPr lang="en-US" altLang="zh-CN" dirty="0" err="1"/>
              <a:t>kləʊvəli:f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[ˈ</a:t>
            </a:r>
            <a:r>
              <a:rPr lang="en-US" altLang="zh-CN" dirty="0" err="1"/>
              <a:t>kloʊvərli:f</a:t>
            </a:r>
            <a:r>
              <a:rPr lang="en-US" altLang="zh-CN" dirty="0"/>
              <a:t>] </a:t>
            </a:r>
          </a:p>
          <a:p>
            <a:r>
              <a:rPr lang="en-US" altLang="zh-CN" dirty="0"/>
              <a:t>n. </a:t>
            </a:r>
            <a:r>
              <a:rPr lang="zh-CN" altLang="en-US" dirty="0"/>
              <a:t>（道路的） 苜蓿叶式立体交叉，四叶式立体交叉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12883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粉色标注的为什么变了，</a:t>
            </a:r>
            <a:r>
              <a:rPr lang="en-US" altLang="zh-CN" dirty="0"/>
              <a:t>D</a:t>
            </a:r>
            <a:r>
              <a:rPr lang="zh-CN" altLang="en-US" dirty="0"/>
              <a:t>变成了</a:t>
            </a:r>
            <a:r>
              <a:rPr lang="en-US" altLang="zh-CN" dirty="0" err="1"/>
              <a:t>Pu</a:t>
            </a:r>
            <a:r>
              <a:rPr lang="zh-CN" altLang="en-US" dirty="0"/>
              <a:t>， </a:t>
            </a:r>
            <a:r>
              <a:rPr lang="en-US" altLang="zh-CN" dirty="0" err="1"/>
              <a:t>Pu</a:t>
            </a:r>
            <a:r>
              <a:rPr lang="zh-CN" altLang="en-US" dirty="0"/>
              <a:t>是什么意思？是</a:t>
            </a:r>
            <a:r>
              <a:rPr lang="en-US" altLang="zh-CN" dirty="0" err="1"/>
              <a:t>Purine</a:t>
            </a:r>
            <a:r>
              <a:rPr lang="zh-CN" altLang="en-US" dirty="0"/>
              <a:t>吗？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RNase</a:t>
            </a:r>
            <a:r>
              <a:rPr lang="en-US" altLang="zh-CN" baseline="0" dirty="0"/>
              <a:t> D is protein</a:t>
            </a:r>
            <a:r>
              <a:rPr lang="zh-CN" altLang="en-US" baseline="0" dirty="0"/>
              <a:t>；</a:t>
            </a:r>
            <a:endParaRPr lang="en-US" altLang="zh-CN" baseline="0" dirty="0"/>
          </a:p>
          <a:p>
            <a:r>
              <a:rPr lang="en-US" altLang="zh-CN" b="1" dirty="0" err="1"/>
              <a:t>Ribonuclease</a:t>
            </a:r>
            <a:r>
              <a:rPr lang="en-US" altLang="zh-CN" b="1" dirty="0"/>
              <a:t> P</a:t>
            </a:r>
            <a:r>
              <a:rPr lang="en-US" altLang="zh-CN" dirty="0"/>
              <a:t> (</a:t>
            </a:r>
            <a:r>
              <a:rPr lang="en-US" altLang="zh-CN" dirty="0">
                <a:hlinkClick r:id="rId3" tooltip="Enzyme Commission number"/>
              </a:rPr>
              <a:t>EC</a:t>
            </a:r>
            <a:r>
              <a:rPr lang="en-US" altLang="zh-CN" dirty="0"/>
              <a:t> </a:t>
            </a:r>
            <a:r>
              <a:rPr lang="en-US" altLang="zh-CN" dirty="0">
                <a:hlinkClick r:id="rId4"/>
              </a:rPr>
              <a:t>3.1.26.5</a:t>
            </a:r>
            <a:r>
              <a:rPr lang="en-US" altLang="zh-CN" dirty="0"/>
              <a:t>, </a:t>
            </a:r>
            <a:r>
              <a:rPr lang="en-US" altLang="zh-CN" i="1" dirty="0" err="1"/>
              <a:t>RNase</a:t>
            </a:r>
            <a:r>
              <a:rPr lang="en-US" altLang="zh-CN" i="1" dirty="0"/>
              <a:t> P</a:t>
            </a:r>
            <a:r>
              <a:rPr lang="en-US" altLang="zh-CN" dirty="0"/>
              <a:t>) is a type of </a:t>
            </a:r>
            <a:r>
              <a:rPr lang="en-US" altLang="zh-CN" dirty="0" err="1">
                <a:hlinkClick r:id="rId5" tooltip="Ribonuclease"/>
              </a:rPr>
              <a:t>ribonuclease</a:t>
            </a:r>
            <a:r>
              <a:rPr lang="en-US" altLang="zh-CN" dirty="0"/>
              <a:t> which cleaves </a:t>
            </a:r>
            <a:r>
              <a:rPr lang="en-US" altLang="zh-CN" dirty="0">
                <a:hlinkClick r:id="rId6" tooltip="RNA"/>
              </a:rPr>
              <a:t>RNA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deamination</a:t>
            </a:r>
            <a:r>
              <a:rPr lang="en-US" altLang="zh-CN" dirty="0"/>
              <a:t> </a:t>
            </a:r>
            <a:r>
              <a:rPr lang="zh-CN" altLang="en-US" dirty="0"/>
              <a:t>英 </a:t>
            </a:r>
            <a:r>
              <a:rPr lang="en-US" altLang="zh-CN" dirty="0"/>
              <a:t>[</a:t>
            </a:r>
            <a:r>
              <a:rPr lang="en-US" altLang="zh-CN" dirty="0" err="1"/>
              <a:t>di:æmɪ'neɪʃən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</a:t>
            </a:r>
            <a:r>
              <a:rPr lang="en-US" altLang="zh-CN" dirty="0" err="1"/>
              <a:t>di:æmɪ'neɪʃən</a:t>
            </a:r>
            <a:r>
              <a:rPr lang="en-US" altLang="zh-CN" dirty="0"/>
              <a:t>] </a:t>
            </a:r>
          </a:p>
          <a:p>
            <a:r>
              <a:rPr lang="en-US" altLang="zh-CN" dirty="0"/>
              <a:t>n. </a:t>
            </a:r>
            <a:r>
              <a:rPr lang="zh-CN" altLang="en-US" dirty="0"/>
              <a:t>去氨基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thiouridine </a:t>
            </a:r>
            <a:r>
              <a:rPr lang="zh-CN" altLang="en-US" dirty="0"/>
              <a:t>英 </a:t>
            </a:r>
            <a:r>
              <a:rPr lang="en-US" altLang="zh-CN" dirty="0"/>
              <a:t>['</a:t>
            </a:r>
            <a:r>
              <a:rPr lang="el-GR" altLang="zh-CN" dirty="0"/>
              <a:t>θ</a:t>
            </a:r>
            <a:r>
              <a:rPr lang="en-US" altLang="zh-CN" dirty="0" err="1"/>
              <a:t>ɪəraɪdɪn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['</a:t>
            </a:r>
            <a:r>
              <a:rPr lang="el-GR" altLang="zh-CN" dirty="0"/>
              <a:t>θ</a:t>
            </a:r>
            <a:r>
              <a:rPr lang="en-US" altLang="zh-CN" dirty="0" err="1"/>
              <a:t>ɪəraɪdɪn</a:t>
            </a:r>
            <a:r>
              <a:rPr lang="en-US" altLang="zh-CN" dirty="0"/>
              <a:t>] [</a:t>
            </a:r>
            <a:r>
              <a:rPr lang="zh-CN" altLang="en-US" dirty="0"/>
              <a:t>词典</a:t>
            </a:r>
            <a:r>
              <a:rPr lang="en-US" altLang="zh-CN" dirty="0"/>
              <a:t>] [</a:t>
            </a:r>
            <a:r>
              <a:rPr lang="zh-CN" altLang="en-US" dirty="0"/>
              <a:t>医</a:t>
            </a:r>
            <a:r>
              <a:rPr lang="en-US" altLang="zh-CN" dirty="0"/>
              <a:t>] </a:t>
            </a:r>
            <a:r>
              <a:rPr lang="zh-CN" altLang="en-US" dirty="0"/>
              <a:t>硫尿核苷</a:t>
            </a:r>
            <a:endParaRPr lang="en-US" altLang="zh-CN" dirty="0"/>
          </a:p>
          <a:p>
            <a:r>
              <a:rPr lang="en-US" altLang="zh-CN" dirty="0"/>
              <a:t>inosine </a:t>
            </a:r>
            <a:r>
              <a:rPr lang="zh-CN" altLang="en-US" dirty="0"/>
              <a:t>英 </a:t>
            </a:r>
            <a:r>
              <a:rPr lang="en-US" altLang="zh-CN" dirty="0"/>
              <a:t>['</a:t>
            </a:r>
            <a:r>
              <a:rPr lang="en-US" altLang="zh-CN" dirty="0" err="1"/>
              <a:t>ɪnəsi:n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['</a:t>
            </a:r>
            <a:r>
              <a:rPr lang="en-US" altLang="zh-CN" dirty="0" err="1"/>
              <a:t>aɪnəˌsi:n</a:t>
            </a:r>
            <a:r>
              <a:rPr lang="en-US" altLang="zh-CN" dirty="0"/>
              <a:t>] n. </a:t>
            </a:r>
            <a:r>
              <a:rPr lang="zh-CN" altLang="en-US" dirty="0"/>
              <a:t>次黄（嘌呤核）苷，肌苷</a:t>
            </a:r>
            <a:endParaRPr lang="en-US" altLang="zh-CN" dirty="0"/>
          </a:p>
          <a:p>
            <a:r>
              <a:rPr lang="en-US" altLang="zh-CN" dirty="0"/>
              <a:t>isopentenyladenosine </a:t>
            </a:r>
            <a:r>
              <a:rPr lang="zh-CN" altLang="en-US" dirty="0"/>
              <a:t>英 </a:t>
            </a:r>
            <a:r>
              <a:rPr lang="en-US" altLang="zh-CN" dirty="0"/>
              <a:t>[</a:t>
            </a:r>
            <a:r>
              <a:rPr lang="en-US" altLang="zh-CN" dirty="0" err="1"/>
              <a:t>aɪsəʊpəntənəleɪdɪnəʊ'zɪn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</a:t>
            </a:r>
            <a:r>
              <a:rPr lang="en-US" altLang="zh-CN" dirty="0" err="1"/>
              <a:t>aɪsoʊpəntənəleɪdɪnoʊ'zɪn</a:t>
            </a:r>
            <a:r>
              <a:rPr lang="en-US" altLang="zh-CN" dirty="0"/>
              <a:t>] [</a:t>
            </a:r>
            <a:r>
              <a:rPr lang="zh-CN" altLang="en-US" dirty="0"/>
              <a:t>词典</a:t>
            </a:r>
            <a:r>
              <a:rPr lang="en-US" altLang="zh-CN" dirty="0"/>
              <a:t>] [</a:t>
            </a:r>
            <a:r>
              <a:rPr lang="zh-CN" altLang="en-US" dirty="0"/>
              <a:t>医</a:t>
            </a:r>
            <a:r>
              <a:rPr lang="en-US" altLang="zh-CN" dirty="0"/>
              <a:t>] </a:t>
            </a:r>
            <a:r>
              <a:rPr lang="zh-CN" altLang="en-US" dirty="0"/>
              <a:t>异戊烯腺苷</a:t>
            </a:r>
            <a:endParaRPr lang="en-US" altLang="zh-CN" dirty="0"/>
          </a:p>
          <a:p>
            <a:r>
              <a:rPr lang="en-US" altLang="zh-CN" dirty="0"/>
              <a:t>thymidine </a:t>
            </a:r>
            <a:r>
              <a:rPr lang="zh-CN" altLang="en-US" dirty="0"/>
              <a:t>英 </a:t>
            </a:r>
            <a:r>
              <a:rPr lang="en-US" altLang="zh-CN" dirty="0"/>
              <a:t>['</a:t>
            </a:r>
            <a:r>
              <a:rPr lang="el-GR" altLang="zh-CN" dirty="0"/>
              <a:t>θ</a:t>
            </a:r>
            <a:r>
              <a:rPr lang="en-US" altLang="zh-CN" dirty="0" err="1"/>
              <a:t>aɪmədɪn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['</a:t>
            </a:r>
            <a:r>
              <a:rPr lang="el-GR" altLang="zh-CN" dirty="0"/>
              <a:t>θ</a:t>
            </a:r>
            <a:r>
              <a:rPr lang="en-US" altLang="zh-CN" dirty="0" err="1"/>
              <a:t>aɪmədɪn</a:t>
            </a:r>
            <a:r>
              <a:rPr lang="en-US" altLang="zh-CN" dirty="0"/>
              <a:t>] n. </a:t>
            </a:r>
            <a:r>
              <a:rPr lang="zh-CN" altLang="en-US" dirty="0"/>
              <a:t>胸（腺嘧啶脱氧核）苷</a:t>
            </a:r>
            <a:endParaRPr lang="en-US" altLang="zh-CN" dirty="0"/>
          </a:p>
          <a:p>
            <a:r>
              <a:rPr lang="en-US" altLang="zh-CN" dirty="0"/>
              <a:t>dihydrouridine </a:t>
            </a:r>
            <a:r>
              <a:rPr lang="zh-CN" altLang="en-US" dirty="0"/>
              <a:t>英 </a:t>
            </a:r>
            <a:r>
              <a:rPr lang="en-US" altLang="zh-CN" dirty="0"/>
              <a:t>[di:'</a:t>
            </a:r>
            <a:r>
              <a:rPr lang="en-US" altLang="zh-CN" dirty="0" err="1"/>
              <a:t>haɪdrəraɪdɪn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[di:'</a:t>
            </a:r>
            <a:r>
              <a:rPr lang="en-US" altLang="zh-CN" dirty="0" err="1"/>
              <a:t>haɪdrəraɪdɪn</a:t>
            </a:r>
            <a:r>
              <a:rPr lang="en-US" altLang="zh-CN" dirty="0"/>
              <a:t>]</a:t>
            </a:r>
            <a:r>
              <a:rPr lang="zh-CN" altLang="en-US" dirty="0"/>
              <a:t>二氢尿嘧啶核苷</a:t>
            </a:r>
            <a:endParaRPr lang="en-US" altLang="zh-CN" dirty="0"/>
          </a:p>
          <a:p>
            <a:r>
              <a:rPr lang="en-US" altLang="zh-CN" dirty="0" err="1"/>
              <a:t>pseudouridine</a:t>
            </a:r>
            <a:r>
              <a:rPr lang="en-US" altLang="zh-CN" dirty="0"/>
              <a:t> </a:t>
            </a:r>
            <a:r>
              <a:rPr lang="zh-CN" altLang="en-US" dirty="0"/>
              <a:t>英 </a:t>
            </a:r>
            <a:r>
              <a:rPr lang="en-US" altLang="zh-CN" dirty="0"/>
              <a:t>[</a:t>
            </a:r>
            <a:r>
              <a:rPr lang="en-US" altLang="zh-CN" dirty="0" err="1"/>
              <a:t>sju:dəʊ'jʊərɪdi:n</a:t>
            </a:r>
            <a:r>
              <a:rPr lang="en-US" altLang="zh-CN" dirty="0"/>
              <a:t>] </a:t>
            </a:r>
            <a:r>
              <a:rPr lang="zh-CN" altLang="en-US" dirty="0"/>
              <a:t>美 </a:t>
            </a:r>
            <a:r>
              <a:rPr lang="en-US" altLang="zh-CN" dirty="0"/>
              <a:t>[</a:t>
            </a:r>
            <a:r>
              <a:rPr lang="en-US" altLang="zh-CN" dirty="0" err="1"/>
              <a:t>sju:doʊ'jʊərɪdi:n</a:t>
            </a:r>
            <a:r>
              <a:rPr lang="en-US" altLang="zh-CN" dirty="0"/>
              <a:t>] n. </a:t>
            </a:r>
            <a:r>
              <a:rPr lang="zh-CN" altLang="en-US" dirty="0"/>
              <a:t>假尿（嘧啶核）苷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2939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18506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08029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人类基因组中，大部分</a:t>
            </a:r>
            <a:r>
              <a:rPr lang="en-US" altLang="zh-CN" dirty="0"/>
              <a:t>microRNAs</a:t>
            </a:r>
            <a:r>
              <a:rPr lang="zh-CN" altLang="en-US" dirty="0"/>
              <a:t>位于内含子。</a:t>
            </a:r>
            <a:r>
              <a:rPr lang="en-US" altLang="zh-CN" dirty="0"/>
              <a:t>microRNA</a:t>
            </a:r>
            <a:r>
              <a:rPr lang="zh-CN" altLang="en-US" dirty="0"/>
              <a:t>对于调控基因的表达具有重要意义。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0863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At promoters lacking a TATA box, TBP arrives as part of a</a:t>
            </a:r>
          </a:p>
          <a:p>
            <a:r>
              <a:rPr lang="en-US" altLang="zh-CN" dirty="0" err="1"/>
              <a:t>multisubunit</a:t>
            </a:r>
            <a:r>
              <a:rPr lang="en-US" altLang="zh-CN" dirty="0"/>
              <a:t> complex called TFIID (not shown in Fig.</a:t>
            </a:r>
          </a:p>
          <a:p>
            <a:r>
              <a:rPr lang="en-US" altLang="zh-CN" dirty="0"/>
              <a:t>26–9). The sequence elements that direct the binding of</a:t>
            </a:r>
          </a:p>
          <a:p>
            <a:r>
              <a:rPr lang="en-US" altLang="zh-CN" dirty="0"/>
              <a:t>TFIID at TATA-less promoters are poorly understood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F5F534-2C7B-4B3E-AB7E-5181B2239891}" type="slidenum">
              <a:rPr lang="zh-CN" altLang="en-US" smtClean="0"/>
              <a:pPr>
                <a:defRPr/>
              </a:pPr>
              <a:t>169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309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C:\Users\Administrator\AppData\Roaming\Tencent\Users\85060380\QQ\WinTemp\RichOle\3{JSB(G2RI2O{CFOGZRGH23.jpg"/>
          <p:cNvPicPr>
            <a:picLocks noChangeAspect="1" noChangeArrowheads="1"/>
          </p:cNvPicPr>
          <p:nvPr/>
        </p:nvPicPr>
        <p:blipFill rotWithShape="1">
          <a:blip r:embed="rId2" cstate="print"/>
          <a:srcRect r="78850"/>
          <a:stretch/>
        </p:blipFill>
        <p:spPr bwMode="auto">
          <a:xfrm>
            <a:off x="1" y="44624"/>
            <a:ext cx="899591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C:\Users\Administrator\AppData\Roaming\Tencent\Users\85060380\QQ\WinTemp\RichOle\J6JYNSSQRTOD2X}K2W`MNJ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64751" y="1"/>
            <a:ext cx="1191625" cy="740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 descr="C:\Users\Administrator\AppData\Roaming\Tencent\Users\85060380\QQ\WinTemp\RichOle\GD$GN72[756M7J@}Q112F3M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56376" y="1"/>
            <a:ext cx="1191625" cy="740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 descr="C:\Users\Administrator\AppData\Roaming\Tencent\Users\85060380\QQ\WinTemp\RichOle\{SL304[_K`X~M@`NNZQS~XD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27984" y="0"/>
            <a:ext cx="2350885" cy="740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69F77C-FFE2-4793-9207-02588634C718}" type="datetimeFigureOut">
              <a:rPr lang="zh-CN" altLang="en-US"/>
              <a:pPr>
                <a:defRPr/>
              </a:pPr>
              <a:t>2023/11/2</a:t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C8E333-6AB3-4FDA-8E97-ACA84AEA881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93D3275-083F-47FB-8AE6-915D3BE6F6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/>
          <a:srcRect l="32675" t="11636" r="34167" b="75247"/>
          <a:stretch/>
        </p:blipFill>
        <p:spPr>
          <a:xfrm>
            <a:off x="971600" y="259870"/>
            <a:ext cx="2592288" cy="5768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Administrator\Desktop\4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29500" y="5948363"/>
            <a:ext cx="1714500" cy="909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F3533-4646-4892-B1D3-08067A86ACDD}" type="datetimeFigureOut">
              <a:rPr lang="zh-CN" altLang="en-US"/>
              <a:pPr>
                <a:defRPr/>
              </a:pPr>
              <a:t>2023/11/2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6D17FC-20E3-4805-979B-A7677B8B4C0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0" name="Picture 1" descr="C:\Users\Administrator\AppData\Roaming\Tencent\Users\85060380\QQ\WinTemp\RichOle\3{JSB(G2RI2O{CFOGZRGH23.jpg">
            <a:extLst>
              <a:ext uri="{FF2B5EF4-FFF2-40B4-BE49-F238E27FC236}">
                <a16:creationId xmlns:a16="http://schemas.microsoft.com/office/drawing/2014/main" id="{3270E545-7934-4BFA-B40E-1C355AF290B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/>
          <a:srcRect r="78850"/>
          <a:stretch/>
        </p:blipFill>
        <p:spPr bwMode="auto">
          <a:xfrm>
            <a:off x="1" y="6126164"/>
            <a:ext cx="862263" cy="759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D899D2D-93AD-4325-9F12-9039E226AB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/>
          <a:srcRect l="32675" t="11636" r="34167" b="75247"/>
          <a:stretch/>
        </p:blipFill>
        <p:spPr>
          <a:xfrm>
            <a:off x="810072" y="6309320"/>
            <a:ext cx="1872208" cy="4166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A4F1A8-960E-4ED9-9A4F-401EFE12B95D}" type="datetimeFigureOut">
              <a:rPr lang="zh-CN" altLang="en-US"/>
              <a:pPr>
                <a:defRPr/>
              </a:pPr>
              <a:t>2023/11/2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FA7321-CB36-4EF0-87BA-C64E2A84FAE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09E1E0-9E63-41E0-8CDD-DF0C8EF81975}" type="datetimeFigureOut">
              <a:rPr lang="zh-CN" altLang="en-US"/>
              <a:pPr>
                <a:defRPr/>
              </a:pPr>
              <a:t>2023/11/2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E5839-3D4F-4698-B864-F37BC54DB92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Administrator\Desktop\4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29500" y="5948363"/>
            <a:ext cx="1714500" cy="909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F3533-4646-4892-B1D3-08067A86ACDD}" type="datetimeFigureOut">
              <a:rPr lang="zh-CN" altLang="en-US"/>
              <a:pPr>
                <a:defRPr/>
              </a:pPr>
              <a:t>2023/11/2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6D17FC-20E3-4805-979B-A7677B8B4C0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0" name="Picture 1" descr="C:\Users\Administrator\AppData\Roaming\Tencent\Users\85060380\QQ\WinTemp\RichOle\3{JSB(G2RI2O{CFOGZRGH23.jpg">
            <a:extLst>
              <a:ext uri="{FF2B5EF4-FFF2-40B4-BE49-F238E27FC236}">
                <a16:creationId xmlns:a16="http://schemas.microsoft.com/office/drawing/2014/main" id="{3270E545-7934-4BFA-B40E-1C355AF290B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/>
          <a:srcRect r="78850"/>
          <a:stretch/>
        </p:blipFill>
        <p:spPr bwMode="auto">
          <a:xfrm>
            <a:off x="1" y="6126164"/>
            <a:ext cx="862263" cy="759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D899D2D-93AD-4325-9F12-9039E226AB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/>
          <a:srcRect l="32675" t="11636" r="34167" b="75247"/>
          <a:stretch/>
        </p:blipFill>
        <p:spPr>
          <a:xfrm>
            <a:off x="810072" y="6309320"/>
            <a:ext cx="1872208" cy="41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079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11D7156-5C3F-4BEA-93EC-FF328D866D27}" type="datetimeFigureOut">
              <a:rPr lang="zh-CN" altLang="en-US"/>
              <a:pPr>
                <a:defRPr/>
              </a:pPr>
              <a:t>2023/11/2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C709816-5D03-481C-A7CB-52B98C3CDEF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  <p:sldLayoutId id="2147483855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69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gdyang@sdau.edu.c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baike.baidu.com/view/433550.htm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baike.baidu.com/view/2521517.htm" TargetMode="External"/><Relationship Id="rId5" Type="http://schemas.openxmlformats.org/officeDocument/2006/relationships/hyperlink" Target="http://baike.baidu.com/view/319397.htm" TargetMode="External"/><Relationship Id="rId4" Type="http://schemas.openxmlformats.org/officeDocument/2006/relationships/hyperlink" Target="http://baike.baidu.com/view/2182236.htm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9.png"/><Relationship Id="rId4" Type="http://schemas.openxmlformats.org/officeDocument/2006/relationships/customXml" Target="../ink/ink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customXml" Target="../ink/ink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jpeg"/><Relationship Id="rId4" Type="http://schemas.openxmlformats.org/officeDocument/2006/relationships/image" Target="../media/image66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146/annurev-arplant-043014-114633" TargetMode="Externa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wmf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92.gif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9" Type="http://schemas.openxmlformats.org/officeDocument/2006/relationships/image" Target="../media/image97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5.wdp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3.jpeg"/><Relationship Id="rId4" Type="http://schemas.openxmlformats.org/officeDocument/2006/relationships/image" Target="../media/image102.jpe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e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eg"/><Relationship Id="rId2" Type="http://schemas.openxmlformats.org/officeDocument/2006/relationships/image" Target="../media/image110.jpe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jpe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jpe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9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jpe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2.jpe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jpeg"/><Relationship Id="rId2" Type="http://schemas.openxmlformats.org/officeDocument/2006/relationships/image" Target="../media/image135.jpe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jpe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7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7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ctrTitle"/>
          </p:nvPr>
        </p:nvSpPr>
        <p:spPr>
          <a:xfrm>
            <a:off x="642938" y="2000250"/>
            <a:ext cx="7772400" cy="1470025"/>
          </a:xfrm>
        </p:spPr>
        <p:txBody>
          <a:bodyPr/>
          <a:lstStyle/>
          <a:p>
            <a:pPr eaLnBrk="1" hangingPunct="1"/>
            <a:r>
              <a:rPr lang="en-US" altLang="zh-CN" sz="4000" b="1" dirty="0"/>
              <a:t>Section G  </a:t>
            </a:r>
            <a:br>
              <a:rPr lang="en-US" altLang="zh-CN" sz="4000" b="1" dirty="0"/>
            </a:br>
            <a:r>
              <a:rPr lang="en-US" altLang="zh-CN" sz="4000" b="1" dirty="0"/>
              <a:t>RNA </a:t>
            </a:r>
            <a:r>
              <a:rPr lang="en-US" altLang="zh-CN" sz="4000" b="1" dirty="0">
                <a:hlinkClick r:id="rId3" action="ppaction://hlinksldjump"/>
              </a:rPr>
              <a:t>synthesis</a:t>
            </a:r>
            <a:r>
              <a:rPr lang="en-US" altLang="zh-CN" sz="4000" b="1" dirty="0"/>
              <a:t> and </a:t>
            </a:r>
            <a:r>
              <a:rPr lang="en-US" altLang="zh-CN" sz="4000" b="1" dirty="0">
                <a:hlinkClick r:id="rId3" action="ppaction://hlinksldjump"/>
              </a:rPr>
              <a:t>processing</a:t>
            </a:r>
            <a:endParaRPr lang="zh-CN" altLang="en-US" sz="4000" b="1" dirty="0"/>
          </a:p>
        </p:txBody>
      </p:sp>
      <p:sp>
        <p:nvSpPr>
          <p:cNvPr id="4099" name="副标题 2"/>
          <p:cNvSpPr>
            <a:spLocks noGrp="1"/>
          </p:cNvSpPr>
          <p:nvPr>
            <p:ph type="subTitle" idx="1"/>
          </p:nvPr>
        </p:nvSpPr>
        <p:spPr>
          <a:xfrm>
            <a:off x="5143500" y="3714750"/>
            <a:ext cx="3214688" cy="1471613"/>
          </a:xfrm>
        </p:spPr>
        <p:txBody>
          <a:bodyPr/>
          <a:lstStyle/>
          <a:p>
            <a:pPr eaLnBrk="1" hangingPunct="1"/>
            <a:r>
              <a:rPr lang="en-US" altLang="zh-CN" sz="2400" b="1" dirty="0" err="1">
                <a:solidFill>
                  <a:schemeClr val="tx1"/>
                </a:solidFill>
              </a:rPr>
              <a:t>Guodong</a:t>
            </a:r>
            <a:r>
              <a:rPr lang="en-US" altLang="zh-CN" sz="2400" b="1" dirty="0">
                <a:solidFill>
                  <a:schemeClr val="tx1"/>
                </a:solidFill>
              </a:rPr>
              <a:t> Yang</a:t>
            </a:r>
          </a:p>
          <a:p>
            <a:pPr eaLnBrk="1" hangingPunct="1"/>
            <a:r>
              <a:rPr lang="en-US" altLang="zh-CN" sz="1600" b="1" dirty="0">
                <a:solidFill>
                  <a:schemeClr val="tx1"/>
                </a:solidFill>
              </a:rPr>
              <a:t>Biochemistry and Molecular Biology, College of Life Sciences</a:t>
            </a:r>
            <a:br>
              <a:rPr lang="en-US" altLang="zh-CN" sz="1600" b="1" dirty="0">
                <a:solidFill>
                  <a:schemeClr val="tx1"/>
                </a:solidFill>
              </a:rPr>
            </a:br>
            <a:endParaRPr lang="en-US" altLang="zh-CN" sz="1600" b="1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zh-CN" sz="1600" b="1" dirty="0">
                <a:solidFill>
                  <a:schemeClr val="tx1"/>
                </a:solidFill>
                <a:hlinkClick r:id="rId4"/>
              </a:rPr>
              <a:t>gdyang@sdau.edu.cn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zh-CN" sz="1600" b="1" dirty="0">
                <a:solidFill>
                  <a:schemeClr val="tx1"/>
                </a:solidFill>
              </a:rPr>
              <a:t>13854808762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B0E2E2-6103-473B-A524-A6E50F3D19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667D51-99D9-4501-9620-974C4FD7122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pic>
        <p:nvPicPr>
          <p:cNvPr id="4" name="Picture 4" descr="15-1">
            <a:extLst>
              <a:ext uri="{FF2B5EF4-FFF2-40B4-BE49-F238E27FC236}">
                <a16:creationId xmlns:a16="http://schemas.microsoft.com/office/drawing/2014/main" id="{623F0D58-2F3A-4701-8B50-BFB85E371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88913"/>
            <a:ext cx="6408191" cy="5751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5">
            <a:extLst>
              <a:ext uri="{FF2B5EF4-FFF2-40B4-BE49-F238E27FC236}">
                <a16:creationId xmlns:a16="http://schemas.microsoft.com/office/drawing/2014/main" id="{3F8FA93D-31DE-4433-AB6E-C0AF0BA7F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30" y="4508291"/>
            <a:ext cx="330873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solidFill>
                  <a:srgbClr val="CC00FF"/>
                </a:solidFill>
              </a:rPr>
              <a:t>Genetic Central Dogma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CC00FF"/>
                </a:solidFill>
              </a:rPr>
              <a:t>遗传中心法则</a:t>
            </a:r>
            <a:endParaRPr lang="zh-CN" altLang="en-US" sz="2400" b="1" dirty="0">
              <a:solidFill>
                <a:srgbClr val="CC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092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075">
            <a:extLst>
              <a:ext uri="{FF2B5EF4-FFF2-40B4-BE49-F238E27FC236}">
                <a16:creationId xmlns:a16="http://schemas.microsoft.com/office/drawing/2014/main" id="{7FF1DC10-7D89-4DBA-BF5E-2D419AD75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0" t="9000" r="9000" b="9000"/>
          <a:stretch>
            <a:fillRect/>
          </a:stretch>
        </p:blipFill>
        <p:spPr bwMode="auto">
          <a:xfrm>
            <a:off x="755576" y="404664"/>
            <a:ext cx="7418784" cy="5564088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9176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49033-10-01 copy">
            <a:extLst>
              <a:ext uri="{FF2B5EF4-FFF2-40B4-BE49-F238E27FC236}">
                <a16:creationId xmlns:a16="http://schemas.microsoft.com/office/drawing/2014/main" id="{FAFB0C94-5D46-4326-894C-107B3B9ED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65510"/>
            <a:ext cx="5904954" cy="5660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3749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EB02119-2AA4-455E-805F-B0430FD3DE3A}"/>
              </a:ext>
            </a:extLst>
          </p:cNvPr>
          <p:cNvSpPr txBox="1"/>
          <p:nvPr/>
        </p:nvSpPr>
        <p:spPr>
          <a:xfrm>
            <a:off x="585171" y="404664"/>
            <a:ext cx="7973658" cy="82176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endParaRPr lang="en-US" altLang="zh-CN" sz="4000" dirty="0"/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schemeClr val="folHlink"/>
                </a:solidFill>
              </a:rPr>
              <a:t>G1  RNA structure:  tRNA cloverleaf </a:t>
            </a:r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schemeClr val="folHlink"/>
                </a:solidFill>
              </a:rPr>
              <a:t>G2  RNA Transcription in Prokaryotes </a:t>
            </a:r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schemeClr val="folHlink"/>
                </a:solidFill>
              </a:rPr>
              <a:t>G3  The Lac operon</a:t>
            </a:r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schemeClr val="folHlink"/>
                </a:solidFill>
              </a:rPr>
              <a:t>G5,G6 Transcription in Eukaryotes</a:t>
            </a:r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schemeClr val="folHlink"/>
                </a:solidFill>
              </a:rPr>
              <a:t>G7 Processing of eukaryotic pre-mRNA</a:t>
            </a:r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schemeClr val="folHlink"/>
                </a:solidFill>
              </a:rPr>
              <a:t>G8,G9    Ribosomal RNA, tRNA</a:t>
            </a:r>
          </a:p>
          <a:p>
            <a:pPr>
              <a:lnSpc>
                <a:spcPct val="150000"/>
              </a:lnSpc>
            </a:pPr>
            <a:endParaRPr lang="en-US" altLang="zh-CN" sz="3200" b="1" dirty="0">
              <a:solidFill>
                <a:schemeClr val="folHlink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3200" b="1" dirty="0">
              <a:solidFill>
                <a:schemeClr val="folHlink"/>
              </a:solidFill>
            </a:endParaRPr>
          </a:p>
          <a:p>
            <a:endParaRPr lang="en-US" altLang="zh-CN" sz="2800" b="1" dirty="0">
              <a:solidFill>
                <a:schemeClr val="folHlink"/>
              </a:solidFill>
            </a:endParaRPr>
          </a:p>
          <a:p>
            <a:endParaRPr lang="en-US" altLang="zh-CN" sz="2800" b="1" dirty="0">
              <a:solidFill>
                <a:schemeClr val="folHlink"/>
              </a:solidFill>
            </a:endParaRP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73082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>
            <a:extLst>
              <a:ext uri="{FF2B5EF4-FFF2-40B4-BE49-F238E27FC236}">
                <a16:creationId xmlns:a16="http://schemas.microsoft.com/office/drawing/2014/main" id="{CD62E98D-2042-447E-829C-C17DADFA15D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123728" y="2492896"/>
            <a:ext cx="5903913" cy="2312987"/>
          </a:xfrm>
        </p:spPr>
        <p:txBody>
          <a:bodyPr/>
          <a:lstStyle/>
          <a:p>
            <a:pPr eaLnBrk="1" hangingPunct="1"/>
            <a:r>
              <a:rPr lang="en-US" altLang="zh-CN" sz="4400" b="1" dirty="0">
                <a:solidFill>
                  <a:schemeClr val="folHlink"/>
                </a:solidFill>
              </a:rPr>
              <a:t>G1  RNA structure</a:t>
            </a:r>
          </a:p>
        </p:txBody>
      </p:sp>
    </p:spTree>
    <p:extLst>
      <p:ext uri="{BB962C8B-B14F-4D97-AF65-F5344CB8AC3E}">
        <p14:creationId xmlns:p14="http://schemas.microsoft.com/office/powerpoint/2010/main" val="3553350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>
            <a:extLst>
              <a:ext uri="{FF2B5EF4-FFF2-40B4-BE49-F238E27FC236}">
                <a16:creationId xmlns:a16="http://schemas.microsoft.com/office/drawing/2014/main" id="{58FF3486-A7CD-48EC-97A6-137CFA496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"/>
            <a:ext cx="8686800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folHlink"/>
                </a:solidFill>
              </a:rPr>
              <a:t>RNA molecules do not form simple, regular secondary structure but many form complex and unique three dimensional structures. (G1)</a:t>
            </a:r>
            <a:endParaRPr lang="en-US" altLang="zh-CN" sz="2400" dirty="0">
              <a:solidFill>
                <a:schemeClr val="folHlink"/>
              </a:solidFill>
            </a:endParaRPr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BE07BBB2-D4CB-48EC-9A9A-36517BFEE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700808"/>
            <a:ext cx="8610600" cy="428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b="1" dirty="0"/>
              <a:t>1.  Single strand RNA tends to take right-handed helical conformation.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zh-CN" b="1" dirty="0"/>
              <a:t>2.  Self-complementary sequences on a RNA molecule lead to specific structures.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zh-CN" b="1" dirty="0"/>
              <a:t>3. The standard base-pairing rules are followed (i.e., A with U, G with C).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zh-CN" b="1" dirty="0"/>
              <a:t>4. </a:t>
            </a:r>
            <a:r>
              <a:rPr lang="en-US" altLang="zh-CN" b="1" dirty="0" err="1"/>
              <a:t>Intrastrand</a:t>
            </a:r>
            <a:r>
              <a:rPr lang="en-US" altLang="zh-CN" b="1" dirty="0"/>
              <a:t> base pairing makes structures including internal loops, and hairpins (helical).</a:t>
            </a:r>
          </a:p>
        </p:txBody>
      </p:sp>
    </p:spTree>
    <p:extLst>
      <p:ext uri="{BB962C8B-B14F-4D97-AF65-F5344CB8AC3E}">
        <p14:creationId xmlns:p14="http://schemas.microsoft.com/office/powerpoint/2010/main" val="616493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>
            <a:extLst>
              <a:ext uri="{FF2B5EF4-FFF2-40B4-BE49-F238E27FC236}">
                <a16:creationId xmlns:a16="http://schemas.microsoft.com/office/drawing/2014/main" id="{C07C29DE-9CF7-47A1-AE23-B71E9624D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8600"/>
            <a:ext cx="88392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buClrTx/>
              <a:buSzTx/>
              <a:buFontTx/>
              <a:buNone/>
            </a:pPr>
            <a:r>
              <a:rPr lang="en-US" altLang="zh-CN" sz="2400" dirty="0"/>
              <a:t>	</a:t>
            </a:r>
            <a:r>
              <a:rPr lang="en-US" altLang="zh-CN" b="1" dirty="0"/>
              <a:t>	</a:t>
            </a:r>
          </a:p>
        </p:txBody>
      </p:sp>
      <p:pic>
        <p:nvPicPr>
          <p:cNvPr id="13315" name="Picture 3">
            <a:extLst>
              <a:ext uri="{FF2B5EF4-FFF2-40B4-BE49-F238E27FC236}">
                <a16:creationId xmlns:a16="http://schemas.microsoft.com/office/drawing/2014/main" id="{E1AA5708-1315-4AF3-894E-BA024D725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773238"/>
            <a:ext cx="8026400" cy="397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491762DB-CECA-446E-8DDE-C5FCADFBC6DE}"/>
              </a:ext>
            </a:extLst>
          </p:cNvPr>
          <p:cNvSpPr/>
          <p:nvPr/>
        </p:nvSpPr>
        <p:spPr>
          <a:xfrm>
            <a:off x="4595214" y="2087058"/>
            <a:ext cx="1200922" cy="76587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6EF1499-B777-4F7A-9B0C-3004A2B0FC06}"/>
              </a:ext>
            </a:extLst>
          </p:cNvPr>
          <p:cNvSpPr/>
          <p:nvPr/>
        </p:nvSpPr>
        <p:spPr>
          <a:xfrm>
            <a:off x="7238256" y="1759850"/>
            <a:ext cx="1321544" cy="51724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A524B8B-E58E-4CC2-B826-48BDCFED8D19}"/>
              </a:ext>
            </a:extLst>
          </p:cNvPr>
          <p:cNvSpPr/>
          <p:nvPr/>
        </p:nvSpPr>
        <p:spPr>
          <a:xfrm>
            <a:off x="2699792" y="2708920"/>
            <a:ext cx="1152128" cy="46805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7991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39523721-5DA7-4DB5-B780-92A2BDE4B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0" t="9000" r="9000" b="9000"/>
          <a:stretch>
            <a:fillRect/>
          </a:stretch>
        </p:blipFill>
        <p:spPr bwMode="auto">
          <a:xfrm>
            <a:off x="683568" y="404664"/>
            <a:ext cx="7346776" cy="551008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037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&#10;F27-13.GIF030                                                  00006E11Sumanas' Hard Drive            B4EBCDA7:">
            <a:extLst>
              <a:ext uri="{FF2B5EF4-FFF2-40B4-BE49-F238E27FC236}">
                <a16:creationId xmlns:a16="http://schemas.microsoft.com/office/drawing/2014/main" id="{0E7D912F-D0B6-46E7-B935-FFF63A15C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620688"/>
            <a:ext cx="4419600" cy="543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3C1D6BE-2948-4AC7-B535-5F77763E488B}"/>
              </a:ext>
            </a:extLst>
          </p:cNvPr>
          <p:cNvSpPr txBox="1"/>
          <p:nvPr/>
        </p:nvSpPr>
        <p:spPr>
          <a:xfrm>
            <a:off x="4716016" y="2492896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Stem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DC9BCD-7C06-4068-BD92-EE72A3F38411}"/>
              </a:ext>
            </a:extLst>
          </p:cNvPr>
          <p:cNvSpPr txBox="1"/>
          <p:nvPr/>
        </p:nvSpPr>
        <p:spPr>
          <a:xfrm>
            <a:off x="6444208" y="292494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loop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09B976-E861-4141-8E09-E6010220C277}"/>
              </a:ext>
            </a:extLst>
          </p:cNvPr>
          <p:cNvSpPr txBox="1"/>
          <p:nvPr/>
        </p:nvSpPr>
        <p:spPr>
          <a:xfrm>
            <a:off x="4824028" y="1233627"/>
            <a:ext cx="1152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Amino acid arm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4D533A-0B19-46C8-9952-FFD025299B45}"/>
              </a:ext>
            </a:extLst>
          </p:cNvPr>
          <p:cNvSpPr txBox="1"/>
          <p:nvPr/>
        </p:nvSpPr>
        <p:spPr>
          <a:xfrm>
            <a:off x="6228184" y="2420888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TψC</a:t>
            </a:r>
            <a:r>
              <a:rPr lang="en-US" altLang="zh-CN" dirty="0"/>
              <a:t> arm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D7CBB6-5A33-463A-BD4C-A133B9E7E5A4}"/>
              </a:ext>
            </a:extLst>
          </p:cNvPr>
          <p:cNvSpPr txBox="1"/>
          <p:nvPr/>
        </p:nvSpPr>
        <p:spPr>
          <a:xfrm>
            <a:off x="4958814" y="4267254"/>
            <a:ext cx="1296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anticodon arm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BA9075-A97C-485F-A6EC-8CEED77EA6F1}"/>
              </a:ext>
            </a:extLst>
          </p:cNvPr>
          <p:cNvSpPr txBox="1"/>
          <p:nvPr/>
        </p:nvSpPr>
        <p:spPr>
          <a:xfrm>
            <a:off x="2231740" y="2510340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 arm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88068F-BDA7-42E3-B2EB-1BE0D5A08103}"/>
              </a:ext>
            </a:extLst>
          </p:cNvPr>
          <p:cNvSpPr/>
          <p:nvPr/>
        </p:nvSpPr>
        <p:spPr>
          <a:xfrm>
            <a:off x="3114092" y="6190564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b="1" dirty="0">
                <a:solidFill>
                  <a:srgbClr val="C0504D">
                    <a:lumMod val="75000"/>
                  </a:srgbClr>
                </a:solidFill>
              </a:rPr>
              <a:t>cloverleaf in secondary</a:t>
            </a:r>
            <a:endParaRPr lang="zh-CN" altLang="en-US" sz="105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E53E5C3-0D1B-4294-BA98-D30C28322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736" y="3523846"/>
            <a:ext cx="2218719" cy="2218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715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  <p:bldP spid="8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C0357BF-4D3D-444C-8F93-67CF2D7798B0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683568" y="1772816"/>
            <a:ext cx="7848600" cy="1707232"/>
          </a:xfrm>
        </p:spPr>
        <p:txBody>
          <a:bodyPr anchor="b"/>
          <a:lstStyle/>
          <a:p>
            <a:pPr eaLnBrk="1" hangingPunct="1">
              <a:defRPr/>
            </a:pPr>
            <a:r>
              <a:rPr lang="en-US" altLang="zh-CN" sz="4800" b="1" kern="0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RNA Transcription in Prokaryotes  (G2)</a:t>
            </a:r>
          </a:p>
        </p:txBody>
      </p:sp>
    </p:spTree>
    <p:extLst>
      <p:ext uri="{BB962C8B-B14F-4D97-AF65-F5344CB8AC3E}">
        <p14:creationId xmlns:p14="http://schemas.microsoft.com/office/powerpoint/2010/main" val="1079544467"/>
      </p:ext>
    </p:extLst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63D994B-4357-4ACF-9787-0488B67A0FB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457200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b="1" kern="0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1. DNA and RNA syntheses are similar in some aspects but different in others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D203927-90E3-40EE-AF4E-C80D585A843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2743200"/>
            <a:ext cx="8839200" cy="3124200"/>
          </a:xfrm>
          <a:ln>
            <a:solidFill>
              <a:schemeClr val="bg1"/>
            </a:solidFill>
          </a:ln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kern="0" dirty="0">
                <a:solidFill>
                  <a:schemeClr val="folHlink"/>
                </a:solidFill>
              </a:rPr>
              <a:t>Similar in fundamental chemical mechanism:</a:t>
            </a:r>
          </a:p>
          <a:p>
            <a:pPr eaLnBrk="1" hangingPunct="1">
              <a:defRPr/>
            </a:pPr>
            <a:r>
              <a:rPr lang="en-US" altLang="zh-CN" kern="0" dirty="0"/>
              <a:t> both are guided by a </a:t>
            </a:r>
            <a:r>
              <a:rPr lang="en-US" altLang="zh-CN" b="1" kern="0" dirty="0">
                <a:solidFill>
                  <a:schemeClr val="folHlink"/>
                </a:solidFill>
              </a:rPr>
              <a:t>template</a:t>
            </a:r>
            <a:r>
              <a:rPr lang="en-US" altLang="zh-CN" kern="0" dirty="0"/>
              <a:t>; </a:t>
            </a:r>
          </a:p>
          <a:p>
            <a:pPr eaLnBrk="1" hangingPunct="1">
              <a:defRPr/>
            </a:pPr>
            <a:r>
              <a:rPr lang="en-US" altLang="zh-CN" kern="0" dirty="0"/>
              <a:t>both have the same </a:t>
            </a:r>
            <a:r>
              <a:rPr lang="en-US" altLang="zh-CN" kern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polarity in strand extension  (</a:t>
            </a:r>
            <a:r>
              <a:rPr lang="en-US" altLang="zh-CN" b="1" kern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5` to 3`)</a:t>
            </a:r>
            <a:r>
              <a:rPr lang="en-US" altLang="zh-CN" kern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</a:t>
            </a:r>
            <a:r>
              <a:rPr lang="en-US" altLang="zh-CN" kern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eaLnBrk="1" hangingPunct="1">
              <a:defRPr/>
            </a:pPr>
            <a:r>
              <a:rPr lang="en-US" altLang="zh-CN" kern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  <a:r>
              <a:rPr lang="en-US" altLang="zh-CN" kern="0" dirty="0"/>
              <a:t>oth use </a:t>
            </a:r>
            <a:r>
              <a:rPr lang="en-US" altLang="zh-CN" kern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triphosphate nucleotides</a:t>
            </a:r>
            <a:r>
              <a:rPr lang="en-US" altLang="zh-CN" kern="0" dirty="0"/>
              <a:t> (</a:t>
            </a:r>
            <a:r>
              <a:rPr lang="en-US" altLang="zh-CN" b="1" kern="0" dirty="0">
                <a:solidFill>
                  <a:schemeClr val="folHlink"/>
                </a:solidFill>
              </a:rPr>
              <a:t>dNTP or NTP</a:t>
            </a:r>
            <a:r>
              <a:rPr lang="en-US" altLang="zh-CN" kern="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160821774"/>
      </p:ext>
    </p:extLst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>
            <a:extLst>
              <a:ext uri="{FF2B5EF4-FFF2-40B4-BE49-F238E27FC236}">
                <a16:creationId xmlns:a16="http://schemas.microsoft.com/office/drawing/2014/main" id="{B9BC887D-D092-4AA3-8D54-F6E676C72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33400"/>
            <a:ext cx="8229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folHlink"/>
                </a:solidFill>
              </a:rPr>
              <a:t>Different aspects:</a:t>
            </a:r>
            <a:r>
              <a:rPr lang="en-US" altLang="zh-CN"/>
              <a:t> </a:t>
            </a:r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D43CB106-EC46-47B3-B85E-9968E44CF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524000"/>
            <a:ext cx="8640763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 sz="3500" dirty="0">
                <a:latin typeface="Times New Roman" pitchFamily="18" charset="0"/>
              </a:rPr>
              <a:t>Needs </a:t>
            </a:r>
            <a:r>
              <a:rPr kumimoji="1" lang="en-US" altLang="zh-CN" sz="3500" b="1" dirty="0">
                <a:solidFill>
                  <a:schemeClr val="folHlink"/>
                </a:solidFill>
                <a:latin typeface="Times New Roman" pitchFamily="18" charset="0"/>
              </a:rPr>
              <a:t>no </a:t>
            </a:r>
            <a:r>
              <a:rPr kumimoji="1" lang="en-US" altLang="zh-CN" sz="35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primers</a:t>
            </a:r>
            <a:r>
              <a:rPr kumimoji="1" lang="en-US" altLang="zh-CN" sz="3500" dirty="0">
                <a:latin typeface="Times New Roman" pitchFamily="18" charset="0"/>
              </a:rPr>
              <a:t>;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 sz="3500" dirty="0">
                <a:latin typeface="Times New Roman" pitchFamily="18" charset="0"/>
              </a:rPr>
              <a:t>Only involves a </a:t>
            </a:r>
            <a:r>
              <a:rPr kumimoji="1" lang="en-US" altLang="zh-CN" sz="3500" b="1" dirty="0">
                <a:solidFill>
                  <a:schemeClr val="folHlink"/>
                </a:solidFill>
                <a:latin typeface="Times New Roman" pitchFamily="18" charset="0"/>
              </a:rPr>
              <a:t>short segment</a:t>
            </a:r>
            <a:r>
              <a:rPr kumimoji="1" lang="en-US" altLang="zh-CN" sz="3500" dirty="0">
                <a:latin typeface="Times New Roman" pitchFamily="18" charset="0"/>
              </a:rPr>
              <a:t> of  a large DNA molecule;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 sz="3500" dirty="0">
                <a:latin typeface="Times New Roman" pitchFamily="18" charset="0"/>
              </a:rPr>
              <a:t>Uses only </a:t>
            </a:r>
            <a:r>
              <a:rPr kumimoji="1" lang="en-US" altLang="zh-CN" sz="3500" b="1" dirty="0">
                <a:solidFill>
                  <a:schemeClr val="folHlink"/>
                </a:solidFill>
                <a:latin typeface="Times New Roman" pitchFamily="18" charset="0"/>
              </a:rPr>
              <a:t>one</a:t>
            </a:r>
            <a:r>
              <a:rPr kumimoji="1" lang="en-US" altLang="zh-CN" sz="3500" dirty="0">
                <a:latin typeface="Times New Roman" pitchFamily="18" charset="0"/>
              </a:rPr>
              <a:t> of the two complementary DNA strands as the template strand;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 sz="3500" dirty="0">
                <a:latin typeface="Times New Roman" pitchFamily="18" charset="0"/>
              </a:rPr>
              <a:t>Has </a:t>
            </a:r>
            <a:r>
              <a:rPr kumimoji="1" lang="en-US" altLang="zh-CN" sz="35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no proofreading</a:t>
            </a:r>
            <a:r>
              <a:rPr kumimoji="1" lang="en-US" altLang="zh-CN" sz="35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en-US" altLang="zh-CN" sz="3500" dirty="0">
                <a:latin typeface="Times New Roman" pitchFamily="18" charset="0"/>
              </a:rPr>
              <a:t>activities;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 sz="3500" dirty="0">
                <a:latin typeface="Times New Roman" pitchFamily="18" charset="0"/>
              </a:rPr>
              <a:t>Be subject to </a:t>
            </a:r>
            <a:r>
              <a:rPr kumimoji="1" lang="en-US" altLang="zh-CN" sz="3500" b="1" dirty="0">
                <a:solidFill>
                  <a:schemeClr val="folHlink"/>
                </a:solidFill>
                <a:latin typeface="Times New Roman" pitchFamily="18" charset="0"/>
              </a:rPr>
              <a:t>great variation</a:t>
            </a:r>
            <a:r>
              <a:rPr kumimoji="1" lang="en-US" altLang="zh-CN" sz="3500" dirty="0">
                <a:latin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4471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DB07821-964F-4591-A0CE-8EE99F63BFB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4800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b="1" kern="0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2. The multimeric RNA polymerase in </a:t>
            </a:r>
            <a:r>
              <a:rPr lang="en-US" altLang="zh-CN" sz="4000" b="1" i="1" kern="0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E.coli</a:t>
            </a:r>
            <a:r>
              <a:rPr lang="en-US" altLang="zh-CN" sz="4000" b="1" kern="0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has multiple functions</a:t>
            </a:r>
            <a:endParaRPr lang="en-US" altLang="zh-CN" sz="4000" kern="0" dirty="0">
              <a:solidFill>
                <a:srgbClr val="7030A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D9538A3-3CB4-43A4-8A59-8F5D6900E7C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828800"/>
            <a:ext cx="88392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CN" sz="2800" kern="0" dirty="0"/>
              <a:t>The holoenzyme consists of five types </a:t>
            </a:r>
            <a:r>
              <a:rPr lang="en-US" altLang="zh-CN" sz="2800" kern="0" dirty="0">
                <a:solidFill>
                  <a:srgbClr val="FF0000"/>
                </a:solidFill>
              </a:rPr>
              <a:t>(</a:t>
            </a:r>
            <a:r>
              <a:rPr lang="zh-CN" altLang="en-US" sz="2800" kern="0" dirty="0">
                <a:solidFill>
                  <a:srgbClr val="FF0000"/>
                </a:solidFill>
              </a:rPr>
              <a:t>五种，六个）</a:t>
            </a:r>
            <a:r>
              <a:rPr lang="en-US" altLang="zh-CN" sz="2800" kern="0" dirty="0"/>
              <a:t>of subunits (</a:t>
            </a:r>
            <a:r>
              <a:rPr lang="en-US" altLang="zh-CN" sz="2800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a</a:t>
            </a:r>
            <a:r>
              <a:rPr lang="en-US" altLang="zh-CN" sz="2800" kern="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altLang="zh-CN" sz="2800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bb</a:t>
            </a:r>
            <a:r>
              <a:rPr lang="en-US" altLang="zh-CN" sz="2800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’</a:t>
            </a:r>
            <a:r>
              <a:rPr lang="en-US" altLang="zh-CN" sz="2800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</a:t>
            </a:r>
            <a:r>
              <a:rPr lang="en-US" altLang="zh-CN" sz="2800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 s</a:t>
            </a:r>
            <a:r>
              <a:rPr lang="en-US" altLang="zh-CN" sz="2800" kern="0" dirty="0"/>
              <a:t>)and its is used to synthesize all the RNA molecules </a:t>
            </a:r>
            <a:r>
              <a:rPr lang="en-US" altLang="zh-CN" sz="2800" i="1" kern="0" dirty="0"/>
              <a:t>in E. coli</a:t>
            </a:r>
            <a:r>
              <a:rPr lang="en-US" altLang="zh-CN" sz="2800" kern="0" dirty="0"/>
              <a:t>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800" kern="0" dirty="0"/>
              <a:t>The multiple functions include: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kern="0" dirty="0"/>
              <a:t>searches for initiation sites on the DNA molecule and unwinds a short stretch of DNA (</a:t>
            </a:r>
            <a:r>
              <a:rPr lang="en-US" altLang="zh-CN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initiation</a:t>
            </a:r>
            <a:r>
              <a:rPr lang="en-US" altLang="zh-CN" kern="0" dirty="0"/>
              <a:t>);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kern="0" dirty="0"/>
              <a:t>selects the </a:t>
            </a:r>
            <a:r>
              <a:rPr lang="en-US" altLang="zh-CN" b="1" kern="0" dirty="0"/>
              <a:t>correct</a:t>
            </a:r>
            <a:r>
              <a:rPr lang="en-US" altLang="zh-CN" kern="0" dirty="0"/>
              <a:t> NTP </a:t>
            </a:r>
            <a:r>
              <a:rPr lang="en-US" altLang="zh-CN" b="1" kern="0" dirty="0"/>
              <a:t>and</a:t>
            </a:r>
            <a:r>
              <a:rPr lang="en-US" altLang="zh-CN" kern="0" dirty="0"/>
              <a:t> catalyzes the formation of phosphodiester bonds (</a:t>
            </a:r>
            <a:r>
              <a:rPr lang="en-US" altLang="zh-CN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elongation</a:t>
            </a:r>
            <a:r>
              <a:rPr lang="en-US" altLang="zh-CN" kern="0" dirty="0"/>
              <a:t>);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kern="0" dirty="0"/>
              <a:t>detects termination signals for RNA synthesis (</a:t>
            </a:r>
            <a:r>
              <a:rPr lang="en-US" altLang="zh-CN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termination</a:t>
            </a:r>
            <a:r>
              <a:rPr lang="en-US" altLang="zh-CN" kern="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389217598"/>
      </p:ext>
    </p:extLst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18">
            <a:extLst>
              <a:ext uri="{FF2B5EF4-FFF2-40B4-BE49-F238E27FC236}">
                <a16:creationId xmlns:a16="http://schemas.microsoft.com/office/drawing/2014/main" id="{98B5D997-588A-46E6-A67C-653675C21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95" y="116632"/>
            <a:ext cx="8658993" cy="4932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72EB513A-F487-4890-BCE1-72481B3EC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68" y="5157192"/>
            <a:ext cx="8561388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en-US" altLang="zh-CN" sz="3100" dirty="0">
                <a:latin typeface="Times New Roman" pitchFamily="18" charset="0"/>
              </a:rPr>
              <a:t>The </a:t>
            </a:r>
            <a:r>
              <a:rPr kumimoji="1" lang="en-US" altLang="zh-CN" sz="3100" i="1" dirty="0">
                <a:latin typeface="Times New Roman" pitchFamily="18" charset="0"/>
              </a:rPr>
              <a:t>E. coli</a:t>
            </a:r>
            <a:r>
              <a:rPr kumimoji="1" lang="en-US" altLang="zh-CN" sz="3100" dirty="0">
                <a:latin typeface="Times New Roman" pitchFamily="18" charset="0"/>
              </a:rPr>
              <a:t> RNA polymerase holoenzyme consists of</a:t>
            </a:r>
          </a:p>
          <a:p>
            <a:pPr eaLnBrk="1" hangingPunct="1">
              <a:defRPr/>
            </a:pPr>
            <a:r>
              <a:rPr kumimoji="1" lang="en-US" altLang="zh-CN" sz="3100" dirty="0">
                <a:latin typeface="Times New Roman" pitchFamily="18" charset="0"/>
              </a:rPr>
              <a:t>six subunits: </a:t>
            </a:r>
            <a:r>
              <a:rPr kumimoji="1" lang="en-US" altLang="zh-CN" sz="31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a</a:t>
            </a:r>
            <a:r>
              <a:rPr kumimoji="1" lang="en-US" altLang="zh-CN" sz="3100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2</a:t>
            </a:r>
            <a:r>
              <a:rPr kumimoji="1" lang="en-US" altLang="zh-CN" sz="31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bb</a:t>
            </a:r>
            <a:r>
              <a:rPr kumimoji="1" lang="en-US" altLang="zh-CN" sz="31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’</a:t>
            </a:r>
            <a:r>
              <a:rPr kumimoji="1" lang="en-US" altLang="zh-CN" sz="31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</a:t>
            </a:r>
            <a:r>
              <a:rPr kumimoji="1" lang="en-US" altLang="zh-CN" sz="31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 s.</a:t>
            </a:r>
            <a:endParaRPr kumimoji="1" lang="en-US" altLang="zh-CN" sz="3100" dirty="0">
              <a:latin typeface="Times New Roman" pitchFamily="18" charset="0"/>
            </a:endParaRP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B2915AF2-BBF1-4A84-95DE-868184456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6032" y="650032"/>
            <a:ext cx="4343400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100">
                <a:solidFill>
                  <a:srgbClr val="C00000"/>
                </a:solidFill>
              </a:rPr>
              <a:t>Possible catalytic subunits</a:t>
            </a:r>
          </a:p>
        </p:txBody>
      </p:sp>
      <p:sp>
        <p:nvSpPr>
          <p:cNvPr id="20485" name="AutoShape 5">
            <a:extLst>
              <a:ext uri="{FF2B5EF4-FFF2-40B4-BE49-F238E27FC236}">
                <a16:creationId xmlns:a16="http://schemas.microsoft.com/office/drawing/2014/main" id="{2E48B13C-00F2-4595-92AB-1D20F5236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5232" y="1317850"/>
            <a:ext cx="228600" cy="746125"/>
          </a:xfrm>
          <a:prstGeom prst="downArrow">
            <a:avLst>
              <a:gd name="adj1" fmla="val 50000"/>
              <a:gd name="adj2" fmla="val 1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 i="1"/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61D322FF-DD40-4239-9743-9AF73F692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032" y="4307632"/>
            <a:ext cx="14859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800000"/>
                </a:solidFill>
              </a:rPr>
              <a:t>Promoter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800000"/>
                </a:solidFill>
              </a:rPr>
              <a:t>specificity</a:t>
            </a:r>
          </a:p>
        </p:txBody>
      </p:sp>
      <p:sp>
        <p:nvSpPr>
          <p:cNvPr id="20487" name="Line 7">
            <a:extLst>
              <a:ext uri="{FF2B5EF4-FFF2-40B4-BE49-F238E27FC236}">
                <a16:creationId xmlns:a16="http://schemas.microsoft.com/office/drawing/2014/main" id="{0CA3942D-BE88-4602-9B2B-6137E99179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50232" y="4536232"/>
            <a:ext cx="1524000" cy="15240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510A78C7-9FCF-49EF-BB53-FE908AD43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32" y="802432"/>
            <a:ext cx="2565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en-US" altLang="zh-C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promoter recognition,</a:t>
            </a:r>
          </a:p>
          <a:p>
            <a:pPr eaLnBrk="1" hangingPunct="1">
              <a:defRPr/>
            </a:pPr>
            <a:r>
              <a:rPr kumimoji="1" lang="en-US" altLang="zh-C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activator binding</a:t>
            </a:r>
          </a:p>
        </p:txBody>
      </p:sp>
      <p:sp>
        <p:nvSpPr>
          <p:cNvPr id="1037" name="Rectangle 13">
            <a:extLst>
              <a:ext uri="{FF2B5EF4-FFF2-40B4-BE49-F238E27FC236}">
                <a16:creationId xmlns:a16="http://schemas.microsoft.com/office/drawing/2014/main" id="{71F07E71-A432-41CA-BE28-AC014EDAA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8232" y="3155107"/>
            <a:ext cx="10080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en-US" altLang="zh-CN" sz="1600" b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36.5 kDa</a:t>
            </a:r>
          </a:p>
        </p:txBody>
      </p:sp>
      <p:sp>
        <p:nvSpPr>
          <p:cNvPr id="1039" name="Rectangle 15">
            <a:extLst>
              <a:ext uri="{FF2B5EF4-FFF2-40B4-BE49-F238E27FC236}">
                <a16:creationId xmlns:a16="http://schemas.microsoft.com/office/drawing/2014/main" id="{4006A69A-7E6F-4403-9874-AEADDA5B9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032" y="2783632"/>
            <a:ext cx="9747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en-US" altLang="zh-CN" sz="1600" b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151  155</a:t>
            </a:r>
          </a:p>
        </p:txBody>
      </p:sp>
      <p:sp>
        <p:nvSpPr>
          <p:cNvPr id="1040" name="Rectangle 16">
            <a:extLst>
              <a:ext uri="{FF2B5EF4-FFF2-40B4-BE49-F238E27FC236}">
                <a16:creationId xmlns:a16="http://schemas.microsoft.com/office/drawing/2014/main" id="{FF71609F-2DFF-419C-B2B3-81FAD7E5E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4832" y="2707432"/>
            <a:ext cx="838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en-US" altLang="zh-CN" sz="1600" b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11 kDa</a:t>
            </a:r>
          </a:p>
        </p:txBody>
      </p:sp>
      <p:sp>
        <p:nvSpPr>
          <p:cNvPr id="1041" name="Rectangle 17">
            <a:extLst>
              <a:ext uri="{FF2B5EF4-FFF2-40B4-BE49-F238E27FC236}">
                <a16:creationId xmlns:a16="http://schemas.microsoft.com/office/drawing/2014/main" id="{D43BE93F-6E68-4041-897A-2F343E2D3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832" y="4383832"/>
            <a:ext cx="1268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en-US" altLang="zh-CN" sz="1600" b="1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(32-90 kDa)</a:t>
            </a:r>
          </a:p>
        </p:txBody>
      </p:sp>
    </p:spTree>
    <p:extLst>
      <p:ext uri="{BB962C8B-B14F-4D97-AF65-F5344CB8AC3E}">
        <p14:creationId xmlns:p14="http://schemas.microsoft.com/office/powerpoint/2010/main" val="152930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E368C3B-91CD-4CAC-A2CE-35AF6359562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r="48025"/>
          <a:stretch/>
        </p:blipFill>
        <p:spPr>
          <a:xfrm>
            <a:off x="2026272" y="985701"/>
            <a:ext cx="4752528" cy="410527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366987B-1165-4A54-9262-E389F201B9E5}"/>
              </a:ext>
            </a:extLst>
          </p:cNvPr>
          <p:cNvSpPr/>
          <p:nvPr/>
        </p:nvSpPr>
        <p:spPr>
          <a:xfrm>
            <a:off x="1419027" y="5169722"/>
            <a:ext cx="29835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five core subunits</a:t>
            </a:r>
            <a:endParaRPr lang="zh-CN" altLang="en-US" sz="2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A411BDE-8FC7-4093-9FF4-1D4E2D8B7EE5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355976" y="5248468"/>
            <a:ext cx="3368997" cy="365728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93BEEE4-B70E-442A-9A1C-9069787980F0}"/>
              </a:ext>
            </a:extLst>
          </p:cNvPr>
          <p:cNvCxnSpPr/>
          <p:nvPr/>
        </p:nvCxnSpPr>
        <p:spPr>
          <a:xfrm>
            <a:off x="2267744" y="5733256"/>
            <a:ext cx="194421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7CA955D4-F38A-45EE-A814-B4427EF4B4E9}"/>
              </a:ext>
            </a:extLst>
          </p:cNvPr>
          <p:cNvSpPr/>
          <p:nvPr/>
        </p:nvSpPr>
        <p:spPr>
          <a:xfrm>
            <a:off x="2915816" y="404664"/>
            <a:ext cx="298030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dirty="0">
                <a:solidFill>
                  <a:schemeClr val="folHlink"/>
                </a:solidFill>
                <a:sym typeface="Symbol" panose="05050102010706020507" pitchFamily="18" charset="2"/>
              </a:rPr>
              <a:t>core enzyme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143035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1026">
            <a:extLst>
              <a:ext uri="{FF2B5EF4-FFF2-40B4-BE49-F238E27FC236}">
                <a16:creationId xmlns:a16="http://schemas.microsoft.com/office/drawing/2014/main" id="{1498676A-68CA-46A5-B64F-CB87336E1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0" t="9000" r="9000" b="9000"/>
          <a:stretch>
            <a:fillRect/>
          </a:stretch>
        </p:blipFill>
        <p:spPr bwMode="auto">
          <a:xfrm>
            <a:off x="755576" y="332656"/>
            <a:ext cx="7355160" cy="551637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1421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>
            <a:extLst>
              <a:ext uri="{FF2B5EF4-FFF2-40B4-BE49-F238E27FC236}">
                <a16:creationId xmlns:a16="http://schemas.microsoft.com/office/drawing/2014/main" id="{A807AD9D-B508-41F0-8A29-904605D47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t="10001" r="10001" b="10001"/>
          <a:stretch>
            <a:fillRect/>
          </a:stretch>
        </p:blipFill>
        <p:spPr bwMode="auto">
          <a:xfrm>
            <a:off x="683568" y="548680"/>
            <a:ext cx="7410400" cy="55578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9417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CA014669-5220-49F3-906E-1B498D5C0B3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29540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CN" sz="4000" b="1" dirty="0">
                <a:solidFill>
                  <a:srgbClr val="7030A0"/>
                </a:solidFill>
              </a:rPr>
              <a:t>3. RNA synthesis occurs in a “moving” transcription bubble on the DNA template</a:t>
            </a:r>
          </a:p>
        </p:txBody>
      </p:sp>
    </p:spTree>
    <p:extLst>
      <p:ext uri="{BB962C8B-B14F-4D97-AF65-F5344CB8AC3E}">
        <p14:creationId xmlns:p14="http://schemas.microsoft.com/office/powerpoint/2010/main" val="1157525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5">
            <a:extLst>
              <a:ext uri="{FF2B5EF4-FFF2-40B4-BE49-F238E27FC236}">
                <a16:creationId xmlns:a16="http://schemas.microsoft.com/office/drawing/2014/main" id="{DE24370C-FC48-4540-AA01-8FF736BC7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4800"/>
            <a:ext cx="8610600" cy="602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8305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3">
            <a:extLst>
              <a:ext uri="{FF2B5EF4-FFF2-40B4-BE49-F238E27FC236}">
                <a16:creationId xmlns:a16="http://schemas.microsoft.com/office/drawing/2014/main" id="{D8A65167-F15C-493B-A6F9-AA91458EA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"/>
            <a:ext cx="8915400" cy="530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4888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8D44877-CAF0-48FD-9D4B-8DFC44844A9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6632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b="1" kern="0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4. RNA polymerase recognizes specific promoter sequences on DNA to initiate transcription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BEF85D5F-D7B3-42B5-BC9C-85BCAD7133F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981200"/>
            <a:ext cx="9144000" cy="4114800"/>
          </a:xfrm>
          <a:ln>
            <a:solidFill>
              <a:schemeClr val="bg1"/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en-US" altLang="zh-CN" sz="3500" b="1" kern="0" dirty="0"/>
              <a:t>Promoter</a:t>
            </a:r>
            <a:r>
              <a:rPr lang="en-US" altLang="zh-CN" sz="3500" kern="0" dirty="0"/>
              <a:t> sequences are located adjacent to genes.</a:t>
            </a:r>
          </a:p>
          <a:p>
            <a:pPr eaLnBrk="1" hangingPunct="1">
              <a:defRPr/>
            </a:pPr>
            <a:r>
              <a:rPr lang="en-US" altLang="zh-CN" sz="3500" kern="0" dirty="0"/>
              <a:t>Promoters have two </a:t>
            </a:r>
            <a:r>
              <a:rPr lang="en-US" altLang="zh-CN" sz="3500" b="1" kern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consensus sequences</a:t>
            </a:r>
            <a:r>
              <a:rPr lang="en-US" altLang="zh-CN" sz="3500" b="1" kern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3500" kern="0" dirty="0"/>
              <a:t>centered at</a:t>
            </a:r>
            <a:r>
              <a:rPr lang="en-US" altLang="zh-CN" sz="3500" b="1" kern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3500" kern="0" dirty="0"/>
              <a:t>–10 and –35 positions (the first residue of the RNA is given +1).</a:t>
            </a:r>
          </a:p>
        </p:txBody>
      </p:sp>
      <p:pic>
        <p:nvPicPr>
          <p:cNvPr id="26628" name="Picture 6">
            <a:extLst>
              <a:ext uri="{FF2B5EF4-FFF2-40B4-BE49-F238E27FC236}">
                <a16:creationId xmlns:a16="http://schemas.microsoft.com/office/drawing/2014/main" id="{A92A9F6B-C36D-481E-8EF0-36CB3F33B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3" b="82857"/>
          <a:stretch>
            <a:fillRect/>
          </a:stretch>
        </p:blipFill>
        <p:spPr bwMode="auto">
          <a:xfrm>
            <a:off x="195672" y="4941168"/>
            <a:ext cx="8752656" cy="76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DD226A0-6B00-4547-90C0-D1A67DC0D4BF}"/>
              </a:ext>
            </a:extLst>
          </p:cNvPr>
          <p:cNvSpPr txBox="1"/>
          <p:nvPr/>
        </p:nvSpPr>
        <p:spPr>
          <a:xfrm>
            <a:off x="5657891" y="4242158"/>
            <a:ext cx="36562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TSS</a:t>
            </a:r>
          </a:p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Transcription start site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067F90D2-46CA-4178-85D8-28FD3ECC5DC4}"/>
              </a:ext>
            </a:extLst>
          </p:cNvPr>
          <p:cNvCxnSpPr/>
          <p:nvPr/>
        </p:nvCxnSpPr>
        <p:spPr>
          <a:xfrm flipV="1">
            <a:off x="7524328" y="5435652"/>
            <a:ext cx="0" cy="54529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079643"/>
      </p:ext>
    </p:extLst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>
            <a:extLst>
              <a:ext uri="{FF2B5EF4-FFF2-40B4-BE49-F238E27FC236}">
                <a16:creationId xmlns:a16="http://schemas.microsoft.com/office/drawing/2014/main" id="{13A6D045-AEF6-4366-AFDC-07E446FAA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0" t="9000" r="9000" b="9000"/>
          <a:stretch>
            <a:fillRect/>
          </a:stretch>
        </p:blipFill>
        <p:spPr bwMode="auto">
          <a:xfrm>
            <a:off x="755576" y="332656"/>
            <a:ext cx="7630616" cy="572296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65CA73B-5D9B-4FDB-B480-32E6B7654741}"/>
              </a:ext>
            </a:extLst>
          </p:cNvPr>
          <p:cNvSpPr txBox="1"/>
          <p:nvPr/>
        </p:nvSpPr>
        <p:spPr>
          <a:xfrm>
            <a:off x="6588224" y="1480011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TSS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285179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9">
            <a:extLst>
              <a:ext uri="{FF2B5EF4-FFF2-40B4-BE49-F238E27FC236}">
                <a16:creationId xmlns:a16="http://schemas.microsoft.com/office/drawing/2014/main" id="{B7909EA7-FB7E-4960-8F63-03C1730FA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0"/>
            <a:ext cx="9144000" cy="405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Rectangle 3">
            <a:extLst>
              <a:ext uri="{FF2B5EF4-FFF2-40B4-BE49-F238E27FC236}">
                <a16:creationId xmlns:a16="http://schemas.microsoft.com/office/drawing/2014/main" id="{7743DC0C-E7D1-4EFD-B061-9E6C1A33B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4725144"/>
            <a:ext cx="9144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solidFill>
                  <a:schemeClr val="folHlink"/>
                </a:solidFill>
              </a:rPr>
              <a:t> the –10 sequence, TATAAT  (the </a:t>
            </a:r>
            <a:r>
              <a:rPr lang="en-US" altLang="zh-CN" sz="3600" dirty="0" err="1">
                <a:solidFill>
                  <a:schemeClr val="folHlink"/>
                </a:solidFill>
              </a:rPr>
              <a:t>Pribnow</a:t>
            </a:r>
            <a:r>
              <a:rPr lang="en-US" altLang="zh-CN" sz="3600" dirty="0">
                <a:solidFill>
                  <a:schemeClr val="folHlink"/>
                </a:solidFill>
              </a:rPr>
              <a:t> box)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solidFill>
                  <a:schemeClr val="folHlink"/>
                </a:solidFill>
              </a:rPr>
              <a:t> the –35 consensus region, TTGACA</a:t>
            </a:r>
          </a:p>
        </p:txBody>
      </p:sp>
    </p:spTree>
    <p:extLst>
      <p:ext uri="{BB962C8B-B14F-4D97-AF65-F5344CB8AC3E}">
        <p14:creationId xmlns:p14="http://schemas.microsoft.com/office/powerpoint/2010/main" val="181095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>
            <a:extLst>
              <a:ext uri="{FF2B5EF4-FFF2-40B4-BE49-F238E27FC236}">
                <a16:creationId xmlns:a16="http://schemas.microsoft.com/office/drawing/2014/main" id="{B26E7206-B6C6-4BD5-ADAD-F7B611128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0" t="9000" r="9000" b="9000"/>
          <a:stretch>
            <a:fillRect/>
          </a:stretch>
        </p:blipFill>
        <p:spPr bwMode="auto">
          <a:xfrm>
            <a:off x="539552" y="260648"/>
            <a:ext cx="7783016" cy="583726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0169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65EFC4A0-05E4-4ABE-8E7C-971C7B68FBB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5496" y="188640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b="1" kern="0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5. The </a:t>
            </a:r>
            <a:r>
              <a:rPr lang="en-US" altLang="zh-CN" sz="4000" b="1" kern="0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s</a:t>
            </a:r>
            <a:r>
              <a:rPr lang="en-US" altLang="zh-CN" sz="4000" b="1" kern="0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subunits enable the </a:t>
            </a:r>
            <a:r>
              <a:rPr lang="en-US" altLang="zh-CN" sz="4000" b="1" i="1" kern="0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E.coli</a:t>
            </a:r>
            <a:r>
              <a:rPr lang="en-US" altLang="zh-CN" sz="4000" b="1" kern="0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RNA polymerase to recognize specific promoter sites</a:t>
            </a:r>
            <a:endParaRPr lang="en-US" altLang="zh-CN" sz="4000" kern="0" dirty="0">
              <a:solidFill>
                <a:srgbClr val="7030A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A48AF361-FC78-452C-A8E4-F29816E83C6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2286000"/>
            <a:ext cx="9144000" cy="4114800"/>
          </a:xfrm>
        </p:spPr>
        <p:txBody>
          <a:bodyPr/>
          <a:lstStyle/>
          <a:p>
            <a:pPr eaLnBrk="1" hangingPunct="1"/>
            <a:r>
              <a:rPr lang="en-US" altLang="zh-CN" sz="3500" dirty="0"/>
              <a:t>The RNA polymerase without the </a:t>
            </a:r>
            <a:r>
              <a:rPr lang="en-US" altLang="zh-CN" sz="3500" dirty="0">
                <a:latin typeface="Symbol" panose="05050102010706020507" pitchFamily="18" charset="2"/>
              </a:rPr>
              <a:t>s</a:t>
            </a:r>
            <a:r>
              <a:rPr lang="en-US" altLang="zh-CN" sz="3500" dirty="0"/>
              <a:t> subunit (i.e., the </a:t>
            </a:r>
            <a:r>
              <a:rPr lang="en-US" altLang="zh-CN" sz="3500" dirty="0">
                <a:latin typeface="Symbol" panose="05050102010706020507" pitchFamily="18" charset="2"/>
              </a:rPr>
              <a:t>a</a:t>
            </a:r>
            <a:r>
              <a:rPr lang="en-US" altLang="zh-CN" sz="3500" baseline="-25000" dirty="0"/>
              <a:t>2</a:t>
            </a:r>
            <a:r>
              <a:rPr lang="en-US" altLang="zh-CN" sz="3500" dirty="0">
                <a:latin typeface="Symbol" panose="05050102010706020507" pitchFamily="18" charset="2"/>
              </a:rPr>
              <a:t>bb</a:t>
            </a:r>
            <a:r>
              <a:rPr lang="en-US" altLang="zh-CN" sz="3500" dirty="0"/>
              <a:t>’</a:t>
            </a:r>
            <a:r>
              <a:rPr lang="en-US" altLang="zh-CN" sz="3500" dirty="0">
                <a:sym typeface="Symbol" panose="05050102010706020507" pitchFamily="18" charset="2"/>
              </a:rPr>
              <a:t>, </a:t>
            </a:r>
            <a:r>
              <a:rPr lang="en-US" altLang="zh-CN" sz="3500" b="1" dirty="0">
                <a:solidFill>
                  <a:schemeClr val="folHlink"/>
                </a:solidFill>
                <a:sym typeface="Symbol" panose="05050102010706020507" pitchFamily="18" charset="2"/>
              </a:rPr>
              <a:t>core enzyme</a:t>
            </a:r>
            <a:r>
              <a:rPr lang="en-US" altLang="zh-CN" sz="3500" dirty="0"/>
              <a:t>) is unable to start transcription at a promoter.</a:t>
            </a:r>
          </a:p>
          <a:p>
            <a:pPr eaLnBrk="1" hangingPunct="1"/>
            <a:r>
              <a:rPr lang="en-US" altLang="zh-CN" sz="3500" dirty="0"/>
              <a:t>Promoter vary up to 1000-fold in their efficiency of initiation which depends on the exact sequence of the key promoter elements as well as flanking sequences.</a:t>
            </a:r>
          </a:p>
        </p:txBody>
      </p:sp>
    </p:spTree>
    <p:extLst>
      <p:ext uri="{BB962C8B-B14F-4D97-AF65-F5344CB8AC3E}">
        <p14:creationId xmlns:p14="http://schemas.microsoft.com/office/powerpoint/2010/main" val="3705853024"/>
      </p:ext>
    </p:extLst>
  </p:cSld>
  <p:clrMapOvr>
    <a:masterClrMapping/>
  </p:clrMapOvr>
  <p:transition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DB07821-964F-4591-A0CE-8EE99F63BFB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4800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b="1" kern="0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Three stages of transcription</a:t>
            </a:r>
            <a:endParaRPr lang="en-US" altLang="zh-CN" sz="4000" kern="0" dirty="0">
              <a:solidFill>
                <a:srgbClr val="7030A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D9538A3-3CB4-43A4-8A59-8F5D6900E7C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339752" y="1443318"/>
            <a:ext cx="6499448" cy="4114800"/>
          </a:xfrm>
        </p:spPr>
        <p:txBody>
          <a:bodyPr/>
          <a:lstStyle/>
          <a:p>
            <a:pPr lvl="1" eaLnBrk="1" hangingPunct="1">
              <a:lnSpc>
                <a:spcPct val="200000"/>
              </a:lnSpc>
              <a:defRPr/>
            </a:pPr>
            <a:r>
              <a:rPr lang="en-US" altLang="zh-CN" sz="32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Initiation </a:t>
            </a:r>
          </a:p>
          <a:p>
            <a:pPr lvl="1" eaLnBrk="1" hangingPunct="1">
              <a:lnSpc>
                <a:spcPct val="200000"/>
              </a:lnSpc>
              <a:defRPr/>
            </a:pPr>
            <a:r>
              <a:rPr lang="en-US" altLang="zh-CN" sz="32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Elongation </a:t>
            </a:r>
          </a:p>
          <a:p>
            <a:pPr lvl="1" eaLnBrk="1" hangingPunct="1">
              <a:lnSpc>
                <a:spcPct val="200000"/>
              </a:lnSpc>
              <a:defRPr/>
            </a:pPr>
            <a:r>
              <a:rPr lang="en-US" altLang="zh-CN" sz="32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Termination</a:t>
            </a:r>
            <a:endParaRPr lang="en-US" altLang="zh-CN" sz="3200" kern="0" dirty="0"/>
          </a:p>
        </p:txBody>
      </p:sp>
    </p:spTree>
    <p:extLst>
      <p:ext uri="{BB962C8B-B14F-4D97-AF65-F5344CB8AC3E}">
        <p14:creationId xmlns:p14="http://schemas.microsoft.com/office/powerpoint/2010/main" val="2473492170"/>
      </p:ext>
    </p:extLst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81176A6-2F7A-40C2-BD79-4073CC6D43A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-72008" y="247201"/>
            <a:ext cx="9324528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b="1" kern="0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6. RNA polymerase unwinds the template DNA then initiate RNA synthesis</a:t>
            </a:r>
            <a:r>
              <a:rPr lang="en-US" altLang="zh-CN" sz="40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-Initiation</a:t>
            </a:r>
            <a:endParaRPr lang="en-US" altLang="zh-CN" sz="4000" b="1" kern="0" dirty="0">
              <a:solidFill>
                <a:srgbClr val="7030A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52846C2B-A933-4506-AFD6-A8A149F121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556792"/>
            <a:ext cx="91440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CN" kern="0" dirty="0"/>
              <a:t>The enzyme slides to a promoter region and forms a more tightly bound “</a:t>
            </a:r>
            <a:r>
              <a:rPr lang="en-US" altLang="zh-CN" b="1" kern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closed complex</a:t>
            </a:r>
            <a:r>
              <a:rPr lang="en-US" altLang="zh-CN" kern="0" dirty="0"/>
              <a:t>”.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kern="0" dirty="0"/>
              <a:t>Then the polymerase-promoter complex has to be converted to an “</a:t>
            </a:r>
            <a:r>
              <a:rPr lang="en-US" altLang="zh-CN" b="1" kern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open complex</a:t>
            </a:r>
            <a:r>
              <a:rPr lang="en-US" altLang="zh-CN" kern="0" dirty="0"/>
              <a:t>”, in which a  12-15 </a:t>
            </a:r>
            <a:r>
              <a:rPr lang="en-US" altLang="zh-CN" kern="0" dirty="0" err="1"/>
              <a:t>bp</a:t>
            </a:r>
            <a:r>
              <a:rPr lang="en-US" altLang="zh-CN" kern="0" dirty="0"/>
              <a:t> covering the region from the AT-rich –10 site to +3 site is unwound.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kern="0" dirty="0"/>
              <a:t>The essential transition from a “closed” to an “open” complex sets the stage for RNA synthesis, after which the core polymerase moves away from the promoter.</a:t>
            </a:r>
          </a:p>
        </p:txBody>
      </p:sp>
    </p:spTree>
    <p:extLst>
      <p:ext uri="{BB962C8B-B14F-4D97-AF65-F5344CB8AC3E}">
        <p14:creationId xmlns:p14="http://schemas.microsoft.com/office/powerpoint/2010/main" val="2175780736"/>
      </p:ext>
    </p:extLst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f26-6">
            <a:extLst>
              <a:ext uri="{FF2B5EF4-FFF2-40B4-BE49-F238E27FC236}">
                <a16:creationId xmlns:a16="http://schemas.microsoft.com/office/drawing/2014/main" id="{7314FE54-8134-4EFE-9AC8-11C4F5FDD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304800"/>
            <a:ext cx="4384675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5" name="Picture 3" descr="f26-6b">
            <a:extLst>
              <a:ext uri="{FF2B5EF4-FFF2-40B4-BE49-F238E27FC236}">
                <a16:creationId xmlns:a16="http://schemas.microsoft.com/office/drawing/2014/main" id="{F2AF7E76-A548-4D40-8E4D-CB4D780F3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27" r="5026"/>
          <a:stretch>
            <a:fillRect/>
          </a:stretch>
        </p:blipFill>
        <p:spPr bwMode="auto">
          <a:xfrm>
            <a:off x="4876800" y="381000"/>
            <a:ext cx="41910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16969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>
            <a:extLst>
              <a:ext uri="{FF2B5EF4-FFF2-40B4-BE49-F238E27FC236}">
                <a16:creationId xmlns:a16="http://schemas.microsoft.com/office/drawing/2014/main" id="{0F2C3F01-F9E4-4B75-8EDC-7DEE1FF10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858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1" hangingPunct="1">
              <a:defRPr/>
            </a:pPr>
            <a:r>
              <a:rPr kumimoji="1" lang="en-US" altLang="zh-CN" sz="4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7. After initiation, the factor </a:t>
            </a:r>
            <a:r>
              <a:rPr kumimoji="1" lang="en-US" altLang="zh-CN" sz="4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Symbol" pitchFamily="18" charset="2"/>
              </a:rPr>
              <a:t> </a:t>
            </a:r>
            <a:r>
              <a:rPr kumimoji="1" lang="en-US" altLang="zh-CN" sz="4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is released to leave the </a:t>
            </a:r>
            <a:r>
              <a:rPr kumimoji="1" lang="en-US" altLang="zh-CN" sz="4000" b="1" u="sng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core enzyme</a:t>
            </a:r>
            <a:r>
              <a:rPr kumimoji="1" lang="en-US" altLang="zh-CN" sz="4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which continues </a:t>
            </a:r>
            <a:r>
              <a:rPr kumimoji="1" lang="en-US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elongation</a:t>
            </a:r>
          </a:p>
        </p:txBody>
      </p:sp>
      <p:sp>
        <p:nvSpPr>
          <p:cNvPr id="34819" name="Text Box 4">
            <a:extLst>
              <a:ext uri="{FF2B5EF4-FFF2-40B4-BE49-F238E27FC236}">
                <a16:creationId xmlns:a16="http://schemas.microsoft.com/office/drawing/2014/main" id="{D46E14B3-F87A-4130-866F-23E0437788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590800"/>
            <a:ext cx="8363272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dirty="0"/>
              <a:t>The core enzyme (</a:t>
            </a:r>
            <a:r>
              <a:rPr lang="en-US" altLang="zh-CN" dirty="0">
                <a:latin typeface="Symbol" panose="05050102010706020507" pitchFamily="18" charset="2"/>
              </a:rPr>
              <a:t>a</a:t>
            </a:r>
            <a:r>
              <a:rPr lang="en-US" altLang="zh-CN" baseline="-25000" dirty="0"/>
              <a:t>2</a:t>
            </a:r>
            <a:r>
              <a:rPr lang="en-US" altLang="zh-CN" dirty="0">
                <a:latin typeface="Symbol" panose="05050102010706020507" pitchFamily="18" charset="2"/>
              </a:rPr>
              <a:t>bb</a:t>
            </a:r>
            <a:r>
              <a:rPr lang="en-US" altLang="zh-CN" dirty="0"/>
              <a:t>’</a:t>
            </a:r>
            <a:r>
              <a:rPr lang="en-US" altLang="zh-CN" dirty="0">
                <a:sym typeface="Symbol" panose="05050102010706020507" pitchFamily="18" charset="2"/>
              </a:rPr>
              <a:t>) continues elongation of the RNA transcript. The RNA synthesizes RNA in the 5’——3’ direction, using the four </a:t>
            </a:r>
            <a:r>
              <a:rPr lang="en-US" altLang="zh-CN" dirty="0" err="1">
                <a:sym typeface="Symbol" panose="05050102010706020507" pitchFamily="18" charset="2"/>
              </a:rPr>
              <a:t>ribonucleoside</a:t>
            </a:r>
            <a:r>
              <a:rPr lang="en-US" altLang="zh-CN" dirty="0">
                <a:sym typeface="Symbol" panose="05050102010706020507" pitchFamily="18" charset="2"/>
              </a:rPr>
              <a:t> 5’ triphosphates (ATP, GTP, CTP, UTP) as precursors.</a:t>
            </a:r>
          </a:p>
        </p:txBody>
      </p:sp>
    </p:spTree>
    <p:extLst>
      <p:ext uri="{BB962C8B-B14F-4D97-AF65-F5344CB8AC3E}">
        <p14:creationId xmlns:p14="http://schemas.microsoft.com/office/powerpoint/2010/main" val="3006689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>
            <a:extLst>
              <a:ext uri="{FF2B5EF4-FFF2-40B4-BE49-F238E27FC236}">
                <a16:creationId xmlns:a16="http://schemas.microsoft.com/office/drawing/2014/main" id="{CAD97501-BE07-46D6-8BF9-005AF003C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57200"/>
            <a:ext cx="8229600" cy="5754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Text Box 3">
            <a:extLst>
              <a:ext uri="{FF2B5EF4-FFF2-40B4-BE49-F238E27FC236}">
                <a16:creationId xmlns:a16="http://schemas.microsoft.com/office/drawing/2014/main" id="{593CB8F0-33C9-400A-839A-B090D50F3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1143000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u="sng">
                <a:solidFill>
                  <a:schemeClr val="hlink"/>
                </a:solidFill>
              </a:rPr>
              <a:t>Sense strand</a:t>
            </a:r>
          </a:p>
        </p:txBody>
      </p:sp>
      <p:sp>
        <p:nvSpPr>
          <p:cNvPr id="35844" name="Line 4">
            <a:extLst>
              <a:ext uri="{FF2B5EF4-FFF2-40B4-BE49-F238E27FC236}">
                <a16:creationId xmlns:a16="http://schemas.microsoft.com/office/drawing/2014/main" id="{AE5B608E-745C-478D-9CD7-493AE1BB8F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1524000"/>
            <a:ext cx="381000" cy="457200"/>
          </a:xfrm>
          <a:prstGeom prst="line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845" name="Text Box 5">
            <a:extLst>
              <a:ext uri="{FF2B5EF4-FFF2-40B4-BE49-F238E27FC236}">
                <a16:creationId xmlns:a16="http://schemas.microsoft.com/office/drawing/2014/main" id="{0BE9A8E9-AD14-40D5-BF98-192E64F39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4419600"/>
            <a:ext cx="1981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u="sng" dirty="0">
                <a:solidFill>
                  <a:schemeClr val="hlink"/>
                </a:solidFill>
              </a:rPr>
              <a:t>Antisense strand</a:t>
            </a:r>
          </a:p>
        </p:txBody>
      </p:sp>
      <p:sp>
        <p:nvSpPr>
          <p:cNvPr id="35846" name="Text Box 6">
            <a:extLst>
              <a:ext uri="{FF2B5EF4-FFF2-40B4-BE49-F238E27FC236}">
                <a16:creationId xmlns:a16="http://schemas.microsoft.com/office/drawing/2014/main" id="{203D69AE-0EA9-462D-B6A1-733BD0AAA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57200"/>
            <a:ext cx="312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i="1" u="sng">
                <a:solidFill>
                  <a:schemeClr val="bg2"/>
                </a:solidFill>
              </a:rPr>
              <a:t>Ternary complex</a:t>
            </a:r>
          </a:p>
        </p:txBody>
      </p:sp>
    </p:spTree>
    <p:extLst>
      <p:ext uri="{BB962C8B-B14F-4D97-AF65-F5344CB8AC3E}">
        <p14:creationId xmlns:p14="http://schemas.microsoft.com/office/powerpoint/2010/main" val="32111843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>
            <a:extLst>
              <a:ext uri="{FF2B5EF4-FFF2-40B4-BE49-F238E27FC236}">
                <a16:creationId xmlns:a16="http://schemas.microsoft.com/office/drawing/2014/main" id="{0638A30D-DEC5-4B07-88B8-8EE234F96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57400"/>
            <a:ext cx="8686800" cy="153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7" name="Text Box 3">
            <a:extLst>
              <a:ext uri="{FF2B5EF4-FFF2-40B4-BE49-F238E27FC236}">
                <a16:creationId xmlns:a16="http://schemas.microsoft.com/office/drawing/2014/main" id="{2DB7E919-B091-4776-AC8B-1E401295F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295400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/>
              <a:t>Sense strand</a:t>
            </a:r>
          </a:p>
        </p:txBody>
      </p:sp>
      <p:sp>
        <p:nvSpPr>
          <p:cNvPr id="36868" name="Line 4">
            <a:extLst>
              <a:ext uri="{FF2B5EF4-FFF2-40B4-BE49-F238E27FC236}">
                <a16:creationId xmlns:a16="http://schemas.microsoft.com/office/drawing/2014/main" id="{A1F05A86-EAC5-4E0A-8330-35909795AC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3200" y="1752600"/>
            <a:ext cx="304800" cy="381000"/>
          </a:xfrm>
          <a:prstGeom prst="line">
            <a:avLst/>
          </a:prstGeom>
          <a:noFill/>
          <a:ln w="5715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6869" name="Text Box 5">
            <a:extLst>
              <a:ext uri="{FF2B5EF4-FFF2-40B4-BE49-F238E27FC236}">
                <a16:creationId xmlns:a16="http://schemas.microsoft.com/office/drawing/2014/main" id="{1CF2212D-0321-430E-AB95-9CFE91837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810000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chemeClr val="folHlink"/>
                </a:solidFill>
              </a:rPr>
              <a:t>Antisense strand</a:t>
            </a:r>
          </a:p>
        </p:txBody>
      </p:sp>
      <p:sp>
        <p:nvSpPr>
          <p:cNvPr id="36870" name="Line 6">
            <a:extLst>
              <a:ext uri="{FF2B5EF4-FFF2-40B4-BE49-F238E27FC236}">
                <a16:creationId xmlns:a16="http://schemas.microsoft.com/office/drawing/2014/main" id="{900DB3BF-4D81-4EC5-BA4B-F1A8096AC57B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2895600"/>
            <a:ext cx="381000" cy="1066800"/>
          </a:xfrm>
          <a:prstGeom prst="line">
            <a:avLst/>
          </a:prstGeom>
          <a:noFill/>
          <a:ln w="38100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" name="Line 4">
            <a:extLst>
              <a:ext uri="{FF2B5EF4-FFF2-40B4-BE49-F238E27FC236}">
                <a16:creationId xmlns:a16="http://schemas.microsoft.com/office/drawing/2014/main" id="{C26F5DA3-FF25-4366-B10E-48578646E592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5072" y="2903984"/>
            <a:ext cx="371128" cy="1058416"/>
          </a:xfrm>
          <a:prstGeom prst="line">
            <a:avLst/>
          </a:prstGeom>
          <a:noFill/>
          <a:ln w="5715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8338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3074" descr="transcription">
            <a:extLst>
              <a:ext uri="{FF2B5EF4-FFF2-40B4-BE49-F238E27FC236}">
                <a16:creationId xmlns:a16="http://schemas.microsoft.com/office/drawing/2014/main" id="{B193BDE3-C165-4561-859C-2F720D9D2E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"/>
          <a:stretch/>
        </p:blipFill>
        <p:spPr bwMode="auto">
          <a:xfrm>
            <a:off x="323528" y="260648"/>
            <a:ext cx="8136904" cy="568796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14923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B4B7812-0F27-4D5C-B72A-ECCFE4C8388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32656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b="1" kern="0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8.</a:t>
            </a:r>
            <a:r>
              <a:rPr lang="en-US" altLang="zh-CN" sz="4000" b="1" i="1" kern="0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E.coli</a:t>
            </a:r>
            <a:r>
              <a:rPr lang="en-US" altLang="zh-CN" sz="4000" b="1" kern="0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RNA polymerase stops synthesizing RNA at specific terminator DNA sequences </a:t>
            </a:r>
            <a:r>
              <a:rPr lang="en-US" altLang="zh-CN" sz="40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-Termination</a:t>
            </a:r>
            <a:endParaRPr lang="en-US" altLang="zh-CN" sz="4000" kern="0" dirty="0">
              <a:solidFill>
                <a:srgbClr val="7030A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9D99EC4F-4E79-4AEA-82E6-3E4AE593CDA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2667000"/>
            <a:ext cx="9144000" cy="2819400"/>
          </a:xfrm>
        </p:spPr>
        <p:txBody>
          <a:bodyPr/>
          <a:lstStyle/>
          <a:p>
            <a:pPr eaLnBrk="1" hangingPunct="1"/>
            <a:r>
              <a:rPr lang="en-US" altLang="zh-CN" dirty="0"/>
              <a:t>A common termination signal is a </a:t>
            </a:r>
            <a:r>
              <a:rPr lang="en-US" altLang="zh-CN" dirty="0">
                <a:solidFill>
                  <a:schemeClr val="folHlink"/>
                </a:solidFill>
              </a:rPr>
              <a:t>hairpin structure</a:t>
            </a:r>
            <a:r>
              <a:rPr lang="en-US" altLang="zh-CN" dirty="0"/>
              <a:t> formed by a </a:t>
            </a:r>
            <a:r>
              <a:rPr lang="en-US" altLang="zh-CN" dirty="0">
                <a:solidFill>
                  <a:srgbClr val="FF0000"/>
                </a:solidFill>
              </a:rPr>
              <a:t>palindromic</a:t>
            </a:r>
            <a:r>
              <a:rPr lang="en-US" altLang="zh-CN" dirty="0"/>
              <a:t> GC-rich region, followed by an AT-rich sequence. </a:t>
            </a:r>
          </a:p>
          <a:p>
            <a:pPr eaLnBrk="1" hangingPunct="1"/>
            <a:r>
              <a:rPr lang="en-US" altLang="zh-CN" dirty="0"/>
              <a:t>Other signals are also used which require the assistance of </a:t>
            </a:r>
            <a:r>
              <a:rPr lang="en-US" altLang="zh-CN" dirty="0">
                <a:solidFill>
                  <a:schemeClr val="folHlink"/>
                </a:solidFill>
                <a:sym typeface="Symbol" panose="05050102010706020507" pitchFamily="18" charset="2"/>
              </a:rPr>
              <a:t> </a:t>
            </a:r>
            <a:r>
              <a:rPr lang="en-US" altLang="zh-CN" dirty="0">
                <a:solidFill>
                  <a:schemeClr val="folHlink"/>
                </a:solidFill>
              </a:rPr>
              <a:t>protein</a:t>
            </a:r>
            <a:r>
              <a:rPr lang="en-US" altLang="zh-CN" dirty="0"/>
              <a:t> for effective termination.</a:t>
            </a:r>
          </a:p>
        </p:txBody>
      </p:sp>
    </p:spTree>
    <p:extLst>
      <p:ext uri="{BB962C8B-B14F-4D97-AF65-F5344CB8AC3E}">
        <p14:creationId xmlns:p14="http://schemas.microsoft.com/office/powerpoint/2010/main" val="719244137"/>
      </p:ext>
    </p:extLst>
  </p:cSld>
  <p:clrMapOvr>
    <a:masterClrMapping/>
  </p:clrMapOvr>
  <p:transition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>
            <a:extLst>
              <a:ext uri="{FF2B5EF4-FFF2-40B4-BE49-F238E27FC236}">
                <a16:creationId xmlns:a16="http://schemas.microsoft.com/office/drawing/2014/main" id="{EB7AC0DA-E7DF-491C-A517-E4DBE85B01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t="10001" r="10001" b="16509"/>
          <a:stretch/>
        </p:blipFill>
        <p:spPr bwMode="auto">
          <a:xfrm>
            <a:off x="539552" y="476672"/>
            <a:ext cx="8011616" cy="551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17059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>
            <a:extLst>
              <a:ext uri="{FF2B5EF4-FFF2-40B4-BE49-F238E27FC236}">
                <a16:creationId xmlns:a16="http://schemas.microsoft.com/office/drawing/2014/main" id="{DA392FD9-85CF-4C1C-A8FA-EB9699DA7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0" t="9000" r="9000" b="9000"/>
          <a:stretch>
            <a:fillRect/>
          </a:stretch>
        </p:blipFill>
        <p:spPr bwMode="auto">
          <a:xfrm>
            <a:off x="609600" y="381000"/>
            <a:ext cx="7562800" cy="56721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EE3C74F-7A0D-43AB-ABD9-E08BF8CBDB6C}"/>
              </a:ext>
            </a:extLst>
          </p:cNvPr>
          <p:cNvSpPr txBox="1"/>
          <p:nvPr/>
        </p:nvSpPr>
        <p:spPr>
          <a:xfrm>
            <a:off x="2599791" y="2060848"/>
            <a:ext cx="61926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spc="-180" dirty="0">
                <a:latin typeface="Courier New" panose="02070309020205020404" pitchFamily="49" charset="0"/>
                <a:cs typeface="Courier New" panose="02070309020205020404" pitchFamily="49" charset="0"/>
              </a:rPr>
              <a:t>3’-C G </a:t>
            </a:r>
            <a:r>
              <a:rPr lang="en-US" altLang="zh-CN" sz="1400" b="1" spc="-18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altLang="zh-CN" sz="1400" b="1" spc="-180" dirty="0">
                <a:latin typeface="Courier New" panose="02070309020205020404" pitchFamily="49" charset="0"/>
                <a:cs typeface="Courier New" panose="02070309020205020404" pitchFamily="49" charset="0"/>
              </a:rPr>
              <a:t> C G </a:t>
            </a:r>
            <a:r>
              <a:rPr lang="en-US" altLang="zh-CN" sz="1400" b="1" spc="-18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altLang="zh-CN" sz="1400" b="1" spc="-180" dirty="0">
                <a:latin typeface="Courier New" panose="02070309020205020404" pitchFamily="49" charset="0"/>
                <a:cs typeface="Courier New" panose="02070309020205020404" pitchFamily="49" charset="0"/>
              </a:rPr>
              <a:t> U C </a:t>
            </a:r>
            <a:r>
              <a:rPr lang="en-US" altLang="zh-CN" sz="1400" b="1" spc="-21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altLang="zh-CN" sz="1400" b="1" spc="-180" dirty="0">
                <a:latin typeface="Courier New" panose="02070309020205020404" pitchFamily="49" charset="0"/>
                <a:cs typeface="Courier New" panose="02070309020205020404" pitchFamily="49" charset="0"/>
              </a:rPr>
              <a:t> G A C </a:t>
            </a:r>
            <a:r>
              <a:rPr lang="en-US" altLang="zh-CN" sz="1400" b="1" spc="-18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zh-CN" sz="1400" b="1" spc="-180" dirty="0">
                <a:latin typeface="Courier New" panose="02070309020205020404" pitchFamily="49" charset="0"/>
                <a:cs typeface="Courier New" panose="02070309020205020404" pitchFamily="49" charset="0"/>
              </a:rPr>
              <a:t> G C </a:t>
            </a:r>
            <a:r>
              <a:rPr lang="en-US" altLang="zh-CN" sz="1400" b="1" spc="-18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zh-CN" sz="1400" b="1" spc="-180" dirty="0">
                <a:latin typeface="Courier New" panose="02070309020205020404" pitchFamily="49" charset="0"/>
                <a:cs typeface="Courier New" panose="02070309020205020404" pitchFamily="49" charset="0"/>
              </a:rPr>
              <a:t> G -5’</a:t>
            </a:r>
            <a:endParaRPr lang="zh-CN" altLang="en-US" sz="1400" b="1" spc="-18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5F0C17-3A9A-457C-AA55-3EEFE20674BD}"/>
              </a:ext>
            </a:extLst>
          </p:cNvPr>
          <p:cNvSpPr txBox="1"/>
          <p:nvPr/>
        </p:nvSpPr>
        <p:spPr>
          <a:xfrm>
            <a:off x="5285388" y="1760845"/>
            <a:ext cx="20229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Arial Narrow" panose="020B0606020202030204" pitchFamily="34" charset="0"/>
              </a:rPr>
              <a:t>G                         U</a:t>
            </a:r>
            <a:endParaRPr lang="zh-CN" altLang="en-US" sz="1400" b="1" dirty="0">
              <a:latin typeface="Arial Narrow" panose="020B060602020203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84A49B0-6939-4A81-8A5F-91B6447BA664}"/>
              </a:ext>
            </a:extLst>
          </p:cNvPr>
          <p:cNvSpPr/>
          <p:nvPr/>
        </p:nvSpPr>
        <p:spPr>
          <a:xfrm>
            <a:off x="4572000" y="94135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Palindrome sequences</a:t>
            </a:r>
          </a:p>
          <a:p>
            <a:r>
              <a:rPr lang="zh-CN" altLang="en-US" dirty="0"/>
              <a:t>回文序列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4396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 descr="term1">
            <a:extLst>
              <a:ext uri="{FF2B5EF4-FFF2-40B4-BE49-F238E27FC236}">
                <a16:creationId xmlns:a16="http://schemas.microsoft.com/office/drawing/2014/main" id="{DF522BB6-9947-4715-991B-95D35E8BA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848600" cy="239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7" name="Picture 3" descr="term2">
            <a:extLst>
              <a:ext uri="{FF2B5EF4-FFF2-40B4-BE49-F238E27FC236}">
                <a16:creationId xmlns:a16="http://schemas.microsoft.com/office/drawing/2014/main" id="{9D1BD663-F805-48AE-8379-6CA65AE83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62200"/>
            <a:ext cx="77724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8" name="Picture 4" descr="term3">
            <a:extLst>
              <a:ext uri="{FF2B5EF4-FFF2-40B4-BE49-F238E27FC236}">
                <a16:creationId xmlns:a16="http://schemas.microsoft.com/office/drawing/2014/main" id="{EBACD1D7-EBA8-41B6-87DA-02C567CB8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276600"/>
            <a:ext cx="3505200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9" name="Rectangle 5">
            <a:extLst>
              <a:ext uri="{FF2B5EF4-FFF2-40B4-BE49-F238E27FC236}">
                <a16:creationId xmlns:a16="http://schemas.microsoft.com/office/drawing/2014/main" id="{64D700D3-141E-4CF3-AB06-F9DB2FD95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97213"/>
            <a:ext cx="32464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>
                    <a:lumMod val="85000"/>
                  </a:schemeClr>
                </a:solidFill>
                <a:latin typeface="Symbol" panose="05050102010706020507" pitchFamily="18" charset="2"/>
              </a:rPr>
              <a:t>r</a:t>
            </a:r>
            <a:r>
              <a:rPr lang="en-US" altLang="zh-CN" sz="2800" b="1" dirty="0">
                <a:solidFill>
                  <a:schemeClr val="bg1">
                    <a:lumMod val="85000"/>
                  </a:schemeClr>
                </a:solidFill>
              </a:rPr>
              <a:t>-independent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>
                    <a:lumMod val="85000"/>
                  </a:schemeClr>
                </a:solidFill>
              </a:rPr>
              <a:t>terminator: a model</a:t>
            </a:r>
          </a:p>
        </p:txBody>
      </p:sp>
      <p:sp>
        <p:nvSpPr>
          <p:cNvPr id="41990" name="Line 7">
            <a:extLst>
              <a:ext uri="{FF2B5EF4-FFF2-40B4-BE49-F238E27FC236}">
                <a16:creationId xmlns:a16="http://schemas.microsoft.com/office/drawing/2014/main" id="{891BE0BD-6F5E-4167-9082-03ED2174C4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1524000"/>
            <a:ext cx="1066800" cy="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1" name="Line 8">
            <a:extLst>
              <a:ext uri="{FF2B5EF4-FFF2-40B4-BE49-F238E27FC236}">
                <a16:creationId xmlns:a16="http://schemas.microsoft.com/office/drawing/2014/main" id="{88600E77-F14A-4B16-AECD-3F7F4BCF3A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9000" y="2286000"/>
            <a:ext cx="990600" cy="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2" name="Line 9">
            <a:extLst>
              <a:ext uri="{FF2B5EF4-FFF2-40B4-BE49-F238E27FC236}">
                <a16:creationId xmlns:a16="http://schemas.microsoft.com/office/drawing/2014/main" id="{DBE2C0F1-A57E-45AE-9BC0-4FFC5CC2B94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1676400"/>
            <a:ext cx="1295400" cy="0"/>
          </a:xfrm>
          <a:prstGeom prst="line">
            <a:avLst/>
          </a:prstGeom>
          <a:noFill/>
          <a:ln w="9525">
            <a:solidFill>
              <a:srgbClr val="00FF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3" name="Rectangle 10">
            <a:extLst>
              <a:ext uri="{FF2B5EF4-FFF2-40B4-BE49-F238E27FC236}">
                <a16:creationId xmlns:a16="http://schemas.microsoft.com/office/drawing/2014/main" id="{E8B8EE9B-B38E-4375-AF07-818E77216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057400"/>
            <a:ext cx="24018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FF00"/>
                </a:solidFill>
              </a:rPr>
              <a:t>Palindrome DNA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FF00"/>
                </a:solidFill>
              </a:rPr>
              <a:t>sequences</a:t>
            </a:r>
          </a:p>
        </p:txBody>
      </p:sp>
      <p:sp>
        <p:nvSpPr>
          <p:cNvPr id="41994" name="Rectangle 12">
            <a:extLst>
              <a:ext uri="{FF2B5EF4-FFF2-40B4-BE49-F238E27FC236}">
                <a16:creationId xmlns:a16="http://schemas.microsoft.com/office/drawing/2014/main" id="{786B80A0-AD59-4BE9-A03C-F6206C9FD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419600"/>
            <a:ext cx="27066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</a:rPr>
              <a:t>Stem-loop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</a:rPr>
              <a:t> (hairpin) structure</a:t>
            </a:r>
            <a:endParaRPr lang="en-US" altLang="zh-CN" sz="2000" b="1">
              <a:solidFill>
                <a:schemeClr val="accent2"/>
              </a:solidFill>
            </a:endParaRPr>
          </a:p>
        </p:txBody>
      </p:sp>
      <p:sp>
        <p:nvSpPr>
          <p:cNvPr id="41995" name="Line 13">
            <a:extLst>
              <a:ext uri="{FF2B5EF4-FFF2-40B4-BE49-F238E27FC236}">
                <a16:creationId xmlns:a16="http://schemas.microsoft.com/office/drawing/2014/main" id="{7C7AC5BE-455D-41FD-A563-12E50D8E60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24400" y="4953000"/>
            <a:ext cx="838200" cy="381000"/>
          </a:xfrm>
          <a:prstGeom prst="line">
            <a:avLst/>
          </a:prstGeom>
          <a:noFill/>
          <a:ln w="50800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689969"/>
      </p:ext>
    </p:extLst>
  </p:cSld>
  <p:clrMapOvr>
    <a:masterClrMapping/>
  </p:clrMapOvr>
  <p:transition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>
            <a:extLst>
              <a:ext uri="{FF2B5EF4-FFF2-40B4-BE49-F238E27FC236}">
                <a16:creationId xmlns:a16="http://schemas.microsoft.com/office/drawing/2014/main" id="{5B571440-50B4-440C-9546-F0795EA5A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975" y="76200"/>
            <a:ext cx="5762625" cy="662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7814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>
            <a:extLst>
              <a:ext uri="{FF2B5EF4-FFF2-40B4-BE49-F238E27FC236}">
                <a16:creationId xmlns:a16="http://schemas.microsoft.com/office/drawing/2014/main" id="{07E969C7-DBFC-4F1B-9EEF-17206457C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0" t="9000" r="9000" b="9000"/>
          <a:stretch>
            <a:fillRect/>
          </a:stretch>
        </p:blipFill>
        <p:spPr bwMode="auto">
          <a:xfrm>
            <a:off x="685800" y="381000"/>
            <a:ext cx="8153400" cy="611505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8796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 descr="term5">
            <a:extLst>
              <a:ext uri="{FF2B5EF4-FFF2-40B4-BE49-F238E27FC236}">
                <a16:creationId xmlns:a16="http://schemas.microsoft.com/office/drawing/2014/main" id="{88CD50C8-F385-423A-AE5B-875F68B9E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59" name="Rectangle 5">
            <a:extLst>
              <a:ext uri="{FF2B5EF4-FFF2-40B4-BE49-F238E27FC236}">
                <a16:creationId xmlns:a16="http://schemas.microsoft.com/office/drawing/2014/main" id="{789AF062-4D1A-428A-97CC-397528B97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0"/>
            <a:ext cx="4572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1"/>
                </a:solidFill>
              </a:rPr>
              <a:t>Model</a:t>
            </a:r>
            <a:r>
              <a:rPr lang="en-US" altLang="zh-CN" sz="2800" b="1" dirty="0">
                <a:solidFill>
                  <a:schemeClr val="bg1"/>
                </a:solidFill>
                <a:latin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</a:rPr>
              <a:t>for an</a:t>
            </a:r>
            <a:r>
              <a:rPr lang="en-US" altLang="zh-CN" sz="2800" b="1" dirty="0">
                <a:solidFill>
                  <a:schemeClr val="bg1"/>
                </a:solidFill>
                <a:latin typeface="Symbol" panose="05050102010706020507" pitchFamily="18" charset="2"/>
              </a:rPr>
              <a:t> r</a:t>
            </a:r>
            <a:r>
              <a:rPr lang="en-US" altLang="zh-CN" sz="2800" b="1" dirty="0">
                <a:solidFill>
                  <a:schemeClr val="bg1"/>
                </a:solidFill>
              </a:rPr>
              <a:t>-dependent       	terminator</a:t>
            </a:r>
          </a:p>
        </p:txBody>
      </p:sp>
    </p:spTree>
    <p:extLst>
      <p:ext uri="{BB962C8B-B14F-4D97-AF65-F5344CB8AC3E}">
        <p14:creationId xmlns:p14="http://schemas.microsoft.com/office/powerpoint/2010/main" val="2859701526"/>
      </p:ext>
    </p:extLst>
  </p:cSld>
  <p:clrMapOvr>
    <a:masterClrMapping/>
  </p:clrMapOvr>
  <p:transition>
    <p:rand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46A0F57-B785-F974-BB58-FC2F662D0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81" y="0"/>
            <a:ext cx="83522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2989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AFA510B-46C1-4C6A-91A6-62470CB3611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4328" t="11151"/>
          <a:stretch/>
        </p:blipFill>
        <p:spPr>
          <a:xfrm>
            <a:off x="34959" y="309090"/>
            <a:ext cx="8568952" cy="6360270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A342E925-ED84-4D8D-BA61-F8487CA52B91}"/>
              </a:ext>
            </a:extLst>
          </p:cNvPr>
          <p:cNvSpPr/>
          <p:nvPr/>
        </p:nvSpPr>
        <p:spPr>
          <a:xfrm>
            <a:off x="4049420" y="309090"/>
            <a:ext cx="4824536" cy="636027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EDEFAA-91B3-4454-8C9A-9EB225F347C5}"/>
              </a:ext>
            </a:extLst>
          </p:cNvPr>
          <p:cNvSpPr txBox="1"/>
          <p:nvPr/>
        </p:nvSpPr>
        <p:spPr>
          <a:xfrm>
            <a:off x="7236296" y="404664"/>
            <a:ext cx="1349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I  initiation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040391-29D9-4E83-8027-E67A41EC3CE4}"/>
              </a:ext>
            </a:extLst>
          </p:cNvPr>
          <p:cNvSpPr txBox="1"/>
          <p:nvPr/>
        </p:nvSpPr>
        <p:spPr>
          <a:xfrm>
            <a:off x="206523" y="4599220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II  elongation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E0B5F0C-67E0-45F3-939C-66D42D6141F6}"/>
              </a:ext>
            </a:extLst>
          </p:cNvPr>
          <p:cNvSpPr txBox="1"/>
          <p:nvPr/>
        </p:nvSpPr>
        <p:spPr>
          <a:xfrm>
            <a:off x="270044" y="1052736"/>
            <a:ext cx="1926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III  termination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7506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A9C7D756-84F2-4D3B-A461-131CB48EF61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3568" y="228600"/>
            <a:ext cx="7772400" cy="11430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4000" b="1" kern="0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9. RNA processing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4BD4D76C-A34F-4C0B-B20F-4A179AF4041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524000"/>
            <a:ext cx="9144000" cy="4114800"/>
          </a:xfrm>
        </p:spPr>
        <p:txBody>
          <a:bodyPr/>
          <a:lstStyle/>
          <a:p>
            <a:pPr eaLnBrk="1" hangingPunct="1"/>
            <a:r>
              <a:rPr lang="en-US" altLang="zh-CN" dirty="0"/>
              <a:t>In prokaryotes, RNA transcribed from protein-coding genes (messenger RNA, mRNA), requires little or no modification prior to translation</a:t>
            </a:r>
          </a:p>
          <a:p>
            <a:pPr eaLnBrk="1" hangingPunct="1"/>
            <a:r>
              <a:rPr lang="en-US" altLang="zh-CN" dirty="0"/>
              <a:t>However, </a:t>
            </a:r>
            <a:r>
              <a:rPr lang="en-US" altLang="zh-CN" dirty="0">
                <a:solidFill>
                  <a:srgbClr val="7030A0"/>
                </a:solidFill>
              </a:rPr>
              <a:t>mRNA in eukaryotes, ribosomal RNA (rRNA) and transfer RNA (tRNA) </a:t>
            </a:r>
            <a:r>
              <a:rPr lang="en-US" altLang="zh-CN" dirty="0"/>
              <a:t>are synthesized as precursor molecules that do require </a:t>
            </a:r>
            <a:r>
              <a:rPr lang="en-US" altLang="zh-CN" dirty="0">
                <a:solidFill>
                  <a:schemeClr val="folHlink"/>
                </a:solidFill>
              </a:rPr>
              <a:t>post-transcriptional processing</a:t>
            </a:r>
            <a:r>
              <a:rPr lang="zh-CN" altLang="en-US" dirty="0">
                <a:solidFill>
                  <a:schemeClr val="folHlink"/>
                </a:solidFill>
              </a:rPr>
              <a:t>（转录后加工）</a:t>
            </a:r>
            <a:r>
              <a:rPr lang="en-US" altLang="zh-CN" dirty="0"/>
              <a:t>) (G8, G9, G10)</a:t>
            </a:r>
          </a:p>
        </p:txBody>
      </p:sp>
    </p:spTree>
    <p:extLst>
      <p:ext uri="{BB962C8B-B14F-4D97-AF65-F5344CB8AC3E}">
        <p14:creationId xmlns:p14="http://schemas.microsoft.com/office/powerpoint/2010/main" val="4585050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3">
            <a:extLst>
              <a:ext uri="{FF2B5EF4-FFF2-40B4-BE49-F238E27FC236}">
                <a16:creationId xmlns:a16="http://schemas.microsoft.com/office/drawing/2014/main" id="{C16F79F9-8723-40B3-B80A-2EB2DC676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t="10001" r="10001" b="22427"/>
          <a:stretch>
            <a:fillRect/>
          </a:stretch>
        </p:blipFill>
        <p:spPr bwMode="auto">
          <a:xfrm>
            <a:off x="762000" y="1504950"/>
            <a:ext cx="7848600" cy="497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7" name="Text Box 5">
            <a:extLst>
              <a:ext uri="{FF2B5EF4-FFF2-40B4-BE49-F238E27FC236}">
                <a16:creationId xmlns:a16="http://schemas.microsoft.com/office/drawing/2014/main" id="{C90ECE4D-391D-4F33-B2ED-6CB8B4B6A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8600"/>
            <a:ext cx="8153400" cy="10763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dirty="0"/>
              <a:t>This E. coli gene is being simultaneously transcribed and translated</a:t>
            </a:r>
          </a:p>
        </p:txBody>
      </p:sp>
    </p:spTree>
    <p:extLst>
      <p:ext uri="{BB962C8B-B14F-4D97-AF65-F5344CB8AC3E}">
        <p14:creationId xmlns:p14="http://schemas.microsoft.com/office/powerpoint/2010/main" val="32831943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 descr="&#10;F27-30.GIF058                                                  00006E11Sumanas' Hard Drive            B4EBCDA7:">
            <a:extLst>
              <a:ext uri="{FF2B5EF4-FFF2-40B4-BE49-F238E27FC236}">
                <a16:creationId xmlns:a16="http://schemas.microsoft.com/office/drawing/2014/main" id="{D6466481-5B21-4831-AB31-27785B0CC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711200"/>
            <a:ext cx="7975600" cy="543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19573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>
            <a:extLst>
              <a:ext uri="{FF2B5EF4-FFF2-40B4-BE49-F238E27FC236}">
                <a16:creationId xmlns:a16="http://schemas.microsoft.com/office/drawing/2014/main" id="{FC703435-834E-44E7-9C61-132796A74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765175"/>
            <a:ext cx="842486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顺反子（</a:t>
            </a:r>
            <a:r>
              <a:rPr kumimoji="1"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</a:rPr>
              <a:t>cistron</a:t>
            </a:r>
            <a:r>
              <a:rPr kumimoji="1" lang="zh-CN" altLang="en-US" sz="24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）：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                即</a:t>
            </a:r>
            <a:r>
              <a:rPr kumimoji="1" lang="zh-CN" altLang="en-US" sz="2400" b="1" u="sng" dirty="0">
                <a:latin typeface="Times New Roman" panose="02020603050405020304" pitchFamily="18" charset="0"/>
                <a:hlinkClick r:id="rId3"/>
              </a:rPr>
              <a:t>结构基因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，决定一条</a:t>
            </a:r>
            <a:r>
              <a:rPr kumimoji="1" lang="zh-CN" altLang="en-US" sz="2400" b="1" dirty="0">
                <a:latin typeface="Times New Roman" panose="02020603050405020304" pitchFamily="18" charset="0"/>
                <a:hlinkClick r:id="rId4"/>
              </a:rPr>
              <a:t>多肽链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合成的功能单位。 </a:t>
            </a:r>
          </a:p>
        </p:txBody>
      </p:sp>
      <p:sp>
        <p:nvSpPr>
          <p:cNvPr id="50179" name="Text Box 3">
            <a:extLst>
              <a:ext uri="{FF2B5EF4-FFF2-40B4-BE49-F238E27FC236}">
                <a16:creationId xmlns:a16="http://schemas.microsoft.com/office/drawing/2014/main" id="{7B67C258-6991-4306-9C63-60CD8EAB7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204864"/>
            <a:ext cx="835342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单顺反子（</a:t>
            </a:r>
            <a:r>
              <a:rPr kumimoji="1"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</a:rPr>
              <a:t>monocistron</a:t>
            </a:r>
            <a:r>
              <a:rPr kumimoji="1" lang="zh-CN" altLang="en-US" sz="24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）：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             真核基因转录产物为</a:t>
            </a:r>
            <a:r>
              <a:rPr kumimoji="1" lang="zh-CN" altLang="en-US" sz="2400" b="1" dirty="0">
                <a:latin typeface="Times New Roman" panose="02020603050405020304" pitchFamily="18" charset="0"/>
                <a:hlinkClick r:id="rId5"/>
              </a:rPr>
              <a:t>单顺反子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，即一个基因编码一条多肽链或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RNA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链，每个基因转录有各自的调节元件。 </a:t>
            </a:r>
          </a:p>
        </p:txBody>
      </p:sp>
      <p:sp>
        <p:nvSpPr>
          <p:cNvPr id="50180" name="Text Box 4">
            <a:extLst>
              <a:ext uri="{FF2B5EF4-FFF2-40B4-BE49-F238E27FC236}">
                <a16:creationId xmlns:a16="http://schemas.microsoft.com/office/drawing/2014/main" id="{303A7169-BD30-4F0E-B2D3-23AAB4EB8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077072"/>
            <a:ext cx="835183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多顺反子（</a:t>
            </a:r>
            <a:r>
              <a:rPr kumimoji="1"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</a:rPr>
              <a:t>polycistron</a:t>
            </a:r>
            <a:r>
              <a:rPr kumimoji="1" lang="zh-CN" altLang="en-US" sz="24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）：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           在原核细胞中，通常是几种不同的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mRNA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连在一起，相互之间由一段短的不编码蛋白质的间隔序列所隔开，这种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mRNA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叫做</a:t>
            </a:r>
            <a:r>
              <a:rPr kumimoji="1" lang="zh-CN" altLang="en-US" sz="2400" b="1" dirty="0">
                <a:latin typeface="Times New Roman" panose="02020603050405020304" pitchFamily="18" charset="0"/>
                <a:hlinkClick r:id="rId6"/>
              </a:rPr>
              <a:t>多顺反子</a:t>
            </a:r>
            <a:r>
              <a:rPr kumimoji="1" lang="en-US" altLang="zh-CN" sz="2400" b="1" dirty="0">
                <a:latin typeface="Times New Roman" panose="02020603050405020304" pitchFamily="18" charset="0"/>
                <a:hlinkClick r:id="rId6"/>
              </a:rPr>
              <a:t>mRNA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33524821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3">
            <a:extLst>
              <a:ext uri="{FF2B5EF4-FFF2-40B4-BE49-F238E27FC236}">
                <a16:creationId xmlns:a16="http://schemas.microsoft.com/office/drawing/2014/main" id="{4CE81EE5-6209-445E-BFF7-223F4D4DB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747838"/>
            <a:ext cx="3024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zh-CN" altLang="zh-CN" sz="1800" b="1">
              <a:latin typeface="Calibri" panose="020F0502020204030204" pitchFamily="34" charset="0"/>
            </a:endParaRPr>
          </a:p>
        </p:txBody>
      </p:sp>
      <p:sp>
        <p:nvSpPr>
          <p:cNvPr id="51203" name="Text Box 4">
            <a:extLst>
              <a:ext uri="{FF2B5EF4-FFF2-40B4-BE49-F238E27FC236}">
                <a16:creationId xmlns:a16="http://schemas.microsoft.com/office/drawing/2014/main" id="{E0D4E898-6BAD-4009-B82F-475042951F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209800"/>
            <a:ext cx="7993063" cy="3067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操纵子学说</a:t>
            </a:r>
          </a:p>
          <a:p>
            <a:pPr eaLnBrk="1" hangingPunct="1">
              <a:lnSpc>
                <a:spcPct val="1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、操纵子模型的提出</a:t>
            </a:r>
          </a:p>
          <a:p>
            <a:pPr eaLnBrk="1" hangingPunct="1">
              <a:lnSpc>
                <a:spcPct val="1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1961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年，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Monod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Jacob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提出</a:t>
            </a:r>
            <a:r>
              <a:rPr lang="zh-CN" altLang="en-US" sz="2800" b="1" dirty="0">
                <a:latin typeface="Calibri" panose="020F0502020204030204" pitchFamily="34" charset="0"/>
              </a:rPr>
              <a:t>乳糖操纵子模型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获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1965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年诺贝尔生理学和医学奖</a:t>
            </a:r>
          </a:p>
        </p:txBody>
      </p:sp>
      <p:graphicFrame>
        <p:nvGraphicFramePr>
          <p:cNvPr id="51206" name="Object 0">
            <a:extLst>
              <a:ext uri="{FF2B5EF4-FFF2-40B4-BE49-F238E27FC236}">
                <a16:creationId xmlns:a16="http://schemas.microsoft.com/office/drawing/2014/main" id="{12BDE6FC-B21D-4955-B3D0-BFEF89D9CB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27688" y="182563"/>
          <a:ext cx="3048000" cy="358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3" imgW="1647643" imgH="1724195" progId="PBrush">
                  <p:embed/>
                </p:oleObj>
              </mc:Choice>
              <mc:Fallback>
                <p:oleObj name="BMP 图象" r:id="rId3" imgW="1647643" imgH="1724195" progId="PBrush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7688" y="182563"/>
                        <a:ext cx="3048000" cy="3587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7" name="TextBox 6">
            <a:extLst>
              <a:ext uri="{FF2B5EF4-FFF2-40B4-BE49-F238E27FC236}">
                <a16:creationId xmlns:a16="http://schemas.microsoft.com/office/drawing/2014/main" id="{1EC4ED82-BFC6-4321-88B0-45899CF37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33400"/>
            <a:ext cx="5486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G3 The </a:t>
            </a:r>
            <a:r>
              <a:rPr lang="en-US" altLang="zh-CN" sz="4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</a:t>
            </a:r>
            <a:r>
              <a:rPr lang="en-US" altLang="zh-CN" sz="4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Operon</a:t>
            </a:r>
          </a:p>
        </p:txBody>
      </p:sp>
    </p:spTree>
    <p:extLst>
      <p:ext uri="{BB962C8B-B14F-4D97-AF65-F5344CB8AC3E}">
        <p14:creationId xmlns:p14="http://schemas.microsoft.com/office/powerpoint/2010/main" val="2854669599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960394CA-2747-48C0-9394-2661C1C5EC0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42852"/>
            <a:ext cx="8458200" cy="1143000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7030A0"/>
                </a:solidFill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7030A0"/>
                </a:solidFill>
                <a:ea typeface="黑体" panose="02010609060101010101" pitchFamily="49" charset="-122"/>
              </a:rPr>
              <a:t>、操纵子（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operon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b="1" dirty="0">
                <a:solidFill>
                  <a:srgbClr val="7030A0"/>
                </a:solidFill>
                <a:ea typeface="黑体" panose="02010609060101010101" pitchFamily="49" charset="-122"/>
              </a:rPr>
              <a:t>的定义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BC059FE3-72EF-4D9D-B358-D6F76A892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980728"/>
            <a:ext cx="8064500" cy="2016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dirty="0">
                <a:solidFill>
                  <a:srgbClr val="FF3300"/>
                </a:solidFill>
                <a:latin typeface="Calibri" panose="020F0502020204030204" pitchFamily="34" charset="0"/>
              </a:rPr>
              <a:t>操纵子</a:t>
            </a:r>
            <a:r>
              <a:rPr kumimoji="1" lang="zh-CN" altLang="en-US" sz="2800" b="1" dirty="0">
                <a:latin typeface="Calibri" panose="020F0502020204030204" pitchFamily="34" charset="0"/>
              </a:rPr>
              <a:t>：是基因表达的协调单位，由启动子、操纵基因及其所控制的一组功能上相关的结构基因所组成。操纵基因受调节基因产物的控制。</a:t>
            </a:r>
          </a:p>
        </p:txBody>
      </p:sp>
      <p:pic>
        <p:nvPicPr>
          <p:cNvPr id="59398" name="Picture 3" descr="lacop3">
            <a:extLst>
              <a:ext uri="{FF2B5EF4-FFF2-40B4-BE49-F238E27FC236}">
                <a16:creationId xmlns:a16="http://schemas.microsoft.com/office/drawing/2014/main" id="{340DFC68-1BAD-40D9-83A1-7DD96D53E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75" y="2924944"/>
            <a:ext cx="5722938" cy="268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C0AA261-A313-9CB7-02E0-8D08A553C920}"/>
              </a:ext>
            </a:extLst>
          </p:cNvPr>
          <p:cNvSpPr txBox="1"/>
          <p:nvPr/>
        </p:nvSpPr>
        <p:spPr>
          <a:xfrm>
            <a:off x="7164288" y="2852936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T</a:t>
            </a:r>
            <a:endParaRPr lang="zh-CN" altLang="en-US" b="1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844A6B9-A974-4A95-2345-681F153B48F8}"/>
              </a:ext>
            </a:extLst>
          </p:cNvPr>
          <p:cNvCxnSpPr>
            <a:cxnSpLocks/>
          </p:cNvCxnSpPr>
          <p:nvPr/>
        </p:nvCxnSpPr>
        <p:spPr>
          <a:xfrm flipH="1">
            <a:off x="7092280" y="3222268"/>
            <a:ext cx="203393" cy="350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824627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4">
            <a:extLst>
              <a:ext uri="{FF2B5EF4-FFF2-40B4-BE49-F238E27FC236}">
                <a16:creationId xmlns:a16="http://schemas.microsoft.com/office/drawing/2014/main" id="{08E4F92D-3533-4734-B848-CAC232EA8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700758"/>
            <a:ext cx="7705725" cy="4768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Clr>
                <a:srgbClr val="FFFF00"/>
              </a:buClr>
              <a:buSzTx/>
              <a:buFont typeface="Wingdings" panose="05000000000000000000" pitchFamily="2" charset="2"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操纵子的基本组成元件包括：</a:t>
            </a:r>
          </a:p>
          <a:p>
            <a:pPr algn="just" eaLnBrk="1" hangingPunct="1">
              <a:lnSpc>
                <a:spcPct val="120000"/>
              </a:lnSpc>
              <a:buClr>
                <a:srgbClr val="FFFF00"/>
              </a:buClr>
              <a:buSzTx/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   启 动 子（</a:t>
            </a:r>
            <a:r>
              <a:rPr lang="en-US" altLang="zh-CN" b="1" dirty="0">
                <a:latin typeface="Times New Roman" panose="02020603050405020304" pitchFamily="18" charset="0"/>
              </a:rPr>
              <a:t>promoter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</a:rPr>
              <a:t>P</a:t>
            </a:r>
            <a:r>
              <a:rPr lang="zh-CN" altLang="en-US" b="1" dirty="0">
                <a:latin typeface="Times New Roman" panose="02020603050405020304" pitchFamily="18" charset="0"/>
              </a:rPr>
              <a:t>）</a:t>
            </a:r>
          </a:p>
          <a:p>
            <a:pPr algn="just" eaLnBrk="1" hangingPunct="1">
              <a:lnSpc>
                <a:spcPct val="120000"/>
              </a:lnSpc>
              <a:buClr>
                <a:srgbClr val="FFFF00"/>
              </a:buClr>
              <a:buSzTx/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   操纵基因（</a:t>
            </a:r>
            <a:r>
              <a:rPr lang="en-US" altLang="zh-CN" b="1" dirty="0">
                <a:latin typeface="Times New Roman" panose="02020603050405020304" pitchFamily="18" charset="0"/>
              </a:rPr>
              <a:t>operator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</a:rPr>
              <a:t>O</a:t>
            </a:r>
            <a:r>
              <a:rPr lang="zh-CN" altLang="en-US" b="1" dirty="0">
                <a:latin typeface="Times New Roman" panose="02020603050405020304" pitchFamily="18" charset="0"/>
              </a:rPr>
              <a:t>）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Clr>
                <a:srgbClr val="FFFF00"/>
              </a:buClr>
              <a:buSzTx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   结构基因（</a:t>
            </a:r>
            <a:r>
              <a:rPr lang="en-US" altLang="zh-CN" b="1" dirty="0">
                <a:latin typeface="Times New Roman" panose="02020603050405020304" pitchFamily="18" charset="0"/>
              </a:rPr>
              <a:t>structural gene(s)</a:t>
            </a:r>
            <a:r>
              <a:rPr lang="zh-CN" altLang="en-US" b="1" dirty="0">
                <a:latin typeface="Times New Roman" panose="02020603050405020304" pitchFamily="18" charset="0"/>
              </a:rPr>
              <a:t>）</a:t>
            </a:r>
          </a:p>
          <a:p>
            <a:pPr algn="just">
              <a:lnSpc>
                <a:spcPct val="120000"/>
              </a:lnSpc>
              <a:buClr>
                <a:srgbClr val="FFFF00"/>
              </a:buClr>
              <a:buSzTx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   终 止 子 （</a:t>
            </a:r>
            <a:r>
              <a:rPr lang="en-US" altLang="zh-CN" b="1" dirty="0">
                <a:latin typeface="Times New Roman" panose="02020603050405020304" pitchFamily="18" charset="0"/>
              </a:rPr>
              <a:t>terminator</a:t>
            </a:r>
            <a:r>
              <a:rPr lang="zh-CN" altLang="en-US" b="1" dirty="0">
                <a:latin typeface="Times New Roman" panose="02020603050405020304" pitchFamily="18" charset="0"/>
              </a:rPr>
              <a:t>）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Clr>
                <a:srgbClr val="FFFF00"/>
              </a:buClr>
              <a:buSzTx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   调节基因（</a:t>
            </a:r>
            <a:r>
              <a:rPr lang="en-US" altLang="zh-CN" b="1" dirty="0">
                <a:latin typeface="Times New Roman" panose="02020603050405020304" pitchFamily="18" charset="0"/>
              </a:rPr>
              <a:t>regulatory gene</a:t>
            </a:r>
            <a:r>
              <a:rPr lang="zh-CN" altLang="en-US" b="1" dirty="0">
                <a:latin typeface="Times New Roman" panose="02020603050405020304" pitchFamily="18" charset="0"/>
              </a:rPr>
              <a:t>）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Clr>
                <a:srgbClr val="FFFF00"/>
              </a:buClr>
              <a:buSzTx/>
              <a:buNone/>
            </a:pP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62467" name="Rectangle 7">
            <a:extLst>
              <a:ext uri="{FF2B5EF4-FFF2-40B4-BE49-F238E27FC236}">
                <a16:creationId xmlns:a16="http://schemas.microsoft.com/office/drawing/2014/main" id="{D1395D3E-03D3-4892-9E0C-3A00E408D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692696"/>
            <a:ext cx="51609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FF3300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Calibri" panose="020F0502020204030204" pitchFamily="34" charset="0"/>
              </a:rPr>
              <a:t>操纵子模型（</a:t>
            </a:r>
            <a:r>
              <a:rPr lang="en-US" altLang="zh-CN" b="1" dirty="0">
                <a:latin typeface="Calibri" panose="020F0502020204030204" pitchFamily="34" charset="0"/>
              </a:rPr>
              <a:t>lac operon</a:t>
            </a:r>
            <a:r>
              <a:rPr lang="zh-CN" altLang="en-US" b="1" dirty="0">
                <a:latin typeface="Calibri" panose="020F0502020204030204" pitchFamily="34" charset="0"/>
              </a:rPr>
              <a:t>）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52B476C-0B66-473D-9D10-80267985A485}"/>
              </a:ext>
            </a:extLst>
          </p:cNvPr>
          <p:cNvSpPr/>
          <p:nvPr/>
        </p:nvSpPr>
        <p:spPr>
          <a:xfrm>
            <a:off x="1547664" y="5157192"/>
            <a:ext cx="5160963" cy="648072"/>
          </a:xfrm>
          <a:prstGeom prst="round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9900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FA46A3FE-1B41-4479-A847-396AD4F84B7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775575" cy="777875"/>
          </a:xfrm>
          <a:noFill/>
        </p:spPr>
        <p:txBody>
          <a:bodyPr/>
          <a:lstStyle/>
          <a:p>
            <a:pPr>
              <a:defRPr/>
            </a:pPr>
            <a:r>
              <a:rPr lang="en-US" altLang="zh-CN" dirty="0">
                <a:ln>
                  <a:noFill/>
                </a:ln>
                <a:effectLst/>
              </a:rPr>
              <a:t>Lac </a:t>
            </a:r>
            <a:r>
              <a:rPr lang="en-US" altLang="zh-CN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operon</a:t>
            </a:r>
            <a:r>
              <a:rPr lang="en-US" altLang="zh-CN" dirty="0">
                <a:ln>
                  <a:noFill/>
                </a:ln>
                <a:effectLst/>
              </a:rPr>
              <a:t> (</a:t>
            </a:r>
            <a:r>
              <a:rPr dirty="0" err="1">
                <a:ln>
                  <a:noFill/>
                </a:ln>
                <a:effectLst/>
                <a:ea typeface="华文新魏" pitchFamily="2" charset="-122"/>
              </a:rPr>
              <a:t>乳糖操纵子</a:t>
            </a:r>
            <a:r>
              <a:rPr dirty="0">
                <a:ln>
                  <a:noFill/>
                </a:ln>
                <a:effectLst/>
                <a:ea typeface="华文新魏" pitchFamily="2" charset="-122"/>
              </a:rPr>
              <a:t>）</a:t>
            </a:r>
          </a:p>
        </p:txBody>
      </p:sp>
      <p:grpSp>
        <p:nvGrpSpPr>
          <p:cNvPr id="2" name="组合 11">
            <a:extLst>
              <a:ext uri="{FF2B5EF4-FFF2-40B4-BE49-F238E27FC236}">
                <a16:creationId xmlns:a16="http://schemas.microsoft.com/office/drawing/2014/main" id="{0F218C65-30D5-43F2-97DA-D24DDBD4A045}"/>
              </a:ext>
            </a:extLst>
          </p:cNvPr>
          <p:cNvGrpSpPr>
            <a:grpSpLocks/>
          </p:cNvGrpSpPr>
          <p:nvPr/>
        </p:nvGrpSpPr>
        <p:grpSpPr bwMode="auto">
          <a:xfrm>
            <a:off x="142875" y="2170113"/>
            <a:ext cx="8786813" cy="2116137"/>
            <a:chOff x="142844" y="2169375"/>
            <a:chExt cx="8786874" cy="2116881"/>
          </a:xfrm>
        </p:grpSpPr>
        <p:pic>
          <p:nvPicPr>
            <p:cNvPr id="6148" name="Picture 5" descr="http://upload.wikimedia.org/wikipedia/commons/4/48/Lac_operon1.png">
              <a:extLst>
                <a:ext uri="{FF2B5EF4-FFF2-40B4-BE49-F238E27FC236}">
                  <a16:creationId xmlns:a16="http://schemas.microsoft.com/office/drawing/2014/main" id="{77561BB7-AA72-4149-8E4E-BD616FF828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844" y="2169375"/>
              <a:ext cx="8786874" cy="12858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C7A662-2FC1-4224-B95E-412C62D23A00}"/>
                </a:ext>
              </a:extLst>
            </p:cNvPr>
            <p:cNvSpPr txBox="1"/>
            <p:nvPr/>
          </p:nvSpPr>
          <p:spPr>
            <a:xfrm>
              <a:off x="4357686" y="3455702"/>
              <a:ext cx="1285884" cy="830554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>
                <a:defRPr/>
              </a:pPr>
              <a:r>
                <a:rPr lang="el-GR" altLang="zh-CN" sz="2400" dirty="0">
                  <a:solidFill>
                    <a:srgbClr val="000066"/>
                  </a:solidFill>
                  <a:latin typeface="+mn-ea"/>
                </a:rPr>
                <a:t>β</a:t>
              </a:r>
              <a:r>
                <a:rPr lang="en-US" altLang="zh-CN" sz="2400" dirty="0">
                  <a:solidFill>
                    <a:srgbClr val="000066"/>
                  </a:solidFill>
                  <a:latin typeface="+mn-ea"/>
                </a:rPr>
                <a:t>-</a:t>
              </a:r>
              <a:r>
                <a:rPr lang="zh-CN" altLang="en-US" sz="2400" dirty="0">
                  <a:solidFill>
                    <a:srgbClr val="000066"/>
                  </a:solidFill>
                  <a:latin typeface="+mn-ea"/>
                </a:rPr>
                <a:t>半乳糖苷酶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0400D8C-8C14-4F2F-AC38-D498A7F2E17A}"/>
                </a:ext>
              </a:extLst>
            </p:cNvPr>
            <p:cNvSpPr txBox="1"/>
            <p:nvPr/>
          </p:nvSpPr>
          <p:spPr>
            <a:xfrm>
              <a:off x="5500694" y="3455702"/>
              <a:ext cx="1571636" cy="830554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>
                <a:defRPr/>
              </a:pPr>
              <a:r>
                <a:rPr lang="el-GR" altLang="zh-CN" sz="2400" dirty="0">
                  <a:solidFill>
                    <a:srgbClr val="000066"/>
                  </a:solidFill>
                  <a:latin typeface="+mn-ea"/>
                </a:rPr>
                <a:t>β</a:t>
              </a:r>
              <a:r>
                <a:rPr lang="en-US" altLang="zh-CN" sz="2400" dirty="0">
                  <a:solidFill>
                    <a:srgbClr val="000066"/>
                  </a:solidFill>
                  <a:latin typeface="+mn-ea"/>
                </a:rPr>
                <a:t>-</a:t>
              </a:r>
              <a:r>
                <a:rPr lang="zh-CN" altLang="en-US" sz="2400" dirty="0">
                  <a:solidFill>
                    <a:srgbClr val="000066"/>
                  </a:solidFill>
                  <a:latin typeface="+mn-ea"/>
                </a:rPr>
                <a:t>半乳糖苷透过酶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3FD62F5-4E25-4285-BD64-9590F16749E5}"/>
                </a:ext>
              </a:extLst>
            </p:cNvPr>
            <p:cNvSpPr txBox="1"/>
            <p:nvPr/>
          </p:nvSpPr>
          <p:spPr>
            <a:xfrm>
              <a:off x="7072330" y="3455702"/>
              <a:ext cx="1214445" cy="830554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400" dirty="0">
                  <a:solidFill>
                    <a:srgbClr val="000066"/>
                  </a:solidFill>
                  <a:latin typeface="+mn-ea"/>
                </a:rPr>
                <a:t>乙酰基转移酶</a:t>
              </a: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21E42903-8CEB-F68D-93CA-0AE92C6D5A04}"/>
              </a:ext>
            </a:extLst>
          </p:cNvPr>
          <p:cNvSpPr txBox="1"/>
          <p:nvPr/>
        </p:nvSpPr>
        <p:spPr>
          <a:xfrm>
            <a:off x="3707904" y="4365104"/>
            <a:ext cx="52217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zh-CN" sz="1800" b="0" i="1" dirty="0">
                <a:solidFill>
                  <a:srgbClr val="000000"/>
                </a:solidFill>
                <a:effectLst/>
                <a:latin typeface="TimesNewRomanPS-ItalicMT"/>
              </a:rPr>
              <a:t>β</a:t>
            </a:r>
            <a:r>
              <a:rPr lang="el-GR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-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galactosidase (</a:t>
            </a:r>
            <a:r>
              <a:rPr lang="en-US" altLang="zh-CN" sz="1800" b="0" i="1" dirty="0">
                <a:solidFill>
                  <a:srgbClr val="000000"/>
                </a:solidFill>
                <a:effectLst/>
                <a:latin typeface="TimesNewRomanPS-ItalicMT"/>
              </a:rPr>
              <a:t>Z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), </a:t>
            </a:r>
          </a:p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                   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NewRomanPSMT"/>
              </a:rPr>
              <a:t>galactoside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 permease (</a:t>
            </a:r>
            <a:r>
              <a:rPr lang="en-US" altLang="zh-CN" sz="1800" b="0" i="1" dirty="0">
                <a:solidFill>
                  <a:srgbClr val="000000"/>
                </a:solidFill>
                <a:effectLst/>
                <a:latin typeface="TimesNewRomanPS-ItalicMT"/>
              </a:rPr>
              <a:t>Y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),  </a:t>
            </a:r>
          </a:p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                               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NewRomanPSMT"/>
              </a:rPr>
              <a:t>thiogalactoside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 transacetylase (</a:t>
            </a:r>
            <a:r>
              <a:rPr lang="en-US" altLang="zh-CN" sz="1800" b="0" i="1" dirty="0">
                <a:solidFill>
                  <a:srgbClr val="000000"/>
                </a:solidFill>
                <a:effectLst/>
                <a:latin typeface="TimesNewRomanPS-ItalicMT"/>
              </a:rPr>
              <a:t>A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)</a:t>
            </a:r>
            <a:r>
              <a:rPr lang="en-US" altLang="zh-CN" dirty="0"/>
              <a:t> </a:t>
            </a:r>
            <a:br>
              <a:rPr lang="en-US" altLang="zh-CN" dirty="0"/>
            </a:b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94689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BA66A4F-63E4-49B6-9E2C-8F0771B7BB3D}"/>
              </a:ext>
            </a:extLst>
          </p:cNvPr>
          <p:cNvGrpSpPr>
            <a:grpSpLocks/>
          </p:cNvGrpSpPr>
          <p:nvPr/>
        </p:nvGrpSpPr>
        <p:grpSpPr bwMode="auto">
          <a:xfrm>
            <a:off x="1890464" y="2024473"/>
            <a:ext cx="6172200" cy="508397"/>
            <a:chOff x="0" y="2112"/>
            <a:chExt cx="5184" cy="42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AC3A231-459C-4091-9261-D61F588D22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2112"/>
              <a:ext cx="4464" cy="427"/>
              <a:chOff x="720" y="2112"/>
              <a:chExt cx="4464" cy="427"/>
            </a:xfrm>
          </p:grpSpPr>
          <p:sp>
            <p:nvSpPr>
              <p:cNvPr id="55318" name="Line 4">
                <a:extLst>
                  <a:ext uri="{FF2B5EF4-FFF2-40B4-BE49-F238E27FC236}">
                    <a16:creationId xmlns:a16="http://schemas.microsoft.com/office/drawing/2014/main" id="{A040CA79-AB9B-4386-AD1A-05915A31DB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160"/>
                <a:ext cx="4464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19" name="Line 5">
                <a:extLst>
                  <a:ext uri="{FF2B5EF4-FFF2-40B4-BE49-F238E27FC236}">
                    <a16:creationId xmlns:a16="http://schemas.microsoft.com/office/drawing/2014/main" id="{10AA9EEF-7779-4711-894C-1D07A4AE44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448"/>
                <a:ext cx="4464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20" name="Rectangle 6">
                <a:extLst>
                  <a:ext uri="{FF2B5EF4-FFF2-40B4-BE49-F238E27FC236}">
                    <a16:creationId xmlns:a16="http://schemas.microsoft.com/office/drawing/2014/main" id="{3DD9DC46-54D5-4746-A277-5945B1FDB1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160"/>
                <a:ext cx="528" cy="28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1" lang="zh-CN" altLang="zh-CN" sz="2400"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5321" name="Rectangle 7">
                <a:extLst>
                  <a:ext uri="{FF2B5EF4-FFF2-40B4-BE49-F238E27FC236}">
                    <a16:creationId xmlns:a16="http://schemas.microsoft.com/office/drawing/2014/main" id="{B3553288-C7FD-48AD-AD5D-5A4B9013FD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2160"/>
                <a:ext cx="576" cy="28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1" lang="zh-CN" altLang="zh-CN" sz="2400"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5322" name="Rectangle 8">
                <a:extLst>
                  <a:ext uri="{FF2B5EF4-FFF2-40B4-BE49-F238E27FC236}">
                    <a16:creationId xmlns:a16="http://schemas.microsoft.com/office/drawing/2014/main" id="{E02CD33B-BF6F-46E2-881A-8ADFA7140A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2160"/>
                <a:ext cx="576" cy="28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1" lang="zh-CN" altLang="zh-CN" sz="2400"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5323" name="Text Box 9">
                <a:extLst>
                  <a:ext uri="{FF2B5EF4-FFF2-40B4-BE49-F238E27FC236}">
                    <a16:creationId xmlns:a16="http://schemas.microsoft.com/office/drawing/2014/main" id="{20BAA745-5625-4F91-A376-A2681FFE5F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4" y="2112"/>
                <a:ext cx="336" cy="4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en-US" altLang="zh-CN" sz="2700" b="1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Z</a:t>
                </a:r>
              </a:p>
            </p:txBody>
          </p:sp>
          <p:sp>
            <p:nvSpPr>
              <p:cNvPr id="55324" name="Text Box 10">
                <a:extLst>
                  <a:ext uri="{FF2B5EF4-FFF2-40B4-BE49-F238E27FC236}">
                    <a16:creationId xmlns:a16="http://schemas.microsoft.com/office/drawing/2014/main" id="{5740D9DA-F10B-42B7-9DD1-937831F321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0" y="2112"/>
                <a:ext cx="336" cy="4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en-US" altLang="zh-CN" sz="2700" b="1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Y</a:t>
                </a:r>
              </a:p>
            </p:txBody>
          </p:sp>
          <p:sp>
            <p:nvSpPr>
              <p:cNvPr id="55325" name="Text Box 11">
                <a:extLst>
                  <a:ext uri="{FF2B5EF4-FFF2-40B4-BE49-F238E27FC236}">
                    <a16:creationId xmlns:a16="http://schemas.microsoft.com/office/drawing/2014/main" id="{68C2ED8E-6E20-4844-9F34-8622762B1F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112"/>
                <a:ext cx="336" cy="4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en-US" altLang="zh-CN" sz="2700" b="1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A</a:t>
                </a:r>
              </a:p>
            </p:txBody>
          </p:sp>
          <p:sp>
            <p:nvSpPr>
              <p:cNvPr id="55326" name="Rectangle 12" descr="浅色上对角线">
                <a:extLst>
                  <a:ext uri="{FF2B5EF4-FFF2-40B4-BE49-F238E27FC236}">
                    <a16:creationId xmlns:a16="http://schemas.microsoft.com/office/drawing/2014/main" id="{05C488E5-25B2-40E4-9E75-54F72EF4FD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2160"/>
                <a:ext cx="624" cy="288"/>
              </a:xfrm>
              <a:prstGeom prst="rect">
                <a:avLst/>
              </a:prstGeom>
              <a:blipFill dpi="0" rotWithShape="0">
                <a:blip r:embed="rId2" cstate="print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27" name="Text Box 13">
                <a:extLst>
                  <a:ext uri="{FF2B5EF4-FFF2-40B4-BE49-F238E27FC236}">
                    <a16:creationId xmlns:a16="http://schemas.microsoft.com/office/drawing/2014/main" id="{247D7E23-1A5B-4EE6-9E31-4CA1A4E50B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8" y="2112"/>
                <a:ext cx="432" cy="4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en-US" altLang="zh-CN" sz="2700" b="1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O</a:t>
                </a:r>
              </a:p>
            </p:txBody>
          </p:sp>
          <p:sp>
            <p:nvSpPr>
              <p:cNvPr id="55328" name="Rectangle 14" descr="之字形">
                <a:extLst>
                  <a:ext uri="{FF2B5EF4-FFF2-40B4-BE49-F238E27FC236}">
                    <a16:creationId xmlns:a16="http://schemas.microsoft.com/office/drawing/2014/main" id="{E7A3C4E7-2FC9-45E6-B3AB-2A7339B82D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2160"/>
                <a:ext cx="672" cy="288"/>
              </a:xfrm>
              <a:prstGeom prst="rect">
                <a:avLst/>
              </a:prstGeom>
              <a:blipFill dpi="0" rotWithShape="0">
                <a:blip r:embed="rId3" cstate="print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5329" name="Text Box 15">
                <a:extLst>
                  <a:ext uri="{FF2B5EF4-FFF2-40B4-BE49-F238E27FC236}">
                    <a16:creationId xmlns:a16="http://schemas.microsoft.com/office/drawing/2014/main" id="{98606330-1E05-43C1-928A-2EEA4D3B9B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4" y="2112"/>
                <a:ext cx="336" cy="4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en-US" altLang="zh-CN" sz="2700" b="1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P</a:t>
                </a:r>
              </a:p>
            </p:txBody>
          </p:sp>
          <p:sp>
            <p:nvSpPr>
              <p:cNvPr id="55330" name="Rectangle 16" descr="90%">
                <a:extLst>
                  <a:ext uri="{FF2B5EF4-FFF2-40B4-BE49-F238E27FC236}">
                    <a16:creationId xmlns:a16="http://schemas.microsoft.com/office/drawing/2014/main" id="{5F85D928-7086-4ECD-B166-B66888C46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2160"/>
                <a:ext cx="432" cy="288"/>
              </a:xfrm>
              <a:prstGeom prst="rect">
                <a:avLst/>
              </a:prstGeom>
              <a:blipFill dpi="0" rotWithShape="0">
                <a:blip r:embed="rId4" cstate="print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5317" name="Text Box 17">
              <a:extLst>
                <a:ext uri="{FF2B5EF4-FFF2-40B4-BE49-F238E27FC236}">
                  <a16:creationId xmlns:a16="http://schemas.microsoft.com/office/drawing/2014/main" id="{C00E52C0-69F4-4714-8363-1FC9B472EA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112"/>
              <a:ext cx="672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100" b="1">
                  <a:latin typeface="Times New Roman" panose="02020603050405020304" pitchFamily="18" charset="0"/>
                  <a:ea typeface="华文楷体" panose="02010600040101010101" pitchFamily="2" charset="-122"/>
                </a:rPr>
                <a:t>DNA</a:t>
              </a:r>
            </a:p>
          </p:txBody>
        </p:sp>
      </p:grpSp>
      <p:grpSp>
        <p:nvGrpSpPr>
          <p:cNvPr id="5" name="Group 18">
            <a:extLst>
              <a:ext uri="{FF2B5EF4-FFF2-40B4-BE49-F238E27FC236}">
                <a16:creationId xmlns:a16="http://schemas.microsoft.com/office/drawing/2014/main" id="{307E6BF8-2F69-4F60-8321-A5184C8095C6}"/>
              </a:ext>
            </a:extLst>
          </p:cNvPr>
          <p:cNvGrpSpPr>
            <a:grpSpLocks/>
          </p:cNvGrpSpPr>
          <p:nvPr/>
        </p:nvGrpSpPr>
        <p:grpSpPr bwMode="auto">
          <a:xfrm>
            <a:off x="2186930" y="1494644"/>
            <a:ext cx="3761184" cy="2987279"/>
            <a:chOff x="249" y="1488"/>
            <a:chExt cx="3159" cy="2509"/>
          </a:xfrm>
        </p:grpSpPr>
        <p:sp>
          <p:nvSpPr>
            <p:cNvPr id="55305" name="Text Box 19">
              <a:extLst>
                <a:ext uri="{FF2B5EF4-FFF2-40B4-BE49-F238E27FC236}">
                  <a16:creationId xmlns:a16="http://schemas.microsoft.com/office/drawing/2014/main" id="{15504E5B-84C1-4590-AC1C-61AD6308D1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1488"/>
              <a:ext cx="912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100" b="1">
                  <a:latin typeface="Times New Roman" panose="02020603050405020304" pitchFamily="18" charset="0"/>
                  <a:ea typeface="华文楷体" panose="02010600040101010101" pitchFamily="2" charset="-122"/>
                </a:rPr>
                <a:t> </a:t>
              </a:r>
              <a:r>
                <a:rPr kumimoji="1" lang="zh-CN" altLang="en-US" sz="2100" b="1">
                  <a:latin typeface="Times New Roman" panose="02020603050405020304" pitchFamily="18" charset="0"/>
                  <a:ea typeface="华文楷体" panose="02010600040101010101" pitchFamily="2" charset="-122"/>
                </a:rPr>
                <a:t>调控区</a:t>
              </a:r>
            </a:p>
          </p:txBody>
        </p:sp>
        <p:sp>
          <p:nvSpPr>
            <p:cNvPr id="55306" name="AutoShape 20">
              <a:extLst>
                <a:ext uri="{FF2B5EF4-FFF2-40B4-BE49-F238E27FC236}">
                  <a16:creationId xmlns:a16="http://schemas.microsoft.com/office/drawing/2014/main" id="{57DE7401-DCEC-41A3-A267-4E74B49B9194}"/>
                </a:ext>
              </a:extLst>
            </p:cNvPr>
            <p:cNvSpPr>
              <a:spLocks/>
            </p:cNvSpPr>
            <p:nvPr/>
          </p:nvSpPr>
          <p:spPr bwMode="auto">
            <a:xfrm rot="5406250">
              <a:off x="1968" y="1392"/>
              <a:ext cx="192" cy="1056"/>
            </a:xfrm>
            <a:prstGeom prst="leftBrace">
              <a:avLst>
                <a:gd name="adj1" fmla="val 45833"/>
                <a:gd name="adj2" fmla="val 48861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6" name="Group 21">
              <a:extLst>
                <a:ext uri="{FF2B5EF4-FFF2-40B4-BE49-F238E27FC236}">
                  <a16:creationId xmlns:a16="http://schemas.microsoft.com/office/drawing/2014/main" id="{113F2D49-4F2B-489B-B901-4B1163E138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" y="2544"/>
              <a:ext cx="1575" cy="1453"/>
              <a:chOff x="249" y="2544"/>
              <a:chExt cx="1575" cy="1453"/>
            </a:xfrm>
          </p:grpSpPr>
          <p:sp>
            <p:nvSpPr>
              <p:cNvPr id="55314" name="Text Box 22">
                <a:extLst>
                  <a:ext uri="{FF2B5EF4-FFF2-40B4-BE49-F238E27FC236}">
                    <a16:creationId xmlns:a16="http://schemas.microsoft.com/office/drawing/2014/main" id="{82E33B4A-17CD-4002-A659-AEF6341587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" y="3648"/>
                <a:ext cx="1575" cy="349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en-US" altLang="zh-CN" sz="21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CAP</a:t>
                </a:r>
                <a:r>
                  <a:rPr kumimoji="1" lang="zh-CN" altLang="en-US" sz="21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结合位点</a:t>
                </a:r>
              </a:p>
            </p:txBody>
          </p:sp>
          <p:sp>
            <p:nvSpPr>
              <p:cNvPr id="55315" name="Line 23">
                <a:extLst>
                  <a:ext uri="{FF2B5EF4-FFF2-40B4-BE49-F238E27FC236}">
                    <a16:creationId xmlns:a16="http://schemas.microsoft.com/office/drawing/2014/main" id="{17ABE14D-102C-4440-BFD7-3A06E6F71A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2544"/>
                <a:ext cx="0" cy="1104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miter lim="800000"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" name="Group 24">
              <a:extLst>
                <a:ext uri="{FF2B5EF4-FFF2-40B4-BE49-F238E27FC236}">
                  <a16:creationId xmlns:a16="http://schemas.microsoft.com/office/drawing/2014/main" id="{1593485C-2E9C-43D0-9901-9AE3306C95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2496"/>
              <a:ext cx="1200" cy="1117"/>
              <a:chOff x="1632" y="2496"/>
              <a:chExt cx="1200" cy="1117"/>
            </a:xfrm>
          </p:grpSpPr>
          <p:sp>
            <p:nvSpPr>
              <p:cNvPr id="55312" name="Text Box 25">
                <a:extLst>
                  <a:ext uri="{FF2B5EF4-FFF2-40B4-BE49-F238E27FC236}">
                    <a16:creationId xmlns:a16="http://schemas.microsoft.com/office/drawing/2014/main" id="{467AB6EA-6EE7-4D79-AFC8-35A8D64C26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2" y="3264"/>
                <a:ext cx="1200" cy="349"/>
              </a:xfrm>
              <a:prstGeom prst="rect">
                <a:avLst/>
              </a:prstGeom>
              <a:noFill/>
              <a:ln w="9525">
                <a:solidFill>
                  <a:srgbClr val="5F4A4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zh-CN" altLang="en-US" sz="2100" b="1">
                    <a:solidFill>
                      <a:srgbClr val="5F4A43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启动序列</a:t>
                </a:r>
              </a:p>
            </p:txBody>
          </p:sp>
          <p:sp>
            <p:nvSpPr>
              <p:cNvPr id="55313" name="Line 26">
                <a:extLst>
                  <a:ext uri="{FF2B5EF4-FFF2-40B4-BE49-F238E27FC236}">
                    <a16:creationId xmlns:a16="http://schemas.microsoft.com/office/drawing/2014/main" id="{96D563DD-6970-479B-8F02-A94278FBB6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12" y="2496"/>
                <a:ext cx="0" cy="76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" name="Group 27">
              <a:extLst>
                <a:ext uri="{FF2B5EF4-FFF2-40B4-BE49-F238E27FC236}">
                  <a16:creationId xmlns:a16="http://schemas.microsoft.com/office/drawing/2014/main" id="{A781CEE5-CE56-4C70-97BC-9EBCD08291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496"/>
              <a:ext cx="1056" cy="733"/>
              <a:chOff x="2352" y="2496"/>
              <a:chExt cx="1056" cy="733"/>
            </a:xfrm>
          </p:grpSpPr>
          <p:sp>
            <p:nvSpPr>
              <p:cNvPr id="55310" name="Text Box 28">
                <a:extLst>
                  <a:ext uri="{FF2B5EF4-FFF2-40B4-BE49-F238E27FC236}">
                    <a16:creationId xmlns:a16="http://schemas.microsoft.com/office/drawing/2014/main" id="{783BA5D2-7B22-4C7D-A6BA-65449BD532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880"/>
                <a:ext cx="1056" cy="349"/>
              </a:xfrm>
              <a:prstGeom prst="rect">
                <a:avLst/>
              </a:prstGeom>
              <a:noFill/>
              <a:ln w="9525">
                <a:solidFill>
                  <a:srgbClr val="D9820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zh-CN" altLang="en-US" sz="2100" b="1">
                    <a:solidFill>
                      <a:srgbClr val="CC66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操纵序列</a:t>
                </a:r>
              </a:p>
            </p:txBody>
          </p:sp>
          <p:sp>
            <p:nvSpPr>
              <p:cNvPr id="55311" name="Line 29">
                <a:extLst>
                  <a:ext uri="{FF2B5EF4-FFF2-40B4-BE49-F238E27FC236}">
                    <a16:creationId xmlns:a16="http://schemas.microsoft.com/office/drawing/2014/main" id="{EDD08988-E6D5-4132-9D6A-4289D3B77C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88" y="2496"/>
                <a:ext cx="0" cy="384"/>
              </a:xfrm>
              <a:prstGeom prst="line">
                <a:avLst/>
              </a:prstGeom>
              <a:noFill/>
              <a:ln w="38100">
                <a:solidFill>
                  <a:srgbClr val="D9820F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9" name="Group 30">
            <a:extLst>
              <a:ext uri="{FF2B5EF4-FFF2-40B4-BE49-F238E27FC236}">
                <a16:creationId xmlns:a16="http://schemas.microsoft.com/office/drawing/2014/main" id="{6B87D7AE-AF85-46A5-A634-8C7713BF8154}"/>
              </a:ext>
            </a:extLst>
          </p:cNvPr>
          <p:cNvGrpSpPr>
            <a:grpSpLocks/>
          </p:cNvGrpSpPr>
          <p:nvPr/>
        </p:nvGrpSpPr>
        <p:grpSpPr bwMode="auto">
          <a:xfrm>
            <a:off x="5948114" y="1376772"/>
            <a:ext cx="3195886" cy="3932635"/>
            <a:chOff x="3408" y="1488"/>
            <a:chExt cx="2352" cy="3303"/>
          </a:xfrm>
        </p:grpSpPr>
        <p:sp>
          <p:nvSpPr>
            <p:cNvPr id="55302" name="Text Box 31">
              <a:extLst>
                <a:ext uri="{FF2B5EF4-FFF2-40B4-BE49-F238E27FC236}">
                  <a16:creationId xmlns:a16="http://schemas.microsoft.com/office/drawing/2014/main" id="{57B5EC86-27EC-43A6-A22F-2E4BCF68E9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1488"/>
              <a:ext cx="1488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100" b="1">
                  <a:latin typeface="Times New Roman" panose="02020603050405020304" pitchFamily="18" charset="0"/>
                  <a:ea typeface="华文楷体" panose="02010600040101010101" pitchFamily="2" charset="-122"/>
                </a:rPr>
                <a:t>  </a:t>
              </a:r>
              <a:r>
                <a:rPr kumimoji="1" lang="zh-CN" altLang="en-US" sz="2100" b="1">
                  <a:latin typeface="Times New Roman" panose="02020603050405020304" pitchFamily="18" charset="0"/>
                  <a:ea typeface="华文楷体" panose="02010600040101010101" pitchFamily="2" charset="-122"/>
                </a:rPr>
                <a:t>结构基因</a:t>
              </a:r>
            </a:p>
          </p:txBody>
        </p:sp>
        <p:sp>
          <p:nvSpPr>
            <p:cNvPr id="55303" name="AutoShape 32">
              <a:extLst>
                <a:ext uri="{FF2B5EF4-FFF2-40B4-BE49-F238E27FC236}">
                  <a16:creationId xmlns:a16="http://schemas.microsoft.com/office/drawing/2014/main" id="{6F66D17E-E25D-4026-8068-47C10A1F6880}"/>
                </a:ext>
              </a:extLst>
            </p:cNvPr>
            <p:cNvSpPr>
              <a:spLocks/>
            </p:cNvSpPr>
            <p:nvPr/>
          </p:nvSpPr>
          <p:spPr bwMode="auto">
            <a:xfrm rot="5406250">
              <a:off x="3888" y="1392"/>
              <a:ext cx="192" cy="1056"/>
            </a:xfrm>
            <a:prstGeom prst="leftBrace">
              <a:avLst>
                <a:gd name="adj1" fmla="val 45833"/>
                <a:gd name="adj2" fmla="val 48861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55304" name="Text Box 33">
              <a:extLst>
                <a:ext uri="{FF2B5EF4-FFF2-40B4-BE49-F238E27FC236}">
                  <a16:creationId xmlns:a16="http://schemas.microsoft.com/office/drawing/2014/main" id="{395392BE-427B-4F40-99D1-CD10495174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736"/>
              <a:ext cx="2064" cy="2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800" b="1" dirty="0">
                  <a:latin typeface="Times New Roman" panose="02020603050405020304" pitchFamily="18" charset="0"/>
                </a:rPr>
                <a:t>P:    Promoter </a:t>
              </a:r>
              <a:r>
                <a:rPr kumimoji="1" lang="zh-CN" altLang="en-US" sz="1800" b="1" dirty="0">
                  <a:latin typeface="Times New Roman" panose="02020603050405020304" pitchFamily="18" charset="0"/>
                </a:rPr>
                <a:t>启动子</a:t>
              </a:r>
              <a:endParaRPr kumimoji="1" lang="en-US" altLang="zh-CN" sz="1800" b="1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800" b="1" dirty="0">
                  <a:latin typeface="Times New Roman" panose="02020603050405020304" pitchFamily="18" charset="0"/>
                </a:rPr>
                <a:t>O</a:t>
              </a:r>
              <a:r>
                <a:rPr kumimoji="1" lang="zh-CN" altLang="en-US" sz="1800" b="1" dirty="0">
                  <a:latin typeface="Times New Roman" panose="02020603050405020304" pitchFamily="18" charset="0"/>
                </a:rPr>
                <a:t>： </a:t>
              </a:r>
              <a:r>
                <a:rPr kumimoji="1" lang="en-US" altLang="zh-CN" sz="1800" b="1" dirty="0">
                  <a:latin typeface="Times New Roman" panose="02020603050405020304" pitchFamily="18" charset="0"/>
                </a:rPr>
                <a:t>Operator</a:t>
              </a:r>
              <a:r>
                <a:rPr kumimoji="1" lang="zh-CN" altLang="en-US" sz="1800" b="1" dirty="0">
                  <a:latin typeface="Times New Roman" panose="02020603050405020304" pitchFamily="18" charset="0"/>
                </a:rPr>
                <a:t>操纵基因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800" b="1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Z</a:t>
              </a:r>
              <a:r>
                <a:rPr kumimoji="1" lang="zh-CN" altLang="en-US" sz="1800" b="1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： </a:t>
              </a:r>
              <a:r>
                <a:rPr kumimoji="1" lang="en-US" altLang="zh-CN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β-</a:t>
              </a:r>
              <a:r>
                <a:rPr kumimoji="1" lang="zh-CN" altLang="en-US" sz="1800" b="1" dirty="0">
                  <a:latin typeface="Times New Roman" panose="02020603050405020304" pitchFamily="18" charset="0"/>
                </a:rPr>
                <a:t>半乳糖苷酶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800" b="1" dirty="0">
                  <a:latin typeface="Times New Roman" panose="02020603050405020304" pitchFamily="18" charset="0"/>
                </a:rPr>
                <a:t>Y</a:t>
              </a:r>
              <a:r>
                <a:rPr kumimoji="1" lang="zh-CN" altLang="en-US" sz="1800" b="1" dirty="0">
                  <a:latin typeface="Times New Roman" panose="02020603050405020304" pitchFamily="18" charset="0"/>
                </a:rPr>
                <a:t>： </a:t>
              </a:r>
              <a:r>
                <a:rPr kumimoji="1" lang="en-US" altLang="zh-CN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β-</a:t>
              </a:r>
              <a:r>
                <a:rPr kumimoji="1" lang="zh-CN" altLang="en-US" sz="1800" b="1" dirty="0">
                  <a:latin typeface="Times New Roman" panose="02020603050405020304" pitchFamily="18" charset="0"/>
                </a:rPr>
                <a:t>半乳糖透过酶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800" b="1" dirty="0">
                  <a:latin typeface="Times New Roman" panose="02020603050405020304" pitchFamily="18" charset="0"/>
                </a:rPr>
                <a:t>A</a:t>
              </a:r>
              <a:r>
                <a:rPr kumimoji="1" lang="zh-CN" altLang="en-US" sz="1800" b="1" dirty="0">
                  <a:latin typeface="Times New Roman" panose="02020603050405020304" pitchFamily="18" charset="0"/>
                </a:rPr>
                <a:t>：乙酰基转移酶</a:t>
              </a:r>
              <a:endParaRPr kumimoji="1" lang="en-US" altLang="zh-CN" sz="1800" b="1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800" b="1" dirty="0">
                  <a:latin typeface="Times New Roman" panose="02020603050405020304" pitchFamily="18" charset="0"/>
                </a:rPr>
                <a:t>T</a:t>
              </a:r>
              <a:r>
                <a:rPr kumimoji="1" lang="zh-CN" altLang="en-US" sz="1800" b="1" dirty="0">
                  <a:latin typeface="Times New Roman" panose="02020603050405020304" pitchFamily="18" charset="0"/>
                </a:rPr>
                <a:t>：</a:t>
              </a:r>
              <a:r>
                <a:rPr kumimoji="1" lang="en-US" altLang="zh-CN" sz="1800" b="1" dirty="0">
                  <a:latin typeface="Times New Roman" panose="02020603050405020304" pitchFamily="18" charset="0"/>
                </a:rPr>
                <a:t>Terminator</a:t>
              </a:r>
              <a:r>
                <a:rPr kumimoji="1" lang="zh-CN" altLang="en-US" sz="1800" b="1" dirty="0">
                  <a:latin typeface="Times New Roman" panose="02020603050405020304" pitchFamily="18" charset="0"/>
                </a:rPr>
                <a:t>终止子</a:t>
              </a:r>
              <a:endParaRPr kumimoji="1" lang="en-US" altLang="zh-CN" sz="1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5301" name="Rectangle 36">
            <a:extLst>
              <a:ext uri="{FF2B5EF4-FFF2-40B4-BE49-F238E27FC236}">
                <a16:creationId xmlns:a16="http://schemas.microsoft.com/office/drawing/2014/main" id="{6F05D0F1-A6A6-4724-AFE2-AE386F79C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6930" y="4833157"/>
            <a:ext cx="22044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1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cAMP</a:t>
            </a:r>
            <a:r>
              <a:rPr kumimoji="1" lang="en-US" altLang="zh-CN" sz="21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—</a:t>
            </a:r>
            <a:r>
              <a:rPr kumimoji="1" lang="en-US" altLang="zh-CN" sz="21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CAP</a:t>
            </a:r>
            <a:r>
              <a:rPr kumimoji="1" lang="zh-CN" altLang="en-US" sz="21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复合物</a:t>
            </a:r>
          </a:p>
        </p:txBody>
      </p:sp>
      <p:sp>
        <p:nvSpPr>
          <p:cNvPr id="35" name="TextBox 2">
            <a:extLst>
              <a:ext uri="{FF2B5EF4-FFF2-40B4-BE49-F238E27FC236}">
                <a16:creationId xmlns:a16="http://schemas.microsoft.com/office/drawing/2014/main" id="{492AD165-553C-4E30-81CF-12406D0E0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57200"/>
            <a:ext cx="525336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Calibri" panose="020F0502020204030204" pitchFamily="34" charset="0"/>
              </a:rPr>
              <a:t>乳糖操纵子</a:t>
            </a:r>
            <a:r>
              <a:rPr lang="en-US" altLang="zh-CN" b="1" dirty="0">
                <a:latin typeface="Calibri" panose="020F0502020204030204" pitchFamily="34" charset="0"/>
              </a:rPr>
              <a:t>-</a:t>
            </a:r>
            <a:r>
              <a:rPr lang="zh-CN" altLang="en-US" b="1" dirty="0">
                <a:latin typeface="Calibri" panose="020F0502020204030204" pitchFamily="34" charset="0"/>
              </a:rPr>
              <a:t>正、负调控模型</a:t>
            </a:r>
          </a:p>
        </p:txBody>
      </p:sp>
      <p:grpSp>
        <p:nvGrpSpPr>
          <p:cNvPr id="10" name="组合 2">
            <a:extLst>
              <a:ext uri="{FF2B5EF4-FFF2-40B4-BE49-F238E27FC236}">
                <a16:creationId xmlns:a16="http://schemas.microsoft.com/office/drawing/2014/main" id="{00D761FC-CA63-4BF9-8A20-A96DE06B9BC1}"/>
              </a:ext>
            </a:extLst>
          </p:cNvPr>
          <p:cNvGrpSpPr/>
          <p:nvPr/>
        </p:nvGrpSpPr>
        <p:grpSpPr>
          <a:xfrm>
            <a:off x="451118" y="2025369"/>
            <a:ext cx="1325046" cy="369332"/>
            <a:chOff x="2108468" y="5641353"/>
            <a:chExt cx="1325046" cy="369332"/>
          </a:xfrm>
        </p:grpSpPr>
        <p:sp>
          <p:nvSpPr>
            <p:cNvPr id="39" name="Line 4">
              <a:extLst>
                <a:ext uri="{FF2B5EF4-FFF2-40B4-BE49-F238E27FC236}">
                  <a16:creationId xmlns:a16="http://schemas.microsoft.com/office/drawing/2014/main" id="{537709C3-4E9F-4B0C-AABB-E806707AE0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8468" y="5667785"/>
              <a:ext cx="132504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0" name="Line 5">
              <a:extLst>
                <a:ext uri="{FF2B5EF4-FFF2-40B4-BE49-F238E27FC236}">
                  <a16:creationId xmlns:a16="http://schemas.microsoft.com/office/drawing/2014/main" id="{E14BD8F2-F87A-46DF-B20F-D04FDDF353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8468" y="6010685"/>
              <a:ext cx="132504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1" name="Rectangle 16" descr="90%">
              <a:extLst>
                <a:ext uri="{FF2B5EF4-FFF2-40B4-BE49-F238E27FC236}">
                  <a16:creationId xmlns:a16="http://schemas.microsoft.com/office/drawing/2014/main" id="{535D8CB9-7CE1-4B62-B715-739F62666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6930" y="5667785"/>
              <a:ext cx="1127393" cy="34290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8BE34119-FC5D-4723-9D9B-8EE2FA12059F}"/>
                </a:ext>
              </a:extLst>
            </p:cNvPr>
            <p:cNvSpPr txBox="1"/>
            <p:nvPr/>
          </p:nvSpPr>
          <p:spPr>
            <a:xfrm>
              <a:off x="2418694" y="5641353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err="1">
                  <a:latin typeface="Times New Roman" panose="02020603050405020304" pitchFamily="18" charset="0"/>
                </a:rPr>
                <a:t>LacI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1E11E69A-CF9E-4119-B0B7-06F0DBE5E9DB}"/>
              </a:ext>
            </a:extLst>
          </p:cNvPr>
          <p:cNvSpPr txBox="1"/>
          <p:nvPr/>
        </p:nvSpPr>
        <p:spPr>
          <a:xfrm>
            <a:off x="7719764" y="2057202"/>
            <a:ext cx="6284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T</a:t>
            </a:r>
            <a:endParaRPr lang="zh-CN" altLang="en-US" sz="24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A2EEE61-F045-44EC-BDEE-84374B3D7BC6}"/>
              </a:ext>
            </a:extLst>
          </p:cNvPr>
          <p:cNvSpPr txBox="1"/>
          <p:nvPr/>
        </p:nvSpPr>
        <p:spPr>
          <a:xfrm>
            <a:off x="539552" y="2564904"/>
            <a:ext cx="1184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调节基因</a:t>
            </a:r>
          </a:p>
        </p:txBody>
      </p:sp>
    </p:spTree>
    <p:extLst>
      <p:ext uri="{BB962C8B-B14F-4D97-AF65-F5344CB8AC3E}">
        <p14:creationId xmlns:p14="http://schemas.microsoft.com/office/powerpoint/2010/main" val="41318994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DD8B038-D834-1C52-7D3B-EAE250001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0"/>
            <a:ext cx="691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2006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ABDD49E-27C5-6837-FCB1-38B245CA1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0"/>
            <a:ext cx="6048672" cy="6858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50B4CA3-8E63-1EDC-0E00-73CCDB904579}"/>
              </a:ext>
            </a:extLst>
          </p:cNvPr>
          <p:cNvSpPr txBox="1"/>
          <p:nvPr/>
        </p:nvSpPr>
        <p:spPr>
          <a:xfrm>
            <a:off x="4211960" y="623731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dirty="0">
                <a:solidFill>
                  <a:srgbClr val="FF0000"/>
                </a:solidFill>
                <a:effectLst/>
                <a:latin typeface="TimesNewRomanPS-BoldMT"/>
              </a:rPr>
              <a:t>Lactose metabolism in </a:t>
            </a:r>
            <a:r>
              <a:rPr lang="en-US" altLang="zh-CN" sz="1800" b="1" i="1" dirty="0">
                <a:solidFill>
                  <a:srgbClr val="FF0000"/>
                </a:solidFill>
                <a:effectLst/>
                <a:latin typeface="TimesNewRomanPS-BoldItalicMT"/>
              </a:rPr>
              <a:t>E. coli</a:t>
            </a:r>
            <a:r>
              <a:rPr lang="en-US" altLang="zh-CN" sz="1800" b="1" i="0" dirty="0">
                <a:solidFill>
                  <a:srgbClr val="FF0000"/>
                </a:solidFill>
                <a:effectLst/>
                <a:latin typeface="TimesNewRomanPS-BoldMT"/>
              </a:rPr>
              <a:t>. 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6224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5">
            <a:extLst>
              <a:ext uri="{FF2B5EF4-FFF2-40B4-BE49-F238E27FC236}">
                <a16:creationId xmlns:a16="http://schemas.microsoft.com/office/drawing/2014/main" id="{98E79C59-DAD3-457A-BD70-F823830456B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898989"/>
                </a:solidFill>
                <a:latin typeface="Calibri" panose="020F0502020204030204" pitchFamily="34" charset="0"/>
              </a:rPr>
              <a:t>7-</a:t>
            </a:r>
            <a:fld id="{057BFC27-43F8-4CE9-BB6C-199948C7D84E}" type="slidenum">
              <a:rPr lang="en-US" altLang="zh-CN" sz="1200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US" altLang="zh-CN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E90901DF-581E-4580-B888-F46B9EFC558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57188"/>
            <a:ext cx="77724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4000" dirty="0"/>
              <a:t>Negative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en-US" altLang="zh-CN" sz="4000" dirty="0"/>
              <a:t> of the </a:t>
            </a:r>
            <a:r>
              <a:rPr lang="en-US" altLang="zh-CN" sz="4000" i="1" dirty="0"/>
              <a:t>lac</a:t>
            </a:r>
            <a:r>
              <a:rPr lang="en-US" altLang="zh-CN" sz="4000" dirty="0"/>
              <a:t> Operon</a:t>
            </a:r>
          </a:p>
        </p:txBody>
      </p:sp>
      <p:pic>
        <p:nvPicPr>
          <p:cNvPr id="64516" name="Picture 5" descr="negative_control_c_la_739">
            <a:extLst>
              <a:ext uri="{FF2B5EF4-FFF2-40B4-BE49-F238E27FC236}">
                <a16:creationId xmlns:a16="http://schemas.microsoft.com/office/drawing/2014/main" id="{07BDC1C3-494B-4238-9496-7E7DEE8A5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196752"/>
            <a:ext cx="6858000" cy="479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11363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 descr="&#10;F28-05.GIF010                                                  00006FCASumanas' Hard Drive            B4EBCDA7:">
            <a:extLst>
              <a:ext uri="{FF2B5EF4-FFF2-40B4-BE49-F238E27FC236}">
                <a16:creationId xmlns:a16="http://schemas.microsoft.com/office/drawing/2014/main" id="{9B5363CB-CCB9-4F21-AFA1-62C9F9004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1844824"/>
            <a:ext cx="80264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36449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22433E69-CD05-4933-B348-0AC41AC32AE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689993"/>
            <a:ext cx="5976590" cy="700112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cAMP</a:t>
            </a: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与代谢物激活蛋白</a:t>
            </a:r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正调控模型</a:t>
            </a:r>
          </a:p>
        </p:txBody>
      </p:sp>
      <p:sp>
        <p:nvSpPr>
          <p:cNvPr id="65539" name="Text Box 3">
            <a:extLst>
              <a:ext uri="{FF2B5EF4-FFF2-40B4-BE49-F238E27FC236}">
                <a16:creationId xmlns:a16="http://schemas.microsoft.com/office/drawing/2014/main" id="{6EDB2476-484E-43A3-BC53-8E590ECFC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556792"/>
            <a:ext cx="867568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800" b="1" dirty="0">
                <a:latin typeface="Calibri" panose="020F0502020204030204" pitchFamily="34" charset="0"/>
              </a:rPr>
              <a:t>代谢物激活蛋白（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CAP/CRP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(catabolite activator protein/cAMP receptor protein)</a:t>
            </a:r>
            <a:r>
              <a:rPr kumimoji="1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endParaRPr kumimoji="1"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40" name="Text Box 4">
            <a:extLst>
              <a:ext uri="{FF2B5EF4-FFF2-40B4-BE49-F238E27FC236}">
                <a16:creationId xmlns:a16="http://schemas.microsoft.com/office/drawing/2014/main" id="{89F75F2A-EDE0-48B8-9265-188E57AC6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123529"/>
            <a:ext cx="4608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zh-CN" altLang="zh-CN" sz="1800">
              <a:latin typeface="Calibri" panose="020F0502020204030204" pitchFamily="34" charset="0"/>
            </a:endParaRPr>
          </a:p>
        </p:txBody>
      </p:sp>
      <p:pic>
        <p:nvPicPr>
          <p:cNvPr id="65543" name="Picture 2" descr="&#10;F28-05.GIF010                                                  00006FCASumanas' Hard Drive            B4EBCDA7:">
            <a:extLst>
              <a:ext uri="{FF2B5EF4-FFF2-40B4-BE49-F238E27FC236}">
                <a16:creationId xmlns:a16="http://schemas.microsoft.com/office/drawing/2014/main" id="{260C15A8-0B7C-40A3-A90E-CB7FA9FC9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2914104"/>
            <a:ext cx="80264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85024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6">
            <a:extLst>
              <a:ext uri="{FF2B5EF4-FFF2-40B4-BE49-F238E27FC236}">
                <a16:creationId xmlns:a16="http://schemas.microsoft.com/office/drawing/2014/main" id="{87E970AD-42F8-4BC1-B7E5-BA96EA342A6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898989"/>
                </a:solidFill>
                <a:latin typeface="Calibri" panose="020F0502020204030204" pitchFamily="34" charset="0"/>
              </a:rPr>
              <a:t>7-</a:t>
            </a:r>
            <a:fld id="{43A7A5EE-8965-469B-82C5-76B535F8B29C}" type="slidenum">
              <a:rPr lang="en-US" altLang="zh-CN" sz="1200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US" altLang="zh-CN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B9EE74E2-8510-419A-BDBB-7795E20BF8C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479680"/>
            <a:ext cx="5873175" cy="86302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 Plus cAMP Action</a:t>
            </a: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8898BB9C-30AE-407E-87FA-63739822BEEB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340768"/>
            <a:ext cx="9140349" cy="1876425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open promoter complex does not form even if RNA polymerase has bound the DNA unless the CAP-cAMP complex is also bound</a:t>
            </a:r>
          </a:p>
        </p:txBody>
      </p:sp>
      <p:pic>
        <p:nvPicPr>
          <p:cNvPr id="67589" name="Picture 10" descr="cap_plus_camp_c_la_739">
            <a:extLst>
              <a:ext uri="{FF2B5EF4-FFF2-40B4-BE49-F238E27FC236}">
                <a16:creationId xmlns:a16="http://schemas.microsoft.com/office/drawing/2014/main" id="{6B72E554-6F78-4143-91C6-15C29FE9F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124200"/>
            <a:ext cx="7543800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81569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3931B42B-2C6E-4575-81C9-B4C0BED08A2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152400"/>
            <a:ext cx="8610600" cy="1143000"/>
          </a:xfrm>
        </p:spPr>
        <p:txBody>
          <a:bodyPr lIns="90487" tIns="44450" rIns="90487" bIns="44450"/>
          <a:lstStyle/>
          <a:p>
            <a:pPr eaLnBrk="1" hangingPunct="1"/>
            <a:r>
              <a:rPr lang="en-US" altLang="zh-CN" sz="4000"/>
              <a:t>The </a:t>
            </a:r>
            <a:r>
              <a:rPr lang="en-US" altLang="zh-CN" sz="4000" i="1"/>
              <a:t>Lac</a:t>
            </a:r>
            <a:r>
              <a:rPr lang="en-US" altLang="zh-CN" sz="4000"/>
              <a:t> Operon:</a:t>
            </a:r>
            <a:br>
              <a:rPr lang="en-US" altLang="zh-CN" sz="4000"/>
            </a:br>
            <a:r>
              <a:rPr lang="en-US" altLang="zh-CN" sz="2900"/>
              <a:t>When Lactose Is Present But Not Glucose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0135C1F4-D5B9-4ECC-A67D-88C1DFB67342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438400"/>
            <a:ext cx="8382000" cy="457200"/>
            <a:chOff x="240" y="1536"/>
            <a:chExt cx="5280" cy="288"/>
          </a:xfrm>
        </p:grpSpPr>
        <p:sp>
          <p:nvSpPr>
            <p:cNvPr id="69691" name="Line 4">
              <a:extLst>
                <a:ext uri="{FF2B5EF4-FFF2-40B4-BE49-F238E27FC236}">
                  <a16:creationId xmlns:a16="http://schemas.microsoft.com/office/drawing/2014/main" id="{BA40BC47-EA10-490E-AC6D-8AB56F2CDF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680"/>
              <a:ext cx="528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9692" name="Rectangle 5">
              <a:extLst>
                <a:ext uri="{FF2B5EF4-FFF2-40B4-BE49-F238E27FC236}">
                  <a16:creationId xmlns:a16="http://schemas.microsoft.com/office/drawing/2014/main" id="{D21DB968-09FF-4C53-8815-B21707D492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536"/>
              <a:ext cx="720" cy="288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FFFFFF"/>
                  </a:solidFill>
                  <a:latin typeface="Times" panose="02020603050405020304" pitchFamily="18" charset="0"/>
                </a:rPr>
                <a:t>Repressor</a:t>
              </a:r>
            </a:p>
          </p:txBody>
        </p:sp>
        <p:sp>
          <p:nvSpPr>
            <p:cNvPr id="69693" name="Rectangle 6">
              <a:extLst>
                <a:ext uri="{FF2B5EF4-FFF2-40B4-BE49-F238E27FC236}">
                  <a16:creationId xmlns:a16="http://schemas.microsoft.com/office/drawing/2014/main" id="{CF62B38C-B794-4A7E-A74B-FDAD5FC1D5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536"/>
              <a:ext cx="672" cy="288"/>
            </a:xfrm>
            <a:prstGeom prst="rect">
              <a:avLst/>
            </a:prstGeom>
            <a:solidFill>
              <a:srgbClr val="6E004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bg1"/>
                  </a:solidFill>
                  <a:latin typeface="Times" panose="02020603050405020304" pitchFamily="18" charset="0"/>
                </a:rPr>
                <a:t>Promoter</a:t>
              </a:r>
            </a:p>
          </p:txBody>
        </p:sp>
        <p:sp>
          <p:nvSpPr>
            <p:cNvPr id="69694" name="Rectangle 7">
              <a:extLst>
                <a:ext uri="{FF2B5EF4-FFF2-40B4-BE49-F238E27FC236}">
                  <a16:creationId xmlns:a16="http://schemas.microsoft.com/office/drawing/2014/main" id="{D8762D56-0F95-4646-B025-FF6507EE78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6" y="1536"/>
              <a:ext cx="752" cy="288"/>
            </a:xfrm>
            <a:prstGeom prst="rect">
              <a:avLst/>
            </a:prstGeom>
            <a:solidFill>
              <a:srgbClr val="00AE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latin typeface="Times" panose="02020603050405020304" pitchFamily="18" charset="0"/>
                </a:rPr>
                <a:t>LacY</a:t>
              </a:r>
            </a:p>
          </p:txBody>
        </p:sp>
        <p:sp>
          <p:nvSpPr>
            <p:cNvPr id="69695" name="Rectangle 8">
              <a:extLst>
                <a:ext uri="{FF2B5EF4-FFF2-40B4-BE49-F238E27FC236}">
                  <a16:creationId xmlns:a16="http://schemas.microsoft.com/office/drawing/2014/main" id="{C6671B9D-C713-468B-8B88-F409FA17E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8" y="1536"/>
              <a:ext cx="752" cy="28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FF0000"/>
                  </a:solidFill>
                  <a:latin typeface="Times" panose="02020603050405020304" pitchFamily="18" charset="0"/>
                </a:rPr>
                <a:t>LacA</a:t>
              </a:r>
            </a:p>
          </p:txBody>
        </p:sp>
        <p:sp>
          <p:nvSpPr>
            <p:cNvPr id="69696" name="Rectangle 9">
              <a:extLst>
                <a:ext uri="{FF2B5EF4-FFF2-40B4-BE49-F238E27FC236}">
                  <a16:creationId xmlns:a16="http://schemas.microsoft.com/office/drawing/2014/main" id="{906C67DF-56C1-4C11-940A-705E04C6B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536"/>
              <a:ext cx="752" cy="288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FFFFFF"/>
                  </a:solidFill>
                  <a:latin typeface="Times" panose="02020603050405020304" pitchFamily="18" charset="0"/>
                </a:rPr>
                <a:t>LacZ</a:t>
              </a:r>
            </a:p>
          </p:txBody>
        </p:sp>
        <p:grpSp>
          <p:nvGrpSpPr>
            <p:cNvPr id="3" name="Group 10">
              <a:extLst>
                <a:ext uri="{FF2B5EF4-FFF2-40B4-BE49-F238E27FC236}">
                  <a16:creationId xmlns:a16="http://schemas.microsoft.com/office/drawing/2014/main" id="{2A9116EF-A042-4223-8E79-79F6B6B3E2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1536"/>
              <a:ext cx="684" cy="288"/>
              <a:chOff x="2352" y="3024"/>
              <a:chExt cx="684" cy="288"/>
            </a:xfrm>
          </p:grpSpPr>
          <p:sp>
            <p:nvSpPr>
              <p:cNvPr id="69702" name="Freeform 11" descr="Wide upward diagonal">
                <a:extLst>
                  <a:ext uri="{FF2B5EF4-FFF2-40B4-BE49-F238E27FC236}">
                    <a16:creationId xmlns:a16="http://schemas.microsoft.com/office/drawing/2014/main" id="{F98E70B2-B587-47EE-B720-D94F5BBE25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0" y="3024"/>
                <a:ext cx="624" cy="288"/>
              </a:xfrm>
              <a:custGeom>
                <a:avLst/>
                <a:gdLst>
                  <a:gd name="T0" fmla="*/ 0 w 624"/>
                  <a:gd name="T1" fmla="*/ 0 h 288"/>
                  <a:gd name="T2" fmla="*/ 0 w 624"/>
                  <a:gd name="T3" fmla="*/ 288 h 288"/>
                  <a:gd name="T4" fmla="*/ 192 w 624"/>
                  <a:gd name="T5" fmla="*/ 288 h 288"/>
                  <a:gd name="T6" fmla="*/ 192 w 624"/>
                  <a:gd name="T7" fmla="*/ 192 h 288"/>
                  <a:gd name="T8" fmla="*/ 288 w 624"/>
                  <a:gd name="T9" fmla="*/ 192 h 288"/>
                  <a:gd name="T10" fmla="*/ 288 w 624"/>
                  <a:gd name="T11" fmla="*/ 288 h 288"/>
                  <a:gd name="T12" fmla="*/ 384 w 624"/>
                  <a:gd name="T13" fmla="*/ 288 h 288"/>
                  <a:gd name="T14" fmla="*/ 384 w 624"/>
                  <a:gd name="T15" fmla="*/ 192 h 288"/>
                  <a:gd name="T16" fmla="*/ 480 w 624"/>
                  <a:gd name="T17" fmla="*/ 192 h 288"/>
                  <a:gd name="T18" fmla="*/ 480 w 624"/>
                  <a:gd name="T19" fmla="*/ 288 h 288"/>
                  <a:gd name="T20" fmla="*/ 624 w 624"/>
                  <a:gd name="T21" fmla="*/ 288 h 288"/>
                  <a:gd name="T22" fmla="*/ 624 w 624"/>
                  <a:gd name="T23" fmla="*/ 0 h 288"/>
                  <a:gd name="T24" fmla="*/ 0 w 624"/>
                  <a:gd name="T25" fmla="*/ 0 h 28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624"/>
                  <a:gd name="T40" fmla="*/ 0 h 288"/>
                  <a:gd name="T41" fmla="*/ 624 w 624"/>
                  <a:gd name="T42" fmla="*/ 288 h 28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624" h="288">
                    <a:moveTo>
                      <a:pt x="0" y="0"/>
                    </a:moveTo>
                    <a:lnTo>
                      <a:pt x="0" y="288"/>
                    </a:lnTo>
                    <a:lnTo>
                      <a:pt x="192" y="288"/>
                    </a:lnTo>
                    <a:lnTo>
                      <a:pt x="192" y="192"/>
                    </a:lnTo>
                    <a:lnTo>
                      <a:pt x="288" y="192"/>
                    </a:lnTo>
                    <a:lnTo>
                      <a:pt x="288" y="288"/>
                    </a:lnTo>
                    <a:lnTo>
                      <a:pt x="384" y="288"/>
                    </a:lnTo>
                    <a:lnTo>
                      <a:pt x="384" y="192"/>
                    </a:lnTo>
                    <a:lnTo>
                      <a:pt x="480" y="192"/>
                    </a:lnTo>
                    <a:lnTo>
                      <a:pt x="480" y="288"/>
                    </a:lnTo>
                    <a:lnTo>
                      <a:pt x="624" y="288"/>
                    </a:ln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0">
                <a:blip r:embed="rId3" cstate="print"/>
                <a:srcRect/>
                <a:tile tx="0" ty="0" sx="100000" sy="100000" flip="none" algn="tl"/>
              </a:blip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9703" name="Text Box 12">
                <a:extLst>
                  <a:ext uri="{FF2B5EF4-FFF2-40B4-BE49-F238E27FC236}">
                    <a16:creationId xmlns:a16="http://schemas.microsoft.com/office/drawing/2014/main" id="{8094A01E-FA76-4B11-B5CA-505D8F4CD4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3024"/>
                <a:ext cx="6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solidFill>
                      <a:srgbClr val="FFFFFF"/>
                    </a:solidFill>
                    <a:latin typeface="Times" panose="02020603050405020304" pitchFamily="18" charset="0"/>
                  </a:rPr>
                  <a:t>Operator</a:t>
                </a:r>
              </a:p>
            </p:txBody>
          </p:sp>
        </p:grpSp>
        <p:grpSp>
          <p:nvGrpSpPr>
            <p:cNvPr id="4" name="Group 13">
              <a:extLst>
                <a:ext uri="{FF2B5EF4-FFF2-40B4-BE49-F238E27FC236}">
                  <a16:creationId xmlns:a16="http://schemas.microsoft.com/office/drawing/2014/main" id="{0DEAFE07-CDD7-4155-86CF-FC51EEBB9B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536"/>
              <a:ext cx="630" cy="288"/>
              <a:chOff x="1152" y="1920"/>
              <a:chExt cx="630" cy="288"/>
            </a:xfrm>
          </p:grpSpPr>
          <p:sp>
            <p:nvSpPr>
              <p:cNvPr id="69699" name="Freeform 14" descr="Wide downward diagonal">
                <a:extLst>
                  <a:ext uri="{FF2B5EF4-FFF2-40B4-BE49-F238E27FC236}">
                    <a16:creationId xmlns:a16="http://schemas.microsoft.com/office/drawing/2014/main" id="{5E21148D-E169-4C62-B6C2-F7A0A9798E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0" y="1920"/>
                <a:ext cx="528" cy="288"/>
              </a:xfrm>
              <a:custGeom>
                <a:avLst/>
                <a:gdLst>
                  <a:gd name="T0" fmla="*/ 0 w 528"/>
                  <a:gd name="T1" fmla="*/ 0 h 288"/>
                  <a:gd name="T2" fmla="*/ 0 w 528"/>
                  <a:gd name="T3" fmla="*/ 288 h 288"/>
                  <a:gd name="T4" fmla="*/ 144 w 528"/>
                  <a:gd name="T5" fmla="*/ 288 h 288"/>
                  <a:gd name="T6" fmla="*/ 144 w 528"/>
                  <a:gd name="T7" fmla="*/ 240 h 288"/>
                  <a:gd name="T8" fmla="*/ 192 w 528"/>
                  <a:gd name="T9" fmla="*/ 192 h 288"/>
                  <a:gd name="T10" fmla="*/ 240 w 528"/>
                  <a:gd name="T11" fmla="*/ 192 h 288"/>
                  <a:gd name="T12" fmla="*/ 288 w 528"/>
                  <a:gd name="T13" fmla="*/ 240 h 288"/>
                  <a:gd name="T14" fmla="*/ 288 w 528"/>
                  <a:gd name="T15" fmla="*/ 288 h 288"/>
                  <a:gd name="T16" fmla="*/ 528 w 528"/>
                  <a:gd name="T17" fmla="*/ 288 h 288"/>
                  <a:gd name="T18" fmla="*/ 528 w 528"/>
                  <a:gd name="T19" fmla="*/ 0 h 288"/>
                  <a:gd name="T20" fmla="*/ 0 w 528"/>
                  <a:gd name="T21" fmla="*/ 0 h 28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28"/>
                  <a:gd name="T34" fmla="*/ 0 h 288"/>
                  <a:gd name="T35" fmla="*/ 528 w 528"/>
                  <a:gd name="T36" fmla="*/ 288 h 28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28" h="288">
                    <a:moveTo>
                      <a:pt x="0" y="0"/>
                    </a:moveTo>
                    <a:lnTo>
                      <a:pt x="0" y="288"/>
                    </a:lnTo>
                    <a:lnTo>
                      <a:pt x="144" y="288"/>
                    </a:lnTo>
                    <a:lnTo>
                      <a:pt x="144" y="240"/>
                    </a:lnTo>
                    <a:lnTo>
                      <a:pt x="192" y="192"/>
                    </a:lnTo>
                    <a:lnTo>
                      <a:pt x="240" y="192"/>
                    </a:lnTo>
                    <a:lnTo>
                      <a:pt x="288" y="240"/>
                    </a:lnTo>
                    <a:lnTo>
                      <a:pt x="288" y="288"/>
                    </a:lnTo>
                    <a:lnTo>
                      <a:pt x="528" y="288"/>
                    </a:lnTo>
                    <a:lnTo>
                      <a:pt x="528" y="0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0">
                <a:blip r:embed="rId4" cstate="print"/>
                <a:srcRect/>
                <a:tile tx="0" ty="0" sx="100000" sy="100000" flip="none" algn="tl"/>
              </a:blip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9700" name="Text Box 15">
                <a:extLst>
                  <a:ext uri="{FF2B5EF4-FFF2-40B4-BE49-F238E27FC236}">
                    <a16:creationId xmlns:a16="http://schemas.microsoft.com/office/drawing/2014/main" id="{4D050BEE-5802-4A69-9A29-CE03E1E661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2" y="1920"/>
                <a:ext cx="384" cy="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7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solidFill>
                      <a:srgbClr val="FFFFFF"/>
                    </a:solidFill>
                    <a:latin typeface="Times" panose="02020603050405020304" pitchFamily="18" charset="0"/>
                  </a:rPr>
                  <a:t>CAP</a:t>
                </a:r>
                <a:endParaRPr lang="en-US" altLang="zh-CN" sz="1200">
                  <a:solidFill>
                    <a:srgbClr val="FFFFFF"/>
                  </a:solidFill>
                  <a:latin typeface="Times" panose="02020603050405020304" pitchFamily="18" charset="0"/>
                </a:endParaRPr>
              </a:p>
            </p:txBody>
          </p:sp>
          <p:sp>
            <p:nvSpPr>
              <p:cNvPr id="69701" name="Text Box 16">
                <a:extLst>
                  <a:ext uri="{FF2B5EF4-FFF2-40B4-BE49-F238E27FC236}">
                    <a16:creationId xmlns:a16="http://schemas.microsoft.com/office/drawing/2014/main" id="{88F06EFD-338A-4C5D-86B9-CB3784DEEE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56" y="1988"/>
                <a:ext cx="42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FFFFFF"/>
                    </a:solidFill>
                    <a:latin typeface="Times" panose="02020603050405020304" pitchFamily="18" charset="0"/>
                  </a:rPr>
                  <a:t>Binding</a:t>
                </a:r>
              </a:p>
            </p:txBody>
          </p:sp>
        </p:grpSp>
      </p:grpSp>
      <p:grpSp>
        <p:nvGrpSpPr>
          <p:cNvPr id="5" name="Group 17">
            <a:extLst>
              <a:ext uri="{FF2B5EF4-FFF2-40B4-BE49-F238E27FC236}">
                <a16:creationId xmlns:a16="http://schemas.microsoft.com/office/drawing/2014/main" id="{12EEA5EB-091C-4914-A602-503221AF412B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038600"/>
            <a:ext cx="1219200" cy="1524000"/>
            <a:chOff x="816" y="2544"/>
            <a:chExt cx="768" cy="960"/>
          </a:xfrm>
        </p:grpSpPr>
        <p:grpSp>
          <p:nvGrpSpPr>
            <p:cNvPr id="6" name="Group 18">
              <a:extLst>
                <a:ext uri="{FF2B5EF4-FFF2-40B4-BE49-F238E27FC236}">
                  <a16:creationId xmlns:a16="http://schemas.microsoft.com/office/drawing/2014/main" id="{8B8A5F96-94A0-46E9-B67F-DB0DC72740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3168"/>
              <a:ext cx="624" cy="336"/>
              <a:chOff x="2400" y="2064"/>
              <a:chExt cx="624" cy="336"/>
            </a:xfrm>
          </p:grpSpPr>
          <p:sp>
            <p:nvSpPr>
              <p:cNvPr id="69689" name="Freeform 19" descr="80%">
                <a:extLst>
                  <a:ext uri="{FF2B5EF4-FFF2-40B4-BE49-F238E27FC236}">
                    <a16:creationId xmlns:a16="http://schemas.microsoft.com/office/drawing/2014/main" id="{69D5A5AC-7F4C-469D-B6A3-4FD69C5BFD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0" y="2064"/>
                <a:ext cx="624" cy="336"/>
              </a:xfrm>
              <a:custGeom>
                <a:avLst/>
                <a:gdLst>
                  <a:gd name="T0" fmla="*/ 0 w 624"/>
                  <a:gd name="T1" fmla="*/ 96 h 336"/>
                  <a:gd name="T2" fmla="*/ 192 w 624"/>
                  <a:gd name="T3" fmla="*/ 96 h 336"/>
                  <a:gd name="T4" fmla="*/ 192 w 624"/>
                  <a:gd name="T5" fmla="*/ 0 h 336"/>
                  <a:gd name="T6" fmla="*/ 288 w 624"/>
                  <a:gd name="T7" fmla="*/ 0 h 336"/>
                  <a:gd name="T8" fmla="*/ 288 w 624"/>
                  <a:gd name="T9" fmla="*/ 96 h 336"/>
                  <a:gd name="T10" fmla="*/ 384 w 624"/>
                  <a:gd name="T11" fmla="*/ 96 h 336"/>
                  <a:gd name="T12" fmla="*/ 384 w 624"/>
                  <a:gd name="T13" fmla="*/ 0 h 336"/>
                  <a:gd name="T14" fmla="*/ 480 w 624"/>
                  <a:gd name="T15" fmla="*/ 0 h 336"/>
                  <a:gd name="T16" fmla="*/ 480 w 624"/>
                  <a:gd name="T17" fmla="*/ 96 h 336"/>
                  <a:gd name="T18" fmla="*/ 624 w 624"/>
                  <a:gd name="T19" fmla="*/ 96 h 336"/>
                  <a:gd name="T20" fmla="*/ 624 w 624"/>
                  <a:gd name="T21" fmla="*/ 336 h 336"/>
                  <a:gd name="T22" fmla="*/ 384 w 624"/>
                  <a:gd name="T23" fmla="*/ 336 h 336"/>
                  <a:gd name="T24" fmla="*/ 336 w 624"/>
                  <a:gd name="T25" fmla="*/ 192 h 336"/>
                  <a:gd name="T26" fmla="*/ 288 w 624"/>
                  <a:gd name="T27" fmla="*/ 336 h 336"/>
                  <a:gd name="T28" fmla="*/ 0 w 624"/>
                  <a:gd name="T29" fmla="*/ 336 h 336"/>
                  <a:gd name="T30" fmla="*/ 0 w 624"/>
                  <a:gd name="T31" fmla="*/ 96 h 3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624"/>
                  <a:gd name="T49" fmla="*/ 0 h 336"/>
                  <a:gd name="T50" fmla="*/ 624 w 624"/>
                  <a:gd name="T51" fmla="*/ 336 h 3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624" h="336">
                    <a:moveTo>
                      <a:pt x="0" y="96"/>
                    </a:moveTo>
                    <a:lnTo>
                      <a:pt x="192" y="96"/>
                    </a:lnTo>
                    <a:lnTo>
                      <a:pt x="192" y="0"/>
                    </a:lnTo>
                    <a:lnTo>
                      <a:pt x="288" y="0"/>
                    </a:lnTo>
                    <a:lnTo>
                      <a:pt x="288" y="96"/>
                    </a:lnTo>
                    <a:lnTo>
                      <a:pt x="384" y="96"/>
                    </a:lnTo>
                    <a:lnTo>
                      <a:pt x="384" y="0"/>
                    </a:lnTo>
                    <a:lnTo>
                      <a:pt x="480" y="0"/>
                    </a:lnTo>
                    <a:lnTo>
                      <a:pt x="480" y="96"/>
                    </a:lnTo>
                    <a:lnTo>
                      <a:pt x="624" y="96"/>
                    </a:lnTo>
                    <a:lnTo>
                      <a:pt x="624" y="336"/>
                    </a:lnTo>
                    <a:lnTo>
                      <a:pt x="384" y="336"/>
                    </a:lnTo>
                    <a:lnTo>
                      <a:pt x="336" y="192"/>
                    </a:lnTo>
                    <a:lnTo>
                      <a:pt x="288" y="336"/>
                    </a:lnTo>
                    <a:lnTo>
                      <a:pt x="0" y="336"/>
                    </a:lnTo>
                    <a:lnTo>
                      <a:pt x="0" y="96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9690" name="Text Box 20">
                <a:extLst>
                  <a:ext uri="{FF2B5EF4-FFF2-40B4-BE49-F238E27FC236}">
                    <a16:creationId xmlns:a16="http://schemas.microsoft.com/office/drawing/2014/main" id="{2D32A6B2-CE66-4FCB-A810-C763F9C62E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6" y="2115"/>
                <a:ext cx="565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solidFill>
                      <a:srgbClr val="FF3300"/>
                    </a:solidFill>
                    <a:latin typeface="Times" panose="02020603050405020304" pitchFamily="18" charset="0"/>
                  </a:rPr>
                  <a:t>Repressor</a:t>
                </a:r>
              </a:p>
            </p:txBody>
          </p:sp>
        </p:grpSp>
        <p:sp>
          <p:nvSpPr>
            <p:cNvPr id="69688" name="Line 21">
              <a:extLst>
                <a:ext uri="{FF2B5EF4-FFF2-40B4-BE49-F238E27FC236}">
                  <a16:creationId xmlns:a16="http://schemas.microsoft.com/office/drawing/2014/main" id="{2E0FDFE7-5CA2-41EC-9F89-C285C4B1E1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544"/>
              <a:ext cx="384" cy="528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22">
            <a:extLst>
              <a:ext uri="{FF2B5EF4-FFF2-40B4-BE49-F238E27FC236}">
                <a16:creationId xmlns:a16="http://schemas.microsoft.com/office/drawing/2014/main" id="{D7C91B2E-3936-4C8D-9D00-5753CDC931E1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524000"/>
            <a:ext cx="1897063" cy="2438400"/>
            <a:chOff x="480" y="960"/>
            <a:chExt cx="1195" cy="1536"/>
          </a:xfrm>
        </p:grpSpPr>
        <p:grpSp>
          <p:nvGrpSpPr>
            <p:cNvPr id="8" name="Group 23">
              <a:extLst>
                <a:ext uri="{FF2B5EF4-FFF2-40B4-BE49-F238E27FC236}">
                  <a16:creationId xmlns:a16="http://schemas.microsoft.com/office/drawing/2014/main" id="{15F6ED16-F0CE-4BB0-9240-1849CA6DB3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1872"/>
              <a:ext cx="720" cy="624"/>
              <a:chOff x="480" y="1872"/>
              <a:chExt cx="720" cy="624"/>
            </a:xfrm>
          </p:grpSpPr>
          <p:sp>
            <p:nvSpPr>
              <p:cNvPr id="69685" name="Rectangle 24" descr="5%">
                <a:extLst>
                  <a:ext uri="{FF2B5EF4-FFF2-40B4-BE49-F238E27FC236}">
                    <a16:creationId xmlns:a16="http://schemas.microsoft.com/office/drawing/2014/main" id="{0A8A6837-0E2B-4D05-882B-09A6998086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2208"/>
                <a:ext cx="720" cy="288"/>
              </a:xfrm>
              <a:prstGeom prst="rect">
                <a:avLst/>
              </a:prstGeom>
              <a:blipFill dpi="0" rotWithShape="0">
                <a:blip r:embed="rId5" cstate="print"/>
                <a:srcRect/>
                <a:tile tx="0" ty="0" sx="100000" sy="100000" flip="none" algn="tl"/>
              </a:blip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solidFill>
                      <a:schemeClr val="bg2"/>
                    </a:solidFill>
                    <a:latin typeface="Times" panose="02020603050405020304" pitchFamily="18" charset="0"/>
                  </a:rPr>
                  <a:t>Repressor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solidFill>
                      <a:schemeClr val="bg2"/>
                    </a:solidFill>
                    <a:latin typeface="Times" panose="02020603050405020304" pitchFamily="18" charset="0"/>
                  </a:rPr>
                  <a:t> mRNA</a:t>
                </a:r>
              </a:p>
            </p:txBody>
          </p:sp>
          <p:sp>
            <p:nvSpPr>
              <p:cNvPr id="69686" name="Line 25">
                <a:extLst>
                  <a:ext uri="{FF2B5EF4-FFF2-40B4-BE49-F238E27FC236}">
                    <a16:creationId xmlns:a16="http://schemas.microsoft.com/office/drawing/2014/main" id="{CC955372-3F1C-4487-8BD1-41746521AA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1872"/>
                <a:ext cx="0" cy="28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9" name="Group 26">
              <a:extLst>
                <a:ext uri="{FF2B5EF4-FFF2-40B4-BE49-F238E27FC236}">
                  <a16:creationId xmlns:a16="http://schemas.microsoft.com/office/drawing/2014/main" id="{B58AB3E7-8EEB-4644-A8A6-14BFDD63C9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960"/>
              <a:ext cx="907" cy="384"/>
              <a:chOff x="768" y="960"/>
              <a:chExt cx="907" cy="384"/>
            </a:xfrm>
          </p:grpSpPr>
          <p:sp>
            <p:nvSpPr>
              <p:cNvPr id="69683" name="AutoShape 27">
                <a:extLst>
                  <a:ext uri="{FF2B5EF4-FFF2-40B4-BE49-F238E27FC236}">
                    <a16:creationId xmlns:a16="http://schemas.microsoft.com/office/drawing/2014/main" id="{5C3B27EE-97B7-41EC-B8FC-E8FB8309D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960"/>
                <a:ext cx="816" cy="384"/>
              </a:xfrm>
              <a:prstGeom prst="wedgeRoundRectCallout">
                <a:avLst>
                  <a:gd name="adj1" fmla="val -47796"/>
                  <a:gd name="adj2" fmla="val 119532"/>
                  <a:gd name="adj3" fmla="val 16667"/>
                </a:avLst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200">
                  <a:solidFill>
                    <a:schemeClr val="bg2"/>
                  </a:solidFill>
                  <a:latin typeface="Times" panose="02020603050405020304" pitchFamily="18" charset="0"/>
                </a:endParaRPr>
              </a:p>
            </p:txBody>
          </p:sp>
          <p:sp>
            <p:nvSpPr>
              <p:cNvPr id="69684" name="Text Box 28">
                <a:extLst>
                  <a:ext uri="{FF2B5EF4-FFF2-40B4-BE49-F238E27FC236}">
                    <a16:creationId xmlns:a16="http://schemas.microsoft.com/office/drawing/2014/main" id="{F480B394-993C-4B06-82E1-954A6204C1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" y="960"/>
                <a:ext cx="907" cy="366"/>
              </a:xfrm>
              <a:prstGeom prst="rect">
                <a:avLst/>
              </a:prstGeom>
              <a:solidFill>
                <a:srgbClr val="FF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Times" panose="02020603050405020304" pitchFamily="18" charset="0"/>
                  </a:rPr>
                  <a:t>Hey man, I</a:t>
                </a:r>
                <a:r>
                  <a:rPr lang="en-US" altLang="zh-CN" sz="1600" b="1" dirty="0">
                    <a:solidFill>
                      <a:schemeClr val="accent2"/>
                    </a:solidFill>
                    <a:latin typeface="Calibri" panose="020F0502020204030204" pitchFamily="34" charset="0"/>
                  </a:rPr>
                  <a:t>’</a:t>
                </a:r>
                <a:r>
                  <a:rPr lang="en-US" altLang="zh-CN" sz="1600" b="1" dirty="0">
                    <a:solidFill>
                      <a:schemeClr val="accent2"/>
                    </a:solidFill>
                    <a:latin typeface="Times" panose="02020603050405020304" pitchFamily="18" charset="0"/>
                  </a:rPr>
                  <a:t>m 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Times" panose="02020603050405020304" pitchFamily="18" charset="0"/>
                  </a:rPr>
                  <a:t>constitutive</a:t>
                </a:r>
              </a:p>
            </p:txBody>
          </p:sp>
        </p:grpSp>
      </p:grpSp>
      <p:grpSp>
        <p:nvGrpSpPr>
          <p:cNvPr id="10" name="Group 29">
            <a:extLst>
              <a:ext uri="{FF2B5EF4-FFF2-40B4-BE49-F238E27FC236}">
                <a16:creationId xmlns:a16="http://schemas.microsoft.com/office/drawing/2014/main" id="{FA3DE1D6-661F-4EA9-B10E-5926E310E1CF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4953000"/>
            <a:ext cx="685800" cy="457200"/>
            <a:chOff x="3984" y="3312"/>
            <a:chExt cx="432" cy="288"/>
          </a:xfrm>
        </p:grpSpPr>
        <p:sp>
          <p:nvSpPr>
            <p:cNvPr id="69679" name="Freeform 30" descr="80%">
              <a:extLst>
                <a:ext uri="{FF2B5EF4-FFF2-40B4-BE49-F238E27FC236}">
                  <a16:creationId xmlns:a16="http://schemas.microsoft.com/office/drawing/2014/main" id="{EC9077C6-E8AA-4DCB-AA3E-3B4C5494D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3312"/>
              <a:ext cx="432" cy="288"/>
            </a:xfrm>
            <a:custGeom>
              <a:avLst/>
              <a:gdLst>
                <a:gd name="T0" fmla="*/ 0 w 432"/>
                <a:gd name="T1" fmla="*/ 96 h 288"/>
                <a:gd name="T2" fmla="*/ 144 w 432"/>
                <a:gd name="T3" fmla="*/ 96 h 288"/>
                <a:gd name="T4" fmla="*/ 144 w 432"/>
                <a:gd name="T5" fmla="*/ 0 h 288"/>
                <a:gd name="T6" fmla="*/ 288 w 432"/>
                <a:gd name="T7" fmla="*/ 0 h 288"/>
                <a:gd name="T8" fmla="*/ 288 w 432"/>
                <a:gd name="T9" fmla="*/ 96 h 288"/>
                <a:gd name="T10" fmla="*/ 432 w 432"/>
                <a:gd name="T11" fmla="*/ 96 h 288"/>
                <a:gd name="T12" fmla="*/ 432 w 432"/>
                <a:gd name="T13" fmla="*/ 240 h 288"/>
                <a:gd name="T14" fmla="*/ 288 w 432"/>
                <a:gd name="T15" fmla="*/ 288 h 288"/>
                <a:gd name="T16" fmla="*/ 288 w 432"/>
                <a:gd name="T17" fmla="*/ 240 h 288"/>
                <a:gd name="T18" fmla="*/ 240 w 432"/>
                <a:gd name="T19" fmla="*/ 192 h 288"/>
                <a:gd name="T20" fmla="*/ 192 w 432"/>
                <a:gd name="T21" fmla="*/ 192 h 288"/>
                <a:gd name="T22" fmla="*/ 144 w 432"/>
                <a:gd name="T23" fmla="*/ 240 h 288"/>
                <a:gd name="T24" fmla="*/ 144 w 432"/>
                <a:gd name="T25" fmla="*/ 288 h 288"/>
                <a:gd name="T26" fmla="*/ 0 w 432"/>
                <a:gd name="T27" fmla="*/ 240 h 288"/>
                <a:gd name="T28" fmla="*/ 0 w 432"/>
                <a:gd name="T29" fmla="*/ 96 h 28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32"/>
                <a:gd name="T46" fmla="*/ 0 h 288"/>
                <a:gd name="T47" fmla="*/ 432 w 432"/>
                <a:gd name="T48" fmla="*/ 288 h 28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32" h="288">
                  <a:moveTo>
                    <a:pt x="0" y="96"/>
                  </a:moveTo>
                  <a:lnTo>
                    <a:pt x="144" y="96"/>
                  </a:lnTo>
                  <a:lnTo>
                    <a:pt x="144" y="0"/>
                  </a:lnTo>
                  <a:lnTo>
                    <a:pt x="288" y="0"/>
                  </a:lnTo>
                  <a:lnTo>
                    <a:pt x="288" y="96"/>
                  </a:lnTo>
                  <a:lnTo>
                    <a:pt x="432" y="96"/>
                  </a:lnTo>
                  <a:lnTo>
                    <a:pt x="432" y="240"/>
                  </a:lnTo>
                  <a:lnTo>
                    <a:pt x="288" y="288"/>
                  </a:lnTo>
                  <a:lnTo>
                    <a:pt x="288" y="240"/>
                  </a:lnTo>
                  <a:lnTo>
                    <a:pt x="240" y="192"/>
                  </a:lnTo>
                  <a:lnTo>
                    <a:pt x="192" y="192"/>
                  </a:lnTo>
                  <a:lnTo>
                    <a:pt x="144" y="240"/>
                  </a:lnTo>
                  <a:lnTo>
                    <a:pt x="144" y="288"/>
                  </a:lnTo>
                  <a:lnTo>
                    <a:pt x="0" y="240"/>
                  </a:lnTo>
                  <a:lnTo>
                    <a:pt x="0" y="96"/>
                  </a:lnTo>
                  <a:close/>
                </a:path>
              </a:pathLst>
            </a:custGeom>
            <a:blipFill dpi="0" rotWithShape="0">
              <a:blip r:embed="rId6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9680" name="Text Box 31">
              <a:extLst>
                <a:ext uri="{FF2B5EF4-FFF2-40B4-BE49-F238E27FC236}">
                  <a16:creationId xmlns:a16="http://schemas.microsoft.com/office/drawing/2014/main" id="{DDE07F53-49AD-4E94-98F6-EBBC2B08EC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3360"/>
              <a:ext cx="34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>
                  <a:latin typeface="Times" panose="02020603050405020304" pitchFamily="18" charset="0"/>
                </a:rPr>
                <a:t>CAP</a:t>
              </a:r>
            </a:p>
          </p:txBody>
        </p:sp>
      </p:grpSp>
      <p:grpSp>
        <p:nvGrpSpPr>
          <p:cNvPr id="11" name="Group 32">
            <a:extLst>
              <a:ext uri="{FF2B5EF4-FFF2-40B4-BE49-F238E27FC236}">
                <a16:creationId xmlns:a16="http://schemas.microsoft.com/office/drawing/2014/main" id="{5C5A842B-FFDB-44BD-A558-68F59D0460E8}"/>
              </a:ext>
            </a:extLst>
          </p:cNvPr>
          <p:cNvGrpSpPr>
            <a:grpSpLocks/>
          </p:cNvGrpSpPr>
          <p:nvPr/>
        </p:nvGrpSpPr>
        <p:grpSpPr bwMode="auto">
          <a:xfrm>
            <a:off x="6776491" y="5068416"/>
            <a:ext cx="531813" cy="304800"/>
            <a:chOff x="4368" y="2496"/>
            <a:chExt cx="335" cy="192"/>
          </a:xfrm>
        </p:grpSpPr>
        <p:sp>
          <p:nvSpPr>
            <p:cNvPr id="69677" name="Freeform 33" descr="80%">
              <a:extLst>
                <a:ext uri="{FF2B5EF4-FFF2-40B4-BE49-F238E27FC236}">
                  <a16:creationId xmlns:a16="http://schemas.microsoft.com/office/drawing/2014/main" id="{69BC0BA5-0B70-4109-A3F4-7F3EC3EC6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2496"/>
              <a:ext cx="240" cy="192"/>
            </a:xfrm>
            <a:custGeom>
              <a:avLst/>
              <a:gdLst>
                <a:gd name="T0" fmla="*/ 0 w 240"/>
                <a:gd name="T1" fmla="*/ 48 h 192"/>
                <a:gd name="T2" fmla="*/ 0 w 240"/>
                <a:gd name="T3" fmla="*/ 144 h 192"/>
                <a:gd name="T4" fmla="*/ 48 w 240"/>
                <a:gd name="T5" fmla="*/ 192 h 192"/>
                <a:gd name="T6" fmla="*/ 192 w 240"/>
                <a:gd name="T7" fmla="*/ 192 h 192"/>
                <a:gd name="T8" fmla="*/ 240 w 240"/>
                <a:gd name="T9" fmla="*/ 144 h 192"/>
                <a:gd name="T10" fmla="*/ 240 w 240"/>
                <a:gd name="T11" fmla="*/ 48 h 192"/>
                <a:gd name="T12" fmla="*/ 192 w 240"/>
                <a:gd name="T13" fmla="*/ 0 h 192"/>
                <a:gd name="T14" fmla="*/ 48 w 240"/>
                <a:gd name="T15" fmla="*/ 0 h 192"/>
                <a:gd name="T16" fmla="*/ 0 w 240"/>
                <a:gd name="T17" fmla="*/ 48 h 1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40"/>
                <a:gd name="T28" fmla="*/ 0 h 192"/>
                <a:gd name="T29" fmla="*/ 240 w 240"/>
                <a:gd name="T30" fmla="*/ 192 h 19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40" h="192">
                  <a:moveTo>
                    <a:pt x="0" y="48"/>
                  </a:moveTo>
                  <a:lnTo>
                    <a:pt x="0" y="144"/>
                  </a:lnTo>
                  <a:lnTo>
                    <a:pt x="48" y="192"/>
                  </a:lnTo>
                  <a:lnTo>
                    <a:pt x="192" y="192"/>
                  </a:lnTo>
                  <a:lnTo>
                    <a:pt x="240" y="144"/>
                  </a:lnTo>
                  <a:lnTo>
                    <a:pt x="240" y="48"/>
                  </a:lnTo>
                  <a:lnTo>
                    <a:pt x="192" y="0"/>
                  </a:lnTo>
                  <a:lnTo>
                    <a:pt x="48" y="0"/>
                  </a:lnTo>
                  <a:lnTo>
                    <a:pt x="0" y="48"/>
                  </a:lnTo>
                  <a:close/>
                </a:path>
              </a:pathLst>
            </a:custGeom>
            <a:blipFill dpi="0" rotWithShape="0">
              <a:blip r:embed="rId7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9678" name="Text Box 34">
              <a:extLst>
                <a:ext uri="{FF2B5EF4-FFF2-40B4-BE49-F238E27FC236}">
                  <a16:creationId xmlns:a16="http://schemas.microsoft.com/office/drawing/2014/main" id="{D7F31D8F-D53F-4486-9988-540048623D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2510"/>
              <a:ext cx="33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 dirty="0">
                  <a:solidFill>
                    <a:schemeClr val="accent2"/>
                  </a:solidFill>
                  <a:latin typeface="Times" panose="02020603050405020304" pitchFamily="18" charset="0"/>
                </a:rPr>
                <a:t>cAMP</a:t>
              </a:r>
            </a:p>
          </p:txBody>
        </p:sp>
      </p:grpSp>
      <p:sp>
        <p:nvSpPr>
          <p:cNvPr id="267299" name="Rectangle 35">
            <a:extLst>
              <a:ext uri="{FF2B5EF4-FFF2-40B4-BE49-F238E27FC236}">
                <a16:creationId xmlns:a16="http://schemas.microsoft.com/office/drawing/2014/main" id="{B83719DD-B48A-4A9C-AB07-E40BB4C62999}"/>
              </a:ext>
            </a:extLst>
          </p:cNvPr>
          <p:cNvSpPr>
            <a:spLocks noChangeArrowheads="1"/>
          </p:cNvSpPr>
          <p:nvPr/>
        </p:nvSpPr>
        <p:spPr bwMode="auto">
          <a:xfrm rot="2688143">
            <a:off x="5029200" y="3962400"/>
            <a:ext cx="304800" cy="304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Times" panose="02020603050405020304" pitchFamily="18" charset="0"/>
              </a:rPr>
              <a:t>Lac</a:t>
            </a:r>
          </a:p>
        </p:txBody>
      </p:sp>
      <p:grpSp>
        <p:nvGrpSpPr>
          <p:cNvPr id="12" name="Group 36">
            <a:extLst>
              <a:ext uri="{FF2B5EF4-FFF2-40B4-BE49-F238E27FC236}">
                <a16:creationId xmlns:a16="http://schemas.microsoft.com/office/drawing/2014/main" id="{60275A06-FFC9-409D-BC2D-2683F8055DCB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3505200"/>
            <a:ext cx="990600" cy="615950"/>
            <a:chOff x="2400" y="2640"/>
            <a:chExt cx="624" cy="388"/>
          </a:xfrm>
        </p:grpSpPr>
        <p:sp>
          <p:nvSpPr>
            <p:cNvPr id="69675" name="Freeform 37" descr="80%">
              <a:extLst>
                <a:ext uri="{FF2B5EF4-FFF2-40B4-BE49-F238E27FC236}">
                  <a16:creationId xmlns:a16="http://schemas.microsoft.com/office/drawing/2014/main" id="{50A4D46C-DE60-4F82-A7FA-712290B073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2640"/>
              <a:ext cx="624" cy="388"/>
            </a:xfrm>
            <a:custGeom>
              <a:avLst/>
              <a:gdLst>
                <a:gd name="T0" fmla="*/ 192 w 624"/>
                <a:gd name="T1" fmla="*/ 100 h 388"/>
                <a:gd name="T2" fmla="*/ 96 w 624"/>
                <a:gd name="T3" fmla="*/ 100 h 388"/>
                <a:gd name="T4" fmla="*/ 0 w 624"/>
                <a:gd name="T5" fmla="*/ 340 h 388"/>
                <a:gd name="T6" fmla="*/ 192 w 624"/>
                <a:gd name="T7" fmla="*/ 388 h 388"/>
                <a:gd name="T8" fmla="*/ 336 w 624"/>
                <a:gd name="T9" fmla="*/ 244 h 388"/>
                <a:gd name="T10" fmla="*/ 480 w 624"/>
                <a:gd name="T11" fmla="*/ 388 h 388"/>
                <a:gd name="T12" fmla="*/ 624 w 624"/>
                <a:gd name="T13" fmla="*/ 340 h 388"/>
                <a:gd name="T14" fmla="*/ 528 w 624"/>
                <a:gd name="T15" fmla="*/ 100 h 388"/>
                <a:gd name="T16" fmla="*/ 466 w 624"/>
                <a:gd name="T17" fmla="*/ 100 h 388"/>
                <a:gd name="T18" fmla="*/ 416 w 624"/>
                <a:gd name="T19" fmla="*/ 2 h 388"/>
                <a:gd name="T20" fmla="*/ 340 w 624"/>
                <a:gd name="T21" fmla="*/ 40 h 388"/>
                <a:gd name="T22" fmla="*/ 390 w 624"/>
                <a:gd name="T23" fmla="*/ 138 h 388"/>
                <a:gd name="T24" fmla="*/ 336 w 624"/>
                <a:gd name="T25" fmla="*/ 148 h 388"/>
                <a:gd name="T26" fmla="*/ 278 w 624"/>
                <a:gd name="T27" fmla="*/ 132 h 388"/>
                <a:gd name="T28" fmla="*/ 318 w 624"/>
                <a:gd name="T29" fmla="*/ 38 h 388"/>
                <a:gd name="T30" fmla="*/ 242 w 624"/>
                <a:gd name="T31" fmla="*/ 0 h 388"/>
                <a:gd name="T32" fmla="*/ 192 w 624"/>
                <a:gd name="T33" fmla="*/ 100 h 3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24"/>
                <a:gd name="T52" fmla="*/ 0 h 388"/>
                <a:gd name="T53" fmla="*/ 624 w 624"/>
                <a:gd name="T54" fmla="*/ 388 h 3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24" h="388">
                  <a:moveTo>
                    <a:pt x="192" y="100"/>
                  </a:moveTo>
                  <a:lnTo>
                    <a:pt x="96" y="100"/>
                  </a:lnTo>
                  <a:lnTo>
                    <a:pt x="0" y="340"/>
                  </a:lnTo>
                  <a:lnTo>
                    <a:pt x="192" y="388"/>
                  </a:lnTo>
                  <a:lnTo>
                    <a:pt x="336" y="244"/>
                  </a:lnTo>
                  <a:lnTo>
                    <a:pt x="480" y="388"/>
                  </a:lnTo>
                  <a:lnTo>
                    <a:pt x="624" y="340"/>
                  </a:lnTo>
                  <a:lnTo>
                    <a:pt x="528" y="100"/>
                  </a:lnTo>
                  <a:lnTo>
                    <a:pt x="466" y="100"/>
                  </a:lnTo>
                  <a:lnTo>
                    <a:pt x="416" y="2"/>
                  </a:lnTo>
                  <a:lnTo>
                    <a:pt x="340" y="40"/>
                  </a:lnTo>
                  <a:lnTo>
                    <a:pt x="390" y="138"/>
                  </a:lnTo>
                  <a:lnTo>
                    <a:pt x="336" y="148"/>
                  </a:lnTo>
                  <a:lnTo>
                    <a:pt x="278" y="132"/>
                  </a:lnTo>
                  <a:lnTo>
                    <a:pt x="318" y="38"/>
                  </a:lnTo>
                  <a:lnTo>
                    <a:pt x="242" y="0"/>
                  </a:lnTo>
                  <a:lnTo>
                    <a:pt x="192" y="10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9676" name="Text Box 38">
              <a:extLst>
                <a:ext uri="{FF2B5EF4-FFF2-40B4-BE49-F238E27FC236}">
                  <a16:creationId xmlns:a16="http://schemas.microsoft.com/office/drawing/2014/main" id="{6F2761FE-E180-4B6B-91A6-F72A6A2148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6" y="2726"/>
              <a:ext cx="5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solidFill>
                    <a:srgbClr val="FF3300"/>
                  </a:solidFill>
                  <a:latin typeface="Times" panose="02020603050405020304" pitchFamily="18" charset="0"/>
                </a:rPr>
                <a:t>Repressor</a:t>
              </a:r>
            </a:p>
          </p:txBody>
        </p:sp>
      </p:grpSp>
      <p:grpSp>
        <p:nvGrpSpPr>
          <p:cNvPr id="13" name="Group 39">
            <a:extLst>
              <a:ext uri="{FF2B5EF4-FFF2-40B4-BE49-F238E27FC236}">
                <a16:creationId xmlns:a16="http://schemas.microsoft.com/office/drawing/2014/main" id="{095FA9CD-1459-4092-BFAA-A49F308C8193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3048000"/>
            <a:ext cx="1524000" cy="2057400"/>
            <a:chOff x="1728" y="1920"/>
            <a:chExt cx="960" cy="1296"/>
          </a:xfrm>
        </p:grpSpPr>
        <p:grpSp>
          <p:nvGrpSpPr>
            <p:cNvPr id="14" name="Group 40">
              <a:extLst>
                <a:ext uri="{FF2B5EF4-FFF2-40B4-BE49-F238E27FC236}">
                  <a16:creationId xmlns:a16="http://schemas.microsoft.com/office/drawing/2014/main" id="{64C7FDE9-8FE6-4A42-B877-E232FCF44E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4" y="2592"/>
              <a:ext cx="624" cy="336"/>
              <a:chOff x="2400" y="2064"/>
              <a:chExt cx="624" cy="336"/>
            </a:xfrm>
          </p:grpSpPr>
          <p:sp>
            <p:nvSpPr>
              <p:cNvPr id="69673" name="Freeform 41" descr="80%">
                <a:extLst>
                  <a:ext uri="{FF2B5EF4-FFF2-40B4-BE49-F238E27FC236}">
                    <a16:creationId xmlns:a16="http://schemas.microsoft.com/office/drawing/2014/main" id="{B1A79D74-9E1F-4F87-9340-92FE06C780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0" y="2064"/>
                <a:ext cx="624" cy="336"/>
              </a:xfrm>
              <a:custGeom>
                <a:avLst/>
                <a:gdLst>
                  <a:gd name="T0" fmla="*/ 0 w 624"/>
                  <a:gd name="T1" fmla="*/ 96 h 336"/>
                  <a:gd name="T2" fmla="*/ 192 w 624"/>
                  <a:gd name="T3" fmla="*/ 96 h 336"/>
                  <a:gd name="T4" fmla="*/ 192 w 624"/>
                  <a:gd name="T5" fmla="*/ 0 h 336"/>
                  <a:gd name="T6" fmla="*/ 288 w 624"/>
                  <a:gd name="T7" fmla="*/ 0 h 336"/>
                  <a:gd name="T8" fmla="*/ 288 w 624"/>
                  <a:gd name="T9" fmla="*/ 96 h 336"/>
                  <a:gd name="T10" fmla="*/ 384 w 624"/>
                  <a:gd name="T11" fmla="*/ 96 h 336"/>
                  <a:gd name="T12" fmla="*/ 384 w 624"/>
                  <a:gd name="T13" fmla="*/ 0 h 336"/>
                  <a:gd name="T14" fmla="*/ 480 w 624"/>
                  <a:gd name="T15" fmla="*/ 0 h 336"/>
                  <a:gd name="T16" fmla="*/ 480 w 624"/>
                  <a:gd name="T17" fmla="*/ 96 h 336"/>
                  <a:gd name="T18" fmla="*/ 624 w 624"/>
                  <a:gd name="T19" fmla="*/ 96 h 336"/>
                  <a:gd name="T20" fmla="*/ 624 w 624"/>
                  <a:gd name="T21" fmla="*/ 336 h 336"/>
                  <a:gd name="T22" fmla="*/ 384 w 624"/>
                  <a:gd name="T23" fmla="*/ 336 h 336"/>
                  <a:gd name="T24" fmla="*/ 336 w 624"/>
                  <a:gd name="T25" fmla="*/ 192 h 336"/>
                  <a:gd name="T26" fmla="*/ 288 w 624"/>
                  <a:gd name="T27" fmla="*/ 336 h 336"/>
                  <a:gd name="T28" fmla="*/ 0 w 624"/>
                  <a:gd name="T29" fmla="*/ 336 h 336"/>
                  <a:gd name="T30" fmla="*/ 0 w 624"/>
                  <a:gd name="T31" fmla="*/ 96 h 3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624"/>
                  <a:gd name="T49" fmla="*/ 0 h 336"/>
                  <a:gd name="T50" fmla="*/ 624 w 624"/>
                  <a:gd name="T51" fmla="*/ 336 h 3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624" h="336">
                    <a:moveTo>
                      <a:pt x="0" y="96"/>
                    </a:moveTo>
                    <a:lnTo>
                      <a:pt x="192" y="96"/>
                    </a:lnTo>
                    <a:lnTo>
                      <a:pt x="192" y="0"/>
                    </a:lnTo>
                    <a:lnTo>
                      <a:pt x="288" y="0"/>
                    </a:lnTo>
                    <a:lnTo>
                      <a:pt x="288" y="96"/>
                    </a:lnTo>
                    <a:lnTo>
                      <a:pt x="384" y="96"/>
                    </a:lnTo>
                    <a:lnTo>
                      <a:pt x="384" y="0"/>
                    </a:lnTo>
                    <a:lnTo>
                      <a:pt x="480" y="0"/>
                    </a:lnTo>
                    <a:lnTo>
                      <a:pt x="480" y="96"/>
                    </a:lnTo>
                    <a:lnTo>
                      <a:pt x="624" y="96"/>
                    </a:lnTo>
                    <a:lnTo>
                      <a:pt x="624" y="336"/>
                    </a:lnTo>
                    <a:lnTo>
                      <a:pt x="384" y="336"/>
                    </a:lnTo>
                    <a:lnTo>
                      <a:pt x="336" y="192"/>
                    </a:lnTo>
                    <a:lnTo>
                      <a:pt x="288" y="336"/>
                    </a:lnTo>
                    <a:lnTo>
                      <a:pt x="0" y="336"/>
                    </a:lnTo>
                    <a:lnTo>
                      <a:pt x="0" y="96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9674" name="Text Box 42">
                <a:extLst>
                  <a:ext uri="{FF2B5EF4-FFF2-40B4-BE49-F238E27FC236}">
                    <a16:creationId xmlns:a16="http://schemas.microsoft.com/office/drawing/2014/main" id="{6B43FD72-EF5C-4499-8F16-16AC9349AF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6" y="2115"/>
                <a:ext cx="565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solidFill>
                      <a:srgbClr val="FF3300"/>
                    </a:solidFill>
                    <a:latin typeface="Times" panose="02020603050405020304" pitchFamily="18" charset="0"/>
                  </a:rPr>
                  <a:t>Repressor</a:t>
                </a:r>
              </a:p>
            </p:txBody>
          </p:sp>
        </p:grpSp>
        <p:sp>
          <p:nvSpPr>
            <p:cNvPr id="69671" name="Line 43">
              <a:extLst>
                <a:ext uri="{FF2B5EF4-FFF2-40B4-BE49-F238E27FC236}">
                  <a16:creationId xmlns:a16="http://schemas.microsoft.com/office/drawing/2014/main" id="{694F6331-0885-4B34-BF94-A594E94430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2976"/>
              <a:ext cx="240" cy="24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9672" name="Line 44">
              <a:extLst>
                <a:ext uri="{FF2B5EF4-FFF2-40B4-BE49-F238E27FC236}">
                  <a16:creationId xmlns:a16="http://schemas.microsoft.com/office/drawing/2014/main" id="{6BBA2C2A-0C90-4736-9E22-6020171793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2" y="1920"/>
              <a:ext cx="336" cy="576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" name="Group 45">
            <a:extLst>
              <a:ext uri="{FF2B5EF4-FFF2-40B4-BE49-F238E27FC236}">
                <a16:creationId xmlns:a16="http://schemas.microsoft.com/office/drawing/2014/main" id="{CFCFA23A-8DFC-43E0-B098-2394A208146A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2971800"/>
            <a:ext cx="762000" cy="838200"/>
            <a:chOff x="2400" y="1872"/>
            <a:chExt cx="480" cy="528"/>
          </a:xfrm>
        </p:grpSpPr>
        <p:sp>
          <p:nvSpPr>
            <p:cNvPr id="69668" name="Text Box 46">
              <a:extLst>
                <a:ext uri="{FF2B5EF4-FFF2-40B4-BE49-F238E27FC236}">
                  <a16:creationId xmlns:a16="http://schemas.microsoft.com/office/drawing/2014/main" id="{ADD606E5-C2D8-4503-A157-7848E1CE1C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872"/>
              <a:ext cx="396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8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69669" name="Freeform 47">
              <a:extLst>
                <a:ext uri="{FF2B5EF4-FFF2-40B4-BE49-F238E27FC236}">
                  <a16:creationId xmlns:a16="http://schemas.microsoft.com/office/drawing/2014/main" id="{C53AF8F5-3137-40ED-ACAA-BFFB738AF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8" y="2200"/>
              <a:ext cx="432" cy="200"/>
            </a:xfrm>
            <a:custGeom>
              <a:avLst/>
              <a:gdLst>
                <a:gd name="T0" fmla="*/ 0 w 432"/>
                <a:gd name="T1" fmla="*/ 152 h 200"/>
                <a:gd name="T2" fmla="*/ 192 w 432"/>
                <a:gd name="T3" fmla="*/ 8 h 200"/>
                <a:gd name="T4" fmla="*/ 432 w 432"/>
                <a:gd name="T5" fmla="*/ 200 h 200"/>
                <a:gd name="T6" fmla="*/ 0 60000 65536"/>
                <a:gd name="T7" fmla="*/ 0 60000 65536"/>
                <a:gd name="T8" fmla="*/ 0 60000 65536"/>
                <a:gd name="T9" fmla="*/ 0 w 432"/>
                <a:gd name="T10" fmla="*/ 0 h 200"/>
                <a:gd name="T11" fmla="*/ 432 w 432"/>
                <a:gd name="T12" fmla="*/ 200 h 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" h="200">
                  <a:moveTo>
                    <a:pt x="0" y="152"/>
                  </a:moveTo>
                  <a:cubicBezTo>
                    <a:pt x="60" y="76"/>
                    <a:pt x="120" y="0"/>
                    <a:pt x="192" y="8"/>
                  </a:cubicBezTo>
                  <a:cubicBezTo>
                    <a:pt x="264" y="16"/>
                    <a:pt x="348" y="108"/>
                    <a:pt x="432" y="200"/>
                  </a:cubicBezTo>
                </a:path>
              </a:pathLst>
            </a:custGeom>
            <a:noFill/>
            <a:ln w="7620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67312" name="AutoShape 48">
            <a:extLst>
              <a:ext uri="{FF2B5EF4-FFF2-40B4-BE49-F238E27FC236}">
                <a16:creationId xmlns:a16="http://schemas.microsoft.com/office/drawing/2014/main" id="{CD1B2C81-6E22-4D4B-8A3B-297B4557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572000"/>
            <a:ext cx="1524000" cy="990600"/>
          </a:xfrm>
          <a:prstGeom prst="wedgeRoundRectCallout">
            <a:avLst>
              <a:gd name="adj1" fmla="val 13231"/>
              <a:gd name="adj2" fmla="val -120995"/>
              <a:gd name="adj3" fmla="val 166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chemeClr val="accent2"/>
                </a:solidFill>
                <a:latin typeface="Times" panose="02020603050405020304" pitchFamily="18" charset="0"/>
              </a:rPr>
              <a:t>This lactose has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chemeClr val="accent2"/>
                </a:solidFill>
                <a:latin typeface="Times" panose="02020603050405020304" pitchFamily="18" charset="0"/>
              </a:rPr>
              <a:t> bent me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chemeClr val="accent2"/>
                </a:solidFill>
                <a:latin typeface="Times" panose="02020603050405020304" pitchFamily="18" charset="0"/>
              </a:rPr>
              <a:t>out of shape</a:t>
            </a:r>
          </a:p>
        </p:txBody>
      </p:sp>
      <p:grpSp>
        <p:nvGrpSpPr>
          <p:cNvPr id="16" name="Group 49">
            <a:extLst>
              <a:ext uri="{FF2B5EF4-FFF2-40B4-BE49-F238E27FC236}">
                <a16:creationId xmlns:a16="http://schemas.microsoft.com/office/drawing/2014/main" id="{BD3CE092-1DA8-49F2-952C-06B71C5E4F89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2743200"/>
            <a:ext cx="5105400" cy="1166813"/>
            <a:chOff x="1200" y="1728"/>
            <a:chExt cx="3216" cy="735"/>
          </a:xfrm>
        </p:grpSpPr>
        <p:grpSp>
          <p:nvGrpSpPr>
            <p:cNvPr id="17" name="Group 50">
              <a:extLst>
                <a:ext uri="{FF2B5EF4-FFF2-40B4-BE49-F238E27FC236}">
                  <a16:creationId xmlns:a16="http://schemas.microsoft.com/office/drawing/2014/main" id="{03650682-4A14-44DC-B119-7C3FFA7D78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1728"/>
              <a:ext cx="432" cy="288"/>
              <a:chOff x="1440" y="1920"/>
              <a:chExt cx="432" cy="288"/>
            </a:xfrm>
          </p:grpSpPr>
          <p:sp>
            <p:nvSpPr>
              <p:cNvPr id="69666" name="Freeform 51" descr="80%">
                <a:extLst>
                  <a:ext uri="{FF2B5EF4-FFF2-40B4-BE49-F238E27FC236}">
                    <a16:creationId xmlns:a16="http://schemas.microsoft.com/office/drawing/2014/main" id="{2E2FD427-EB9B-45E8-B55F-0EC3AEE178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0" y="1920"/>
                <a:ext cx="432" cy="288"/>
              </a:xfrm>
              <a:custGeom>
                <a:avLst/>
                <a:gdLst>
                  <a:gd name="T0" fmla="*/ 0 w 432"/>
                  <a:gd name="T1" fmla="*/ 96 h 288"/>
                  <a:gd name="T2" fmla="*/ 144 w 432"/>
                  <a:gd name="T3" fmla="*/ 96 h 288"/>
                  <a:gd name="T4" fmla="*/ 144 w 432"/>
                  <a:gd name="T5" fmla="*/ 48 h 288"/>
                  <a:gd name="T6" fmla="*/ 192 w 432"/>
                  <a:gd name="T7" fmla="*/ 0 h 288"/>
                  <a:gd name="T8" fmla="*/ 240 w 432"/>
                  <a:gd name="T9" fmla="*/ 0 h 288"/>
                  <a:gd name="T10" fmla="*/ 288 w 432"/>
                  <a:gd name="T11" fmla="*/ 48 h 288"/>
                  <a:gd name="T12" fmla="*/ 288 w 432"/>
                  <a:gd name="T13" fmla="*/ 96 h 288"/>
                  <a:gd name="T14" fmla="*/ 432 w 432"/>
                  <a:gd name="T15" fmla="*/ 96 h 288"/>
                  <a:gd name="T16" fmla="*/ 432 w 432"/>
                  <a:gd name="T17" fmla="*/ 240 h 288"/>
                  <a:gd name="T18" fmla="*/ 336 w 432"/>
                  <a:gd name="T19" fmla="*/ 288 h 288"/>
                  <a:gd name="T20" fmla="*/ 336 w 432"/>
                  <a:gd name="T21" fmla="*/ 240 h 288"/>
                  <a:gd name="T22" fmla="*/ 288 w 432"/>
                  <a:gd name="T23" fmla="*/ 192 h 288"/>
                  <a:gd name="T24" fmla="*/ 144 w 432"/>
                  <a:gd name="T25" fmla="*/ 192 h 288"/>
                  <a:gd name="T26" fmla="*/ 96 w 432"/>
                  <a:gd name="T27" fmla="*/ 240 h 288"/>
                  <a:gd name="T28" fmla="*/ 96 w 432"/>
                  <a:gd name="T29" fmla="*/ 288 h 288"/>
                  <a:gd name="T30" fmla="*/ 0 w 432"/>
                  <a:gd name="T31" fmla="*/ 240 h 288"/>
                  <a:gd name="T32" fmla="*/ 0 w 432"/>
                  <a:gd name="T33" fmla="*/ 96 h 2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432"/>
                  <a:gd name="T52" fmla="*/ 0 h 288"/>
                  <a:gd name="T53" fmla="*/ 432 w 432"/>
                  <a:gd name="T54" fmla="*/ 288 h 28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432" h="288">
                    <a:moveTo>
                      <a:pt x="0" y="96"/>
                    </a:moveTo>
                    <a:lnTo>
                      <a:pt x="144" y="96"/>
                    </a:lnTo>
                    <a:lnTo>
                      <a:pt x="144" y="48"/>
                    </a:lnTo>
                    <a:lnTo>
                      <a:pt x="192" y="0"/>
                    </a:lnTo>
                    <a:lnTo>
                      <a:pt x="240" y="0"/>
                    </a:lnTo>
                    <a:lnTo>
                      <a:pt x="288" y="48"/>
                    </a:lnTo>
                    <a:lnTo>
                      <a:pt x="288" y="96"/>
                    </a:lnTo>
                    <a:lnTo>
                      <a:pt x="432" y="96"/>
                    </a:lnTo>
                    <a:lnTo>
                      <a:pt x="432" y="240"/>
                    </a:lnTo>
                    <a:lnTo>
                      <a:pt x="336" y="288"/>
                    </a:lnTo>
                    <a:lnTo>
                      <a:pt x="336" y="240"/>
                    </a:lnTo>
                    <a:lnTo>
                      <a:pt x="288" y="192"/>
                    </a:lnTo>
                    <a:lnTo>
                      <a:pt x="144" y="192"/>
                    </a:lnTo>
                    <a:lnTo>
                      <a:pt x="96" y="240"/>
                    </a:lnTo>
                    <a:lnTo>
                      <a:pt x="96" y="288"/>
                    </a:lnTo>
                    <a:lnTo>
                      <a:pt x="0" y="240"/>
                    </a:lnTo>
                    <a:lnTo>
                      <a:pt x="0" y="96"/>
                    </a:lnTo>
                    <a:close/>
                  </a:path>
                </a:pathLst>
              </a:custGeom>
              <a:blipFill dpi="0" rotWithShape="0">
                <a:blip r:embed="rId6" cstate="print"/>
                <a:srcRect/>
                <a:tile tx="0" ty="0" sx="100000" sy="100000" flip="none" algn="tl"/>
              </a:blip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9667" name="Text Box 52">
                <a:extLst>
                  <a:ext uri="{FF2B5EF4-FFF2-40B4-BE49-F238E27FC236}">
                    <a16:creationId xmlns:a16="http://schemas.microsoft.com/office/drawing/2014/main" id="{4F7B13AB-CFF8-477D-AE19-01CD5631EA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4" y="1968"/>
                <a:ext cx="34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>
                    <a:latin typeface="Times" panose="02020603050405020304" pitchFamily="18" charset="0"/>
                  </a:rPr>
                  <a:t>CAP</a:t>
                </a:r>
              </a:p>
            </p:txBody>
          </p:sp>
        </p:grpSp>
        <p:grpSp>
          <p:nvGrpSpPr>
            <p:cNvPr id="18" name="Group 53">
              <a:extLst>
                <a:ext uri="{FF2B5EF4-FFF2-40B4-BE49-F238E27FC236}">
                  <a16:creationId xmlns:a16="http://schemas.microsoft.com/office/drawing/2014/main" id="{D63E0D1C-E2AA-497F-AA91-EF415094B6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1920"/>
              <a:ext cx="335" cy="192"/>
              <a:chOff x="4368" y="2496"/>
              <a:chExt cx="335" cy="192"/>
            </a:xfrm>
          </p:grpSpPr>
          <p:sp>
            <p:nvSpPr>
              <p:cNvPr id="69664" name="Freeform 54" descr="80%">
                <a:extLst>
                  <a:ext uri="{FF2B5EF4-FFF2-40B4-BE49-F238E27FC236}">
                    <a16:creationId xmlns:a16="http://schemas.microsoft.com/office/drawing/2014/main" id="{D9067143-9925-4355-8E8E-4C93B1FCF3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6" y="2496"/>
                <a:ext cx="240" cy="192"/>
              </a:xfrm>
              <a:custGeom>
                <a:avLst/>
                <a:gdLst>
                  <a:gd name="T0" fmla="*/ 0 w 240"/>
                  <a:gd name="T1" fmla="*/ 48 h 192"/>
                  <a:gd name="T2" fmla="*/ 0 w 240"/>
                  <a:gd name="T3" fmla="*/ 144 h 192"/>
                  <a:gd name="T4" fmla="*/ 48 w 240"/>
                  <a:gd name="T5" fmla="*/ 192 h 192"/>
                  <a:gd name="T6" fmla="*/ 192 w 240"/>
                  <a:gd name="T7" fmla="*/ 192 h 192"/>
                  <a:gd name="T8" fmla="*/ 240 w 240"/>
                  <a:gd name="T9" fmla="*/ 144 h 192"/>
                  <a:gd name="T10" fmla="*/ 240 w 240"/>
                  <a:gd name="T11" fmla="*/ 48 h 192"/>
                  <a:gd name="T12" fmla="*/ 192 w 240"/>
                  <a:gd name="T13" fmla="*/ 0 h 192"/>
                  <a:gd name="T14" fmla="*/ 48 w 240"/>
                  <a:gd name="T15" fmla="*/ 0 h 192"/>
                  <a:gd name="T16" fmla="*/ 0 w 240"/>
                  <a:gd name="T17" fmla="*/ 48 h 19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40"/>
                  <a:gd name="T28" fmla="*/ 0 h 192"/>
                  <a:gd name="T29" fmla="*/ 240 w 240"/>
                  <a:gd name="T30" fmla="*/ 192 h 19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40" h="192">
                    <a:moveTo>
                      <a:pt x="0" y="48"/>
                    </a:moveTo>
                    <a:lnTo>
                      <a:pt x="0" y="144"/>
                    </a:lnTo>
                    <a:lnTo>
                      <a:pt x="48" y="192"/>
                    </a:lnTo>
                    <a:lnTo>
                      <a:pt x="192" y="192"/>
                    </a:lnTo>
                    <a:lnTo>
                      <a:pt x="240" y="144"/>
                    </a:lnTo>
                    <a:lnTo>
                      <a:pt x="240" y="48"/>
                    </a:lnTo>
                    <a:lnTo>
                      <a:pt x="192" y="0"/>
                    </a:lnTo>
                    <a:lnTo>
                      <a:pt x="48" y="0"/>
                    </a:lnTo>
                    <a:lnTo>
                      <a:pt x="0" y="48"/>
                    </a:lnTo>
                    <a:close/>
                  </a:path>
                </a:pathLst>
              </a:custGeom>
              <a:blipFill dpi="0" rotWithShape="0">
                <a:blip r:embed="rId7" cstate="print"/>
                <a:srcRect/>
                <a:tile tx="0" ty="0" sx="100000" sy="100000" flip="none" algn="tl"/>
              </a:blip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9665" name="Text Box 55">
                <a:extLst>
                  <a:ext uri="{FF2B5EF4-FFF2-40B4-BE49-F238E27FC236}">
                    <a16:creationId xmlns:a16="http://schemas.microsoft.com/office/drawing/2014/main" id="{7FE22E8A-B1B9-4533-971A-6914F673C9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8" y="2510"/>
                <a:ext cx="33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Times" panose="02020603050405020304" pitchFamily="18" charset="0"/>
                  </a:rPr>
                  <a:t>cAMP</a:t>
                </a:r>
              </a:p>
            </p:txBody>
          </p:sp>
        </p:grpSp>
        <p:sp>
          <p:nvSpPr>
            <p:cNvPr id="69663" name="Freeform 56">
              <a:extLst>
                <a:ext uri="{FF2B5EF4-FFF2-40B4-BE49-F238E27FC236}">
                  <a16:creationId xmlns:a16="http://schemas.microsoft.com/office/drawing/2014/main" id="{546FC074-3261-44DF-95E5-996B3E582A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1904"/>
              <a:ext cx="2928" cy="559"/>
            </a:xfrm>
            <a:custGeom>
              <a:avLst/>
              <a:gdLst>
                <a:gd name="T0" fmla="*/ 2928 w 2928"/>
                <a:gd name="T1" fmla="*/ 304 h 559"/>
                <a:gd name="T2" fmla="*/ 2448 w 2928"/>
                <a:gd name="T3" fmla="*/ 16 h 559"/>
                <a:gd name="T4" fmla="*/ 1440 w 2928"/>
                <a:gd name="T5" fmla="*/ 208 h 559"/>
                <a:gd name="T6" fmla="*/ 432 w 2928"/>
                <a:gd name="T7" fmla="*/ 544 h 559"/>
                <a:gd name="T8" fmla="*/ 0 w 2928"/>
                <a:gd name="T9" fmla="*/ 304 h 5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28"/>
                <a:gd name="T16" fmla="*/ 0 h 559"/>
                <a:gd name="T17" fmla="*/ 2928 w 2928"/>
                <a:gd name="T18" fmla="*/ 559 h 5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28" h="559">
                  <a:moveTo>
                    <a:pt x="2928" y="304"/>
                  </a:moveTo>
                  <a:cubicBezTo>
                    <a:pt x="2811" y="167"/>
                    <a:pt x="2695" y="31"/>
                    <a:pt x="2448" y="16"/>
                  </a:cubicBezTo>
                  <a:cubicBezTo>
                    <a:pt x="2200" y="0"/>
                    <a:pt x="1775" y="120"/>
                    <a:pt x="1440" y="208"/>
                  </a:cubicBezTo>
                  <a:cubicBezTo>
                    <a:pt x="1104" y="295"/>
                    <a:pt x="671" y="528"/>
                    <a:pt x="432" y="544"/>
                  </a:cubicBezTo>
                  <a:cubicBezTo>
                    <a:pt x="192" y="559"/>
                    <a:pt x="96" y="431"/>
                    <a:pt x="0" y="304"/>
                  </a:cubicBezTo>
                </a:path>
              </a:pathLst>
            </a:custGeom>
            <a:noFill/>
            <a:ln w="76200">
              <a:solidFill>
                <a:srgbClr val="F95AB7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" name="Group 57">
            <a:extLst>
              <a:ext uri="{FF2B5EF4-FFF2-40B4-BE49-F238E27FC236}">
                <a16:creationId xmlns:a16="http://schemas.microsoft.com/office/drawing/2014/main" id="{31E0695D-D5FD-4B86-97C1-21C42C597516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3657600"/>
            <a:ext cx="914400" cy="1600200"/>
            <a:chOff x="4272" y="2304"/>
            <a:chExt cx="576" cy="1008"/>
          </a:xfrm>
        </p:grpSpPr>
        <p:grpSp>
          <p:nvGrpSpPr>
            <p:cNvPr id="20" name="Group 58">
              <a:extLst>
                <a:ext uri="{FF2B5EF4-FFF2-40B4-BE49-F238E27FC236}">
                  <a16:creationId xmlns:a16="http://schemas.microsoft.com/office/drawing/2014/main" id="{810AE35E-9361-41EB-9C14-9034C24360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0" y="2304"/>
              <a:ext cx="432" cy="288"/>
              <a:chOff x="1440" y="1920"/>
              <a:chExt cx="432" cy="288"/>
            </a:xfrm>
          </p:grpSpPr>
          <p:sp>
            <p:nvSpPr>
              <p:cNvPr id="69659" name="Freeform 59" descr="80%">
                <a:extLst>
                  <a:ext uri="{FF2B5EF4-FFF2-40B4-BE49-F238E27FC236}">
                    <a16:creationId xmlns:a16="http://schemas.microsoft.com/office/drawing/2014/main" id="{C3DAED73-309E-4E7E-8A1B-DC54C22AC8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0" y="1920"/>
                <a:ext cx="432" cy="288"/>
              </a:xfrm>
              <a:custGeom>
                <a:avLst/>
                <a:gdLst>
                  <a:gd name="T0" fmla="*/ 0 w 432"/>
                  <a:gd name="T1" fmla="*/ 96 h 288"/>
                  <a:gd name="T2" fmla="*/ 144 w 432"/>
                  <a:gd name="T3" fmla="*/ 96 h 288"/>
                  <a:gd name="T4" fmla="*/ 144 w 432"/>
                  <a:gd name="T5" fmla="*/ 48 h 288"/>
                  <a:gd name="T6" fmla="*/ 192 w 432"/>
                  <a:gd name="T7" fmla="*/ 0 h 288"/>
                  <a:gd name="T8" fmla="*/ 240 w 432"/>
                  <a:gd name="T9" fmla="*/ 0 h 288"/>
                  <a:gd name="T10" fmla="*/ 288 w 432"/>
                  <a:gd name="T11" fmla="*/ 48 h 288"/>
                  <a:gd name="T12" fmla="*/ 288 w 432"/>
                  <a:gd name="T13" fmla="*/ 96 h 288"/>
                  <a:gd name="T14" fmla="*/ 432 w 432"/>
                  <a:gd name="T15" fmla="*/ 96 h 288"/>
                  <a:gd name="T16" fmla="*/ 432 w 432"/>
                  <a:gd name="T17" fmla="*/ 240 h 288"/>
                  <a:gd name="T18" fmla="*/ 336 w 432"/>
                  <a:gd name="T19" fmla="*/ 288 h 288"/>
                  <a:gd name="T20" fmla="*/ 336 w 432"/>
                  <a:gd name="T21" fmla="*/ 240 h 288"/>
                  <a:gd name="T22" fmla="*/ 288 w 432"/>
                  <a:gd name="T23" fmla="*/ 192 h 288"/>
                  <a:gd name="T24" fmla="*/ 144 w 432"/>
                  <a:gd name="T25" fmla="*/ 192 h 288"/>
                  <a:gd name="T26" fmla="*/ 96 w 432"/>
                  <a:gd name="T27" fmla="*/ 240 h 288"/>
                  <a:gd name="T28" fmla="*/ 96 w 432"/>
                  <a:gd name="T29" fmla="*/ 288 h 288"/>
                  <a:gd name="T30" fmla="*/ 0 w 432"/>
                  <a:gd name="T31" fmla="*/ 240 h 288"/>
                  <a:gd name="T32" fmla="*/ 0 w 432"/>
                  <a:gd name="T33" fmla="*/ 96 h 2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432"/>
                  <a:gd name="T52" fmla="*/ 0 h 288"/>
                  <a:gd name="T53" fmla="*/ 432 w 432"/>
                  <a:gd name="T54" fmla="*/ 288 h 28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432" h="288">
                    <a:moveTo>
                      <a:pt x="0" y="96"/>
                    </a:moveTo>
                    <a:lnTo>
                      <a:pt x="144" y="96"/>
                    </a:lnTo>
                    <a:lnTo>
                      <a:pt x="144" y="48"/>
                    </a:lnTo>
                    <a:lnTo>
                      <a:pt x="192" y="0"/>
                    </a:lnTo>
                    <a:lnTo>
                      <a:pt x="240" y="0"/>
                    </a:lnTo>
                    <a:lnTo>
                      <a:pt x="288" y="48"/>
                    </a:lnTo>
                    <a:lnTo>
                      <a:pt x="288" y="96"/>
                    </a:lnTo>
                    <a:lnTo>
                      <a:pt x="432" y="96"/>
                    </a:lnTo>
                    <a:lnTo>
                      <a:pt x="432" y="240"/>
                    </a:lnTo>
                    <a:lnTo>
                      <a:pt x="336" y="288"/>
                    </a:lnTo>
                    <a:lnTo>
                      <a:pt x="336" y="240"/>
                    </a:lnTo>
                    <a:lnTo>
                      <a:pt x="288" y="192"/>
                    </a:lnTo>
                    <a:lnTo>
                      <a:pt x="144" y="192"/>
                    </a:lnTo>
                    <a:lnTo>
                      <a:pt x="96" y="240"/>
                    </a:lnTo>
                    <a:lnTo>
                      <a:pt x="96" y="288"/>
                    </a:lnTo>
                    <a:lnTo>
                      <a:pt x="0" y="240"/>
                    </a:lnTo>
                    <a:lnTo>
                      <a:pt x="0" y="96"/>
                    </a:lnTo>
                    <a:close/>
                  </a:path>
                </a:pathLst>
              </a:custGeom>
              <a:blipFill dpi="0" rotWithShape="0">
                <a:blip r:embed="rId6" cstate="print"/>
                <a:srcRect/>
                <a:tile tx="0" ty="0" sx="100000" sy="100000" flip="none" algn="tl"/>
              </a:blip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9660" name="Text Box 60">
                <a:extLst>
                  <a:ext uri="{FF2B5EF4-FFF2-40B4-BE49-F238E27FC236}">
                    <a16:creationId xmlns:a16="http://schemas.microsoft.com/office/drawing/2014/main" id="{F301F6B1-3C4A-40DC-80F4-D7AA86DE80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4" y="1968"/>
                <a:ext cx="34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>
                    <a:latin typeface="Times" panose="02020603050405020304" pitchFamily="18" charset="0"/>
                  </a:rPr>
                  <a:t>CAP</a:t>
                </a:r>
              </a:p>
            </p:txBody>
          </p:sp>
        </p:grpSp>
        <p:grpSp>
          <p:nvGrpSpPr>
            <p:cNvPr id="21" name="Group 61">
              <a:extLst>
                <a:ext uri="{FF2B5EF4-FFF2-40B4-BE49-F238E27FC236}">
                  <a16:creationId xmlns:a16="http://schemas.microsoft.com/office/drawing/2014/main" id="{03320159-5CE2-4B25-99CE-E979EE64DF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2496"/>
              <a:ext cx="335" cy="192"/>
              <a:chOff x="4368" y="2496"/>
              <a:chExt cx="335" cy="192"/>
            </a:xfrm>
          </p:grpSpPr>
          <p:sp>
            <p:nvSpPr>
              <p:cNvPr id="69657" name="Freeform 62" descr="80%">
                <a:extLst>
                  <a:ext uri="{FF2B5EF4-FFF2-40B4-BE49-F238E27FC236}">
                    <a16:creationId xmlns:a16="http://schemas.microsoft.com/office/drawing/2014/main" id="{2936F520-2403-48FD-8278-F848C7E156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6" y="2496"/>
                <a:ext cx="240" cy="192"/>
              </a:xfrm>
              <a:custGeom>
                <a:avLst/>
                <a:gdLst>
                  <a:gd name="T0" fmla="*/ 0 w 240"/>
                  <a:gd name="T1" fmla="*/ 48 h 192"/>
                  <a:gd name="T2" fmla="*/ 0 w 240"/>
                  <a:gd name="T3" fmla="*/ 144 h 192"/>
                  <a:gd name="T4" fmla="*/ 48 w 240"/>
                  <a:gd name="T5" fmla="*/ 192 h 192"/>
                  <a:gd name="T6" fmla="*/ 192 w 240"/>
                  <a:gd name="T7" fmla="*/ 192 h 192"/>
                  <a:gd name="T8" fmla="*/ 240 w 240"/>
                  <a:gd name="T9" fmla="*/ 144 h 192"/>
                  <a:gd name="T10" fmla="*/ 240 w 240"/>
                  <a:gd name="T11" fmla="*/ 48 h 192"/>
                  <a:gd name="T12" fmla="*/ 192 w 240"/>
                  <a:gd name="T13" fmla="*/ 0 h 192"/>
                  <a:gd name="T14" fmla="*/ 48 w 240"/>
                  <a:gd name="T15" fmla="*/ 0 h 192"/>
                  <a:gd name="T16" fmla="*/ 0 w 240"/>
                  <a:gd name="T17" fmla="*/ 48 h 19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40"/>
                  <a:gd name="T28" fmla="*/ 0 h 192"/>
                  <a:gd name="T29" fmla="*/ 240 w 240"/>
                  <a:gd name="T30" fmla="*/ 192 h 19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40" h="192">
                    <a:moveTo>
                      <a:pt x="0" y="48"/>
                    </a:moveTo>
                    <a:lnTo>
                      <a:pt x="0" y="144"/>
                    </a:lnTo>
                    <a:lnTo>
                      <a:pt x="48" y="192"/>
                    </a:lnTo>
                    <a:lnTo>
                      <a:pt x="192" y="192"/>
                    </a:lnTo>
                    <a:lnTo>
                      <a:pt x="240" y="144"/>
                    </a:lnTo>
                    <a:lnTo>
                      <a:pt x="240" y="48"/>
                    </a:lnTo>
                    <a:lnTo>
                      <a:pt x="192" y="0"/>
                    </a:lnTo>
                    <a:lnTo>
                      <a:pt x="48" y="0"/>
                    </a:lnTo>
                    <a:lnTo>
                      <a:pt x="0" y="48"/>
                    </a:lnTo>
                    <a:close/>
                  </a:path>
                </a:pathLst>
              </a:custGeom>
              <a:blipFill dpi="0" rotWithShape="0">
                <a:blip r:embed="rId7" cstate="print"/>
                <a:srcRect/>
                <a:tile tx="0" ty="0" sx="100000" sy="100000" flip="none" algn="tl"/>
              </a:blip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9658" name="Text Box 63">
                <a:extLst>
                  <a:ext uri="{FF2B5EF4-FFF2-40B4-BE49-F238E27FC236}">
                    <a16:creationId xmlns:a16="http://schemas.microsoft.com/office/drawing/2014/main" id="{60EFD02C-3430-4823-81A3-C6ED8E698E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8" y="2510"/>
                <a:ext cx="33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Times" panose="02020603050405020304" pitchFamily="18" charset="0"/>
                  </a:rPr>
                  <a:t>cAMP</a:t>
                </a:r>
              </a:p>
            </p:txBody>
          </p:sp>
        </p:grpSp>
        <p:sp>
          <p:nvSpPr>
            <p:cNvPr id="69655" name="Freeform 64">
              <a:extLst>
                <a:ext uri="{FF2B5EF4-FFF2-40B4-BE49-F238E27FC236}">
                  <a16:creationId xmlns:a16="http://schemas.microsoft.com/office/drawing/2014/main" id="{6310D71C-DF20-4AB5-BE07-D7D0214529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2784"/>
              <a:ext cx="288" cy="528"/>
            </a:xfrm>
            <a:custGeom>
              <a:avLst/>
              <a:gdLst>
                <a:gd name="T0" fmla="*/ 0 w 288"/>
                <a:gd name="T1" fmla="*/ 528 h 528"/>
                <a:gd name="T2" fmla="*/ 240 w 288"/>
                <a:gd name="T3" fmla="*/ 384 h 528"/>
                <a:gd name="T4" fmla="*/ 288 w 288"/>
                <a:gd name="T5" fmla="*/ 0 h 528"/>
                <a:gd name="T6" fmla="*/ 0 60000 65536"/>
                <a:gd name="T7" fmla="*/ 0 60000 65536"/>
                <a:gd name="T8" fmla="*/ 0 60000 65536"/>
                <a:gd name="T9" fmla="*/ 0 w 288"/>
                <a:gd name="T10" fmla="*/ 0 h 528"/>
                <a:gd name="T11" fmla="*/ 288 w 288"/>
                <a:gd name="T12" fmla="*/ 528 h 5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528">
                  <a:moveTo>
                    <a:pt x="0" y="528"/>
                  </a:moveTo>
                  <a:cubicBezTo>
                    <a:pt x="96" y="500"/>
                    <a:pt x="192" y="472"/>
                    <a:pt x="240" y="384"/>
                  </a:cubicBezTo>
                  <a:cubicBezTo>
                    <a:pt x="288" y="296"/>
                    <a:pt x="288" y="148"/>
                    <a:pt x="288" y="0"/>
                  </a:cubicBezTo>
                </a:path>
              </a:pathLst>
            </a:custGeom>
            <a:noFill/>
            <a:ln w="76200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9656" name="Freeform 65">
              <a:extLst>
                <a:ext uri="{FF2B5EF4-FFF2-40B4-BE49-F238E27FC236}">
                  <a16:creationId xmlns:a16="http://schemas.microsoft.com/office/drawing/2014/main" id="{B0C44062-0E49-436C-A93C-E8E29A275C7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560" y="2784"/>
              <a:ext cx="288" cy="528"/>
            </a:xfrm>
            <a:custGeom>
              <a:avLst/>
              <a:gdLst>
                <a:gd name="T0" fmla="*/ 0 w 288"/>
                <a:gd name="T1" fmla="*/ 528 h 528"/>
                <a:gd name="T2" fmla="*/ 240 w 288"/>
                <a:gd name="T3" fmla="*/ 384 h 528"/>
                <a:gd name="T4" fmla="*/ 288 w 288"/>
                <a:gd name="T5" fmla="*/ 0 h 528"/>
                <a:gd name="T6" fmla="*/ 0 60000 65536"/>
                <a:gd name="T7" fmla="*/ 0 60000 65536"/>
                <a:gd name="T8" fmla="*/ 0 60000 65536"/>
                <a:gd name="T9" fmla="*/ 0 w 288"/>
                <a:gd name="T10" fmla="*/ 0 h 528"/>
                <a:gd name="T11" fmla="*/ 288 w 288"/>
                <a:gd name="T12" fmla="*/ 528 h 5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528">
                  <a:moveTo>
                    <a:pt x="0" y="528"/>
                  </a:moveTo>
                  <a:cubicBezTo>
                    <a:pt x="96" y="500"/>
                    <a:pt x="192" y="472"/>
                    <a:pt x="240" y="384"/>
                  </a:cubicBezTo>
                  <a:cubicBezTo>
                    <a:pt x="288" y="296"/>
                    <a:pt x="288" y="148"/>
                    <a:pt x="288" y="0"/>
                  </a:cubicBezTo>
                </a:path>
              </a:pathLst>
            </a:custGeom>
            <a:noFill/>
            <a:ln w="76200">
              <a:solidFill>
                <a:srgbClr val="F95AB7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67330" name="AutoShape 66">
            <a:extLst>
              <a:ext uri="{FF2B5EF4-FFF2-40B4-BE49-F238E27FC236}">
                <a16:creationId xmlns:a16="http://schemas.microsoft.com/office/drawing/2014/main" id="{570A4333-CA86-499F-98A7-A0B78B171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295400"/>
            <a:ext cx="1600200" cy="762000"/>
          </a:xfrm>
          <a:prstGeom prst="wedgeRoundRectCallout">
            <a:avLst>
              <a:gd name="adj1" fmla="val -56449"/>
              <a:gd name="adj2" fmla="val 172500"/>
              <a:gd name="adj3" fmla="val 166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chemeClr val="accent2"/>
                </a:solidFill>
                <a:latin typeface="Times" panose="02020603050405020304" pitchFamily="18" charset="0"/>
              </a:rPr>
              <a:t>Bind to me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chemeClr val="accent2"/>
                </a:solidFill>
                <a:latin typeface="Times" panose="02020603050405020304" pitchFamily="18" charset="0"/>
              </a:rPr>
              <a:t>Polymerase</a:t>
            </a:r>
          </a:p>
        </p:txBody>
      </p:sp>
      <p:grpSp>
        <p:nvGrpSpPr>
          <p:cNvPr id="22" name="Group 67">
            <a:extLst>
              <a:ext uri="{FF2B5EF4-FFF2-40B4-BE49-F238E27FC236}">
                <a16:creationId xmlns:a16="http://schemas.microsoft.com/office/drawing/2014/main" id="{079D86F7-3FC8-455C-8D79-3C1C305D1DC9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828800"/>
            <a:ext cx="5715000" cy="1676400"/>
            <a:chOff x="2160" y="1152"/>
            <a:chExt cx="3600" cy="1056"/>
          </a:xfrm>
        </p:grpSpPr>
        <p:sp>
          <p:nvSpPr>
            <p:cNvPr id="69651" name="AutoShape 68">
              <a:extLst>
                <a:ext uri="{FF2B5EF4-FFF2-40B4-BE49-F238E27FC236}">
                  <a16:creationId xmlns:a16="http://schemas.microsoft.com/office/drawing/2014/main" id="{6B070607-1BB8-43D0-A47D-2B5397147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152"/>
              <a:ext cx="3600" cy="1056"/>
            </a:xfrm>
            <a:prstGeom prst="rightArrow">
              <a:avLst>
                <a:gd name="adj1" fmla="val 50000"/>
                <a:gd name="adj2" fmla="val 85227"/>
              </a:avLst>
            </a:prstGeom>
            <a:solidFill>
              <a:schemeClr val="folHlink">
                <a:alpha val="50195"/>
              </a:schemeClr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Calibri" panose="020F0502020204030204" pitchFamily="34" charset="0"/>
              </a:endParaRPr>
            </a:p>
          </p:txBody>
        </p:sp>
        <p:sp>
          <p:nvSpPr>
            <p:cNvPr id="69652" name="Oval 69">
              <a:extLst>
                <a:ext uri="{FF2B5EF4-FFF2-40B4-BE49-F238E27FC236}">
                  <a16:creationId xmlns:a16="http://schemas.microsoft.com/office/drawing/2014/main" id="{897D4AE6-78CD-4FAD-95B5-837D4FB4A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344"/>
              <a:ext cx="672" cy="672"/>
            </a:xfrm>
            <a:prstGeom prst="ellipse">
              <a:avLst/>
            </a:prstGeom>
            <a:solidFill>
              <a:srgbClr val="CC66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Times" panose="02020603050405020304" pitchFamily="18" charset="0"/>
                </a:rPr>
                <a:t>RNA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Times" panose="02020603050405020304" pitchFamily="18" charset="0"/>
                </a:rPr>
                <a:t>Pol.</a:t>
              </a:r>
            </a:p>
          </p:txBody>
        </p:sp>
      </p:grpSp>
      <p:sp>
        <p:nvSpPr>
          <p:cNvPr id="267334" name="Oval 70">
            <a:extLst>
              <a:ext uri="{FF2B5EF4-FFF2-40B4-BE49-F238E27FC236}">
                <a16:creationId xmlns:a16="http://schemas.microsoft.com/office/drawing/2014/main" id="{659FDE45-BF02-47C0-A49E-2F0F63F85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209800"/>
            <a:ext cx="1066800" cy="1066800"/>
          </a:xfrm>
          <a:prstGeom prst="ellipse">
            <a:avLst/>
          </a:prstGeom>
          <a:solidFill>
            <a:srgbClr val="CC6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FFFF"/>
                </a:solidFill>
                <a:latin typeface="Times" panose="02020603050405020304" pitchFamily="18" charset="0"/>
              </a:rPr>
              <a:t>RNA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FFFF"/>
                </a:solidFill>
                <a:latin typeface="Times" panose="02020603050405020304" pitchFamily="18" charset="0"/>
              </a:rPr>
              <a:t>Pol.</a:t>
            </a:r>
          </a:p>
        </p:txBody>
      </p:sp>
      <p:sp>
        <p:nvSpPr>
          <p:cNvPr id="267335" name="AutoShape 71">
            <a:extLst>
              <a:ext uri="{FF2B5EF4-FFF2-40B4-BE49-F238E27FC236}">
                <a16:creationId xmlns:a16="http://schemas.microsoft.com/office/drawing/2014/main" id="{0B1B75BC-4FDA-4706-BE64-A6D4B3F49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1447800"/>
            <a:ext cx="1371600" cy="609600"/>
          </a:xfrm>
          <a:prstGeom prst="wedgeRoundRectCallout">
            <a:avLst>
              <a:gd name="adj1" fmla="val 61343"/>
              <a:gd name="adj2" fmla="val 125523"/>
              <a:gd name="adj3" fmla="val 166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 err="1">
                <a:solidFill>
                  <a:schemeClr val="accent2"/>
                </a:solidFill>
                <a:latin typeface="Times" panose="02020603050405020304" pitchFamily="18" charset="0"/>
              </a:rPr>
              <a:t>Yipee</a:t>
            </a:r>
            <a:r>
              <a:rPr lang="en-US" altLang="zh-CN" sz="1800" b="1" dirty="0">
                <a:solidFill>
                  <a:schemeClr val="accent2"/>
                </a:solidFill>
                <a:latin typeface="Calibri" panose="020F0502020204030204" pitchFamily="34" charset="0"/>
              </a:rPr>
              <a:t>…</a:t>
            </a:r>
            <a:r>
              <a:rPr lang="en-US" altLang="zh-CN" sz="1800" b="1" dirty="0">
                <a:solidFill>
                  <a:schemeClr val="accent2"/>
                </a:solidFill>
                <a:latin typeface="Times" panose="02020603050405020304" pitchFamily="18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1710688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67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67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67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7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67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67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99" grpId="0" animBg="1" autoUpdateAnimBg="0"/>
      <p:bldP spid="267330" grpId="0" animBg="1" autoUpdateAnimBg="0"/>
      <p:bldP spid="267334" grpId="0" animBg="1" autoUpdateAnimBg="0"/>
      <p:bldP spid="267335" grpId="0" animBg="1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C4541E50-BD7B-4E10-8CA9-D9FD134DC6F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152400"/>
            <a:ext cx="8610600" cy="1143000"/>
          </a:xfrm>
        </p:spPr>
        <p:txBody>
          <a:bodyPr lIns="90487" tIns="44450" rIns="90487" bIns="44450"/>
          <a:lstStyle/>
          <a:p>
            <a:pPr eaLnBrk="1" hangingPunct="1"/>
            <a:r>
              <a:rPr lang="en-US" altLang="zh-CN" sz="4000" dirty="0"/>
              <a:t>The </a:t>
            </a:r>
            <a:r>
              <a:rPr lang="en-US" altLang="zh-CN" sz="4000" i="1" dirty="0"/>
              <a:t>Lac</a:t>
            </a:r>
            <a:r>
              <a:rPr lang="en-US" altLang="zh-CN" sz="4000" dirty="0"/>
              <a:t> Operon:</a:t>
            </a:r>
            <a:br>
              <a:rPr lang="en-US" altLang="zh-CN" sz="4000" dirty="0"/>
            </a:br>
            <a:r>
              <a:rPr lang="en-US" altLang="zh-CN" sz="2900" dirty="0"/>
              <a:t>When Glucose Is Present But Not Lactose</a:t>
            </a:r>
            <a:endParaRPr lang="en-US" altLang="zh-CN" sz="4000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EE5343F-A201-437E-A032-2B1D6548C26B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438400"/>
            <a:ext cx="8382000" cy="457200"/>
            <a:chOff x="240" y="1536"/>
            <a:chExt cx="5280" cy="288"/>
          </a:xfrm>
        </p:grpSpPr>
        <p:sp>
          <p:nvSpPr>
            <p:cNvPr id="68635" name="Line 4">
              <a:extLst>
                <a:ext uri="{FF2B5EF4-FFF2-40B4-BE49-F238E27FC236}">
                  <a16:creationId xmlns:a16="http://schemas.microsoft.com/office/drawing/2014/main" id="{8DB77EEE-6B62-4536-98EA-E538224D2A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680"/>
              <a:ext cx="528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8636" name="Rectangle 5">
              <a:extLst>
                <a:ext uri="{FF2B5EF4-FFF2-40B4-BE49-F238E27FC236}">
                  <a16:creationId xmlns:a16="http://schemas.microsoft.com/office/drawing/2014/main" id="{1387B0D0-5097-4C5C-931B-174B88457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536"/>
              <a:ext cx="720" cy="288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chemeClr val="bg1"/>
                  </a:solidFill>
                  <a:latin typeface="Times" panose="02020603050405020304" pitchFamily="18" charset="0"/>
                </a:rPr>
                <a:t>Repressor</a:t>
              </a:r>
            </a:p>
          </p:txBody>
        </p:sp>
        <p:sp>
          <p:nvSpPr>
            <p:cNvPr id="68637" name="Rectangle 6">
              <a:extLst>
                <a:ext uri="{FF2B5EF4-FFF2-40B4-BE49-F238E27FC236}">
                  <a16:creationId xmlns:a16="http://schemas.microsoft.com/office/drawing/2014/main" id="{C0FB05FF-D281-4DE4-A5D6-430FEDBE8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536"/>
              <a:ext cx="672" cy="288"/>
            </a:xfrm>
            <a:prstGeom prst="rect">
              <a:avLst/>
            </a:prstGeom>
            <a:solidFill>
              <a:srgbClr val="6E004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FFFF"/>
                  </a:solidFill>
                  <a:latin typeface="Times" panose="02020603050405020304" pitchFamily="18" charset="0"/>
                </a:rPr>
                <a:t>Promoter</a:t>
              </a:r>
            </a:p>
          </p:txBody>
        </p:sp>
        <p:sp>
          <p:nvSpPr>
            <p:cNvPr id="68638" name="Rectangle 7">
              <a:extLst>
                <a:ext uri="{FF2B5EF4-FFF2-40B4-BE49-F238E27FC236}">
                  <a16:creationId xmlns:a16="http://schemas.microsoft.com/office/drawing/2014/main" id="{963FE020-958C-4C26-8A01-2C39B404B3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6" y="1536"/>
              <a:ext cx="752" cy="288"/>
            </a:xfrm>
            <a:prstGeom prst="rect">
              <a:avLst/>
            </a:prstGeom>
            <a:solidFill>
              <a:srgbClr val="00AE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latin typeface="Times" panose="02020603050405020304" pitchFamily="18" charset="0"/>
                </a:rPr>
                <a:t>LacY</a:t>
              </a:r>
            </a:p>
          </p:txBody>
        </p:sp>
        <p:sp>
          <p:nvSpPr>
            <p:cNvPr id="68639" name="Rectangle 8">
              <a:extLst>
                <a:ext uri="{FF2B5EF4-FFF2-40B4-BE49-F238E27FC236}">
                  <a16:creationId xmlns:a16="http://schemas.microsoft.com/office/drawing/2014/main" id="{AC059B83-0B5E-4C19-87C4-7A85FAB54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8" y="1536"/>
              <a:ext cx="752" cy="28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 dirty="0" err="1">
                  <a:latin typeface="Times" panose="02020603050405020304" pitchFamily="18" charset="0"/>
                </a:rPr>
                <a:t>LacA</a:t>
              </a:r>
              <a:endParaRPr lang="en-US" altLang="zh-CN" sz="1800" b="1" i="1" dirty="0">
                <a:latin typeface="Times" panose="02020603050405020304" pitchFamily="18" charset="0"/>
              </a:endParaRPr>
            </a:p>
          </p:txBody>
        </p:sp>
        <p:sp>
          <p:nvSpPr>
            <p:cNvPr id="68640" name="Rectangle 9">
              <a:extLst>
                <a:ext uri="{FF2B5EF4-FFF2-40B4-BE49-F238E27FC236}">
                  <a16:creationId xmlns:a16="http://schemas.microsoft.com/office/drawing/2014/main" id="{2A9A219E-AEFB-4EF5-9F7E-F28B3908B6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536"/>
              <a:ext cx="752" cy="288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FFFFFF"/>
                  </a:solidFill>
                  <a:latin typeface="Times" panose="02020603050405020304" pitchFamily="18" charset="0"/>
                </a:rPr>
                <a:t>LacZ</a:t>
              </a:r>
            </a:p>
          </p:txBody>
        </p:sp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CFA65A9E-C011-43DE-ABA8-99CD96F865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1536"/>
              <a:ext cx="684" cy="288"/>
              <a:chOff x="2352" y="3024"/>
              <a:chExt cx="684" cy="288"/>
            </a:xfrm>
          </p:grpSpPr>
          <p:sp>
            <p:nvSpPr>
              <p:cNvPr id="68646" name="Freeform 11" descr="Wide upward diagonal">
                <a:extLst>
                  <a:ext uri="{FF2B5EF4-FFF2-40B4-BE49-F238E27FC236}">
                    <a16:creationId xmlns:a16="http://schemas.microsoft.com/office/drawing/2014/main" id="{B1F8A6D7-2049-4372-AC5A-8CB0529FE4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0" y="3024"/>
                <a:ext cx="624" cy="288"/>
              </a:xfrm>
              <a:custGeom>
                <a:avLst/>
                <a:gdLst>
                  <a:gd name="T0" fmla="*/ 0 w 624"/>
                  <a:gd name="T1" fmla="*/ 0 h 288"/>
                  <a:gd name="T2" fmla="*/ 0 w 624"/>
                  <a:gd name="T3" fmla="*/ 288 h 288"/>
                  <a:gd name="T4" fmla="*/ 192 w 624"/>
                  <a:gd name="T5" fmla="*/ 288 h 288"/>
                  <a:gd name="T6" fmla="*/ 192 w 624"/>
                  <a:gd name="T7" fmla="*/ 192 h 288"/>
                  <a:gd name="T8" fmla="*/ 288 w 624"/>
                  <a:gd name="T9" fmla="*/ 192 h 288"/>
                  <a:gd name="T10" fmla="*/ 288 w 624"/>
                  <a:gd name="T11" fmla="*/ 288 h 288"/>
                  <a:gd name="T12" fmla="*/ 384 w 624"/>
                  <a:gd name="T13" fmla="*/ 288 h 288"/>
                  <a:gd name="T14" fmla="*/ 384 w 624"/>
                  <a:gd name="T15" fmla="*/ 192 h 288"/>
                  <a:gd name="T16" fmla="*/ 480 w 624"/>
                  <a:gd name="T17" fmla="*/ 192 h 288"/>
                  <a:gd name="T18" fmla="*/ 480 w 624"/>
                  <a:gd name="T19" fmla="*/ 288 h 288"/>
                  <a:gd name="T20" fmla="*/ 624 w 624"/>
                  <a:gd name="T21" fmla="*/ 288 h 288"/>
                  <a:gd name="T22" fmla="*/ 624 w 624"/>
                  <a:gd name="T23" fmla="*/ 0 h 288"/>
                  <a:gd name="T24" fmla="*/ 0 w 624"/>
                  <a:gd name="T25" fmla="*/ 0 h 28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624"/>
                  <a:gd name="T40" fmla="*/ 0 h 288"/>
                  <a:gd name="T41" fmla="*/ 624 w 624"/>
                  <a:gd name="T42" fmla="*/ 288 h 28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624" h="288">
                    <a:moveTo>
                      <a:pt x="0" y="0"/>
                    </a:moveTo>
                    <a:lnTo>
                      <a:pt x="0" y="288"/>
                    </a:lnTo>
                    <a:lnTo>
                      <a:pt x="192" y="288"/>
                    </a:lnTo>
                    <a:lnTo>
                      <a:pt x="192" y="192"/>
                    </a:lnTo>
                    <a:lnTo>
                      <a:pt x="288" y="192"/>
                    </a:lnTo>
                    <a:lnTo>
                      <a:pt x="288" y="288"/>
                    </a:lnTo>
                    <a:lnTo>
                      <a:pt x="384" y="288"/>
                    </a:lnTo>
                    <a:lnTo>
                      <a:pt x="384" y="192"/>
                    </a:lnTo>
                    <a:lnTo>
                      <a:pt x="480" y="192"/>
                    </a:lnTo>
                    <a:lnTo>
                      <a:pt x="480" y="288"/>
                    </a:lnTo>
                    <a:lnTo>
                      <a:pt x="624" y="288"/>
                    </a:ln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0">
                <a:blip r:embed="rId3" cstate="print"/>
                <a:srcRect/>
                <a:tile tx="0" ty="0" sx="100000" sy="100000" flip="none" algn="tl"/>
              </a:blip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8647" name="Text Box 12">
                <a:extLst>
                  <a:ext uri="{FF2B5EF4-FFF2-40B4-BE49-F238E27FC236}">
                    <a16:creationId xmlns:a16="http://schemas.microsoft.com/office/drawing/2014/main" id="{36F899E9-F2C4-449C-864B-1D1E52188F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3024"/>
                <a:ext cx="6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solidFill>
                      <a:srgbClr val="FFFFFF"/>
                    </a:solidFill>
                    <a:latin typeface="Times" panose="02020603050405020304" pitchFamily="18" charset="0"/>
                  </a:rPr>
                  <a:t>Operator</a:t>
                </a:r>
              </a:p>
            </p:txBody>
          </p:sp>
        </p:grpSp>
        <p:grpSp>
          <p:nvGrpSpPr>
            <p:cNvPr id="5" name="Group 13">
              <a:extLst>
                <a:ext uri="{FF2B5EF4-FFF2-40B4-BE49-F238E27FC236}">
                  <a16:creationId xmlns:a16="http://schemas.microsoft.com/office/drawing/2014/main" id="{F0DA9EBC-C1C6-4C72-8CA0-6AEC3A70B7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536"/>
              <a:ext cx="630" cy="288"/>
              <a:chOff x="1152" y="1920"/>
              <a:chExt cx="630" cy="288"/>
            </a:xfrm>
          </p:grpSpPr>
          <p:sp>
            <p:nvSpPr>
              <p:cNvPr id="68643" name="Freeform 14" descr="Wide downward diagonal">
                <a:extLst>
                  <a:ext uri="{FF2B5EF4-FFF2-40B4-BE49-F238E27FC236}">
                    <a16:creationId xmlns:a16="http://schemas.microsoft.com/office/drawing/2014/main" id="{DCF6BBE1-E4A8-496A-A9CA-7098EA725A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0" y="1920"/>
                <a:ext cx="528" cy="288"/>
              </a:xfrm>
              <a:custGeom>
                <a:avLst/>
                <a:gdLst>
                  <a:gd name="T0" fmla="*/ 0 w 528"/>
                  <a:gd name="T1" fmla="*/ 0 h 288"/>
                  <a:gd name="T2" fmla="*/ 0 w 528"/>
                  <a:gd name="T3" fmla="*/ 288 h 288"/>
                  <a:gd name="T4" fmla="*/ 144 w 528"/>
                  <a:gd name="T5" fmla="*/ 288 h 288"/>
                  <a:gd name="T6" fmla="*/ 144 w 528"/>
                  <a:gd name="T7" fmla="*/ 240 h 288"/>
                  <a:gd name="T8" fmla="*/ 192 w 528"/>
                  <a:gd name="T9" fmla="*/ 192 h 288"/>
                  <a:gd name="T10" fmla="*/ 240 w 528"/>
                  <a:gd name="T11" fmla="*/ 192 h 288"/>
                  <a:gd name="T12" fmla="*/ 288 w 528"/>
                  <a:gd name="T13" fmla="*/ 240 h 288"/>
                  <a:gd name="T14" fmla="*/ 288 w 528"/>
                  <a:gd name="T15" fmla="*/ 288 h 288"/>
                  <a:gd name="T16" fmla="*/ 528 w 528"/>
                  <a:gd name="T17" fmla="*/ 288 h 288"/>
                  <a:gd name="T18" fmla="*/ 528 w 528"/>
                  <a:gd name="T19" fmla="*/ 0 h 288"/>
                  <a:gd name="T20" fmla="*/ 0 w 528"/>
                  <a:gd name="T21" fmla="*/ 0 h 28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28"/>
                  <a:gd name="T34" fmla="*/ 0 h 288"/>
                  <a:gd name="T35" fmla="*/ 528 w 528"/>
                  <a:gd name="T36" fmla="*/ 288 h 28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28" h="288">
                    <a:moveTo>
                      <a:pt x="0" y="0"/>
                    </a:moveTo>
                    <a:lnTo>
                      <a:pt x="0" y="288"/>
                    </a:lnTo>
                    <a:lnTo>
                      <a:pt x="144" y="288"/>
                    </a:lnTo>
                    <a:lnTo>
                      <a:pt x="144" y="240"/>
                    </a:lnTo>
                    <a:lnTo>
                      <a:pt x="192" y="192"/>
                    </a:lnTo>
                    <a:lnTo>
                      <a:pt x="240" y="192"/>
                    </a:lnTo>
                    <a:lnTo>
                      <a:pt x="288" y="240"/>
                    </a:lnTo>
                    <a:lnTo>
                      <a:pt x="288" y="288"/>
                    </a:lnTo>
                    <a:lnTo>
                      <a:pt x="528" y="288"/>
                    </a:lnTo>
                    <a:lnTo>
                      <a:pt x="528" y="0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0">
                <a:blip r:embed="rId4" cstate="print"/>
                <a:srcRect/>
                <a:tile tx="0" ty="0" sx="100000" sy="100000" flip="none" algn="tl"/>
              </a:blip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8644" name="Text Box 15">
                <a:extLst>
                  <a:ext uri="{FF2B5EF4-FFF2-40B4-BE49-F238E27FC236}">
                    <a16:creationId xmlns:a16="http://schemas.microsoft.com/office/drawing/2014/main" id="{E729E1F3-D366-4550-8E55-4406DACF68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2" y="1920"/>
                <a:ext cx="468" cy="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7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solidFill>
                      <a:srgbClr val="FFFFFF"/>
                    </a:solidFill>
                    <a:latin typeface="Times" panose="02020603050405020304" pitchFamily="18" charset="0"/>
                  </a:rPr>
                  <a:t>CAP</a:t>
                </a:r>
                <a:endParaRPr lang="en-US" altLang="zh-CN" sz="1200">
                  <a:solidFill>
                    <a:srgbClr val="FFFFFF"/>
                  </a:solidFill>
                  <a:latin typeface="Times" panose="02020603050405020304" pitchFamily="18" charset="0"/>
                </a:endParaRPr>
              </a:p>
            </p:txBody>
          </p:sp>
          <p:sp>
            <p:nvSpPr>
              <p:cNvPr id="68645" name="Text Box 16">
                <a:extLst>
                  <a:ext uri="{FF2B5EF4-FFF2-40B4-BE49-F238E27FC236}">
                    <a16:creationId xmlns:a16="http://schemas.microsoft.com/office/drawing/2014/main" id="{4C64010C-E7DD-4FDD-AF22-1EC824C0B2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56" y="1988"/>
                <a:ext cx="42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FFFFFF"/>
                    </a:solidFill>
                    <a:latin typeface="Times" panose="02020603050405020304" pitchFamily="18" charset="0"/>
                  </a:rPr>
                  <a:t>Binding</a:t>
                </a:r>
              </a:p>
            </p:txBody>
          </p:sp>
        </p:grpSp>
      </p:grpSp>
      <p:sp>
        <p:nvSpPr>
          <p:cNvPr id="265233" name="Oval 17">
            <a:extLst>
              <a:ext uri="{FF2B5EF4-FFF2-40B4-BE49-F238E27FC236}">
                <a16:creationId xmlns:a16="http://schemas.microsoft.com/office/drawing/2014/main" id="{DB27C29A-4281-4D0E-AE19-F7E9B5292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209800"/>
            <a:ext cx="1066800" cy="1066800"/>
          </a:xfrm>
          <a:prstGeom prst="ellipse">
            <a:avLst/>
          </a:prstGeom>
          <a:solidFill>
            <a:srgbClr val="CC6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Times" panose="02020603050405020304" pitchFamily="18" charset="0"/>
              </a:rPr>
              <a:t>RNA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Times" panose="02020603050405020304" pitchFamily="18" charset="0"/>
              </a:rPr>
              <a:t>Pol.</a:t>
            </a:r>
          </a:p>
        </p:txBody>
      </p:sp>
      <p:grpSp>
        <p:nvGrpSpPr>
          <p:cNvPr id="6" name="Group 18">
            <a:extLst>
              <a:ext uri="{FF2B5EF4-FFF2-40B4-BE49-F238E27FC236}">
                <a16:creationId xmlns:a16="http://schemas.microsoft.com/office/drawing/2014/main" id="{998FB5F4-B185-4806-9C8A-477F52F11609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038600"/>
            <a:ext cx="1219200" cy="1524000"/>
            <a:chOff x="816" y="2544"/>
            <a:chExt cx="768" cy="960"/>
          </a:xfrm>
        </p:grpSpPr>
        <p:grpSp>
          <p:nvGrpSpPr>
            <p:cNvPr id="7" name="Group 19">
              <a:extLst>
                <a:ext uri="{FF2B5EF4-FFF2-40B4-BE49-F238E27FC236}">
                  <a16:creationId xmlns:a16="http://schemas.microsoft.com/office/drawing/2014/main" id="{F0B31EF0-B2C1-4752-BAF3-806CDA6810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3168"/>
              <a:ext cx="624" cy="336"/>
              <a:chOff x="2400" y="2064"/>
              <a:chExt cx="624" cy="336"/>
            </a:xfrm>
          </p:grpSpPr>
          <p:sp>
            <p:nvSpPr>
              <p:cNvPr id="68633" name="Freeform 20" descr="80%">
                <a:extLst>
                  <a:ext uri="{FF2B5EF4-FFF2-40B4-BE49-F238E27FC236}">
                    <a16:creationId xmlns:a16="http://schemas.microsoft.com/office/drawing/2014/main" id="{A01063B4-C005-4705-8C92-D28BC78027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0" y="2064"/>
                <a:ext cx="624" cy="336"/>
              </a:xfrm>
              <a:custGeom>
                <a:avLst/>
                <a:gdLst>
                  <a:gd name="T0" fmla="*/ 0 w 624"/>
                  <a:gd name="T1" fmla="*/ 96 h 336"/>
                  <a:gd name="T2" fmla="*/ 192 w 624"/>
                  <a:gd name="T3" fmla="*/ 96 h 336"/>
                  <a:gd name="T4" fmla="*/ 192 w 624"/>
                  <a:gd name="T5" fmla="*/ 0 h 336"/>
                  <a:gd name="T6" fmla="*/ 288 w 624"/>
                  <a:gd name="T7" fmla="*/ 0 h 336"/>
                  <a:gd name="T8" fmla="*/ 288 w 624"/>
                  <a:gd name="T9" fmla="*/ 96 h 336"/>
                  <a:gd name="T10" fmla="*/ 384 w 624"/>
                  <a:gd name="T11" fmla="*/ 96 h 336"/>
                  <a:gd name="T12" fmla="*/ 384 w 624"/>
                  <a:gd name="T13" fmla="*/ 0 h 336"/>
                  <a:gd name="T14" fmla="*/ 480 w 624"/>
                  <a:gd name="T15" fmla="*/ 0 h 336"/>
                  <a:gd name="T16" fmla="*/ 480 w 624"/>
                  <a:gd name="T17" fmla="*/ 96 h 336"/>
                  <a:gd name="T18" fmla="*/ 624 w 624"/>
                  <a:gd name="T19" fmla="*/ 96 h 336"/>
                  <a:gd name="T20" fmla="*/ 624 w 624"/>
                  <a:gd name="T21" fmla="*/ 336 h 336"/>
                  <a:gd name="T22" fmla="*/ 384 w 624"/>
                  <a:gd name="T23" fmla="*/ 336 h 336"/>
                  <a:gd name="T24" fmla="*/ 336 w 624"/>
                  <a:gd name="T25" fmla="*/ 192 h 336"/>
                  <a:gd name="T26" fmla="*/ 288 w 624"/>
                  <a:gd name="T27" fmla="*/ 336 h 336"/>
                  <a:gd name="T28" fmla="*/ 0 w 624"/>
                  <a:gd name="T29" fmla="*/ 336 h 336"/>
                  <a:gd name="T30" fmla="*/ 0 w 624"/>
                  <a:gd name="T31" fmla="*/ 96 h 3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624"/>
                  <a:gd name="T49" fmla="*/ 0 h 336"/>
                  <a:gd name="T50" fmla="*/ 624 w 624"/>
                  <a:gd name="T51" fmla="*/ 336 h 3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624" h="336">
                    <a:moveTo>
                      <a:pt x="0" y="96"/>
                    </a:moveTo>
                    <a:lnTo>
                      <a:pt x="192" y="96"/>
                    </a:lnTo>
                    <a:lnTo>
                      <a:pt x="192" y="0"/>
                    </a:lnTo>
                    <a:lnTo>
                      <a:pt x="288" y="0"/>
                    </a:lnTo>
                    <a:lnTo>
                      <a:pt x="288" y="96"/>
                    </a:lnTo>
                    <a:lnTo>
                      <a:pt x="384" y="96"/>
                    </a:lnTo>
                    <a:lnTo>
                      <a:pt x="384" y="0"/>
                    </a:lnTo>
                    <a:lnTo>
                      <a:pt x="480" y="0"/>
                    </a:lnTo>
                    <a:lnTo>
                      <a:pt x="480" y="96"/>
                    </a:lnTo>
                    <a:lnTo>
                      <a:pt x="624" y="96"/>
                    </a:lnTo>
                    <a:lnTo>
                      <a:pt x="624" y="336"/>
                    </a:lnTo>
                    <a:lnTo>
                      <a:pt x="384" y="336"/>
                    </a:lnTo>
                    <a:lnTo>
                      <a:pt x="336" y="192"/>
                    </a:lnTo>
                    <a:lnTo>
                      <a:pt x="288" y="336"/>
                    </a:lnTo>
                    <a:lnTo>
                      <a:pt x="0" y="336"/>
                    </a:lnTo>
                    <a:lnTo>
                      <a:pt x="0" y="96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8634" name="Text Box 21">
                <a:extLst>
                  <a:ext uri="{FF2B5EF4-FFF2-40B4-BE49-F238E27FC236}">
                    <a16:creationId xmlns:a16="http://schemas.microsoft.com/office/drawing/2014/main" id="{5F00FD4A-892A-4E1F-BBB3-1CB0A5BFAE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6" y="2115"/>
                <a:ext cx="565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solidFill>
                      <a:srgbClr val="FF3300"/>
                    </a:solidFill>
                    <a:latin typeface="Times" panose="02020603050405020304" pitchFamily="18" charset="0"/>
                  </a:rPr>
                  <a:t>Repressor</a:t>
                </a:r>
              </a:p>
            </p:txBody>
          </p:sp>
        </p:grpSp>
        <p:sp>
          <p:nvSpPr>
            <p:cNvPr id="68632" name="Line 22">
              <a:extLst>
                <a:ext uri="{FF2B5EF4-FFF2-40B4-BE49-F238E27FC236}">
                  <a16:creationId xmlns:a16="http://schemas.microsoft.com/office/drawing/2014/main" id="{CA3B83B5-6624-4A26-81CC-6B3F90070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544"/>
              <a:ext cx="384" cy="528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23">
            <a:extLst>
              <a:ext uri="{FF2B5EF4-FFF2-40B4-BE49-F238E27FC236}">
                <a16:creationId xmlns:a16="http://schemas.microsoft.com/office/drawing/2014/main" id="{B09F4A06-B339-49F1-8ED2-247C9E317F9C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2743200"/>
            <a:ext cx="2057400" cy="2590800"/>
            <a:chOff x="1728" y="1728"/>
            <a:chExt cx="1296" cy="1632"/>
          </a:xfrm>
        </p:grpSpPr>
        <p:grpSp>
          <p:nvGrpSpPr>
            <p:cNvPr id="9" name="Group 24">
              <a:extLst>
                <a:ext uri="{FF2B5EF4-FFF2-40B4-BE49-F238E27FC236}">
                  <a16:creationId xmlns:a16="http://schemas.microsoft.com/office/drawing/2014/main" id="{228AA3C9-3B89-428E-BBB5-074D40DA6A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1728"/>
              <a:ext cx="624" cy="336"/>
              <a:chOff x="2400" y="2064"/>
              <a:chExt cx="624" cy="336"/>
            </a:xfrm>
          </p:grpSpPr>
          <p:sp>
            <p:nvSpPr>
              <p:cNvPr id="68629" name="Freeform 25" descr="80%">
                <a:extLst>
                  <a:ext uri="{FF2B5EF4-FFF2-40B4-BE49-F238E27FC236}">
                    <a16:creationId xmlns:a16="http://schemas.microsoft.com/office/drawing/2014/main" id="{5CB51E60-92EB-479B-8AB2-1A2D28B50C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0" y="2064"/>
                <a:ext cx="624" cy="336"/>
              </a:xfrm>
              <a:custGeom>
                <a:avLst/>
                <a:gdLst>
                  <a:gd name="T0" fmla="*/ 0 w 624"/>
                  <a:gd name="T1" fmla="*/ 96 h 336"/>
                  <a:gd name="T2" fmla="*/ 192 w 624"/>
                  <a:gd name="T3" fmla="*/ 96 h 336"/>
                  <a:gd name="T4" fmla="*/ 192 w 624"/>
                  <a:gd name="T5" fmla="*/ 0 h 336"/>
                  <a:gd name="T6" fmla="*/ 288 w 624"/>
                  <a:gd name="T7" fmla="*/ 0 h 336"/>
                  <a:gd name="T8" fmla="*/ 288 w 624"/>
                  <a:gd name="T9" fmla="*/ 96 h 336"/>
                  <a:gd name="T10" fmla="*/ 384 w 624"/>
                  <a:gd name="T11" fmla="*/ 96 h 336"/>
                  <a:gd name="T12" fmla="*/ 384 w 624"/>
                  <a:gd name="T13" fmla="*/ 0 h 336"/>
                  <a:gd name="T14" fmla="*/ 480 w 624"/>
                  <a:gd name="T15" fmla="*/ 0 h 336"/>
                  <a:gd name="T16" fmla="*/ 480 w 624"/>
                  <a:gd name="T17" fmla="*/ 96 h 336"/>
                  <a:gd name="T18" fmla="*/ 624 w 624"/>
                  <a:gd name="T19" fmla="*/ 96 h 336"/>
                  <a:gd name="T20" fmla="*/ 624 w 624"/>
                  <a:gd name="T21" fmla="*/ 336 h 336"/>
                  <a:gd name="T22" fmla="*/ 384 w 624"/>
                  <a:gd name="T23" fmla="*/ 336 h 336"/>
                  <a:gd name="T24" fmla="*/ 336 w 624"/>
                  <a:gd name="T25" fmla="*/ 192 h 336"/>
                  <a:gd name="T26" fmla="*/ 288 w 624"/>
                  <a:gd name="T27" fmla="*/ 336 h 336"/>
                  <a:gd name="T28" fmla="*/ 0 w 624"/>
                  <a:gd name="T29" fmla="*/ 336 h 336"/>
                  <a:gd name="T30" fmla="*/ 0 w 624"/>
                  <a:gd name="T31" fmla="*/ 96 h 3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624"/>
                  <a:gd name="T49" fmla="*/ 0 h 336"/>
                  <a:gd name="T50" fmla="*/ 624 w 624"/>
                  <a:gd name="T51" fmla="*/ 336 h 3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624" h="336">
                    <a:moveTo>
                      <a:pt x="0" y="96"/>
                    </a:moveTo>
                    <a:lnTo>
                      <a:pt x="192" y="96"/>
                    </a:lnTo>
                    <a:lnTo>
                      <a:pt x="192" y="0"/>
                    </a:lnTo>
                    <a:lnTo>
                      <a:pt x="288" y="0"/>
                    </a:lnTo>
                    <a:lnTo>
                      <a:pt x="288" y="96"/>
                    </a:lnTo>
                    <a:lnTo>
                      <a:pt x="384" y="96"/>
                    </a:lnTo>
                    <a:lnTo>
                      <a:pt x="384" y="0"/>
                    </a:lnTo>
                    <a:lnTo>
                      <a:pt x="480" y="0"/>
                    </a:lnTo>
                    <a:lnTo>
                      <a:pt x="480" y="96"/>
                    </a:lnTo>
                    <a:lnTo>
                      <a:pt x="624" y="96"/>
                    </a:lnTo>
                    <a:lnTo>
                      <a:pt x="624" y="336"/>
                    </a:lnTo>
                    <a:lnTo>
                      <a:pt x="384" y="336"/>
                    </a:lnTo>
                    <a:lnTo>
                      <a:pt x="336" y="192"/>
                    </a:lnTo>
                    <a:lnTo>
                      <a:pt x="288" y="336"/>
                    </a:lnTo>
                    <a:lnTo>
                      <a:pt x="0" y="336"/>
                    </a:lnTo>
                    <a:lnTo>
                      <a:pt x="0" y="96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8630" name="Text Box 26">
                <a:extLst>
                  <a:ext uri="{FF2B5EF4-FFF2-40B4-BE49-F238E27FC236}">
                    <a16:creationId xmlns:a16="http://schemas.microsoft.com/office/drawing/2014/main" id="{46EF3343-BDDE-4915-87B1-D72AEF18DF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6" y="2115"/>
                <a:ext cx="565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solidFill>
                      <a:srgbClr val="FF0000"/>
                    </a:solidFill>
                    <a:latin typeface="Times" panose="02020603050405020304" pitchFamily="18" charset="0"/>
                  </a:rPr>
                  <a:t>Repressor</a:t>
                </a:r>
              </a:p>
            </p:txBody>
          </p:sp>
        </p:grpSp>
        <p:sp>
          <p:nvSpPr>
            <p:cNvPr id="68628" name="Freeform 27">
              <a:extLst>
                <a:ext uri="{FF2B5EF4-FFF2-40B4-BE49-F238E27FC236}">
                  <a16:creationId xmlns:a16="http://schemas.microsoft.com/office/drawing/2014/main" id="{2D833669-8B1E-4847-9819-4135196BC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8" y="2160"/>
              <a:ext cx="1008" cy="1200"/>
            </a:xfrm>
            <a:custGeom>
              <a:avLst/>
              <a:gdLst>
                <a:gd name="T0" fmla="*/ 0 w 1104"/>
                <a:gd name="T1" fmla="*/ 1200 h 1200"/>
                <a:gd name="T2" fmla="*/ 337 w 1104"/>
                <a:gd name="T3" fmla="*/ 720 h 1200"/>
                <a:gd name="T4" fmla="*/ 405 w 1104"/>
                <a:gd name="T5" fmla="*/ 0 h 1200"/>
                <a:gd name="T6" fmla="*/ 0 60000 65536"/>
                <a:gd name="T7" fmla="*/ 0 60000 65536"/>
                <a:gd name="T8" fmla="*/ 0 60000 65536"/>
                <a:gd name="T9" fmla="*/ 0 w 1104"/>
                <a:gd name="T10" fmla="*/ 0 h 1200"/>
                <a:gd name="T11" fmla="*/ 1104 w 1104"/>
                <a:gd name="T12" fmla="*/ 1200 h 1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4" h="1200">
                  <a:moveTo>
                    <a:pt x="0" y="1200"/>
                  </a:moveTo>
                  <a:cubicBezTo>
                    <a:pt x="364" y="1060"/>
                    <a:pt x="728" y="920"/>
                    <a:pt x="912" y="720"/>
                  </a:cubicBezTo>
                  <a:cubicBezTo>
                    <a:pt x="1096" y="520"/>
                    <a:pt x="1100" y="260"/>
                    <a:pt x="1104" y="0"/>
                  </a:cubicBezTo>
                </a:path>
              </a:pathLst>
            </a:custGeom>
            <a:noFill/>
            <a:ln w="7620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" name="Group 28">
            <a:extLst>
              <a:ext uri="{FF2B5EF4-FFF2-40B4-BE49-F238E27FC236}">
                <a16:creationId xmlns:a16="http://schemas.microsoft.com/office/drawing/2014/main" id="{87ACE3E7-50AE-423C-9783-64B965081D57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524000"/>
            <a:ext cx="1897063" cy="2438400"/>
            <a:chOff x="480" y="960"/>
            <a:chExt cx="1195" cy="1536"/>
          </a:xfrm>
        </p:grpSpPr>
        <p:grpSp>
          <p:nvGrpSpPr>
            <p:cNvPr id="11" name="Group 29">
              <a:extLst>
                <a:ext uri="{FF2B5EF4-FFF2-40B4-BE49-F238E27FC236}">
                  <a16:creationId xmlns:a16="http://schemas.microsoft.com/office/drawing/2014/main" id="{6074308B-2EF9-464F-A88E-89E06837AE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1872"/>
              <a:ext cx="720" cy="624"/>
              <a:chOff x="480" y="1872"/>
              <a:chExt cx="720" cy="624"/>
            </a:xfrm>
          </p:grpSpPr>
          <p:sp>
            <p:nvSpPr>
              <p:cNvPr id="68625" name="Rectangle 30" descr="5%">
                <a:extLst>
                  <a:ext uri="{FF2B5EF4-FFF2-40B4-BE49-F238E27FC236}">
                    <a16:creationId xmlns:a16="http://schemas.microsoft.com/office/drawing/2014/main" id="{BB895B82-799A-432E-9579-15A70D4DC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2208"/>
                <a:ext cx="720" cy="288"/>
              </a:xfrm>
              <a:prstGeom prst="rect">
                <a:avLst/>
              </a:prstGeom>
              <a:blipFill dpi="0" rotWithShape="0">
                <a:blip r:embed="rId5" cstate="print"/>
                <a:srcRect/>
                <a:tile tx="0" ty="0" sx="100000" sy="100000" flip="none" algn="tl"/>
              </a:blip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solidFill>
                      <a:schemeClr val="bg2"/>
                    </a:solidFill>
                    <a:latin typeface="Times" panose="02020603050405020304" pitchFamily="18" charset="0"/>
                  </a:rPr>
                  <a:t>Repressor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solidFill>
                      <a:schemeClr val="bg2"/>
                    </a:solidFill>
                    <a:latin typeface="Times" panose="02020603050405020304" pitchFamily="18" charset="0"/>
                  </a:rPr>
                  <a:t> mRNA</a:t>
                </a:r>
              </a:p>
            </p:txBody>
          </p:sp>
          <p:sp>
            <p:nvSpPr>
              <p:cNvPr id="68626" name="Line 31">
                <a:extLst>
                  <a:ext uri="{FF2B5EF4-FFF2-40B4-BE49-F238E27FC236}">
                    <a16:creationId xmlns:a16="http://schemas.microsoft.com/office/drawing/2014/main" id="{A05A9C7C-36E2-42DF-AC82-6C1B674BF5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1872"/>
                <a:ext cx="0" cy="28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2" name="Group 32">
              <a:extLst>
                <a:ext uri="{FF2B5EF4-FFF2-40B4-BE49-F238E27FC236}">
                  <a16:creationId xmlns:a16="http://schemas.microsoft.com/office/drawing/2014/main" id="{B9E519D3-77F8-4BA1-8069-8B9C827074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960"/>
              <a:ext cx="907" cy="384"/>
              <a:chOff x="768" y="960"/>
              <a:chExt cx="907" cy="384"/>
            </a:xfrm>
          </p:grpSpPr>
          <p:sp>
            <p:nvSpPr>
              <p:cNvPr id="68623" name="AutoShape 33">
                <a:extLst>
                  <a:ext uri="{FF2B5EF4-FFF2-40B4-BE49-F238E27FC236}">
                    <a16:creationId xmlns:a16="http://schemas.microsoft.com/office/drawing/2014/main" id="{22267A86-E14D-4822-8B25-A1485BB967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960"/>
                <a:ext cx="816" cy="384"/>
              </a:xfrm>
              <a:prstGeom prst="wedgeRoundRectCallout">
                <a:avLst>
                  <a:gd name="adj1" fmla="val -47796"/>
                  <a:gd name="adj2" fmla="val 119532"/>
                  <a:gd name="adj3" fmla="val 16667"/>
                </a:avLst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200">
                  <a:solidFill>
                    <a:schemeClr val="bg2"/>
                  </a:solidFill>
                  <a:latin typeface="Times" panose="02020603050405020304" pitchFamily="18" charset="0"/>
                </a:endParaRPr>
              </a:p>
            </p:txBody>
          </p:sp>
          <p:sp>
            <p:nvSpPr>
              <p:cNvPr id="68624" name="Text Box 34">
                <a:extLst>
                  <a:ext uri="{FF2B5EF4-FFF2-40B4-BE49-F238E27FC236}">
                    <a16:creationId xmlns:a16="http://schemas.microsoft.com/office/drawing/2014/main" id="{7D56FB60-27CB-4EFD-BEEC-CEDB85D8D9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" y="960"/>
                <a:ext cx="907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Times" panose="02020603050405020304" pitchFamily="18" charset="0"/>
                  </a:rPr>
                  <a:t>Hey man, I</a:t>
                </a:r>
                <a:r>
                  <a:rPr lang="en-US" altLang="zh-CN" sz="1600" b="1" dirty="0">
                    <a:solidFill>
                      <a:schemeClr val="accent2"/>
                    </a:solidFill>
                    <a:latin typeface="Calibri" panose="020F0502020204030204" pitchFamily="34" charset="0"/>
                  </a:rPr>
                  <a:t>’</a:t>
                </a:r>
                <a:r>
                  <a:rPr lang="en-US" altLang="zh-CN" sz="1600" b="1" dirty="0">
                    <a:solidFill>
                      <a:schemeClr val="accent2"/>
                    </a:solidFill>
                    <a:latin typeface="Times" panose="02020603050405020304" pitchFamily="18" charset="0"/>
                  </a:rPr>
                  <a:t>m 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Times" panose="02020603050405020304" pitchFamily="18" charset="0"/>
                  </a:rPr>
                  <a:t>constitutive</a:t>
                </a:r>
              </a:p>
            </p:txBody>
          </p:sp>
        </p:grpSp>
      </p:grpSp>
      <p:sp>
        <p:nvSpPr>
          <p:cNvPr id="265251" name="AutoShape 35">
            <a:extLst>
              <a:ext uri="{FF2B5EF4-FFF2-40B4-BE49-F238E27FC236}">
                <a16:creationId xmlns:a16="http://schemas.microsoft.com/office/drawing/2014/main" id="{3AD35093-29CD-48C4-B198-07093689C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1447800"/>
            <a:ext cx="1371600" cy="685800"/>
          </a:xfrm>
          <a:prstGeom prst="wedgeRoundRectCallout">
            <a:avLst>
              <a:gd name="adj1" fmla="val -44097"/>
              <a:gd name="adj2" fmla="val 96759"/>
              <a:gd name="adj3" fmla="val 166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chemeClr val="accent2"/>
                </a:solidFill>
                <a:latin typeface="Times" panose="02020603050405020304" pitchFamily="18" charset="0"/>
              </a:rPr>
              <a:t>Come on,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chemeClr val="accent2"/>
                </a:solidFill>
                <a:latin typeface="Times" panose="02020603050405020304" pitchFamily="18" charset="0"/>
              </a:rPr>
              <a:t> let me through</a:t>
            </a:r>
          </a:p>
        </p:txBody>
      </p:sp>
      <p:sp>
        <p:nvSpPr>
          <p:cNvPr id="265252" name="AutoShape 36">
            <a:extLst>
              <a:ext uri="{FF2B5EF4-FFF2-40B4-BE49-F238E27FC236}">
                <a16:creationId xmlns:a16="http://schemas.microsoft.com/office/drawing/2014/main" id="{F71D377D-914A-4027-926B-9CCBEA606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429000"/>
            <a:ext cx="1219200" cy="762000"/>
          </a:xfrm>
          <a:prstGeom prst="wedgeRoundRectCallout">
            <a:avLst>
              <a:gd name="adj1" fmla="val -69921"/>
              <a:gd name="adj2" fmla="val -94792"/>
              <a:gd name="adj3" fmla="val 166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accent2"/>
                </a:solidFill>
                <a:latin typeface="Times" panose="02020603050405020304" pitchFamily="18" charset="0"/>
              </a:rPr>
              <a:t>No way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accent2"/>
                </a:solidFill>
                <a:latin typeface="Times" panose="02020603050405020304" pitchFamily="18" charset="0"/>
              </a:rPr>
              <a:t>Jose!</a:t>
            </a:r>
          </a:p>
        </p:txBody>
      </p:sp>
      <p:grpSp>
        <p:nvGrpSpPr>
          <p:cNvPr id="13" name="Group 37">
            <a:extLst>
              <a:ext uri="{FF2B5EF4-FFF2-40B4-BE49-F238E27FC236}">
                <a16:creationId xmlns:a16="http://schemas.microsoft.com/office/drawing/2014/main" id="{45473135-22A2-4403-9A0C-8B6081F8E91E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5191125"/>
            <a:ext cx="722313" cy="523875"/>
            <a:chOff x="3984" y="3270"/>
            <a:chExt cx="455" cy="330"/>
          </a:xfrm>
        </p:grpSpPr>
        <p:sp>
          <p:nvSpPr>
            <p:cNvPr id="68619" name="Freeform 38" descr="80%">
              <a:extLst>
                <a:ext uri="{FF2B5EF4-FFF2-40B4-BE49-F238E27FC236}">
                  <a16:creationId xmlns:a16="http://schemas.microsoft.com/office/drawing/2014/main" id="{05092B61-B23A-445D-90EB-B0F916024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3312"/>
              <a:ext cx="432" cy="288"/>
            </a:xfrm>
            <a:custGeom>
              <a:avLst/>
              <a:gdLst>
                <a:gd name="T0" fmla="*/ 0 w 432"/>
                <a:gd name="T1" fmla="*/ 96 h 288"/>
                <a:gd name="T2" fmla="*/ 144 w 432"/>
                <a:gd name="T3" fmla="*/ 96 h 288"/>
                <a:gd name="T4" fmla="*/ 144 w 432"/>
                <a:gd name="T5" fmla="*/ 0 h 288"/>
                <a:gd name="T6" fmla="*/ 288 w 432"/>
                <a:gd name="T7" fmla="*/ 0 h 288"/>
                <a:gd name="T8" fmla="*/ 288 w 432"/>
                <a:gd name="T9" fmla="*/ 96 h 288"/>
                <a:gd name="T10" fmla="*/ 432 w 432"/>
                <a:gd name="T11" fmla="*/ 96 h 288"/>
                <a:gd name="T12" fmla="*/ 432 w 432"/>
                <a:gd name="T13" fmla="*/ 240 h 288"/>
                <a:gd name="T14" fmla="*/ 288 w 432"/>
                <a:gd name="T15" fmla="*/ 288 h 288"/>
                <a:gd name="T16" fmla="*/ 288 w 432"/>
                <a:gd name="T17" fmla="*/ 240 h 288"/>
                <a:gd name="T18" fmla="*/ 240 w 432"/>
                <a:gd name="T19" fmla="*/ 192 h 288"/>
                <a:gd name="T20" fmla="*/ 192 w 432"/>
                <a:gd name="T21" fmla="*/ 192 h 288"/>
                <a:gd name="T22" fmla="*/ 144 w 432"/>
                <a:gd name="T23" fmla="*/ 240 h 288"/>
                <a:gd name="T24" fmla="*/ 144 w 432"/>
                <a:gd name="T25" fmla="*/ 288 h 288"/>
                <a:gd name="T26" fmla="*/ 0 w 432"/>
                <a:gd name="T27" fmla="*/ 240 h 288"/>
                <a:gd name="T28" fmla="*/ 0 w 432"/>
                <a:gd name="T29" fmla="*/ 96 h 28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32"/>
                <a:gd name="T46" fmla="*/ 0 h 288"/>
                <a:gd name="T47" fmla="*/ 432 w 432"/>
                <a:gd name="T48" fmla="*/ 288 h 28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32" h="288">
                  <a:moveTo>
                    <a:pt x="0" y="96"/>
                  </a:moveTo>
                  <a:lnTo>
                    <a:pt x="144" y="96"/>
                  </a:lnTo>
                  <a:lnTo>
                    <a:pt x="144" y="0"/>
                  </a:lnTo>
                  <a:lnTo>
                    <a:pt x="288" y="0"/>
                  </a:lnTo>
                  <a:lnTo>
                    <a:pt x="288" y="96"/>
                  </a:lnTo>
                  <a:lnTo>
                    <a:pt x="432" y="96"/>
                  </a:lnTo>
                  <a:lnTo>
                    <a:pt x="432" y="240"/>
                  </a:lnTo>
                  <a:lnTo>
                    <a:pt x="288" y="288"/>
                  </a:lnTo>
                  <a:lnTo>
                    <a:pt x="288" y="240"/>
                  </a:lnTo>
                  <a:lnTo>
                    <a:pt x="240" y="192"/>
                  </a:lnTo>
                  <a:lnTo>
                    <a:pt x="192" y="192"/>
                  </a:lnTo>
                  <a:lnTo>
                    <a:pt x="144" y="240"/>
                  </a:lnTo>
                  <a:lnTo>
                    <a:pt x="144" y="288"/>
                  </a:lnTo>
                  <a:lnTo>
                    <a:pt x="0" y="240"/>
                  </a:lnTo>
                  <a:lnTo>
                    <a:pt x="0" y="96"/>
                  </a:lnTo>
                  <a:close/>
                </a:path>
              </a:pathLst>
            </a:custGeom>
            <a:blipFill dpi="0" rotWithShape="0">
              <a:blip r:embed="rId6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8620" name="Text Box 39">
              <a:extLst>
                <a:ext uri="{FF2B5EF4-FFF2-40B4-BE49-F238E27FC236}">
                  <a16:creationId xmlns:a16="http://schemas.microsoft.com/office/drawing/2014/main" id="{5CAE0395-C33B-4DC5-A3F5-C3CDA36C67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3270"/>
              <a:ext cx="4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CAP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4FCE1CC-14A6-4D7B-98CB-4C9013CC2358}"/>
              </a:ext>
            </a:extLst>
          </p:cNvPr>
          <p:cNvSpPr txBox="1"/>
          <p:nvPr/>
        </p:nvSpPr>
        <p:spPr>
          <a:xfrm>
            <a:off x="1259632" y="2339588"/>
            <a:ext cx="82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Lac I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0650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5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5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5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5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33" grpId="0" animBg="1" autoUpdateAnimBg="0"/>
      <p:bldP spid="265251" grpId="0" animBg="1" autoUpdateAnimBg="0"/>
      <p:bldP spid="265252" grpId="0" animBg="1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35AFAEFA-5F90-459D-9213-2179D23B199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152400"/>
            <a:ext cx="8610600" cy="1143000"/>
          </a:xfrm>
        </p:spPr>
        <p:txBody>
          <a:bodyPr lIns="90487" tIns="44450" rIns="90487" bIns="44450"/>
          <a:lstStyle/>
          <a:p>
            <a:pPr eaLnBrk="1" hangingPunct="1"/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CN" sz="4000" dirty="0"/>
              <a:t> </a:t>
            </a:r>
            <a:r>
              <a:rPr lang="en-US" altLang="zh-CN" sz="4000" i="1" dirty="0"/>
              <a:t>Lac</a:t>
            </a:r>
            <a:r>
              <a:rPr lang="en-US" altLang="zh-CN" sz="4000" dirty="0"/>
              <a:t> Operon:</a:t>
            </a:r>
            <a:br>
              <a:rPr lang="en-US" altLang="zh-CN" sz="4000" dirty="0"/>
            </a:br>
            <a:r>
              <a:rPr lang="en-US" altLang="zh-CN" sz="2900" dirty="0"/>
              <a:t>When Neither Lactose Nor Glucose Is Present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1B0DB8E4-B755-4083-B9A4-60A54393B887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438400"/>
            <a:ext cx="8382000" cy="457200"/>
            <a:chOff x="240" y="1536"/>
            <a:chExt cx="5280" cy="288"/>
          </a:xfrm>
        </p:grpSpPr>
        <p:sp>
          <p:nvSpPr>
            <p:cNvPr id="70708" name="Line 4">
              <a:extLst>
                <a:ext uri="{FF2B5EF4-FFF2-40B4-BE49-F238E27FC236}">
                  <a16:creationId xmlns:a16="http://schemas.microsoft.com/office/drawing/2014/main" id="{955D2BBF-3DA8-49A0-94F9-74A296C654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680"/>
              <a:ext cx="528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0709" name="Rectangle 5">
              <a:extLst>
                <a:ext uri="{FF2B5EF4-FFF2-40B4-BE49-F238E27FC236}">
                  <a16:creationId xmlns:a16="http://schemas.microsoft.com/office/drawing/2014/main" id="{004FE712-FC52-442F-8581-5E689530BC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536"/>
              <a:ext cx="720" cy="288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FFFFFF"/>
                  </a:solidFill>
                  <a:latin typeface="Times" panose="02020603050405020304" pitchFamily="18" charset="0"/>
                </a:rPr>
                <a:t>Repressor</a:t>
              </a:r>
            </a:p>
          </p:txBody>
        </p:sp>
        <p:sp>
          <p:nvSpPr>
            <p:cNvPr id="70710" name="Rectangle 6">
              <a:extLst>
                <a:ext uri="{FF2B5EF4-FFF2-40B4-BE49-F238E27FC236}">
                  <a16:creationId xmlns:a16="http://schemas.microsoft.com/office/drawing/2014/main" id="{76B40441-F293-4EB1-B6EC-CDF02DE0D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536"/>
              <a:ext cx="672" cy="288"/>
            </a:xfrm>
            <a:prstGeom prst="rect">
              <a:avLst/>
            </a:prstGeom>
            <a:solidFill>
              <a:srgbClr val="6E004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FFFF"/>
                  </a:solidFill>
                  <a:latin typeface="Times" panose="02020603050405020304" pitchFamily="18" charset="0"/>
                </a:rPr>
                <a:t>Promoter</a:t>
              </a:r>
            </a:p>
          </p:txBody>
        </p:sp>
        <p:sp>
          <p:nvSpPr>
            <p:cNvPr id="70711" name="Rectangle 7">
              <a:extLst>
                <a:ext uri="{FF2B5EF4-FFF2-40B4-BE49-F238E27FC236}">
                  <a16:creationId xmlns:a16="http://schemas.microsoft.com/office/drawing/2014/main" id="{0FAD4060-F42F-468D-AAB7-552ABCE31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6" y="1536"/>
              <a:ext cx="752" cy="288"/>
            </a:xfrm>
            <a:prstGeom prst="rect">
              <a:avLst/>
            </a:prstGeom>
            <a:solidFill>
              <a:srgbClr val="00AE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latin typeface="Times" panose="02020603050405020304" pitchFamily="18" charset="0"/>
                </a:rPr>
                <a:t>LacY</a:t>
              </a:r>
            </a:p>
          </p:txBody>
        </p:sp>
        <p:sp>
          <p:nvSpPr>
            <p:cNvPr id="70712" name="Rectangle 8">
              <a:extLst>
                <a:ext uri="{FF2B5EF4-FFF2-40B4-BE49-F238E27FC236}">
                  <a16:creationId xmlns:a16="http://schemas.microsoft.com/office/drawing/2014/main" id="{9D945EA6-305A-438A-B03B-24274162E0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8" y="1536"/>
              <a:ext cx="752" cy="28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FF0000"/>
                  </a:solidFill>
                  <a:latin typeface="Times" panose="02020603050405020304" pitchFamily="18" charset="0"/>
                </a:rPr>
                <a:t>LacA</a:t>
              </a:r>
            </a:p>
          </p:txBody>
        </p:sp>
        <p:sp>
          <p:nvSpPr>
            <p:cNvPr id="70713" name="Rectangle 9">
              <a:extLst>
                <a:ext uri="{FF2B5EF4-FFF2-40B4-BE49-F238E27FC236}">
                  <a16:creationId xmlns:a16="http://schemas.microsoft.com/office/drawing/2014/main" id="{998094E8-C75A-4549-99A8-A7850CC3A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536"/>
              <a:ext cx="752" cy="288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FFFFFF"/>
                  </a:solidFill>
                  <a:latin typeface="Times" panose="02020603050405020304" pitchFamily="18" charset="0"/>
                </a:rPr>
                <a:t>LacZ</a:t>
              </a:r>
            </a:p>
          </p:txBody>
        </p:sp>
        <p:grpSp>
          <p:nvGrpSpPr>
            <p:cNvPr id="3" name="Group 10">
              <a:extLst>
                <a:ext uri="{FF2B5EF4-FFF2-40B4-BE49-F238E27FC236}">
                  <a16:creationId xmlns:a16="http://schemas.microsoft.com/office/drawing/2014/main" id="{3EE5E072-0D65-4AEC-B1A6-91CBABFDCA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1536"/>
              <a:ext cx="684" cy="288"/>
              <a:chOff x="2352" y="3024"/>
              <a:chExt cx="684" cy="288"/>
            </a:xfrm>
          </p:grpSpPr>
          <p:sp>
            <p:nvSpPr>
              <p:cNvPr id="70719" name="Freeform 11" descr="Wide upward diagonal">
                <a:extLst>
                  <a:ext uri="{FF2B5EF4-FFF2-40B4-BE49-F238E27FC236}">
                    <a16:creationId xmlns:a16="http://schemas.microsoft.com/office/drawing/2014/main" id="{EB6F6CDF-367A-4BC9-8817-8984CD8CE2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0" y="3024"/>
                <a:ext cx="624" cy="288"/>
              </a:xfrm>
              <a:custGeom>
                <a:avLst/>
                <a:gdLst>
                  <a:gd name="T0" fmla="*/ 0 w 624"/>
                  <a:gd name="T1" fmla="*/ 0 h 288"/>
                  <a:gd name="T2" fmla="*/ 0 w 624"/>
                  <a:gd name="T3" fmla="*/ 288 h 288"/>
                  <a:gd name="T4" fmla="*/ 192 w 624"/>
                  <a:gd name="T5" fmla="*/ 288 h 288"/>
                  <a:gd name="T6" fmla="*/ 192 w 624"/>
                  <a:gd name="T7" fmla="*/ 192 h 288"/>
                  <a:gd name="T8" fmla="*/ 288 w 624"/>
                  <a:gd name="T9" fmla="*/ 192 h 288"/>
                  <a:gd name="T10" fmla="*/ 288 w 624"/>
                  <a:gd name="T11" fmla="*/ 288 h 288"/>
                  <a:gd name="T12" fmla="*/ 384 w 624"/>
                  <a:gd name="T13" fmla="*/ 288 h 288"/>
                  <a:gd name="T14" fmla="*/ 384 w 624"/>
                  <a:gd name="T15" fmla="*/ 192 h 288"/>
                  <a:gd name="T16" fmla="*/ 480 w 624"/>
                  <a:gd name="T17" fmla="*/ 192 h 288"/>
                  <a:gd name="T18" fmla="*/ 480 w 624"/>
                  <a:gd name="T19" fmla="*/ 288 h 288"/>
                  <a:gd name="T20" fmla="*/ 624 w 624"/>
                  <a:gd name="T21" fmla="*/ 288 h 288"/>
                  <a:gd name="T22" fmla="*/ 624 w 624"/>
                  <a:gd name="T23" fmla="*/ 0 h 288"/>
                  <a:gd name="T24" fmla="*/ 0 w 624"/>
                  <a:gd name="T25" fmla="*/ 0 h 28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624"/>
                  <a:gd name="T40" fmla="*/ 0 h 288"/>
                  <a:gd name="T41" fmla="*/ 624 w 624"/>
                  <a:gd name="T42" fmla="*/ 288 h 28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624" h="288">
                    <a:moveTo>
                      <a:pt x="0" y="0"/>
                    </a:moveTo>
                    <a:lnTo>
                      <a:pt x="0" y="288"/>
                    </a:lnTo>
                    <a:lnTo>
                      <a:pt x="192" y="288"/>
                    </a:lnTo>
                    <a:lnTo>
                      <a:pt x="192" y="192"/>
                    </a:lnTo>
                    <a:lnTo>
                      <a:pt x="288" y="192"/>
                    </a:lnTo>
                    <a:lnTo>
                      <a:pt x="288" y="288"/>
                    </a:lnTo>
                    <a:lnTo>
                      <a:pt x="384" y="288"/>
                    </a:lnTo>
                    <a:lnTo>
                      <a:pt x="384" y="192"/>
                    </a:lnTo>
                    <a:lnTo>
                      <a:pt x="480" y="192"/>
                    </a:lnTo>
                    <a:lnTo>
                      <a:pt x="480" y="288"/>
                    </a:lnTo>
                    <a:lnTo>
                      <a:pt x="624" y="288"/>
                    </a:ln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0">
                <a:blip r:embed="rId2" cstate="print"/>
                <a:srcRect/>
                <a:tile tx="0" ty="0" sx="100000" sy="100000" flip="none" algn="tl"/>
              </a:blip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720" name="Text Box 12">
                <a:extLst>
                  <a:ext uri="{FF2B5EF4-FFF2-40B4-BE49-F238E27FC236}">
                    <a16:creationId xmlns:a16="http://schemas.microsoft.com/office/drawing/2014/main" id="{57FECCCB-BE71-4CBE-B910-E45ECDF419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3024"/>
                <a:ext cx="6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solidFill>
                      <a:srgbClr val="FFFFFF"/>
                    </a:solidFill>
                    <a:latin typeface="Times" panose="02020603050405020304" pitchFamily="18" charset="0"/>
                  </a:rPr>
                  <a:t>Operator</a:t>
                </a:r>
              </a:p>
            </p:txBody>
          </p:sp>
        </p:grpSp>
        <p:grpSp>
          <p:nvGrpSpPr>
            <p:cNvPr id="4" name="Group 13">
              <a:extLst>
                <a:ext uri="{FF2B5EF4-FFF2-40B4-BE49-F238E27FC236}">
                  <a16:creationId xmlns:a16="http://schemas.microsoft.com/office/drawing/2014/main" id="{BED07A1D-EE33-4830-AF4A-17035FE4AA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536"/>
              <a:ext cx="630" cy="288"/>
              <a:chOff x="1152" y="1920"/>
              <a:chExt cx="630" cy="288"/>
            </a:xfrm>
          </p:grpSpPr>
          <p:sp>
            <p:nvSpPr>
              <p:cNvPr id="70716" name="Freeform 14" descr="Wide downward diagonal">
                <a:extLst>
                  <a:ext uri="{FF2B5EF4-FFF2-40B4-BE49-F238E27FC236}">
                    <a16:creationId xmlns:a16="http://schemas.microsoft.com/office/drawing/2014/main" id="{B9256C7C-7223-4EFE-BDEF-90B72267BF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0" y="1920"/>
                <a:ext cx="528" cy="288"/>
              </a:xfrm>
              <a:custGeom>
                <a:avLst/>
                <a:gdLst>
                  <a:gd name="T0" fmla="*/ 0 w 528"/>
                  <a:gd name="T1" fmla="*/ 0 h 288"/>
                  <a:gd name="T2" fmla="*/ 0 w 528"/>
                  <a:gd name="T3" fmla="*/ 288 h 288"/>
                  <a:gd name="T4" fmla="*/ 144 w 528"/>
                  <a:gd name="T5" fmla="*/ 288 h 288"/>
                  <a:gd name="T6" fmla="*/ 144 w 528"/>
                  <a:gd name="T7" fmla="*/ 240 h 288"/>
                  <a:gd name="T8" fmla="*/ 192 w 528"/>
                  <a:gd name="T9" fmla="*/ 192 h 288"/>
                  <a:gd name="T10" fmla="*/ 240 w 528"/>
                  <a:gd name="T11" fmla="*/ 192 h 288"/>
                  <a:gd name="T12" fmla="*/ 288 w 528"/>
                  <a:gd name="T13" fmla="*/ 240 h 288"/>
                  <a:gd name="T14" fmla="*/ 288 w 528"/>
                  <a:gd name="T15" fmla="*/ 288 h 288"/>
                  <a:gd name="T16" fmla="*/ 528 w 528"/>
                  <a:gd name="T17" fmla="*/ 288 h 288"/>
                  <a:gd name="T18" fmla="*/ 528 w 528"/>
                  <a:gd name="T19" fmla="*/ 0 h 288"/>
                  <a:gd name="T20" fmla="*/ 0 w 528"/>
                  <a:gd name="T21" fmla="*/ 0 h 28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28"/>
                  <a:gd name="T34" fmla="*/ 0 h 288"/>
                  <a:gd name="T35" fmla="*/ 528 w 528"/>
                  <a:gd name="T36" fmla="*/ 288 h 28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28" h="288">
                    <a:moveTo>
                      <a:pt x="0" y="0"/>
                    </a:moveTo>
                    <a:lnTo>
                      <a:pt x="0" y="288"/>
                    </a:lnTo>
                    <a:lnTo>
                      <a:pt x="144" y="288"/>
                    </a:lnTo>
                    <a:lnTo>
                      <a:pt x="144" y="240"/>
                    </a:lnTo>
                    <a:lnTo>
                      <a:pt x="192" y="192"/>
                    </a:lnTo>
                    <a:lnTo>
                      <a:pt x="240" y="192"/>
                    </a:lnTo>
                    <a:lnTo>
                      <a:pt x="288" y="240"/>
                    </a:lnTo>
                    <a:lnTo>
                      <a:pt x="288" y="288"/>
                    </a:lnTo>
                    <a:lnTo>
                      <a:pt x="528" y="288"/>
                    </a:lnTo>
                    <a:lnTo>
                      <a:pt x="528" y="0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0">
                <a:blip r:embed="rId3" cstate="print"/>
                <a:srcRect/>
                <a:tile tx="0" ty="0" sx="100000" sy="100000" flip="none" algn="tl"/>
              </a:blip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717" name="Text Box 15">
                <a:extLst>
                  <a:ext uri="{FF2B5EF4-FFF2-40B4-BE49-F238E27FC236}">
                    <a16:creationId xmlns:a16="http://schemas.microsoft.com/office/drawing/2014/main" id="{D35086FE-9307-4E48-8500-D226113681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2" y="1920"/>
                <a:ext cx="384" cy="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7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solidFill>
                      <a:srgbClr val="FFFFFF"/>
                    </a:solidFill>
                    <a:latin typeface="Times" panose="02020603050405020304" pitchFamily="18" charset="0"/>
                  </a:rPr>
                  <a:t>CAP</a:t>
                </a:r>
                <a:endParaRPr lang="en-US" altLang="zh-CN" sz="1200">
                  <a:solidFill>
                    <a:srgbClr val="FFFFFF"/>
                  </a:solidFill>
                  <a:latin typeface="Times" panose="02020603050405020304" pitchFamily="18" charset="0"/>
                </a:endParaRPr>
              </a:p>
            </p:txBody>
          </p:sp>
          <p:sp>
            <p:nvSpPr>
              <p:cNvPr id="70718" name="Text Box 16">
                <a:extLst>
                  <a:ext uri="{FF2B5EF4-FFF2-40B4-BE49-F238E27FC236}">
                    <a16:creationId xmlns:a16="http://schemas.microsoft.com/office/drawing/2014/main" id="{D0020AAA-89E9-49E7-8AC1-7C4343F4BE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56" y="1988"/>
                <a:ext cx="42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FFFFFF"/>
                    </a:solidFill>
                    <a:latin typeface="Times" panose="02020603050405020304" pitchFamily="18" charset="0"/>
                  </a:rPr>
                  <a:t>Binding</a:t>
                </a:r>
              </a:p>
            </p:txBody>
          </p:sp>
        </p:grpSp>
      </p:grpSp>
      <p:grpSp>
        <p:nvGrpSpPr>
          <p:cNvPr id="5" name="Group 17">
            <a:extLst>
              <a:ext uri="{FF2B5EF4-FFF2-40B4-BE49-F238E27FC236}">
                <a16:creationId xmlns:a16="http://schemas.microsoft.com/office/drawing/2014/main" id="{DFB6CA80-3513-48AA-A8EB-03A2903F7A23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4953000"/>
            <a:ext cx="685800" cy="457200"/>
            <a:chOff x="3984" y="3312"/>
            <a:chExt cx="432" cy="288"/>
          </a:xfrm>
        </p:grpSpPr>
        <p:sp>
          <p:nvSpPr>
            <p:cNvPr id="70706" name="Freeform 18" descr="80%">
              <a:extLst>
                <a:ext uri="{FF2B5EF4-FFF2-40B4-BE49-F238E27FC236}">
                  <a16:creationId xmlns:a16="http://schemas.microsoft.com/office/drawing/2014/main" id="{9BE7C2DD-29D0-4279-A248-C13E8770C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3312"/>
              <a:ext cx="432" cy="288"/>
            </a:xfrm>
            <a:custGeom>
              <a:avLst/>
              <a:gdLst>
                <a:gd name="T0" fmla="*/ 0 w 432"/>
                <a:gd name="T1" fmla="*/ 96 h 288"/>
                <a:gd name="T2" fmla="*/ 144 w 432"/>
                <a:gd name="T3" fmla="*/ 96 h 288"/>
                <a:gd name="T4" fmla="*/ 144 w 432"/>
                <a:gd name="T5" fmla="*/ 0 h 288"/>
                <a:gd name="T6" fmla="*/ 288 w 432"/>
                <a:gd name="T7" fmla="*/ 0 h 288"/>
                <a:gd name="T8" fmla="*/ 288 w 432"/>
                <a:gd name="T9" fmla="*/ 96 h 288"/>
                <a:gd name="T10" fmla="*/ 432 w 432"/>
                <a:gd name="T11" fmla="*/ 96 h 288"/>
                <a:gd name="T12" fmla="*/ 432 w 432"/>
                <a:gd name="T13" fmla="*/ 240 h 288"/>
                <a:gd name="T14" fmla="*/ 288 w 432"/>
                <a:gd name="T15" fmla="*/ 288 h 288"/>
                <a:gd name="T16" fmla="*/ 288 w 432"/>
                <a:gd name="T17" fmla="*/ 240 h 288"/>
                <a:gd name="T18" fmla="*/ 240 w 432"/>
                <a:gd name="T19" fmla="*/ 192 h 288"/>
                <a:gd name="T20" fmla="*/ 192 w 432"/>
                <a:gd name="T21" fmla="*/ 192 h 288"/>
                <a:gd name="T22" fmla="*/ 144 w 432"/>
                <a:gd name="T23" fmla="*/ 240 h 288"/>
                <a:gd name="T24" fmla="*/ 144 w 432"/>
                <a:gd name="T25" fmla="*/ 288 h 288"/>
                <a:gd name="T26" fmla="*/ 0 w 432"/>
                <a:gd name="T27" fmla="*/ 240 h 288"/>
                <a:gd name="T28" fmla="*/ 0 w 432"/>
                <a:gd name="T29" fmla="*/ 96 h 28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32"/>
                <a:gd name="T46" fmla="*/ 0 h 288"/>
                <a:gd name="T47" fmla="*/ 432 w 432"/>
                <a:gd name="T48" fmla="*/ 288 h 28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32" h="288">
                  <a:moveTo>
                    <a:pt x="0" y="96"/>
                  </a:moveTo>
                  <a:lnTo>
                    <a:pt x="144" y="96"/>
                  </a:lnTo>
                  <a:lnTo>
                    <a:pt x="144" y="0"/>
                  </a:lnTo>
                  <a:lnTo>
                    <a:pt x="288" y="0"/>
                  </a:lnTo>
                  <a:lnTo>
                    <a:pt x="288" y="96"/>
                  </a:lnTo>
                  <a:lnTo>
                    <a:pt x="432" y="96"/>
                  </a:lnTo>
                  <a:lnTo>
                    <a:pt x="432" y="240"/>
                  </a:lnTo>
                  <a:lnTo>
                    <a:pt x="288" y="288"/>
                  </a:lnTo>
                  <a:lnTo>
                    <a:pt x="288" y="240"/>
                  </a:lnTo>
                  <a:lnTo>
                    <a:pt x="240" y="192"/>
                  </a:lnTo>
                  <a:lnTo>
                    <a:pt x="192" y="192"/>
                  </a:lnTo>
                  <a:lnTo>
                    <a:pt x="144" y="240"/>
                  </a:lnTo>
                  <a:lnTo>
                    <a:pt x="144" y="288"/>
                  </a:lnTo>
                  <a:lnTo>
                    <a:pt x="0" y="240"/>
                  </a:lnTo>
                  <a:lnTo>
                    <a:pt x="0" y="96"/>
                  </a:lnTo>
                  <a:close/>
                </a:path>
              </a:pathLst>
            </a:custGeom>
            <a:blipFill dpi="0" rotWithShape="0">
              <a:blip r:embed="rId4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0707" name="Text Box 19">
              <a:extLst>
                <a:ext uri="{FF2B5EF4-FFF2-40B4-BE49-F238E27FC236}">
                  <a16:creationId xmlns:a16="http://schemas.microsoft.com/office/drawing/2014/main" id="{F1FEE5BB-F439-41EE-B591-ADF07E093F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3360"/>
              <a:ext cx="34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>
                  <a:latin typeface="Times" panose="02020603050405020304" pitchFamily="18" charset="0"/>
                </a:rPr>
                <a:t>CAP</a:t>
              </a:r>
            </a:p>
          </p:txBody>
        </p:sp>
      </p:grpSp>
      <p:grpSp>
        <p:nvGrpSpPr>
          <p:cNvPr id="6" name="Group 20">
            <a:extLst>
              <a:ext uri="{FF2B5EF4-FFF2-40B4-BE49-F238E27FC236}">
                <a16:creationId xmlns:a16="http://schemas.microsoft.com/office/drawing/2014/main" id="{3FE959D3-ED1A-4862-B898-6B910D6FCEE3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5105400"/>
            <a:ext cx="531813" cy="304800"/>
            <a:chOff x="4368" y="2496"/>
            <a:chExt cx="335" cy="192"/>
          </a:xfrm>
        </p:grpSpPr>
        <p:sp>
          <p:nvSpPr>
            <p:cNvPr id="70704" name="Freeform 21" descr="80%">
              <a:extLst>
                <a:ext uri="{FF2B5EF4-FFF2-40B4-BE49-F238E27FC236}">
                  <a16:creationId xmlns:a16="http://schemas.microsoft.com/office/drawing/2014/main" id="{D7C85D70-35FF-41D6-9A93-C8B22D459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2496"/>
              <a:ext cx="240" cy="192"/>
            </a:xfrm>
            <a:custGeom>
              <a:avLst/>
              <a:gdLst>
                <a:gd name="T0" fmla="*/ 0 w 240"/>
                <a:gd name="T1" fmla="*/ 48 h 192"/>
                <a:gd name="T2" fmla="*/ 0 w 240"/>
                <a:gd name="T3" fmla="*/ 144 h 192"/>
                <a:gd name="T4" fmla="*/ 48 w 240"/>
                <a:gd name="T5" fmla="*/ 192 h 192"/>
                <a:gd name="T6" fmla="*/ 192 w 240"/>
                <a:gd name="T7" fmla="*/ 192 h 192"/>
                <a:gd name="T8" fmla="*/ 240 w 240"/>
                <a:gd name="T9" fmla="*/ 144 h 192"/>
                <a:gd name="T10" fmla="*/ 240 w 240"/>
                <a:gd name="T11" fmla="*/ 48 h 192"/>
                <a:gd name="T12" fmla="*/ 192 w 240"/>
                <a:gd name="T13" fmla="*/ 0 h 192"/>
                <a:gd name="T14" fmla="*/ 48 w 240"/>
                <a:gd name="T15" fmla="*/ 0 h 192"/>
                <a:gd name="T16" fmla="*/ 0 w 240"/>
                <a:gd name="T17" fmla="*/ 48 h 1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40"/>
                <a:gd name="T28" fmla="*/ 0 h 192"/>
                <a:gd name="T29" fmla="*/ 240 w 240"/>
                <a:gd name="T30" fmla="*/ 192 h 19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40" h="192">
                  <a:moveTo>
                    <a:pt x="0" y="48"/>
                  </a:moveTo>
                  <a:lnTo>
                    <a:pt x="0" y="144"/>
                  </a:lnTo>
                  <a:lnTo>
                    <a:pt x="48" y="192"/>
                  </a:lnTo>
                  <a:lnTo>
                    <a:pt x="192" y="192"/>
                  </a:lnTo>
                  <a:lnTo>
                    <a:pt x="240" y="144"/>
                  </a:lnTo>
                  <a:lnTo>
                    <a:pt x="240" y="48"/>
                  </a:lnTo>
                  <a:lnTo>
                    <a:pt x="192" y="0"/>
                  </a:lnTo>
                  <a:lnTo>
                    <a:pt x="48" y="0"/>
                  </a:lnTo>
                  <a:lnTo>
                    <a:pt x="0" y="48"/>
                  </a:lnTo>
                  <a:close/>
                </a:path>
              </a:pathLst>
            </a:custGeom>
            <a:blipFill dpi="0" rotWithShape="0">
              <a:blip r:embed="rId5" cstate="print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0705" name="Text Box 22">
              <a:extLst>
                <a:ext uri="{FF2B5EF4-FFF2-40B4-BE49-F238E27FC236}">
                  <a16:creationId xmlns:a16="http://schemas.microsoft.com/office/drawing/2014/main" id="{55FC5488-C268-444D-8748-6EF6C3E962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2510"/>
              <a:ext cx="33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>
                  <a:latin typeface="Times" panose="02020603050405020304" pitchFamily="18" charset="0"/>
                </a:rPr>
                <a:t>cAMP</a:t>
              </a:r>
            </a:p>
          </p:txBody>
        </p:sp>
      </p:grpSp>
      <p:grpSp>
        <p:nvGrpSpPr>
          <p:cNvPr id="7" name="Group 23">
            <a:extLst>
              <a:ext uri="{FF2B5EF4-FFF2-40B4-BE49-F238E27FC236}">
                <a16:creationId xmlns:a16="http://schemas.microsoft.com/office/drawing/2014/main" id="{2F673D7F-9AAE-486A-90C8-9FBE4818690D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2743200"/>
            <a:ext cx="5105400" cy="1166813"/>
            <a:chOff x="1200" y="1728"/>
            <a:chExt cx="3216" cy="735"/>
          </a:xfrm>
        </p:grpSpPr>
        <p:grpSp>
          <p:nvGrpSpPr>
            <p:cNvPr id="8" name="Group 24">
              <a:extLst>
                <a:ext uri="{FF2B5EF4-FFF2-40B4-BE49-F238E27FC236}">
                  <a16:creationId xmlns:a16="http://schemas.microsoft.com/office/drawing/2014/main" id="{F4ECC2F6-CECD-4B5B-9007-EDDF7A0507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1728"/>
              <a:ext cx="432" cy="288"/>
              <a:chOff x="1440" y="1920"/>
              <a:chExt cx="432" cy="288"/>
            </a:xfrm>
          </p:grpSpPr>
          <p:sp>
            <p:nvSpPr>
              <p:cNvPr id="70702" name="Freeform 25" descr="80%">
                <a:extLst>
                  <a:ext uri="{FF2B5EF4-FFF2-40B4-BE49-F238E27FC236}">
                    <a16:creationId xmlns:a16="http://schemas.microsoft.com/office/drawing/2014/main" id="{A444EFE1-8459-4D38-99BF-5868AA12FF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0" y="1920"/>
                <a:ext cx="432" cy="288"/>
              </a:xfrm>
              <a:custGeom>
                <a:avLst/>
                <a:gdLst>
                  <a:gd name="T0" fmla="*/ 0 w 432"/>
                  <a:gd name="T1" fmla="*/ 96 h 288"/>
                  <a:gd name="T2" fmla="*/ 144 w 432"/>
                  <a:gd name="T3" fmla="*/ 96 h 288"/>
                  <a:gd name="T4" fmla="*/ 144 w 432"/>
                  <a:gd name="T5" fmla="*/ 48 h 288"/>
                  <a:gd name="T6" fmla="*/ 192 w 432"/>
                  <a:gd name="T7" fmla="*/ 0 h 288"/>
                  <a:gd name="T8" fmla="*/ 240 w 432"/>
                  <a:gd name="T9" fmla="*/ 0 h 288"/>
                  <a:gd name="T10" fmla="*/ 288 w 432"/>
                  <a:gd name="T11" fmla="*/ 48 h 288"/>
                  <a:gd name="T12" fmla="*/ 288 w 432"/>
                  <a:gd name="T13" fmla="*/ 96 h 288"/>
                  <a:gd name="T14" fmla="*/ 432 w 432"/>
                  <a:gd name="T15" fmla="*/ 96 h 288"/>
                  <a:gd name="T16" fmla="*/ 432 w 432"/>
                  <a:gd name="T17" fmla="*/ 240 h 288"/>
                  <a:gd name="T18" fmla="*/ 336 w 432"/>
                  <a:gd name="T19" fmla="*/ 288 h 288"/>
                  <a:gd name="T20" fmla="*/ 336 w 432"/>
                  <a:gd name="T21" fmla="*/ 240 h 288"/>
                  <a:gd name="T22" fmla="*/ 288 w 432"/>
                  <a:gd name="T23" fmla="*/ 192 h 288"/>
                  <a:gd name="T24" fmla="*/ 144 w 432"/>
                  <a:gd name="T25" fmla="*/ 192 h 288"/>
                  <a:gd name="T26" fmla="*/ 96 w 432"/>
                  <a:gd name="T27" fmla="*/ 240 h 288"/>
                  <a:gd name="T28" fmla="*/ 96 w 432"/>
                  <a:gd name="T29" fmla="*/ 288 h 288"/>
                  <a:gd name="T30" fmla="*/ 0 w 432"/>
                  <a:gd name="T31" fmla="*/ 240 h 288"/>
                  <a:gd name="T32" fmla="*/ 0 w 432"/>
                  <a:gd name="T33" fmla="*/ 96 h 2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432"/>
                  <a:gd name="T52" fmla="*/ 0 h 288"/>
                  <a:gd name="T53" fmla="*/ 432 w 432"/>
                  <a:gd name="T54" fmla="*/ 288 h 28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432" h="288">
                    <a:moveTo>
                      <a:pt x="0" y="96"/>
                    </a:moveTo>
                    <a:lnTo>
                      <a:pt x="144" y="96"/>
                    </a:lnTo>
                    <a:lnTo>
                      <a:pt x="144" y="48"/>
                    </a:lnTo>
                    <a:lnTo>
                      <a:pt x="192" y="0"/>
                    </a:lnTo>
                    <a:lnTo>
                      <a:pt x="240" y="0"/>
                    </a:lnTo>
                    <a:lnTo>
                      <a:pt x="288" y="48"/>
                    </a:lnTo>
                    <a:lnTo>
                      <a:pt x="288" y="96"/>
                    </a:lnTo>
                    <a:lnTo>
                      <a:pt x="432" y="96"/>
                    </a:lnTo>
                    <a:lnTo>
                      <a:pt x="432" y="240"/>
                    </a:lnTo>
                    <a:lnTo>
                      <a:pt x="336" y="288"/>
                    </a:lnTo>
                    <a:lnTo>
                      <a:pt x="336" y="240"/>
                    </a:lnTo>
                    <a:lnTo>
                      <a:pt x="288" y="192"/>
                    </a:lnTo>
                    <a:lnTo>
                      <a:pt x="144" y="192"/>
                    </a:lnTo>
                    <a:lnTo>
                      <a:pt x="96" y="240"/>
                    </a:lnTo>
                    <a:lnTo>
                      <a:pt x="96" y="288"/>
                    </a:lnTo>
                    <a:lnTo>
                      <a:pt x="0" y="240"/>
                    </a:lnTo>
                    <a:lnTo>
                      <a:pt x="0" y="96"/>
                    </a:lnTo>
                    <a:close/>
                  </a:path>
                </a:pathLst>
              </a:custGeom>
              <a:blipFill dpi="0" rotWithShape="0">
                <a:blip r:embed="rId4" cstate="print"/>
                <a:srcRect/>
                <a:tile tx="0" ty="0" sx="100000" sy="100000" flip="none" algn="tl"/>
              </a:blip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703" name="Text Box 26">
                <a:extLst>
                  <a:ext uri="{FF2B5EF4-FFF2-40B4-BE49-F238E27FC236}">
                    <a16:creationId xmlns:a16="http://schemas.microsoft.com/office/drawing/2014/main" id="{3A6B00B4-60A1-44B7-A00C-10E2B02523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4" y="1968"/>
                <a:ext cx="34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>
                    <a:latin typeface="Times" panose="02020603050405020304" pitchFamily="18" charset="0"/>
                  </a:rPr>
                  <a:t>CAP</a:t>
                </a:r>
              </a:p>
            </p:txBody>
          </p:sp>
        </p:grpSp>
        <p:grpSp>
          <p:nvGrpSpPr>
            <p:cNvPr id="9" name="Group 27">
              <a:extLst>
                <a:ext uri="{FF2B5EF4-FFF2-40B4-BE49-F238E27FC236}">
                  <a16:creationId xmlns:a16="http://schemas.microsoft.com/office/drawing/2014/main" id="{98C08C4F-8330-404B-AE83-9E6EE06895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1920"/>
              <a:ext cx="335" cy="192"/>
              <a:chOff x="4368" y="2496"/>
              <a:chExt cx="335" cy="192"/>
            </a:xfrm>
          </p:grpSpPr>
          <p:sp>
            <p:nvSpPr>
              <p:cNvPr id="70700" name="Freeform 28" descr="80%">
                <a:extLst>
                  <a:ext uri="{FF2B5EF4-FFF2-40B4-BE49-F238E27FC236}">
                    <a16:creationId xmlns:a16="http://schemas.microsoft.com/office/drawing/2014/main" id="{D5BEC943-41B2-4296-A4E0-9AC7D5F596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6" y="2496"/>
                <a:ext cx="240" cy="192"/>
              </a:xfrm>
              <a:custGeom>
                <a:avLst/>
                <a:gdLst>
                  <a:gd name="T0" fmla="*/ 0 w 240"/>
                  <a:gd name="T1" fmla="*/ 48 h 192"/>
                  <a:gd name="T2" fmla="*/ 0 w 240"/>
                  <a:gd name="T3" fmla="*/ 144 h 192"/>
                  <a:gd name="T4" fmla="*/ 48 w 240"/>
                  <a:gd name="T5" fmla="*/ 192 h 192"/>
                  <a:gd name="T6" fmla="*/ 192 w 240"/>
                  <a:gd name="T7" fmla="*/ 192 h 192"/>
                  <a:gd name="T8" fmla="*/ 240 w 240"/>
                  <a:gd name="T9" fmla="*/ 144 h 192"/>
                  <a:gd name="T10" fmla="*/ 240 w 240"/>
                  <a:gd name="T11" fmla="*/ 48 h 192"/>
                  <a:gd name="T12" fmla="*/ 192 w 240"/>
                  <a:gd name="T13" fmla="*/ 0 h 192"/>
                  <a:gd name="T14" fmla="*/ 48 w 240"/>
                  <a:gd name="T15" fmla="*/ 0 h 192"/>
                  <a:gd name="T16" fmla="*/ 0 w 240"/>
                  <a:gd name="T17" fmla="*/ 48 h 19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40"/>
                  <a:gd name="T28" fmla="*/ 0 h 192"/>
                  <a:gd name="T29" fmla="*/ 240 w 240"/>
                  <a:gd name="T30" fmla="*/ 192 h 19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40" h="192">
                    <a:moveTo>
                      <a:pt x="0" y="48"/>
                    </a:moveTo>
                    <a:lnTo>
                      <a:pt x="0" y="144"/>
                    </a:lnTo>
                    <a:lnTo>
                      <a:pt x="48" y="192"/>
                    </a:lnTo>
                    <a:lnTo>
                      <a:pt x="192" y="192"/>
                    </a:lnTo>
                    <a:lnTo>
                      <a:pt x="240" y="144"/>
                    </a:lnTo>
                    <a:lnTo>
                      <a:pt x="240" y="48"/>
                    </a:lnTo>
                    <a:lnTo>
                      <a:pt x="192" y="0"/>
                    </a:lnTo>
                    <a:lnTo>
                      <a:pt x="48" y="0"/>
                    </a:lnTo>
                    <a:lnTo>
                      <a:pt x="0" y="48"/>
                    </a:lnTo>
                    <a:close/>
                  </a:path>
                </a:pathLst>
              </a:custGeom>
              <a:blipFill dpi="0" rotWithShape="0">
                <a:blip r:embed="rId5" cstate="print"/>
                <a:srcRect/>
                <a:tile tx="0" ty="0" sx="100000" sy="100000" flip="none" algn="tl"/>
              </a:blip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701" name="Text Box 29">
                <a:extLst>
                  <a:ext uri="{FF2B5EF4-FFF2-40B4-BE49-F238E27FC236}">
                    <a16:creationId xmlns:a16="http://schemas.microsoft.com/office/drawing/2014/main" id="{7EF1E0F4-105A-4F67-A3A6-39DF4A0781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8" y="2510"/>
                <a:ext cx="33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Times" panose="02020603050405020304" pitchFamily="18" charset="0"/>
                  </a:rPr>
                  <a:t>cAMP</a:t>
                </a:r>
              </a:p>
            </p:txBody>
          </p:sp>
        </p:grpSp>
        <p:sp>
          <p:nvSpPr>
            <p:cNvPr id="70699" name="Freeform 30">
              <a:extLst>
                <a:ext uri="{FF2B5EF4-FFF2-40B4-BE49-F238E27FC236}">
                  <a16:creationId xmlns:a16="http://schemas.microsoft.com/office/drawing/2014/main" id="{7B2B7078-75A2-4447-BB1C-285200D7A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1904"/>
              <a:ext cx="2928" cy="559"/>
            </a:xfrm>
            <a:custGeom>
              <a:avLst/>
              <a:gdLst>
                <a:gd name="T0" fmla="*/ 2928 w 2928"/>
                <a:gd name="T1" fmla="*/ 304 h 559"/>
                <a:gd name="T2" fmla="*/ 2448 w 2928"/>
                <a:gd name="T3" fmla="*/ 16 h 559"/>
                <a:gd name="T4" fmla="*/ 1440 w 2928"/>
                <a:gd name="T5" fmla="*/ 208 h 559"/>
                <a:gd name="T6" fmla="*/ 432 w 2928"/>
                <a:gd name="T7" fmla="*/ 544 h 559"/>
                <a:gd name="T8" fmla="*/ 0 w 2928"/>
                <a:gd name="T9" fmla="*/ 304 h 5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28"/>
                <a:gd name="T16" fmla="*/ 0 h 559"/>
                <a:gd name="T17" fmla="*/ 2928 w 2928"/>
                <a:gd name="T18" fmla="*/ 559 h 5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28" h="559">
                  <a:moveTo>
                    <a:pt x="2928" y="304"/>
                  </a:moveTo>
                  <a:cubicBezTo>
                    <a:pt x="2811" y="167"/>
                    <a:pt x="2695" y="31"/>
                    <a:pt x="2448" y="16"/>
                  </a:cubicBezTo>
                  <a:cubicBezTo>
                    <a:pt x="2200" y="0"/>
                    <a:pt x="1775" y="120"/>
                    <a:pt x="1440" y="208"/>
                  </a:cubicBezTo>
                  <a:cubicBezTo>
                    <a:pt x="1104" y="295"/>
                    <a:pt x="671" y="528"/>
                    <a:pt x="432" y="544"/>
                  </a:cubicBezTo>
                  <a:cubicBezTo>
                    <a:pt x="192" y="559"/>
                    <a:pt x="96" y="431"/>
                    <a:pt x="0" y="304"/>
                  </a:cubicBezTo>
                </a:path>
              </a:pathLst>
            </a:custGeom>
            <a:noFill/>
            <a:ln w="76200">
              <a:solidFill>
                <a:srgbClr val="F95AB7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" name="Group 31">
            <a:extLst>
              <a:ext uri="{FF2B5EF4-FFF2-40B4-BE49-F238E27FC236}">
                <a16:creationId xmlns:a16="http://schemas.microsoft.com/office/drawing/2014/main" id="{33ABC893-3812-4755-8DDB-0024AC2EF1F8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3657600"/>
            <a:ext cx="914400" cy="1600200"/>
            <a:chOff x="4272" y="2304"/>
            <a:chExt cx="576" cy="1008"/>
          </a:xfrm>
        </p:grpSpPr>
        <p:grpSp>
          <p:nvGrpSpPr>
            <p:cNvPr id="11" name="Group 32">
              <a:extLst>
                <a:ext uri="{FF2B5EF4-FFF2-40B4-BE49-F238E27FC236}">
                  <a16:creationId xmlns:a16="http://schemas.microsoft.com/office/drawing/2014/main" id="{E010009A-E1B0-4E44-BA57-7885C17E2B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0" y="2304"/>
              <a:ext cx="432" cy="288"/>
              <a:chOff x="1440" y="1920"/>
              <a:chExt cx="432" cy="288"/>
            </a:xfrm>
          </p:grpSpPr>
          <p:sp>
            <p:nvSpPr>
              <p:cNvPr id="70695" name="Freeform 33" descr="80%">
                <a:extLst>
                  <a:ext uri="{FF2B5EF4-FFF2-40B4-BE49-F238E27FC236}">
                    <a16:creationId xmlns:a16="http://schemas.microsoft.com/office/drawing/2014/main" id="{5224D44B-64D4-4220-85AD-1332680F56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0" y="1920"/>
                <a:ext cx="432" cy="288"/>
              </a:xfrm>
              <a:custGeom>
                <a:avLst/>
                <a:gdLst>
                  <a:gd name="T0" fmla="*/ 0 w 432"/>
                  <a:gd name="T1" fmla="*/ 96 h 288"/>
                  <a:gd name="T2" fmla="*/ 144 w 432"/>
                  <a:gd name="T3" fmla="*/ 96 h 288"/>
                  <a:gd name="T4" fmla="*/ 144 w 432"/>
                  <a:gd name="T5" fmla="*/ 48 h 288"/>
                  <a:gd name="T6" fmla="*/ 192 w 432"/>
                  <a:gd name="T7" fmla="*/ 0 h 288"/>
                  <a:gd name="T8" fmla="*/ 240 w 432"/>
                  <a:gd name="T9" fmla="*/ 0 h 288"/>
                  <a:gd name="T10" fmla="*/ 288 w 432"/>
                  <a:gd name="T11" fmla="*/ 48 h 288"/>
                  <a:gd name="T12" fmla="*/ 288 w 432"/>
                  <a:gd name="T13" fmla="*/ 96 h 288"/>
                  <a:gd name="T14" fmla="*/ 432 w 432"/>
                  <a:gd name="T15" fmla="*/ 96 h 288"/>
                  <a:gd name="T16" fmla="*/ 432 w 432"/>
                  <a:gd name="T17" fmla="*/ 240 h 288"/>
                  <a:gd name="T18" fmla="*/ 336 w 432"/>
                  <a:gd name="T19" fmla="*/ 288 h 288"/>
                  <a:gd name="T20" fmla="*/ 336 w 432"/>
                  <a:gd name="T21" fmla="*/ 240 h 288"/>
                  <a:gd name="T22" fmla="*/ 288 w 432"/>
                  <a:gd name="T23" fmla="*/ 192 h 288"/>
                  <a:gd name="T24" fmla="*/ 144 w 432"/>
                  <a:gd name="T25" fmla="*/ 192 h 288"/>
                  <a:gd name="T26" fmla="*/ 96 w 432"/>
                  <a:gd name="T27" fmla="*/ 240 h 288"/>
                  <a:gd name="T28" fmla="*/ 96 w 432"/>
                  <a:gd name="T29" fmla="*/ 288 h 288"/>
                  <a:gd name="T30" fmla="*/ 0 w 432"/>
                  <a:gd name="T31" fmla="*/ 240 h 288"/>
                  <a:gd name="T32" fmla="*/ 0 w 432"/>
                  <a:gd name="T33" fmla="*/ 96 h 2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432"/>
                  <a:gd name="T52" fmla="*/ 0 h 288"/>
                  <a:gd name="T53" fmla="*/ 432 w 432"/>
                  <a:gd name="T54" fmla="*/ 288 h 28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432" h="288">
                    <a:moveTo>
                      <a:pt x="0" y="96"/>
                    </a:moveTo>
                    <a:lnTo>
                      <a:pt x="144" y="96"/>
                    </a:lnTo>
                    <a:lnTo>
                      <a:pt x="144" y="48"/>
                    </a:lnTo>
                    <a:lnTo>
                      <a:pt x="192" y="0"/>
                    </a:lnTo>
                    <a:lnTo>
                      <a:pt x="240" y="0"/>
                    </a:lnTo>
                    <a:lnTo>
                      <a:pt x="288" y="48"/>
                    </a:lnTo>
                    <a:lnTo>
                      <a:pt x="288" y="96"/>
                    </a:lnTo>
                    <a:lnTo>
                      <a:pt x="432" y="96"/>
                    </a:lnTo>
                    <a:lnTo>
                      <a:pt x="432" y="240"/>
                    </a:lnTo>
                    <a:lnTo>
                      <a:pt x="336" y="288"/>
                    </a:lnTo>
                    <a:lnTo>
                      <a:pt x="336" y="240"/>
                    </a:lnTo>
                    <a:lnTo>
                      <a:pt x="288" y="192"/>
                    </a:lnTo>
                    <a:lnTo>
                      <a:pt x="144" y="192"/>
                    </a:lnTo>
                    <a:lnTo>
                      <a:pt x="96" y="240"/>
                    </a:lnTo>
                    <a:lnTo>
                      <a:pt x="96" y="288"/>
                    </a:lnTo>
                    <a:lnTo>
                      <a:pt x="0" y="240"/>
                    </a:lnTo>
                    <a:lnTo>
                      <a:pt x="0" y="96"/>
                    </a:lnTo>
                    <a:close/>
                  </a:path>
                </a:pathLst>
              </a:custGeom>
              <a:blipFill dpi="0" rotWithShape="0">
                <a:blip r:embed="rId4" cstate="print"/>
                <a:srcRect/>
                <a:tile tx="0" ty="0" sx="100000" sy="100000" flip="none" algn="tl"/>
              </a:blip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696" name="Text Box 34">
                <a:extLst>
                  <a:ext uri="{FF2B5EF4-FFF2-40B4-BE49-F238E27FC236}">
                    <a16:creationId xmlns:a16="http://schemas.microsoft.com/office/drawing/2014/main" id="{C4906794-FAC8-43BF-9B6A-3232D61BF5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4" y="1968"/>
                <a:ext cx="34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>
                    <a:latin typeface="Times" panose="02020603050405020304" pitchFamily="18" charset="0"/>
                  </a:rPr>
                  <a:t>CAP</a:t>
                </a:r>
              </a:p>
            </p:txBody>
          </p:sp>
        </p:grpSp>
        <p:grpSp>
          <p:nvGrpSpPr>
            <p:cNvPr id="12" name="Group 35">
              <a:extLst>
                <a:ext uri="{FF2B5EF4-FFF2-40B4-BE49-F238E27FC236}">
                  <a16:creationId xmlns:a16="http://schemas.microsoft.com/office/drawing/2014/main" id="{E70D60F3-930E-4855-9413-04714CAEE8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2496"/>
              <a:ext cx="335" cy="192"/>
              <a:chOff x="4368" y="2496"/>
              <a:chExt cx="335" cy="192"/>
            </a:xfrm>
          </p:grpSpPr>
          <p:sp>
            <p:nvSpPr>
              <p:cNvPr id="70693" name="Freeform 36" descr="80%">
                <a:extLst>
                  <a:ext uri="{FF2B5EF4-FFF2-40B4-BE49-F238E27FC236}">
                    <a16:creationId xmlns:a16="http://schemas.microsoft.com/office/drawing/2014/main" id="{621E4764-D569-4CD7-B276-720F2166D0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6" y="2496"/>
                <a:ext cx="240" cy="192"/>
              </a:xfrm>
              <a:custGeom>
                <a:avLst/>
                <a:gdLst>
                  <a:gd name="T0" fmla="*/ 0 w 240"/>
                  <a:gd name="T1" fmla="*/ 48 h 192"/>
                  <a:gd name="T2" fmla="*/ 0 w 240"/>
                  <a:gd name="T3" fmla="*/ 144 h 192"/>
                  <a:gd name="T4" fmla="*/ 48 w 240"/>
                  <a:gd name="T5" fmla="*/ 192 h 192"/>
                  <a:gd name="T6" fmla="*/ 192 w 240"/>
                  <a:gd name="T7" fmla="*/ 192 h 192"/>
                  <a:gd name="T8" fmla="*/ 240 w 240"/>
                  <a:gd name="T9" fmla="*/ 144 h 192"/>
                  <a:gd name="T10" fmla="*/ 240 w 240"/>
                  <a:gd name="T11" fmla="*/ 48 h 192"/>
                  <a:gd name="T12" fmla="*/ 192 w 240"/>
                  <a:gd name="T13" fmla="*/ 0 h 192"/>
                  <a:gd name="T14" fmla="*/ 48 w 240"/>
                  <a:gd name="T15" fmla="*/ 0 h 192"/>
                  <a:gd name="T16" fmla="*/ 0 w 240"/>
                  <a:gd name="T17" fmla="*/ 48 h 19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40"/>
                  <a:gd name="T28" fmla="*/ 0 h 192"/>
                  <a:gd name="T29" fmla="*/ 240 w 240"/>
                  <a:gd name="T30" fmla="*/ 192 h 19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40" h="192">
                    <a:moveTo>
                      <a:pt x="0" y="48"/>
                    </a:moveTo>
                    <a:lnTo>
                      <a:pt x="0" y="144"/>
                    </a:lnTo>
                    <a:lnTo>
                      <a:pt x="48" y="192"/>
                    </a:lnTo>
                    <a:lnTo>
                      <a:pt x="192" y="192"/>
                    </a:lnTo>
                    <a:lnTo>
                      <a:pt x="240" y="144"/>
                    </a:lnTo>
                    <a:lnTo>
                      <a:pt x="240" y="48"/>
                    </a:lnTo>
                    <a:lnTo>
                      <a:pt x="192" y="0"/>
                    </a:lnTo>
                    <a:lnTo>
                      <a:pt x="48" y="0"/>
                    </a:lnTo>
                    <a:lnTo>
                      <a:pt x="0" y="48"/>
                    </a:lnTo>
                    <a:close/>
                  </a:path>
                </a:pathLst>
              </a:custGeom>
              <a:blipFill dpi="0" rotWithShape="0">
                <a:blip r:embed="rId5" cstate="print"/>
                <a:srcRect/>
                <a:tile tx="0" ty="0" sx="100000" sy="100000" flip="none" algn="tl"/>
              </a:blip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694" name="Text Box 37">
                <a:extLst>
                  <a:ext uri="{FF2B5EF4-FFF2-40B4-BE49-F238E27FC236}">
                    <a16:creationId xmlns:a16="http://schemas.microsoft.com/office/drawing/2014/main" id="{3941568B-1DCF-4497-8761-E76AA115E8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8" y="2510"/>
                <a:ext cx="33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b="1">
                    <a:latin typeface="Times" panose="02020603050405020304" pitchFamily="18" charset="0"/>
                  </a:rPr>
                  <a:t>cAMP</a:t>
                </a:r>
              </a:p>
            </p:txBody>
          </p:sp>
        </p:grpSp>
        <p:sp>
          <p:nvSpPr>
            <p:cNvPr id="70691" name="Freeform 38">
              <a:extLst>
                <a:ext uri="{FF2B5EF4-FFF2-40B4-BE49-F238E27FC236}">
                  <a16:creationId xmlns:a16="http://schemas.microsoft.com/office/drawing/2014/main" id="{9BD66245-FB42-4182-9534-32FE6B8A6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2784"/>
              <a:ext cx="288" cy="528"/>
            </a:xfrm>
            <a:custGeom>
              <a:avLst/>
              <a:gdLst>
                <a:gd name="T0" fmla="*/ 0 w 288"/>
                <a:gd name="T1" fmla="*/ 528 h 528"/>
                <a:gd name="T2" fmla="*/ 240 w 288"/>
                <a:gd name="T3" fmla="*/ 384 h 528"/>
                <a:gd name="T4" fmla="*/ 288 w 288"/>
                <a:gd name="T5" fmla="*/ 0 h 528"/>
                <a:gd name="T6" fmla="*/ 0 60000 65536"/>
                <a:gd name="T7" fmla="*/ 0 60000 65536"/>
                <a:gd name="T8" fmla="*/ 0 60000 65536"/>
                <a:gd name="T9" fmla="*/ 0 w 288"/>
                <a:gd name="T10" fmla="*/ 0 h 528"/>
                <a:gd name="T11" fmla="*/ 288 w 288"/>
                <a:gd name="T12" fmla="*/ 528 h 5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528">
                  <a:moveTo>
                    <a:pt x="0" y="528"/>
                  </a:moveTo>
                  <a:cubicBezTo>
                    <a:pt x="96" y="500"/>
                    <a:pt x="192" y="472"/>
                    <a:pt x="240" y="384"/>
                  </a:cubicBezTo>
                  <a:cubicBezTo>
                    <a:pt x="288" y="296"/>
                    <a:pt x="288" y="148"/>
                    <a:pt x="288" y="0"/>
                  </a:cubicBezTo>
                </a:path>
              </a:pathLst>
            </a:custGeom>
            <a:noFill/>
            <a:ln w="76200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0692" name="Freeform 39">
              <a:extLst>
                <a:ext uri="{FF2B5EF4-FFF2-40B4-BE49-F238E27FC236}">
                  <a16:creationId xmlns:a16="http://schemas.microsoft.com/office/drawing/2014/main" id="{45EF003F-9C0F-4B37-9D7A-93A9167DDA9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560" y="2784"/>
              <a:ext cx="288" cy="528"/>
            </a:xfrm>
            <a:custGeom>
              <a:avLst/>
              <a:gdLst>
                <a:gd name="T0" fmla="*/ 0 w 288"/>
                <a:gd name="T1" fmla="*/ 528 h 528"/>
                <a:gd name="T2" fmla="*/ 240 w 288"/>
                <a:gd name="T3" fmla="*/ 384 h 528"/>
                <a:gd name="T4" fmla="*/ 288 w 288"/>
                <a:gd name="T5" fmla="*/ 0 h 528"/>
                <a:gd name="T6" fmla="*/ 0 60000 65536"/>
                <a:gd name="T7" fmla="*/ 0 60000 65536"/>
                <a:gd name="T8" fmla="*/ 0 60000 65536"/>
                <a:gd name="T9" fmla="*/ 0 w 288"/>
                <a:gd name="T10" fmla="*/ 0 h 528"/>
                <a:gd name="T11" fmla="*/ 288 w 288"/>
                <a:gd name="T12" fmla="*/ 528 h 5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528">
                  <a:moveTo>
                    <a:pt x="0" y="528"/>
                  </a:moveTo>
                  <a:cubicBezTo>
                    <a:pt x="96" y="500"/>
                    <a:pt x="192" y="472"/>
                    <a:pt x="240" y="384"/>
                  </a:cubicBezTo>
                  <a:cubicBezTo>
                    <a:pt x="288" y="296"/>
                    <a:pt x="288" y="148"/>
                    <a:pt x="288" y="0"/>
                  </a:cubicBezTo>
                </a:path>
              </a:pathLst>
            </a:custGeom>
            <a:noFill/>
            <a:ln w="76200">
              <a:solidFill>
                <a:srgbClr val="F95AB7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68328" name="AutoShape 40">
            <a:extLst>
              <a:ext uri="{FF2B5EF4-FFF2-40B4-BE49-F238E27FC236}">
                <a16:creationId xmlns:a16="http://schemas.microsoft.com/office/drawing/2014/main" id="{4477C367-7985-4AB2-9082-3F5FE48BF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295400"/>
            <a:ext cx="1600200" cy="762000"/>
          </a:xfrm>
          <a:prstGeom prst="wedgeRoundRectCallout">
            <a:avLst>
              <a:gd name="adj1" fmla="val -56449"/>
              <a:gd name="adj2" fmla="val 172500"/>
              <a:gd name="adj3" fmla="val 166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chemeClr val="accent2"/>
                </a:solidFill>
                <a:latin typeface="Times" panose="02020603050405020304" pitchFamily="18" charset="0"/>
              </a:rPr>
              <a:t>Bind to me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chemeClr val="accent2"/>
                </a:solidFill>
                <a:latin typeface="Times" panose="02020603050405020304" pitchFamily="18" charset="0"/>
              </a:rPr>
              <a:t>Polymerase</a:t>
            </a:r>
          </a:p>
        </p:txBody>
      </p:sp>
      <p:sp>
        <p:nvSpPr>
          <p:cNvPr id="268329" name="Oval 41">
            <a:extLst>
              <a:ext uri="{FF2B5EF4-FFF2-40B4-BE49-F238E27FC236}">
                <a16:creationId xmlns:a16="http://schemas.microsoft.com/office/drawing/2014/main" id="{C79DE9F2-793E-404F-8927-7BF2233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133600"/>
            <a:ext cx="1066800" cy="1066800"/>
          </a:xfrm>
          <a:prstGeom prst="ellipse">
            <a:avLst/>
          </a:prstGeom>
          <a:solidFill>
            <a:srgbClr val="CC6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Times" panose="02020603050405020304" pitchFamily="18" charset="0"/>
              </a:rPr>
              <a:t>RNA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FFFF"/>
                </a:solidFill>
                <a:latin typeface="Times" panose="02020603050405020304" pitchFamily="18" charset="0"/>
              </a:rPr>
              <a:t>Pol.</a:t>
            </a:r>
          </a:p>
        </p:txBody>
      </p:sp>
      <p:grpSp>
        <p:nvGrpSpPr>
          <p:cNvPr id="13" name="Group 42">
            <a:extLst>
              <a:ext uri="{FF2B5EF4-FFF2-40B4-BE49-F238E27FC236}">
                <a16:creationId xmlns:a16="http://schemas.microsoft.com/office/drawing/2014/main" id="{FB74A170-8086-412E-977F-6973F31AAE10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524000"/>
            <a:ext cx="4038600" cy="4038600"/>
            <a:chOff x="480" y="960"/>
            <a:chExt cx="2544" cy="2544"/>
          </a:xfrm>
        </p:grpSpPr>
        <p:grpSp>
          <p:nvGrpSpPr>
            <p:cNvPr id="14" name="Group 43">
              <a:extLst>
                <a:ext uri="{FF2B5EF4-FFF2-40B4-BE49-F238E27FC236}">
                  <a16:creationId xmlns:a16="http://schemas.microsoft.com/office/drawing/2014/main" id="{5D1B4E59-B879-4D2C-A0B0-DFF1639ABF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544"/>
              <a:ext cx="768" cy="960"/>
              <a:chOff x="816" y="2544"/>
              <a:chExt cx="768" cy="960"/>
            </a:xfrm>
          </p:grpSpPr>
          <p:grpSp>
            <p:nvGrpSpPr>
              <p:cNvPr id="15" name="Group 44">
                <a:extLst>
                  <a:ext uri="{FF2B5EF4-FFF2-40B4-BE49-F238E27FC236}">
                    <a16:creationId xmlns:a16="http://schemas.microsoft.com/office/drawing/2014/main" id="{43F07E0D-3EBE-495E-BAE5-8FDF327A7D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3168"/>
                <a:ext cx="624" cy="336"/>
                <a:chOff x="2400" y="2064"/>
                <a:chExt cx="624" cy="336"/>
              </a:xfrm>
            </p:grpSpPr>
            <p:sp>
              <p:nvSpPr>
                <p:cNvPr id="70687" name="Freeform 45" descr="80%">
                  <a:extLst>
                    <a:ext uri="{FF2B5EF4-FFF2-40B4-BE49-F238E27FC236}">
                      <a16:creationId xmlns:a16="http://schemas.microsoft.com/office/drawing/2014/main" id="{DCA3AAAD-2E2F-4AF0-B66D-5EC50A638A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00" y="2064"/>
                  <a:ext cx="624" cy="336"/>
                </a:xfrm>
                <a:custGeom>
                  <a:avLst/>
                  <a:gdLst>
                    <a:gd name="T0" fmla="*/ 0 w 624"/>
                    <a:gd name="T1" fmla="*/ 96 h 336"/>
                    <a:gd name="T2" fmla="*/ 192 w 624"/>
                    <a:gd name="T3" fmla="*/ 96 h 336"/>
                    <a:gd name="T4" fmla="*/ 192 w 624"/>
                    <a:gd name="T5" fmla="*/ 0 h 336"/>
                    <a:gd name="T6" fmla="*/ 288 w 624"/>
                    <a:gd name="T7" fmla="*/ 0 h 336"/>
                    <a:gd name="T8" fmla="*/ 288 w 624"/>
                    <a:gd name="T9" fmla="*/ 96 h 336"/>
                    <a:gd name="T10" fmla="*/ 384 w 624"/>
                    <a:gd name="T11" fmla="*/ 96 h 336"/>
                    <a:gd name="T12" fmla="*/ 384 w 624"/>
                    <a:gd name="T13" fmla="*/ 0 h 336"/>
                    <a:gd name="T14" fmla="*/ 480 w 624"/>
                    <a:gd name="T15" fmla="*/ 0 h 336"/>
                    <a:gd name="T16" fmla="*/ 480 w 624"/>
                    <a:gd name="T17" fmla="*/ 96 h 336"/>
                    <a:gd name="T18" fmla="*/ 624 w 624"/>
                    <a:gd name="T19" fmla="*/ 96 h 336"/>
                    <a:gd name="T20" fmla="*/ 624 w 624"/>
                    <a:gd name="T21" fmla="*/ 336 h 336"/>
                    <a:gd name="T22" fmla="*/ 384 w 624"/>
                    <a:gd name="T23" fmla="*/ 336 h 336"/>
                    <a:gd name="T24" fmla="*/ 336 w 624"/>
                    <a:gd name="T25" fmla="*/ 192 h 336"/>
                    <a:gd name="T26" fmla="*/ 288 w 624"/>
                    <a:gd name="T27" fmla="*/ 336 h 336"/>
                    <a:gd name="T28" fmla="*/ 0 w 624"/>
                    <a:gd name="T29" fmla="*/ 336 h 336"/>
                    <a:gd name="T30" fmla="*/ 0 w 624"/>
                    <a:gd name="T31" fmla="*/ 96 h 3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624"/>
                    <a:gd name="T49" fmla="*/ 0 h 336"/>
                    <a:gd name="T50" fmla="*/ 624 w 624"/>
                    <a:gd name="T51" fmla="*/ 336 h 3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624" h="336">
                      <a:moveTo>
                        <a:pt x="0" y="96"/>
                      </a:moveTo>
                      <a:lnTo>
                        <a:pt x="192" y="96"/>
                      </a:lnTo>
                      <a:lnTo>
                        <a:pt x="192" y="0"/>
                      </a:lnTo>
                      <a:lnTo>
                        <a:pt x="288" y="0"/>
                      </a:lnTo>
                      <a:lnTo>
                        <a:pt x="288" y="96"/>
                      </a:lnTo>
                      <a:lnTo>
                        <a:pt x="384" y="96"/>
                      </a:lnTo>
                      <a:lnTo>
                        <a:pt x="384" y="0"/>
                      </a:lnTo>
                      <a:lnTo>
                        <a:pt x="480" y="0"/>
                      </a:lnTo>
                      <a:lnTo>
                        <a:pt x="480" y="96"/>
                      </a:lnTo>
                      <a:lnTo>
                        <a:pt x="624" y="96"/>
                      </a:lnTo>
                      <a:lnTo>
                        <a:pt x="624" y="336"/>
                      </a:lnTo>
                      <a:lnTo>
                        <a:pt x="384" y="336"/>
                      </a:lnTo>
                      <a:lnTo>
                        <a:pt x="336" y="192"/>
                      </a:lnTo>
                      <a:lnTo>
                        <a:pt x="288" y="336"/>
                      </a:lnTo>
                      <a:lnTo>
                        <a:pt x="0" y="336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0688" name="Text Box 46">
                  <a:extLst>
                    <a:ext uri="{FF2B5EF4-FFF2-40B4-BE49-F238E27FC236}">
                      <a16:creationId xmlns:a16="http://schemas.microsoft.com/office/drawing/2014/main" id="{537610C5-1B5B-4FAC-9E46-CC7FE64CB04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6" y="2115"/>
                  <a:ext cx="565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400">
                      <a:solidFill>
                        <a:srgbClr val="FF3300"/>
                      </a:solidFill>
                      <a:latin typeface="Times" panose="02020603050405020304" pitchFamily="18" charset="0"/>
                    </a:rPr>
                    <a:t>Repressor</a:t>
                  </a:r>
                </a:p>
              </p:txBody>
            </p:sp>
          </p:grpSp>
          <p:sp>
            <p:nvSpPr>
              <p:cNvPr id="70686" name="Line 47">
                <a:extLst>
                  <a:ext uri="{FF2B5EF4-FFF2-40B4-BE49-F238E27FC236}">
                    <a16:creationId xmlns:a16="http://schemas.microsoft.com/office/drawing/2014/main" id="{5C56C8F0-CBFA-498F-992E-BBDE13A593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2544"/>
                <a:ext cx="384" cy="52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" name="Group 48">
              <a:extLst>
                <a:ext uri="{FF2B5EF4-FFF2-40B4-BE49-F238E27FC236}">
                  <a16:creationId xmlns:a16="http://schemas.microsoft.com/office/drawing/2014/main" id="{48C1EA7D-8574-4750-900B-9B48373B4E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960"/>
              <a:ext cx="1195" cy="1536"/>
              <a:chOff x="480" y="960"/>
              <a:chExt cx="1195" cy="1536"/>
            </a:xfrm>
          </p:grpSpPr>
          <p:grpSp>
            <p:nvGrpSpPr>
              <p:cNvPr id="17" name="Group 49">
                <a:extLst>
                  <a:ext uri="{FF2B5EF4-FFF2-40B4-BE49-F238E27FC236}">
                    <a16:creationId xmlns:a16="http://schemas.microsoft.com/office/drawing/2014/main" id="{374A6876-FC9A-49AF-8930-EE8D5DACD7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0" y="1872"/>
                <a:ext cx="720" cy="624"/>
                <a:chOff x="480" y="1872"/>
                <a:chExt cx="720" cy="624"/>
              </a:xfrm>
            </p:grpSpPr>
            <p:sp>
              <p:nvSpPr>
                <p:cNvPr id="70683" name="Rectangle 50" descr="5%">
                  <a:extLst>
                    <a:ext uri="{FF2B5EF4-FFF2-40B4-BE49-F238E27FC236}">
                      <a16:creationId xmlns:a16="http://schemas.microsoft.com/office/drawing/2014/main" id="{FB4E5FBA-8EA7-4CC0-A9D3-EBFADFF742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0" y="2208"/>
                  <a:ext cx="720" cy="288"/>
                </a:xfrm>
                <a:prstGeom prst="rect">
                  <a:avLst/>
                </a:prstGeom>
                <a:blipFill dpi="0" rotWithShape="0">
                  <a:blip r:embed="rId6" cstate="print"/>
                  <a:srcRect/>
                  <a:tile tx="0" ty="0" sx="100000" sy="100000" flip="none" algn="tl"/>
                </a:blip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600" b="1">
                      <a:solidFill>
                        <a:schemeClr val="bg2"/>
                      </a:solidFill>
                      <a:latin typeface="Times" panose="02020603050405020304" pitchFamily="18" charset="0"/>
                    </a:rPr>
                    <a:t>Repressor</a:t>
                  </a: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600" b="1">
                      <a:solidFill>
                        <a:schemeClr val="bg2"/>
                      </a:solidFill>
                      <a:latin typeface="Times" panose="02020603050405020304" pitchFamily="18" charset="0"/>
                    </a:rPr>
                    <a:t> mRNA</a:t>
                  </a:r>
                </a:p>
              </p:txBody>
            </p:sp>
            <p:sp>
              <p:nvSpPr>
                <p:cNvPr id="70684" name="Line 51">
                  <a:extLst>
                    <a:ext uri="{FF2B5EF4-FFF2-40B4-BE49-F238E27FC236}">
                      <a16:creationId xmlns:a16="http://schemas.microsoft.com/office/drawing/2014/main" id="{7AFCED19-258F-4292-8289-985C2C33C9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1872"/>
                  <a:ext cx="0" cy="288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8" name="Group 52">
                <a:extLst>
                  <a:ext uri="{FF2B5EF4-FFF2-40B4-BE49-F238E27FC236}">
                    <a16:creationId xmlns:a16="http://schemas.microsoft.com/office/drawing/2014/main" id="{38B9379E-9B3D-4458-A2A0-4302601825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960"/>
                <a:ext cx="907" cy="384"/>
                <a:chOff x="768" y="960"/>
                <a:chExt cx="907" cy="384"/>
              </a:xfrm>
            </p:grpSpPr>
            <p:sp>
              <p:nvSpPr>
                <p:cNvPr id="70681" name="AutoShape 53">
                  <a:extLst>
                    <a:ext uri="{FF2B5EF4-FFF2-40B4-BE49-F238E27FC236}">
                      <a16:creationId xmlns:a16="http://schemas.microsoft.com/office/drawing/2014/main" id="{678D131E-ED58-4D24-AB9A-D4ED8069BC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960"/>
                  <a:ext cx="816" cy="384"/>
                </a:xfrm>
                <a:prstGeom prst="wedgeRoundRectCallout">
                  <a:avLst>
                    <a:gd name="adj1" fmla="val -47796"/>
                    <a:gd name="adj2" fmla="val 119532"/>
                    <a:gd name="adj3" fmla="val 16667"/>
                  </a:avLst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200">
                    <a:solidFill>
                      <a:schemeClr val="bg2"/>
                    </a:solidFill>
                    <a:latin typeface="Times" panose="02020603050405020304" pitchFamily="18" charset="0"/>
                  </a:endParaRPr>
                </a:p>
              </p:txBody>
            </p:sp>
            <p:sp>
              <p:nvSpPr>
                <p:cNvPr id="70682" name="Text Box 54">
                  <a:extLst>
                    <a:ext uri="{FF2B5EF4-FFF2-40B4-BE49-F238E27FC236}">
                      <a16:creationId xmlns:a16="http://schemas.microsoft.com/office/drawing/2014/main" id="{55C705FC-5DE4-4574-889F-A25F1A30473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68" y="960"/>
                  <a:ext cx="907" cy="366"/>
                </a:xfrm>
                <a:prstGeom prst="rect">
                  <a:avLst/>
                </a:prstGeom>
                <a:solidFill>
                  <a:srgbClr val="FF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600" b="1">
                      <a:solidFill>
                        <a:schemeClr val="accent2"/>
                      </a:solidFill>
                      <a:latin typeface="Times" panose="02020603050405020304" pitchFamily="18" charset="0"/>
                    </a:rPr>
                    <a:t>Hey man, I</a:t>
                  </a:r>
                  <a:r>
                    <a:rPr lang="en-US" altLang="zh-CN" sz="1600" b="1">
                      <a:solidFill>
                        <a:schemeClr val="accent2"/>
                      </a:solidFill>
                      <a:latin typeface="Calibri" panose="020F0502020204030204" pitchFamily="34" charset="0"/>
                    </a:rPr>
                    <a:t>’</a:t>
                  </a:r>
                  <a:r>
                    <a:rPr lang="en-US" altLang="zh-CN" sz="1600" b="1">
                      <a:solidFill>
                        <a:schemeClr val="accent2"/>
                      </a:solidFill>
                      <a:latin typeface="Times" panose="02020603050405020304" pitchFamily="18" charset="0"/>
                    </a:rPr>
                    <a:t>m 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600" b="1">
                      <a:solidFill>
                        <a:schemeClr val="accent2"/>
                      </a:solidFill>
                      <a:latin typeface="Times" panose="02020603050405020304" pitchFamily="18" charset="0"/>
                    </a:rPr>
                    <a:t>constitutive</a:t>
                  </a:r>
                </a:p>
              </p:txBody>
            </p:sp>
          </p:grpSp>
        </p:grpSp>
        <p:grpSp>
          <p:nvGrpSpPr>
            <p:cNvPr id="19" name="Group 55">
              <a:extLst>
                <a:ext uri="{FF2B5EF4-FFF2-40B4-BE49-F238E27FC236}">
                  <a16:creationId xmlns:a16="http://schemas.microsoft.com/office/drawing/2014/main" id="{8CD043BF-AA94-4798-8CCE-2DDB012DE2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1728"/>
              <a:ext cx="1296" cy="1632"/>
              <a:chOff x="1728" y="1728"/>
              <a:chExt cx="1296" cy="1632"/>
            </a:xfrm>
          </p:grpSpPr>
          <p:grpSp>
            <p:nvGrpSpPr>
              <p:cNvPr id="20" name="Group 56">
                <a:extLst>
                  <a:ext uri="{FF2B5EF4-FFF2-40B4-BE49-F238E27FC236}">
                    <a16:creationId xmlns:a16="http://schemas.microsoft.com/office/drawing/2014/main" id="{1C0F7B02-961E-42EE-83CC-BF018CE982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0" y="1728"/>
                <a:ext cx="624" cy="336"/>
                <a:chOff x="2400" y="2064"/>
                <a:chExt cx="624" cy="336"/>
              </a:xfrm>
            </p:grpSpPr>
            <p:sp>
              <p:nvSpPr>
                <p:cNvPr id="70677" name="Freeform 57" descr="80%">
                  <a:extLst>
                    <a:ext uri="{FF2B5EF4-FFF2-40B4-BE49-F238E27FC236}">
                      <a16:creationId xmlns:a16="http://schemas.microsoft.com/office/drawing/2014/main" id="{F6955435-708F-48D3-87ED-5A93A2CAFD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00" y="2064"/>
                  <a:ext cx="624" cy="336"/>
                </a:xfrm>
                <a:custGeom>
                  <a:avLst/>
                  <a:gdLst>
                    <a:gd name="T0" fmla="*/ 0 w 624"/>
                    <a:gd name="T1" fmla="*/ 96 h 336"/>
                    <a:gd name="T2" fmla="*/ 192 w 624"/>
                    <a:gd name="T3" fmla="*/ 96 h 336"/>
                    <a:gd name="T4" fmla="*/ 192 w 624"/>
                    <a:gd name="T5" fmla="*/ 0 h 336"/>
                    <a:gd name="T6" fmla="*/ 288 w 624"/>
                    <a:gd name="T7" fmla="*/ 0 h 336"/>
                    <a:gd name="T8" fmla="*/ 288 w 624"/>
                    <a:gd name="T9" fmla="*/ 96 h 336"/>
                    <a:gd name="T10" fmla="*/ 384 w 624"/>
                    <a:gd name="T11" fmla="*/ 96 h 336"/>
                    <a:gd name="T12" fmla="*/ 384 w 624"/>
                    <a:gd name="T13" fmla="*/ 0 h 336"/>
                    <a:gd name="T14" fmla="*/ 480 w 624"/>
                    <a:gd name="T15" fmla="*/ 0 h 336"/>
                    <a:gd name="T16" fmla="*/ 480 w 624"/>
                    <a:gd name="T17" fmla="*/ 96 h 336"/>
                    <a:gd name="T18" fmla="*/ 624 w 624"/>
                    <a:gd name="T19" fmla="*/ 96 h 336"/>
                    <a:gd name="T20" fmla="*/ 624 w 624"/>
                    <a:gd name="T21" fmla="*/ 336 h 336"/>
                    <a:gd name="T22" fmla="*/ 384 w 624"/>
                    <a:gd name="T23" fmla="*/ 336 h 336"/>
                    <a:gd name="T24" fmla="*/ 336 w 624"/>
                    <a:gd name="T25" fmla="*/ 192 h 336"/>
                    <a:gd name="T26" fmla="*/ 288 w 624"/>
                    <a:gd name="T27" fmla="*/ 336 h 336"/>
                    <a:gd name="T28" fmla="*/ 0 w 624"/>
                    <a:gd name="T29" fmla="*/ 336 h 336"/>
                    <a:gd name="T30" fmla="*/ 0 w 624"/>
                    <a:gd name="T31" fmla="*/ 96 h 3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624"/>
                    <a:gd name="T49" fmla="*/ 0 h 336"/>
                    <a:gd name="T50" fmla="*/ 624 w 624"/>
                    <a:gd name="T51" fmla="*/ 336 h 3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624" h="336">
                      <a:moveTo>
                        <a:pt x="0" y="96"/>
                      </a:moveTo>
                      <a:lnTo>
                        <a:pt x="192" y="96"/>
                      </a:lnTo>
                      <a:lnTo>
                        <a:pt x="192" y="0"/>
                      </a:lnTo>
                      <a:lnTo>
                        <a:pt x="288" y="0"/>
                      </a:lnTo>
                      <a:lnTo>
                        <a:pt x="288" y="96"/>
                      </a:lnTo>
                      <a:lnTo>
                        <a:pt x="384" y="96"/>
                      </a:lnTo>
                      <a:lnTo>
                        <a:pt x="384" y="0"/>
                      </a:lnTo>
                      <a:lnTo>
                        <a:pt x="480" y="0"/>
                      </a:lnTo>
                      <a:lnTo>
                        <a:pt x="480" y="96"/>
                      </a:lnTo>
                      <a:lnTo>
                        <a:pt x="624" y="96"/>
                      </a:lnTo>
                      <a:lnTo>
                        <a:pt x="624" y="336"/>
                      </a:lnTo>
                      <a:lnTo>
                        <a:pt x="384" y="336"/>
                      </a:lnTo>
                      <a:lnTo>
                        <a:pt x="336" y="192"/>
                      </a:lnTo>
                      <a:lnTo>
                        <a:pt x="288" y="336"/>
                      </a:lnTo>
                      <a:lnTo>
                        <a:pt x="0" y="336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0678" name="Text Box 58">
                  <a:extLst>
                    <a:ext uri="{FF2B5EF4-FFF2-40B4-BE49-F238E27FC236}">
                      <a16:creationId xmlns:a16="http://schemas.microsoft.com/office/drawing/2014/main" id="{9783DA22-CE50-41D4-9FEA-D1E8EAA55F3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6" y="2115"/>
                  <a:ext cx="565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400">
                      <a:solidFill>
                        <a:srgbClr val="FF3300"/>
                      </a:solidFill>
                      <a:latin typeface="Times" panose="02020603050405020304" pitchFamily="18" charset="0"/>
                    </a:rPr>
                    <a:t>Repressor</a:t>
                  </a:r>
                </a:p>
              </p:txBody>
            </p:sp>
          </p:grpSp>
          <p:sp>
            <p:nvSpPr>
              <p:cNvPr id="70676" name="Freeform 59">
                <a:extLst>
                  <a:ext uri="{FF2B5EF4-FFF2-40B4-BE49-F238E27FC236}">
                    <a16:creationId xmlns:a16="http://schemas.microsoft.com/office/drawing/2014/main" id="{62135C7F-EC81-41C3-97ED-A8327B3592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8" y="2160"/>
                <a:ext cx="1008" cy="1200"/>
              </a:xfrm>
              <a:custGeom>
                <a:avLst/>
                <a:gdLst>
                  <a:gd name="T0" fmla="*/ 0 w 1104"/>
                  <a:gd name="T1" fmla="*/ 1200 h 1200"/>
                  <a:gd name="T2" fmla="*/ 337 w 1104"/>
                  <a:gd name="T3" fmla="*/ 720 h 1200"/>
                  <a:gd name="T4" fmla="*/ 405 w 1104"/>
                  <a:gd name="T5" fmla="*/ 0 h 1200"/>
                  <a:gd name="T6" fmla="*/ 0 60000 65536"/>
                  <a:gd name="T7" fmla="*/ 0 60000 65536"/>
                  <a:gd name="T8" fmla="*/ 0 60000 65536"/>
                  <a:gd name="T9" fmla="*/ 0 w 1104"/>
                  <a:gd name="T10" fmla="*/ 0 h 1200"/>
                  <a:gd name="T11" fmla="*/ 1104 w 1104"/>
                  <a:gd name="T12" fmla="*/ 1200 h 1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04" h="1200">
                    <a:moveTo>
                      <a:pt x="0" y="1200"/>
                    </a:moveTo>
                    <a:cubicBezTo>
                      <a:pt x="364" y="1060"/>
                      <a:pt x="728" y="920"/>
                      <a:pt x="912" y="720"/>
                    </a:cubicBezTo>
                    <a:cubicBezTo>
                      <a:pt x="1096" y="520"/>
                      <a:pt x="1100" y="260"/>
                      <a:pt x="1104" y="0"/>
                    </a:cubicBezTo>
                  </a:path>
                </a:pathLst>
              </a:custGeom>
              <a:noFill/>
              <a:ln w="76200">
                <a:solidFill>
                  <a:schemeClr val="tx1"/>
                </a:solidFill>
                <a:prstDash val="sysDot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68348" name="AutoShape 60">
            <a:extLst>
              <a:ext uri="{FF2B5EF4-FFF2-40B4-BE49-F238E27FC236}">
                <a16:creationId xmlns:a16="http://schemas.microsoft.com/office/drawing/2014/main" id="{3289C720-B5DD-4B65-9A92-F86A6BFC0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429000"/>
            <a:ext cx="1371600" cy="914400"/>
          </a:xfrm>
          <a:prstGeom prst="wedgeRoundRectCallout">
            <a:avLst>
              <a:gd name="adj1" fmla="val -67708"/>
              <a:gd name="adj2" fmla="val -87329"/>
              <a:gd name="adj3" fmla="val 166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accent2"/>
                </a:solidFill>
                <a:latin typeface="Times" panose="02020603050405020304" pitchFamily="18" charset="0"/>
              </a:rPr>
              <a:t>STOP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accent2"/>
                </a:solidFill>
                <a:latin typeface="Times" panose="02020603050405020304" pitchFamily="18" charset="0"/>
              </a:rPr>
              <a:t>Right there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accent2"/>
                </a:solidFill>
                <a:latin typeface="Times" panose="02020603050405020304" pitchFamily="18" charset="0"/>
              </a:rPr>
              <a:t>Polymerase</a:t>
            </a:r>
          </a:p>
        </p:txBody>
      </p:sp>
      <p:grpSp>
        <p:nvGrpSpPr>
          <p:cNvPr id="21" name="Group 61">
            <a:extLst>
              <a:ext uri="{FF2B5EF4-FFF2-40B4-BE49-F238E27FC236}">
                <a16:creationId xmlns:a16="http://schemas.microsoft.com/office/drawing/2014/main" id="{ADC3F365-46BF-4E2F-AD12-01F45B10FC32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1219200"/>
            <a:ext cx="2057400" cy="914400"/>
            <a:chOff x="2688" y="768"/>
            <a:chExt cx="1296" cy="576"/>
          </a:xfrm>
        </p:grpSpPr>
        <p:sp>
          <p:nvSpPr>
            <p:cNvPr id="70670" name="AutoShape 62">
              <a:extLst>
                <a:ext uri="{FF2B5EF4-FFF2-40B4-BE49-F238E27FC236}">
                  <a16:creationId xmlns:a16="http://schemas.microsoft.com/office/drawing/2014/main" id="{BE5AB332-7C02-43F6-8645-7131442DF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768"/>
              <a:ext cx="1296" cy="576"/>
            </a:xfrm>
            <a:prstGeom prst="wedgeRoundRectCallout">
              <a:avLst>
                <a:gd name="adj1" fmla="val -75694"/>
                <a:gd name="adj2" fmla="val 86981"/>
                <a:gd name="adj3" fmla="val 16667"/>
              </a:avLst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>
                <a:solidFill>
                  <a:schemeClr val="bg2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70671" name="Text Box 63">
              <a:extLst>
                <a:ext uri="{FF2B5EF4-FFF2-40B4-BE49-F238E27FC236}">
                  <a16:creationId xmlns:a16="http://schemas.microsoft.com/office/drawing/2014/main" id="{F4D9372B-DEB6-448F-9835-86DEE83760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803"/>
              <a:ext cx="1132" cy="289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7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solidFill>
                    <a:schemeClr val="accent2"/>
                  </a:solidFill>
                  <a:latin typeface="Times" panose="02020603050405020304" pitchFamily="18" charset="0"/>
                </a:rPr>
                <a:t>Alright, I</a:t>
              </a:r>
              <a:r>
                <a:rPr lang="en-US" altLang="zh-CN" sz="1600" b="1" dirty="0">
                  <a:solidFill>
                    <a:schemeClr val="accent2"/>
                  </a:solidFill>
                  <a:latin typeface="Calibri" panose="020F0502020204030204" pitchFamily="34" charset="0"/>
                </a:rPr>
                <a:t>’</a:t>
              </a:r>
              <a:r>
                <a:rPr lang="en-US" altLang="zh-CN" sz="1600" b="1" dirty="0">
                  <a:solidFill>
                    <a:schemeClr val="accent2"/>
                  </a:solidFill>
                  <a:latin typeface="Times" panose="02020603050405020304" pitchFamily="18" charset="0"/>
                </a:rPr>
                <a:t>m off to 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solidFill>
                    <a:schemeClr val="accent2"/>
                  </a:solidFill>
                  <a:latin typeface="Times" panose="02020603050405020304" pitchFamily="18" charset="0"/>
                </a:rPr>
                <a:t>the races . . 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40114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8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8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328" grpId="0" animBg="1" autoUpdateAnimBg="0"/>
      <p:bldP spid="268329" grpId="0" animBg="1" autoUpdateAnimBg="0"/>
      <p:bldP spid="268348" grpId="0" animBg="1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>
            <a:extLst>
              <a:ext uri="{FF2B5EF4-FFF2-40B4-BE49-F238E27FC236}">
                <a16:creationId xmlns:a16="http://schemas.microsoft.com/office/drawing/2014/main" id="{681E0CC1-6380-416A-A355-9B6D21FE4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1066800"/>
            <a:ext cx="7721600" cy="523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1" name="Text Box 3">
            <a:extLst>
              <a:ext uri="{FF2B5EF4-FFF2-40B4-BE49-F238E27FC236}">
                <a16:creationId xmlns:a16="http://schemas.microsoft.com/office/drawing/2014/main" id="{1462E2B4-1E19-46C8-A00D-2679CFE2C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28600"/>
            <a:ext cx="7805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Phe, F, </a:t>
            </a:r>
            <a:r>
              <a:rPr lang="zh-CN" altLang="en-US" sz="2800" b="1">
                <a:latin typeface="Times New Roman" panose="02020603050405020304" pitchFamily="18" charset="0"/>
              </a:rPr>
              <a:t>苯丙氨酸</a:t>
            </a:r>
            <a:r>
              <a:rPr lang="en-US" altLang="zh-CN" sz="2800" b="1">
                <a:latin typeface="Times New Roman" panose="02020603050405020304" pitchFamily="18" charset="0"/>
              </a:rPr>
              <a:t>; Tyr, Y, </a:t>
            </a:r>
            <a:r>
              <a:rPr lang="zh-CN" altLang="en-US" sz="2800" b="1">
                <a:latin typeface="Times New Roman" panose="02020603050405020304" pitchFamily="18" charset="0"/>
              </a:rPr>
              <a:t>酪氨酸</a:t>
            </a:r>
            <a:r>
              <a:rPr lang="en-US" altLang="zh-CN" sz="2800" b="1">
                <a:latin typeface="Times New Roman" panose="02020603050405020304" pitchFamily="18" charset="0"/>
              </a:rPr>
              <a:t>; Trp, W, </a:t>
            </a:r>
            <a:r>
              <a:rPr lang="zh-CN" altLang="en-US" sz="2800" b="1">
                <a:latin typeface="Times New Roman" panose="02020603050405020304" pitchFamily="18" charset="0"/>
              </a:rPr>
              <a:t>色氨酸</a:t>
            </a:r>
          </a:p>
        </p:txBody>
      </p:sp>
    </p:spTree>
    <p:extLst>
      <p:ext uri="{BB962C8B-B14F-4D97-AF65-F5344CB8AC3E}">
        <p14:creationId xmlns:p14="http://schemas.microsoft.com/office/powerpoint/2010/main" val="27511005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2" name="Text Box 4"/>
          <p:cNvSpPr txBox="1">
            <a:spLocks noChangeArrowheads="1"/>
          </p:cNvSpPr>
          <p:nvPr/>
        </p:nvSpPr>
        <p:spPr bwMode="auto">
          <a:xfrm>
            <a:off x="684213" y="795338"/>
            <a:ext cx="165576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      </a:t>
            </a:r>
            <a:r>
              <a:rPr lang="en-US" altLang="zh-CN" sz="2400" b="1" dirty="0">
                <a:solidFill>
                  <a:srgbClr val="993366"/>
                </a:solidFill>
                <a:latin typeface="Times New Roman" panose="02020603050405020304" pitchFamily="18" charset="0"/>
              </a:rPr>
              <a:t>PEP</a:t>
            </a:r>
          </a:p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993366"/>
                </a:solidFill>
                <a:latin typeface="Times New Roman" panose="02020603050405020304" pitchFamily="18" charset="0"/>
              </a:rPr>
              <a:t>E – 4 –</a:t>
            </a:r>
            <a:r>
              <a:rPr lang="en-US" altLang="zh-CN" sz="2400" dirty="0">
                <a:solidFill>
                  <a:srgbClr val="993366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993366"/>
                </a:solidFill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196613" name="Line 5"/>
          <p:cNvSpPr>
            <a:spLocks noChangeShapeType="1"/>
          </p:cNvSpPr>
          <p:nvPr/>
        </p:nvSpPr>
        <p:spPr bwMode="auto">
          <a:xfrm>
            <a:off x="2268538" y="1268413"/>
            <a:ext cx="431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6614" name="Line 6"/>
          <p:cNvSpPr>
            <a:spLocks noChangeShapeType="1"/>
          </p:cNvSpPr>
          <p:nvPr/>
        </p:nvSpPr>
        <p:spPr bwMode="auto">
          <a:xfrm>
            <a:off x="3059113" y="1268413"/>
            <a:ext cx="431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6615" name="Line 7"/>
          <p:cNvSpPr>
            <a:spLocks noChangeShapeType="1"/>
          </p:cNvSpPr>
          <p:nvPr/>
        </p:nvSpPr>
        <p:spPr bwMode="auto">
          <a:xfrm>
            <a:off x="3708400" y="1268413"/>
            <a:ext cx="431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6616" name="Text Box 8"/>
          <p:cNvSpPr txBox="1">
            <a:spLocks noChangeArrowheads="1"/>
          </p:cNvSpPr>
          <p:nvPr/>
        </p:nvSpPr>
        <p:spPr bwMode="auto">
          <a:xfrm>
            <a:off x="4140200" y="1052513"/>
            <a:ext cx="4752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华文中宋" pitchFamily="2" charset="-122"/>
              </a:rPr>
              <a:t>莽草酸        分枝酸</a:t>
            </a:r>
          </a:p>
        </p:txBody>
      </p:sp>
      <p:sp>
        <p:nvSpPr>
          <p:cNvPr id="196618" name="Line 10"/>
          <p:cNvSpPr>
            <a:spLocks noChangeShapeType="1"/>
          </p:cNvSpPr>
          <p:nvPr/>
        </p:nvSpPr>
        <p:spPr bwMode="auto">
          <a:xfrm>
            <a:off x="5292725" y="1268413"/>
            <a:ext cx="431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6620" name="Line 12"/>
          <p:cNvSpPr>
            <a:spLocks noChangeShapeType="1"/>
          </p:cNvSpPr>
          <p:nvPr/>
        </p:nvSpPr>
        <p:spPr bwMode="auto">
          <a:xfrm>
            <a:off x="6804025" y="1700213"/>
            <a:ext cx="360363" cy="7921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6621" name="Text Box 13"/>
          <p:cNvSpPr txBox="1">
            <a:spLocks noChangeArrowheads="1"/>
          </p:cNvSpPr>
          <p:nvPr/>
        </p:nvSpPr>
        <p:spPr bwMode="auto">
          <a:xfrm>
            <a:off x="1258888" y="3429000"/>
            <a:ext cx="77057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>
                <a:latin typeface="华文中宋" pitchFamily="2" charset="-122"/>
                <a:ea typeface="华文中宋" pitchFamily="2" charset="-122"/>
              </a:rPr>
              <a:t>色氨酸         苯丙氨酸     酪氨酸</a:t>
            </a:r>
          </a:p>
        </p:txBody>
      </p:sp>
      <p:sp>
        <p:nvSpPr>
          <p:cNvPr id="196622" name="Line 14"/>
          <p:cNvSpPr>
            <a:spLocks noChangeShapeType="1"/>
          </p:cNvSpPr>
          <p:nvPr/>
        </p:nvSpPr>
        <p:spPr bwMode="auto">
          <a:xfrm flipH="1">
            <a:off x="5940425" y="1700213"/>
            <a:ext cx="576263" cy="863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6623" name="Line 15"/>
          <p:cNvSpPr>
            <a:spLocks noChangeShapeType="1"/>
          </p:cNvSpPr>
          <p:nvPr/>
        </p:nvSpPr>
        <p:spPr bwMode="auto">
          <a:xfrm flipH="1">
            <a:off x="2843213" y="3789363"/>
            <a:ext cx="7207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6624" name="Line 16"/>
          <p:cNvSpPr>
            <a:spLocks noChangeShapeType="1"/>
          </p:cNvSpPr>
          <p:nvPr/>
        </p:nvSpPr>
        <p:spPr bwMode="auto">
          <a:xfrm flipH="1">
            <a:off x="5867400" y="1628775"/>
            <a:ext cx="433388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6625" name="Line 17"/>
          <p:cNvSpPr>
            <a:spLocks noChangeShapeType="1"/>
          </p:cNvSpPr>
          <p:nvPr/>
        </p:nvSpPr>
        <p:spPr bwMode="auto">
          <a:xfrm flipH="1">
            <a:off x="4067175" y="1989138"/>
            <a:ext cx="1584325" cy="576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6626" name="Line 18"/>
          <p:cNvSpPr>
            <a:spLocks noChangeShapeType="1"/>
          </p:cNvSpPr>
          <p:nvPr/>
        </p:nvSpPr>
        <p:spPr bwMode="auto">
          <a:xfrm flipH="1">
            <a:off x="2051050" y="2708275"/>
            <a:ext cx="1584325" cy="5762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6627" name="Line 19"/>
          <p:cNvSpPr>
            <a:spLocks noChangeShapeType="1"/>
          </p:cNvSpPr>
          <p:nvPr/>
        </p:nvSpPr>
        <p:spPr bwMode="auto">
          <a:xfrm flipH="1">
            <a:off x="4643438" y="2708275"/>
            <a:ext cx="1152525" cy="720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6628" name="Line 20"/>
          <p:cNvSpPr>
            <a:spLocks noChangeShapeType="1"/>
          </p:cNvSpPr>
          <p:nvPr/>
        </p:nvSpPr>
        <p:spPr bwMode="auto">
          <a:xfrm>
            <a:off x="7235825" y="2636838"/>
            <a:ext cx="215900" cy="719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6630" name="AutoShape 22"/>
          <p:cNvSpPr>
            <a:spLocks/>
          </p:cNvSpPr>
          <p:nvPr/>
        </p:nvSpPr>
        <p:spPr bwMode="auto">
          <a:xfrm>
            <a:off x="2195513" y="947738"/>
            <a:ext cx="144462" cy="647700"/>
          </a:xfrm>
          <a:prstGeom prst="rightBrace">
            <a:avLst>
              <a:gd name="adj1" fmla="val 3736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A0E5F475-23C3-4299-976A-0317655A21BF}"/>
              </a:ext>
            </a:extLst>
          </p:cNvPr>
          <p:cNvSpPr/>
          <p:nvPr/>
        </p:nvSpPr>
        <p:spPr>
          <a:xfrm>
            <a:off x="4140200" y="1052513"/>
            <a:ext cx="1150938" cy="53021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550B2EAC-8EC3-4813-9B14-469095BF9D6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68313" y="333375"/>
            <a:ext cx="6480175" cy="868363"/>
          </a:xfr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lang="en-US" altLang="zh-CN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</a:rPr>
              <a:t>3. The </a:t>
            </a:r>
            <a:r>
              <a:rPr lang="en-US" altLang="zh-CN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tryptophan</a:t>
            </a:r>
            <a:r>
              <a:rPr lang="en-US" altLang="zh-CN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</a:rPr>
              <a:t> operon </a:t>
            </a:r>
          </a:p>
        </p:txBody>
      </p:sp>
      <p:pic>
        <p:nvPicPr>
          <p:cNvPr id="12291" name="Picture 3" descr="06030305sma">
            <a:extLst>
              <a:ext uri="{FF2B5EF4-FFF2-40B4-BE49-F238E27FC236}">
                <a16:creationId xmlns:a16="http://schemas.microsoft.com/office/drawing/2014/main" id="{74D0B135-3E9F-4F4F-909C-9352E9D67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3"/>
          <a:stretch>
            <a:fillRect/>
          </a:stretch>
        </p:blipFill>
        <p:spPr bwMode="auto">
          <a:xfrm>
            <a:off x="142875" y="1268413"/>
            <a:ext cx="9001125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28" name="Text Box 4">
            <a:extLst>
              <a:ext uri="{FF2B5EF4-FFF2-40B4-BE49-F238E27FC236}">
                <a16:creationId xmlns:a16="http://schemas.microsoft.com/office/drawing/2014/main" id="{E8F969D0-E559-4B94-8877-C6D16F8C9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2060575"/>
            <a:ext cx="1295400" cy="369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attenuator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890D9A1E-5195-FC88-B6A0-2FC92567A8D1}"/>
                  </a:ext>
                </a:extLst>
              </p14:cNvPr>
              <p14:cNvContentPartPr/>
              <p14:nvPr/>
            </p14:nvContentPartPr>
            <p14:xfrm>
              <a:off x="355680" y="1123920"/>
              <a:ext cx="6102720" cy="30927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890D9A1E-5195-FC88-B6A0-2FC92567A8D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6320" y="1114560"/>
                <a:ext cx="6121440" cy="311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49494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495BB8CB-A947-4F5A-9502-0584A4BF32F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23850" y="333375"/>
            <a:ext cx="7775575" cy="709613"/>
          </a:xfrm>
        </p:spPr>
        <p:txBody>
          <a:bodyPr/>
          <a:lstStyle/>
          <a:p>
            <a:pPr>
              <a:lnSpc>
                <a:spcPct val="65000"/>
              </a:lnSpc>
              <a:defRPr/>
            </a:pPr>
            <a:r>
              <a:rPr lang="en-US" altLang="zh-CN">
                <a:ln>
                  <a:noFill/>
                </a:ln>
              </a:rPr>
              <a:t>Leader peptide of </a:t>
            </a:r>
            <a:r>
              <a:rPr lang="en-US" altLang="zh-CN" err="1">
                <a:ln>
                  <a:noFill/>
                </a:ln>
              </a:rPr>
              <a:t>trp</a:t>
            </a:r>
            <a:r>
              <a:rPr lang="en-US" altLang="zh-CN">
                <a:ln>
                  <a:noFill/>
                </a:ln>
              </a:rPr>
              <a:t> </a:t>
            </a:r>
            <a:r>
              <a:rPr lang="en-US" altLang="zh-CN" err="1">
                <a:ln>
                  <a:noFill/>
                </a:ln>
              </a:rPr>
              <a:t>operon</a:t>
            </a:r>
            <a:endParaRPr lang="en-US" altLang="zh-CN">
              <a:ln>
                <a:noFill/>
              </a:ln>
            </a:endParaRPr>
          </a:p>
        </p:txBody>
      </p:sp>
      <p:pic>
        <p:nvPicPr>
          <p:cNvPr id="13315" name="Picture 4" descr="961-1">
            <a:extLst>
              <a:ext uri="{FF2B5EF4-FFF2-40B4-BE49-F238E27FC236}">
                <a16:creationId xmlns:a16="http://schemas.microsoft.com/office/drawing/2014/main" id="{ED0D7624-1541-4356-B37F-81947FDD4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37" b="14195"/>
          <a:stretch>
            <a:fillRect/>
          </a:stretch>
        </p:blipFill>
        <p:spPr bwMode="auto">
          <a:xfrm>
            <a:off x="179388" y="1001713"/>
            <a:ext cx="8353425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3" name="Text Box 5">
            <a:extLst>
              <a:ext uri="{FF2B5EF4-FFF2-40B4-BE49-F238E27FC236}">
                <a16:creationId xmlns:a16="http://schemas.microsoft.com/office/drawing/2014/main" id="{2C1C553E-FE2D-472F-8752-F7AF3815D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719638"/>
            <a:ext cx="8135937" cy="13731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Attenuator (</a:t>
            </a: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衰减子） </a:t>
            </a:r>
            <a:r>
              <a:rPr lang="en-US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(internal terminator), like a </a:t>
            </a:r>
            <a:r>
              <a:rPr lang="en-US" altLang="zh-CN" sz="2800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trancriptional</a:t>
            </a:r>
            <a:r>
              <a:rPr lang="en-US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terminator contains a </a:t>
            </a:r>
            <a:r>
              <a:rPr lang="en-US" altLang="zh-CN" sz="2800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palindromic</a:t>
            </a:r>
            <a:r>
              <a:rPr lang="en-US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GC-rich </a:t>
            </a: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（回文结构）</a:t>
            </a:r>
            <a:r>
              <a:rPr lang="en-US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and a poly (U).</a:t>
            </a:r>
          </a:p>
        </p:txBody>
      </p:sp>
    </p:spTree>
    <p:extLst>
      <p:ext uri="{BB962C8B-B14F-4D97-AF65-F5344CB8AC3E}">
        <p14:creationId xmlns:p14="http://schemas.microsoft.com/office/powerpoint/2010/main" val="32907699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80BCE736-CC6A-477B-82A3-2E533F52A66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23850" y="0"/>
            <a:ext cx="7775575" cy="11430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Leader peptide of </a:t>
            </a:r>
            <a:r>
              <a:rPr lang="en-US" altLang="zh-CN" dirty="0" err="1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trp</a:t>
            </a:r>
            <a:r>
              <a:rPr lang="en-US" altLang="zh-CN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 operon</a:t>
            </a:r>
          </a:p>
        </p:txBody>
      </p:sp>
      <p:pic>
        <p:nvPicPr>
          <p:cNvPr id="14339" name="Picture 4" descr="色氨酸操纵子_1">
            <a:extLst>
              <a:ext uri="{FF2B5EF4-FFF2-40B4-BE49-F238E27FC236}">
                <a16:creationId xmlns:a16="http://schemas.microsoft.com/office/drawing/2014/main" id="{7D642657-9A43-4278-925D-70A2FDE29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1125538"/>
            <a:ext cx="4257675" cy="530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685272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ext Box 5">
            <a:extLst>
              <a:ext uri="{FF2B5EF4-FFF2-40B4-BE49-F238E27FC236}">
                <a16:creationId xmlns:a16="http://schemas.microsoft.com/office/drawing/2014/main" id="{1CFAD684-80A5-4E4F-98EB-662F80559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404813"/>
            <a:ext cx="2449513" cy="466725"/>
          </a:xfrm>
          <a:prstGeom prst="rect">
            <a:avLst/>
          </a:prstGeom>
          <a:noFill/>
          <a:ln w="9525" cap="rnd">
            <a:solidFill>
              <a:schemeClr val="hlink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转录、翻译偶联</a:t>
            </a:r>
          </a:p>
        </p:txBody>
      </p:sp>
      <p:pic>
        <p:nvPicPr>
          <p:cNvPr id="15364" name="Picture 7" descr="色氨酸操纵子_2">
            <a:extLst>
              <a:ext uri="{FF2B5EF4-FFF2-40B4-BE49-F238E27FC236}">
                <a16:creationId xmlns:a16="http://schemas.microsoft.com/office/drawing/2014/main" id="{56569182-1F99-4C1B-A7B1-A45BE7F4D5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-837" b="336"/>
          <a:stretch/>
        </p:blipFill>
        <p:spPr bwMode="auto">
          <a:xfrm>
            <a:off x="179388" y="908050"/>
            <a:ext cx="8641083" cy="5187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B7967F92-C301-BDF3-9FCD-7F5B4328E01A}"/>
              </a:ext>
            </a:extLst>
          </p:cNvPr>
          <p:cNvSpPr/>
          <p:nvPr/>
        </p:nvSpPr>
        <p:spPr>
          <a:xfrm>
            <a:off x="1979712" y="2348880"/>
            <a:ext cx="936104" cy="20162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5008F92-B382-39CD-B0EF-A8EA95406372}"/>
              </a:ext>
            </a:extLst>
          </p:cNvPr>
          <p:cNvSpPr txBox="1"/>
          <p:nvPr/>
        </p:nvSpPr>
        <p:spPr>
          <a:xfrm>
            <a:off x="2123728" y="4365104"/>
            <a:ext cx="1274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Terminator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43AE8626-B591-5558-228B-1C4DA8D9392D}"/>
                  </a:ext>
                </a:extLst>
              </p14:cNvPr>
              <p14:cNvContentPartPr/>
              <p14:nvPr/>
            </p14:nvContentPartPr>
            <p14:xfrm>
              <a:off x="330480" y="1962000"/>
              <a:ext cx="2635560" cy="27248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43AE8626-B591-5558-228B-1C4DA8D9392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1120" y="1952640"/>
                <a:ext cx="2654280" cy="274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80913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02" name="Rectangle 6">
            <a:extLst>
              <a:ext uri="{FF2B5EF4-FFF2-40B4-BE49-F238E27FC236}">
                <a16:creationId xmlns:a16="http://schemas.microsoft.com/office/drawing/2014/main" id="{749751B4-F0C9-4673-A0FE-D9F3FDB95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8715375" cy="2376487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When </a:t>
            </a:r>
            <a:r>
              <a:rPr kumimoji="1" lang="en-US" altLang="zh-CN" sz="28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Trp</a:t>
            </a:r>
            <a:r>
              <a:rPr kumimoji="1" lang="en-US" altLang="zh-C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 levels are low, the ribosome pauses at the </a:t>
            </a:r>
            <a:r>
              <a:rPr kumimoji="1" lang="en-US" altLang="zh-CN" sz="28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trp</a:t>
            </a:r>
            <a:r>
              <a:rPr kumimoji="1" lang="en-US" altLang="zh-C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en-US" altLang="zh-CN" sz="28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codons</a:t>
            </a:r>
            <a:r>
              <a:rPr kumimoji="1" lang="en-US" altLang="zh-C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 in sequence 1. Formation of the paired structure between sequence 2 and 3 prevents attenuation, because sequence 3 is no longer available to form the attenuator structure with sequence 4. </a:t>
            </a:r>
            <a:endParaRPr kumimoji="1" lang="zh-CN" altLang="en-US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17411" name="Picture 4">
            <a:extLst>
              <a:ext uri="{FF2B5EF4-FFF2-40B4-BE49-F238E27FC236}">
                <a16:creationId xmlns:a16="http://schemas.microsoft.com/office/drawing/2014/main" id="{CB09EDEF-04BF-453A-AC17-1FEA93449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781300"/>
            <a:ext cx="8664575" cy="339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651627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4" name="Rectangle 6">
            <a:extLst>
              <a:ext uri="{FF2B5EF4-FFF2-40B4-BE49-F238E27FC236}">
                <a16:creationId xmlns:a16="http://schemas.microsoft.com/office/drawing/2014/main" id="{C83AAE89-A479-4A5E-99C9-70665C88E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8715375" cy="2376487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When </a:t>
            </a:r>
            <a:r>
              <a:rPr kumimoji="1" lang="en-US" altLang="zh-CN" sz="28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Trp</a:t>
            </a:r>
            <a:r>
              <a:rPr kumimoji="1" lang="en-US" altLang="zh-C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 levels are high, the ribosome quickly translates sequence 1 and blocks sequence 2 before sequence 3 is transcribed. Continued transcription leads to the terminator-like structure formed by sequence 3 and 4 </a:t>
            </a:r>
            <a:endParaRPr kumimoji="1" lang="zh-CN" altLang="en-US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16387" name="Picture 4">
            <a:extLst>
              <a:ext uri="{FF2B5EF4-FFF2-40B4-BE49-F238E27FC236}">
                <a16:creationId xmlns:a16="http://schemas.microsoft.com/office/drawing/2014/main" id="{1AFD95E7-9706-404A-81BC-319AE23E9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" y="2708275"/>
            <a:ext cx="8845550" cy="331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5861959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1026">
            <a:extLst>
              <a:ext uri="{FF2B5EF4-FFF2-40B4-BE49-F238E27FC236}">
                <a16:creationId xmlns:a16="http://schemas.microsoft.com/office/drawing/2014/main" id="{F7DBE5E6-AB13-4083-812A-E817F4EED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762000"/>
            <a:ext cx="807720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4400" b="1"/>
              <a:t>G5  Transcription in Eukaryotes: an Overview</a:t>
            </a:r>
          </a:p>
        </p:txBody>
      </p:sp>
      <p:sp>
        <p:nvSpPr>
          <p:cNvPr id="71683" name="Text Box 1027">
            <a:extLst>
              <a:ext uri="{FF2B5EF4-FFF2-40B4-BE49-F238E27FC236}">
                <a16:creationId xmlns:a16="http://schemas.microsoft.com/office/drawing/2014/main" id="{D8241299-9992-4EDD-A4F3-0884BCB89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81000" y="2971800"/>
            <a:ext cx="9144000" cy="176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4400" b="1" dirty="0"/>
              <a:t>G6  Transcription of Protein-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4400" b="1" dirty="0"/>
              <a:t>             Coding Genes in Eukaryotes</a:t>
            </a:r>
          </a:p>
        </p:txBody>
      </p:sp>
    </p:spTree>
    <p:extLst>
      <p:ext uri="{BB962C8B-B14F-4D97-AF65-F5344CB8AC3E}">
        <p14:creationId xmlns:p14="http://schemas.microsoft.com/office/powerpoint/2010/main" val="427954093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70F9E2DB-64B0-4993-B200-C56C74CE1D41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0" y="476672"/>
            <a:ext cx="9144000" cy="11430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US" altLang="zh-CN" sz="4000" b="1" dirty="0">
                <a:solidFill>
                  <a:srgbClr val="7030A0"/>
                </a:solidFill>
              </a:rPr>
              <a:t>1. Three kinds of RNA polymerases (I, II, and III) have been revealed for making RNAs in the nucleus of eukaryotic cells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A1688E08-C523-4443-A20F-146BCE6B2E9A}"/>
              </a:ext>
            </a:extLst>
          </p:cNvPr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304800" y="2492896"/>
            <a:ext cx="8839200" cy="3352800"/>
          </a:xfrm>
        </p:spPr>
        <p:txBody>
          <a:bodyPr/>
          <a:lstStyle/>
          <a:p>
            <a:pPr eaLnBrk="1" hangingPunct="1"/>
            <a:r>
              <a:rPr lang="en-US" altLang="zh-CN" dirty="0"/>
              <a:t>Each is responsible for the transcription of a certain groups of genes: Ribosomal RNA</a:t>
            </a:r>
            <a:r>
              <a:rPr lang="zh-CN" altLang="en-US" dirty="0"/>
              <a:t>（</a:t>
            </a:r>
            <a:r>
              <a:rPr lang="en-US" altLang="zh-CN" dirty="0"/>
              <a:t>rRNA</a:t>
            </a:r>
            <a:r>
              <a:rPr lang="zh-CN" altLang="en-US" dirty="0"/>
              <a:t>）</a:t>
            </a:r>
            <a:r>
              <a:rPr lang="en-US" altLang="zh-CN" dirty="0"/>
              <a:t>, Messenger RNA </a:t>
            </a:r>
            <a:r>
              <a:rPr lang="zh-CN" altLang="en-US" dirty="0"/>
              <a:t>（</a:t>
            </a:r>
            <a:r>
              <a:rPr lang="en-US" altLang="zh-CN" dirty="0"/>
              <a:t>mRNA</a:t>
            </a:r>
            <a:r>
              <a:rPr lang="zh-CN" altLang="en-US" dirty="0"/>
              <a:t>）</a:t>
            </a:r>
            <a:r>
              <a:rPr lang="en-US" altLang="zh-CN" dirty="0"/>
              <a:t> or Transfer RNA </a:t>
            </a:r>
            <a:r>
              <a:rPr lang="zh-CN" altLang="en-US" dirty="0"/>
              <a:t>（</a:t>
            </a:r>
            <a:r>
              <a:rPr lang="en-US" altLang="zh-CN" dirty="0"/>
              <a:t>tRNA</a:t>
            </a:r>
            <a:r>
              <a:rPr lang="zh-CN" altLang="en-US" dirty="0"/>
              <a:t>）</a:t>
            </a:r>
            <a:r>
              <a:rPr lang="en-US" altLang="zh-CN" dirty="0"/>
              <a:t> genes.</a:t>
            </a:r>
          </a:p>
          <a:p>
            <a:pPr eaLnBrk="1" hangingPunct="1"/>
            <a:r>
              <a:rPr lang="en-US" altLang="zh-CN" dirty="0"/>
              <a:t>The enzymes are often identified by examining their sensitivity towards </a:t>
            </a:r>
            <a:r>
              <a:rPr lang="en-US" altLang="zh-CN" dirty="0">
                <a:sym typeface="Symbol" panose="05050102010706020507" pitchFamily="18" charset="2"/>
              </a:rPr>
              <a:t></a:t>
            </a:r>
            <a:r>
              <a:rPr lang="en-US" altLang="zh-CN" dirty="0"/>
              <a:t>-amanitin </a:t>
            </a:r>
            <a:r>
              <a:rPr lang="zh-CN" altLang="en-US" b="1" dirty="0">
                <a:solidFill>
                  <a:schemeClr val="accent2"/>
                </a:solidFill>
              </a:rPr>
              <a:t>（鹅膏蕈碱）</a:t>
            </a:r>
            <a:r>
              <a:rPr lang="zh-CN" altLang="en-US" dirty="0"/>
              <a:t> </a:t>
            </a:r>
            <a:r>
              <a:rPr lang="en-US" altLang="zh-CN" dirty="0"/>
              <a:t>(from a toxic mushroom). </a:t>
            </a:r>
          </a:p>
        </p:txBody>
      </p:sp>
    </p:spTree>
    <p:extLst>
      <p:ext uri="{BB962C8B-B14F-4D97-AF65-F5344CB8AC3E}">
        <p14:creationId xmlns:p14="http://schemas.microsoft.com/office/powerpoint/2010/main" val="643269136"/>
      </p:ext>
    </p:extLst>
  </p:cSld>
  <p:clrMapOvr>
    <a:masterClrMapping/>
  </p:clrMapOvr>
  <p:transition>
    <p:random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30" name="Group 2">
            <a:extLst>
              <a:ext uri="{FF2B5EF4-FFF2-40B4-BE49-F238E27FC236}">
                <a16:creationId xmlns:a16="http://schemas.microsoft.com/office/drawing/2014/main" id="{9B20DD67-5CFD-4D5F-A74D-4537289AC986}"/>
              </a:ext>
            </a:extLst>
          </p:cNvPr>
          <p:cNvGrpSpPr>
            <a:grpSpLocks/>
          </p:cNvGrpSpPr>
          <p:nvPr/>
        </p:nvGrpSpPr>
        <p:grpSpPr bwMode="auto">
          <a:xfrm>
            <a:off x="3816350" y="2851150"/>
            <a:ext cx="4859338" cy="3692525"/>
            <a:chOff x="0" y="0"/>
            <a:chExt cx="4082" cy="3559"/>
          </a:xfrm>
        </p:grpSpPr>
        <p:pic>
          <p:nvPicPr>
            <p:cNvPr id="73738" name="Picture 3" descr="a">
              <a:extLst>
                <a:ext uri="{FF2B5EF4-FFF2-40B4-BE49-F238E27FC236}">
                  <a16:creationId xmlns:a16="http://schemas.microsoft.com/office/drawing/2014/main" id="{AEFA7368-4A2D-40D3-A65B-49209A0416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665" r="50938" b="6937"/>
            <a:stretch>
              <a:fillRect/>
            </a:stretch>
          </p:blipFill>
          <p:spPr bwMode="auto">
            <a:xfrm>
              <a:off x="0" y="0"/>
              <a:ext cx="4082" cy="3146"/>
            </a:xfrm>
            <a:prstGeom prst="rect">
              <a:avLst/>
            </a:prstGeom>
            <a:noFill/>
            <a:ln w="31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3739" name="Text Box 4">
              <a:extLst>
                <a:ext uri="{FF2B5EF4-FFF2-40B4-BE49-F238E27FC236}">
                  <a16:creationId xmlns:a16="http://schemas.microsoft.com/office/drawing/2014/main" id="{16A68E7C-7DC2-4295-B74D-D08377AE8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3265"/>
              <a:ext cx="3841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400" b="1">
                  <a:cs typeface="Times New Roman" panose="02020603050405020304" pitchFamily="18" charset="0"/>
                </a:rPr>
                <a:t>α-</a:t>
              </a:r>
              <a:r>
                <a:rPr lang="zh-CN" altLang="en-US" sz="1400" b="1">
                  <a:cs typeface="Times New Roman" panose="02020603050405020304" pitchFamily="18" charset="0"/>
                </a:rPr>
                <a:t>鹅膏蕈素对真核生物</a:t>
              </a:r>
              <a:r>
                <a:rPr lang="en-US" altLang="zh-CN" sz="1400" b="1">
                  <a:cs typeface="Times New Roman" panose="02020603050405020304" pitchFamily="18" charset="0"/>
                </a:rPr>
                <a:t>RNA</a:t>
              </a:r>
              <a:r>
                <a:rPr lang="zh-CN" altLang="en-US" sz="1400" b="1">
                  <a:cs typeface="Times New Roman" panose="02020603050405020304" pitchFamily="18" charset="0"/>
                </a:rPr>
                <a:t>聚合酶</a:t>
              </a:r>
              <a:r>
                <a:rPr lang="en-US" altLang="zh-CN" sz="1400" b="1">
                  <a:cs typeface="Times New Roman" panose="02020603050405020304" pitchFamily="18" charset="0"/>
                </a:rPr>
                <a:t>Ⅰ,Ⅱ</a:t>
              </a:r>
              <a:r>
                <a:rPr lang="en-US" altLang="zh-CN" sz="1400" b="1"/>
                <a:t>,</a:t>
              </a:r>
              <a:r>
                <a:rPr lang="en-US" altLang="zh-CN" sz="1400" b="1">
                  <a:cs typeface="Times New Roman" panose="02020603050405020304" pitchFamily="18" charset="0"/>
                </a:rPr>
                <a:t>Ⅲ</a:t>
              </a:r>
              <a:r>
                <a:rPr lang="zh-CN" altLang="en-US" sz="1400" b="1"/>
                <a:t>的影响</a:t>
              </a:r>
            </a:p>
          </p:txBody>
        </p:sp>
      </p:grpSp>
      <p:grpSp>
        <p:nvGrpSpPr>
          <p:cNvPr id="3" name="Group 5">
            <a:extLst>
              <a:ext uri="{FF2B5EF4-FFF2-40B4-BE49-F238E27FC236}">
                <a16:creationId xmlns:a16="http://schemas.microsoft.com/office/drawing/2014/main" id="{83121E1E-C679-49FA-A142-4EB9B1AB15B6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188913"/>
            <a:ext cx="6942137" cy="2678112"/>
            <a:chOff x="368" y="346"/>
            <a:chExt cx="4373" cy="1687"/>
          </a:xfrm>
        </p:grpSpPr>
        <p:graphicFrame>
          <p:nvGraphicFramePr>
            <p:cNvPr id="73734" name="Object 6">
              <a:extLst>
                <a:ext uri="{FF2B5EF4-FFF2-40B4-BE49-F238E27FC236}">
                  <a16:creationId xmlns:a16="http://schemas.microsoft.com/office/drawing/2014/main" id="{C6FE2F00-C4D7-47BC-999C-F42C4ADFDF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8" y="346"/>
            <a:ext cx="2149" cy="1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3" imgW="6838095" imgH="4629796" progId="PBrush">
                    <p:embed/>
                  </p:oleObj>
                </mc:Choice>
                <mc:Fallback>
                  <p:oleObj name="位图图像" r:id="rId3" imgW="6838095" imgH="4629796" progId="PBrush">
                    <p:embed/>
                    <p:pic>
                      <p:nvPicPr>
                        <p:cNvPr id="0" name="Picture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" y="346"/>
                          <a:ext cx="2149" cy="14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735" name="Rectangle 7">
              <a:extLst>
                <a:ext uri="{FF2B5EF4-FFF2-40B4-BE49-F238E27FC236}">
                  <a16:creationId xmlns:a16="http://schemas.microsoft.com/office/drawing/2014/main" id="{E67402B1-B959-4B75-A19C-7ECA9E542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1752"/>
              <a:ext cx="180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1"/>
                <a:t>Amanita Phalloides</a:t>
              </a:r>
            </a:p>
          </p:txBody>
        </p:sp>
        <p:sp>
          <p:nvSpPr>
            <p:cNvPr id="73736" name="Rectangle 8">
              <a:extLst>
                <a:ext uri="{FF2B5EF4-FFF2-40B4-BE49-F238E27FC236}">
                  <a16:creationId xmlns:a16="http://schemas.microsoft.com/office/drawing/2014/main" id="{C3045B93-6561-41E4-BD59-BCE5B0007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1706"/>
              <a:ext cx="194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1"/>
                <a:t>Amanita bisporigera</a:t>
              </a:r>
              <a:r>
                <a:rPr lang="en-US" altLang="zh-CN" sz="1800"/>
                <a:t> </a:t>
              </a:r>
            </a:p>
          </p:txBody>
        </p:sp>
        <p:pic>
          <p:nvPicPr>
            <p:cNvPr id="73737" name="Picture 9" descr="amanita_bisporigera">
              <a:extLst>
                <a:ext uri="{FF2B5EF4-FFF2-40B4-BE49-F238E27FC236}">
                  <a16:creationId xmlns:a16="http://schemas.microsoft.com/office/drawing/2014/main" id="{E36629ED-3E51-4F67-9926-8CF12DA068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7" y="346"/>
              <a:ext cx="2224" cy="14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3732" name="TextBox 9">
            <a:extLst>
              <a:ext uri="{FF2B5EF4-FFF2-40B4-BE49-F238E27FC236}">
                <a16:creationId xmlns:a16="http://schemas.microsoft.com/office/drawing/2014/main" id="{33EF2BA0-BFFB-45B9-8DB2-819BCA5E0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3286125"/>
            <a:ext cx="306705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cs typeface="Times New Roman" panose="02020603050405020304" pitchFamily="18" charset="0"/>
              </a:rPr>
              <a:t>真核生物</a:t>
            </a:r>
            <a:r>
              <a:rPr lang="en-US" altLang="zh-CN" sz="2400" b="1" dirty="0">
                <a:cs typeface="Times New Roman" panose="02020603050405020304" pitchFamily="18" charset="0"/>
              </a:rPr>
              <a:t>RNA</a:t>
            </a:r>
            <a:r>
              <a:rPr lang="zh-CN" altLang="en-US" sz="2400" b="1" dirty="0">
                <a:cs typeface="Times New Roman" panose="02020603050405020304" pitchFamily="18" charset="0"/>
              </a:rPr>
              <a:t>聚合酶</a:t>
            </a:r>
            <a:r>
              <a:rPr lang="en-US" altLang="zh-CN" sz="2400" b="1" dirty="0" err="1">
                <a:cs typeface="Times New Roman" panose="02020603050405020304" pitchFamily="18" charset="0"/>
              </a:rPr>
              <a:t>Ⅰ,Ⅱ</a:t>
            </a:r>
            <a:r>
              <a:rPr lang="en-US" altLang="zh-CN" sz="2400" b="1" dirty="0" err="1"/>
              <a:t>,</a:t>
            </a:r>
            <a:r>
              <a:rPr lang="en-US" altLang="zh-CN" sz="2400" b="1" dirty="0" err="1">
                <a:cs typeface="Times New Roman" panose="02020603050405020304" pitchFamily="18" charset="0"/>
              </a:rPr>
              <a:t>Ⅲ</a:t>
            </a:r>
            <a:r>
              <a:rPr lang="zh-CN" altLang="en-US" sz="2400" b="1" dirty="0">
                <a:cs typeface="Times New Roman" panose="02020603050405020304" pitchFamily="18" charset="0"/>
              </a:rPr>
              <a:t>对</a:t>
            </a:r>
            <a:r>
              <a:rPr lang="en-US" altLang="zh-CN" sz="2400" b="1" dirty="0">
                <a:cs typeface="Times New Roman" panose="02020603050405020304" pitchFamily="18" charset="0"/>
              </a:rPr>
              <a:t>α-</a:t>
            </a:r>
            <a:r>
              <a:rPr lang="zh-CN" altLang="en-US" sz="2400" b="1" dirty="0">
                <a:cs typeface="Times New Roman" panose="02020603050405020304" pitchFamily="18" charset="0"/>
              </a:rPr>
              <a:t>鹅膏蕈素</a:t>
            </a:r>
            <a:r>
              <a:rPr lang="zh-CN" altLang="en-US" sz="2400" b="1" dirty="0"/>
              <a:t>的敏感程度不同。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8CD7366-301B-443B-B746-8DE8357E68A8}"/>
              </a:ext>
            </a:extLst>
          </p:cNvPr>
          <p:cNvSpPr txBox="1"/>
          <p:nvPr/>
        </p:nvSpPr>
        <p:spPr>
          <a:xfrm>
            <a:off x="7615164" y="3045410"/>
            <a:ext cx="13675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insensitive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70122A3-80EB-4BC8-B4D9-1071917DC76C}"/>
              </a:ext>
            </a:extLst>
          </p:cNvPr>
          <p:cNvSpPr txBox="1"/>
          <p:nvPr/>
        </p:nvSpPr>
        <p:spPr>
          <a:xfrm>
            <a:off x="4586629" y="3805263"/>
            <a:ext cx="13675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strongly</a:t>
            </a:r>
          </a:p>
          <a:p>
            <a:r>
              <a:rPr lang="en-US" altLang="zh-CN" sz="1600" dirty="0">
                <a:solidFill>
                  <a:srgbClr val="FF0000"/>
                </a:solidFill>
              </a:rPr>
              <a:t>sensitive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33ACE3F-69FD-4F57-AA3D-033E0A38C405}"/>
              </a:ext>
            </a:extLst>
          </p:cNvPr>
          <p:cNvSpPr txBox="1"/>
          <p:nvPr/>
        </p:nvSpPr>
        <p:spPr>
          <a:xfrm>
            <a:off x="7524328" y="3898390"/>
            <a:ext cx="18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rgbClr val="FF0000"/>
                </a:solidFill>
              </a:defRPr>
            </a:lvl1pPr>
          </a:lstStyle>
          <a:p>
            <a:r>
              <a:rPr lang="en-US" altLang="zh-CN" dirty="0"/>
              <a:t>Inhibited by high concentration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588134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1026">
            <a:extLst>
              <a:ext uri="{FF2B5EF4-FFF2-40B4-BE49-F238E27FC236}">
                <a16:creationId xmlns:a16="http://schemas.microsoft.com/office/drawing/2014/main" id="{7544C823-89A9-4FD4-8EA9-1AEF99D33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t="9999" r="9999" b="9956"/>
          <a:stretch>
            <a:fillRect/>
          </a:stretch>
        </p:blipFill>
        <p:spPr bwMode="auto">
          <a:xfrm>
            <a:off x="791902" y="404664"/>
            <a:ext cx="7560195" cy="5673153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25389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2">
            <a:extLst>
              <a:ext uri="{FF2B5EF4-FFF2-40B4-BE49-F238E27FC236}">
                <a16:creationId xmlns:a16="http://schemas.microsoft.com/office/drawing/2014/main" id="{447370AC-8E56-435D-B217-1B6B820FE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95400"/>
            <a:ext cx="8534400" cy="252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</a:rPr>
              <a:t>Each of the three RNA polymerases contains 12 or more subunits, some of which are similar to those of </a:t>
            </a:r>
            <a:r>
              <a:rPr kumimoji="1" lang="en-US" altLang="zh-CN" b="1" i="1">
                <a:latin typeface="Times New Roman" panose="02020603050405020304" pitchFamily="18" charset="0"/>
              </a:rPr>
              <a:t>E. coli</a:t>
            </a:r>
            <a:r>
              <a:rPr kumimoji="1" lang="en-US" altLang="zh-CN" b="1">
                <a:latin typeface="Times New Roman" panose="02020603050405020304" pitchFamily="18" charset="0"/>
              </a:rPr>
              <a:t> RNA polymerase. However, four to seven subunits in each enzyme are unique to that enzyme.</a:t>
            </a:r>
          </a:p>
        </p:txBody>
      </p:sp>
    </p:spTree>
    <p:extLst>
      <p:ext uri="{BB962C8B-B14F-4D97-AF65-F5344CB8AC3E}">
        <p14:creationId xmlns:p14="http://schemas.microsoft.com/office/powerpoint/2010/main" val="178957164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460EF7A-B788-4319-8038-4F25E5C336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lum bright="-7000" contrast="25000"/>
          </a:blip>
          <a:stretch>
            <a:fillRect/>
          </a:stretch>
        </p:blipFill>
        <p:spPr>
          <a:xfrm>
            <a:off x="1187624" y="980728"/>
            <a:ext cx="6493055" cy="497331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4BE2024-0443-4CF0-9DB5-CE76698B845A}"/>
              </a:ext>
            </a:extLst>
          </p:cNvPr>
          <p:cNvSpPr txBox="1"/>
          <p:nvPr/>
        </p:nvSpPr>
        <p:spPr>
          <a:xfrm>
            <a:off x="2195736" y="332656"/>
            <a:ext cx="5760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Pol IV and pol V in plants</a:t>
            </a:r>
            <a:endParaRPr lang="zh-CN" altLang="en-US" sz="2800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5F2832-9DD8-417D-9379-C14D0BA04B97}"/>
              </a:ext>
            </a:extLst>
          </p:cNvPr>
          <p:cNvSpPr/>
          <p:nvPr/>
        </p:nvSpPr>
        <p:spPr>
          <a:xfrm>
            <a:off x="3923928" y="5954041"/>
            <a:ext cx="31106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 err="1"/>
              <a:t>Marjori</a:t>
            </a:r>
            <a:r>
              <a:rPr lang="en-US" altLang="zh-CN" sz="1200" dirty="0"/>
              <a:t> A. et.al 2015, </a:t>
            </a:r>
            <a:r>
              <a:rPr lang="en-US" altLang="zh-CN" sz="1200" dirty="0" err="1"/>
              <a:t>Annu</a:t>
            </a:r>
            <a:r>
              <a:rPr lang="en-US" altLang="zh-CN" sz="1200" dirty="0"/>
              <a:t>. Rev. Plant Biol.</a:t>
            </a:r>
          </a:p>
          <a:p>
            <a:r>
              <a:rPr lang="en-US" altLang="zh-CN" sz="1200" b="0" i="0" dirty="0">
                <a:solidFill>
                  <a:srgbClr val="212121"/>
                </a:solidFill>
                <a:effectLst/>
                <a:latin typeface="BlinkMacSystemFont"/>
              </a:rPr>
              <a:t>DOI: </a:t>
            </a:r>
            <a:r>
              <a:rPr lang="en-US" altLang="zh-CN" sz="1200" b="0" i="0" u="none" strike="noStrike" dirty="0">
                <a:solidFill>
                  <a:srgbClr val="0071BC"/>
                </a:solidFill>
                <a:effectLst/>
                <a:latin typeface="BlinkMacSystemFont"/>
                <a:hlinkClick r:id="rId4"/>
              </a:rPr>
              <a:t>10.1146/annurev-arplant-043014-114633</a:t>
            </a:r>
            <a:endParaRPr lang="en-US" altLang="zh-CN" sz="1200" b="0" i="0" dirty="0">
              <a:solidFill>
                <a:srgbClr val="212121"/>
              </a:solidFill>
              <a:effectLst/>
              <a:latin typeface="BlinkMacSystemFont"/>
            </a:endParaRPr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3946CB7E-FD52-4474-9824-51C086F72C95}"/>
              </a:ext>
            </a:extLst>
          </p:cNvPr>
          <p:cNvSpPr/>
          <p:nvPr/>
        </p:nvSpPr>
        <p:spPr>
          <a:xfrm rot="1790187">
            <a:off x="2915816" y="980728"/>
            <a:ext cx="144016" cy="288032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下 7">
            <a:extLst>
              <a:ext uri="{FF2B5EF4-FFF2-40B4-BE49-F238E27FC236}">
                <a16:creationId xmlns:a16="http://schemas.microsoft.com/office/drawing/2014/main" id="{07512FAB-6CE7-45C3-9BA0-7E082D2DDCE3}"/>
              </a:ext>
            </a:extLst>
          </p:cNvPr>
          <p:cNvSpPr/>
          <p:nvPr/>
        </p:nvSpPr>
        <p:spPr>
          <a:xfrm rot="12264832">
            <a:off x="3553988" y="5566776"/>
            <a:ext cx="144016" cy="288032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66DFB3-74BE-455A-BB80-1C06D474443A}"/>
              </a:ext>
            </a:extLst>
          </p:cNvPr>
          <p:cNvSpPr txBox="1"/>
          <p:nvPr/>
        </p:nvSpPr>
        <p:spPr>
          <a:xfrm>
            <a:off x="6735116" y="178331"/>
            <a:ext cx="2314157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DNA methylation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Heterochromatin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Euchromatin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1272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6B8979F-0243-4AB8-BEC7-4414F12E45B1}"/>
              </a:ext>
            </a:extLst>
          </p:cNvPr>
          <p:cNvSpPr txBox="1"/>
          <p:nvPr/>
        </p:nvSpPr>
        <p:spPr>
          <a:xfrm>
            <a:off x="2195736" y="548680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Transposon </a:t>
            </a:r>
            <a:r>
              <a:rPr lang="zh-CN" altLang="en-US" b="1" dirty="0"/>
              <a:t>转座子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8E3C774-E728-4164-B942-085356D5AE1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5389" y="980728"/>
            <a:ext cx="6187749" cy="4122588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C182C272-F312-4A9C-A66D-947C59EC6C04}"/>
              </a:ext>
            </a:extLst>
          </p:cNvPr>
          <p:cNvGrpSpPr/>
          <p:nvPr/>
        </p:nvGrpSpPr>
        <p:grpSpPr>
          <a:xfrm>
            <a:off x="4860032" y="1340768"/>
            <a:ext cx="3600400" cy="5023068"/>
            <a:chOff x="4860032" y="1340768"/>
            <a:chExt cx="3600400" cy="5023068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B483DC03-E05A-444A-9F81-CA9F2A1AC9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60032" y="1340768"/>
              <a:ext cx="3600400" cy="4376737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E238262-274A-400B-A87F-537944B2FFE1}"/>
                </a:ext>
              </a:extLst>
            </p:cNvPr>
            <p:cNvSpPr/>
            <p:nvPr/>
          </p:nvSpPr>
          <p:spPr>
            <a:xfrm>
              <a:off x="5724128" y="5717505"/>
              <a:ext cx="203132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麦克林托克</a:t>
              </a:r>
              <a:endParaRPr lang="en-US" altLang="zh-CN" dirty="0"/>
            </a:p>
            <a:p>
              <a:r>
                <a:rPr lang="en-US" altLang="zh-CN" dirty="0"/>
                <a:t>Barbara </a:t>
              </a:r>
              <a:r>
                <a:rPr lang="en-US" altLang="zh-CN" dirty="0" err="1"/>
                <a:t>Mclintock</a:t>
              </a:r>
              <a:endParaRPr lang="zh-CN" altLang="en-US" dirty="0"/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5EAA0017-1EC2-8317-5AD9-303B76526D30}"/>
              </a:ext>
            </a:extLst>
          </p:cNvPr>
          <p:cNvSpPr txBox="1"/>
          <p:nvPr/>
        </p:nvSpPr>
        <p:spPr>
          <a:xfrm>
            <a:off x="-40860" y="5856004"/>
            <a:ext cx="61877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https://www.163.com/dy/article/HBOAVDSM0512TP34.html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15754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0CE9CB83-807A-4EFC-B8B7-3D4F4E8CEFF8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0" y="332656"/>
            <a:ext cx="9144000" cy="11430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US" altLang="zh-CN" sz="3600" b="1" dirty="0">
                <a:solidFill>
                  <a:srgbClr val="7030A0"/>
                </a:solidFill>
              </a:rPr>
              <a:t>2. RNA polymerase II (Pol II) binds to promoters of thousands of protein-coding genes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DF50179B-8842-48DF-9627-0074428E5976}"/>
              </a:ext>
            </a:extLst>
          </p:cNvPr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0" y="2057400"/>
            <a:ext cx="9144000" cy="4114800"/>
          </a:xfrm>
        </p:spPr>
        <p:txBody>
          <a:bodyPr/>
          <a:lstStyle/>
          <a:p>
            <a:pPr eaLnBrk="1" hangingPunct="1"/>
            <a:r>
              <a:rPr lang="en-US" altLang="zh-CN" sz="2800" b="1" dirty="0"/>
              <a:t>Many Pol II promoters contain a </a:t>
            </a:r>
            <a:r>
              <a:rPr lang="en-US" altLang="zh-CN" sz="2800" b="1" dirty="0">
                <a:solidFill>
                  <a:srgbClr val="FF0000"/>
                </a:solidFill>
              </a:rPr>
              <a:t>TATAAA sequence (called a TATA box) </a:t>
            </a:r>
            <a:r>
              <a:rPr lang="en-US" altLang="zh-CN" sz="2800" b="1" dirty="0"/>
              <a:t>at -25 (-30) position and an </a:t>
            </a:r>
            <a:r>
              <a:rPr lang="en-US" altLang="zh-CN" sz="2800" b="1" dirty="0">
                <a:solidFill>
                  <a:srgbClr val="FF0000"/>
                </a:solidFill>
              </a:rPr>
              <a:t>initiator sequence (</a:t>
            </a:r>
            <a:r>
              <a:rPr lang="en-US" altLang="zh-CN" sz="2800" b="1" dirty="0" err="1">
                <a:solidFill>
                  <a:srgbClr val="FF0000"/>
                </a:solidFill>
              </a:rPr>
              <a:t>Inr</a:t>
            </a:r>
            <a:r>
              <a:rPr lang="en-US" altLang="zh-CN" sz="2800" b="1" dirty="0">
                <a:solidFill>
                  <a:srgbClr val="FF0000"/>
                </a:solidFill>
              </a:rPr>
              <a:t>) </a:t>
            </a:r>
            <a:r>
              <a:rPr lang="en-US" altLang="zh-CN" sz="2800" b="1" dirty="0"/>
              <a:t>at +1 position.</a:t>
            </a:r>
          </a:p>
          <a:p>
            <a:pPr eaLnBrk="1" hangingPunct="1"/>
            <a:r>
              <a:rPr lang="en-US" altLang="zh-CN" sz="2800" b="1" dirty="0"/>
              <a:t>The preinitiation complex (including Pol II) is believed to assemble at the TATA box, with DNA unwound at the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/>
              <a:t>    </a:t>
            </a:r>
            <a:r>
              <a:rPr lang="en-US" altLang="zh-CN" sz="2800" b="1" dirty="0" err="1"/>
              <a:t>Inr</a:t>
            </a:r>
            <a:r>
              <a:rPr lang="en-US" altLang="zh-CN" sz="2800" b="1" dirty="0"/>
              <a:t> sequence.</a:t>
            </a:r>
          </a:p>
          <a:p>
            <a:pPr eaLnBrk="1" hangingPunct="1"/>
            <a:r>
              <a:rPr lang="en-US" altLang="zh-CN" sz="2800" b="1" dirty="0"/>
              <a:t>However, many Pol II promoters lack a TATA or </a:t>
            </a:r>
            <a:r>
              <a:rPr lang="en-US" altLang="zh-CN" sz="2800" b="1" dirty="0" err="1"/>
              <a:t>Inr</a:t>
            </a:r>
            <a:r>
              <a:rPr lang="en-US" altLang="zh-CN" sz="2800" b="1" dirty="0"/>
              <a:t> or both sequences!</a:t>
            </a:r>
          </a:p>
        </p:txBody>
      </p:sp>
    </p:spTree>
    <p:extLst>
      <p:ext uri="{BB962C8B-B14F-4D97-AF65-F5344CB8AC3E}">
        <p14:creationId xmlns:p14="http://schemas.microsoft.com/office/powerpoint/2010/main" val="4072047971"/>
      </p:ext>
    </p:extLst>
  </p:cSld>
  <p:clrMapOvr>
    <a:masterClrMapping/>
  </p:clrMapOvr>
  <p:transition>
    <p:random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8">
            <a:extLst>
              <a:ext uri="{FF2B5EF4-FFF2-40B4-BE49-F238E27FC236}">
                <a16:creationId xmlns:a16="http://schemas.microsoft.com/office/drawing/2014/main" id="{826F0C5A-5DC7-4E5C-814B-40F3FCEB7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0" t="9000" r="9000" b="9000"/>
          <a:stretch>
            <a:fillRect/>
          </a:stretch>
        </p:blipFill>
        <p:spPr bwMode="auto">
          <a:xfrm>
            <a:off x="457200" y="304800"/>
            <a:ext cx="8305800" cy="622935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8202EA2-5381-41B1-8C08-DFD292271107}"/>
              </a:ext>
            </a:extLst>
          </p:cNvPr>
          <p:cNvSpPr/>
          <p:nvPr/>
        </p:nvSpPr>
        <p:spPr>
          <a:xfrm>
            <a:off x="7236296" y="4797152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/>
              <a:t>Inr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5528462"/>
      </p:ext>
    </p:extLst>
  </p:cSld>
  <p:clrMapOvr>
    <a:masterClrMapping/>
  </p:clrMapOvr>
  <p:transition>
    <p:random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3">
            <a:extLst>
              <a:ext uri="{FF2B5EF4-FFF2-40B4-BE49-F238E27FC236}">
                <a16:creationId xmlns:a16="http://schemas.microsoft.com/office/drawing/2014/main" id="{615F8546-DF92-4C0B-9CC5-0405EF047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16632"/>
            <a:ext cx="87058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 dirty="0">
                <a:latin typeface="Times New Roman" panose="02020603050405020304" pitchFamily="18" charset="0"/>
              </a:rPr>
              <a:t>General features of promoters for protein-coding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 dirty="0">
                <a:latin typeface="Times New Roman" panose="02020603050405020304" pitchFamily="18" charset="0"/>
              </a:rPr>
              <a:t>genes in higher eukaryotes</a:t>
            </a:r>
          </a:p>
        </p:txBody>
      </p:sp>
      <p:pic>
        <p:nvPicPr>
          <p:cNvPr id="114690" name="Picture 2"/>
          <p:cNvPicPr>
            <a:picLocks noChangeAspect="1" noChangeArrowheads="1"/>
          </p:cNvPicPr>
          <p:nvPr/>
        </p:nvPicPr>
        <p:blipFill>
          <a:blip r:embed="rId2" cstate="print"/>
          <a:srcRect l="37966" t="23750" r="48325" b="56467"/>
          <a:stretch>
            <a:fillRect/>
          </a:stretch>
        </p:blipFill>
        <p:spPr bwMode="auto">
          <a:xfrm>
            <a:off x="5436096" y="3528119"/>
            <a:ext cx="2627784" cy="2133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14466" t="23750" r="77776" b="56467"/>
          <a:stretch>
            <a:fillRect/>
          </a:stretch>
        </p:blipFill>
        <p:spPr bwMode="auto">
          <a:xfrm>
            <a:off x="3923928" y="3528119"/>
            <a:ext cx="1487021" cy="2133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469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5" y="1196752"/>
            <a:ext cx="8568953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D30FD10-5ACB-8AAE-43C0-D06511126F0F}"/>
              </a:ext>
            </a:extLst>
          </p:cNvPr>
          <p:cNvSpPr txBox="1"/>
          <p:nvPr/>
        </p:nvSpPr>
        <p:spPr>
          <a:xfrm>
            <a:off x="4211960" y="5677854"/>
            <a:ext cx="3416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                                   A/G/C/T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392620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Picture 2">
            <a:extLst>
              <a:ext uri="{FF2B5EF4-FFF2-40B4-BE49-F238E27FC236}">
                <a16:creationId xmlns:a16="http://schemas.microsoft.com/office/drawing/2014/main" id="{96C4D6D1-70FF-49FC-9B51-2CD43936A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t="10001" r="10001" b="10001"/>
          <a:stretch>
            <a:fillRect/>
          </a:stretch>
        </p:blipFill>
        <p:spPr bwMode="auto">
          <a:xfrm>
            <a:off x="609600" y="304800"/>
            <a:ext cx="7924800" cy="59436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B6214B3-B695-41D1-80F0-054F4984B285}"/>
              </a:ext>
            </a:extLst>
          </p:cNvPr>
          <p:cNvSpPr/>
          <p:nvPr/>
        </p:nvSpPr>
        <p:spPr>
          <a:xfrm>
            <a:off x="6516216" y="4869160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/>
              <a:t>Inr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487602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E9F59232-6580-4864-98B3-2194E7CFC1EC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2840" y="332656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CN" sz="3600" b="1" dirty="0">
                <a:solidFill>
                  <a:srgbClr val="7030A0"/>
                </a:solidFill>
              </a:rPr>
              <a:t>3. Pol II is helped by an arrays of protein factors (called general transcription factors(TF)) to form an active transcription complex at a promoter</a:t>
            </a:r>
            <a:r>
              <a:rPr lang="en-US" altLang="zh-CN" sz="3600" dirty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8911BFA4-DE6B-4430-82D9-37885675A95D}"/>
              </a:ext>
            </a:extLst>
          </p:cNvPr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0" y="2971800"/>
            <a:ext cx="9144000" cy="3581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b="1" dirty="0"/>
              <a:t>Firstly, the TATA-binding protein (TBP) binds to the TATA box, then TFIIB, TFIIF-Pol II, TFIIE, and TFIIH (</a:t>
            </a:r>
            <a:r>
              <a:rPr lang="en-US" altLang="zh-CN" sz="2800" b="1" dirty="0">
                <a:solidFill>
                  <a:srgbClr val="FF0000"/>
                </a:solidFill>
              </a:rPr>
              <a:t>TFII, Transcription Factor for RNA polymerase II</a:t>
            </a:r>
            <a:r>
              <a:rPr lang="en-US" altLang="zh-CN" sz="2800" b="1" dirty="0"/>
              <a:t>) will be added in order forming the closed complex at the promoter.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b="1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rgbClr val="FF0000"/>
                </a:solidFill>
              </a:rPr>
              <a:t>TFIIH </a:t>
            </a:r>
            <a:r>
              <a:rPr lang="en-US" altLang="zh-CN" sz="2800" b="1" dirty="0"/>
              <a:t>then acts as a </a:t>
            </a:r>
            <a:r>
              <a:rPr lang="en-US" altLang="zh-CN" sz="2800" b="1" dirty="0">
                <a:solidFill>
                  <a:srgbClr val="FF0000"/>
                </a:solidFill>
              </a:rPr>
              <a:t>helicase</a:t>
            </a:r>
            <a:r>
              <a:rPr lang="en-US" altLang="zh-CN" sz="2800" b="1" dirty="0"/>
              <a:t> to unwind the DNA duplex at the </a:t>
            </a:r>
            <a:r>
              <a:rPr lang="en-US" altLang="zh-CN" sz="2800" b="1" dirty="0" err="1"/>
              <a:t>Inr</a:t>
            </a:r>
            <a:r>
              <a:rPr lang="en-US" altLang="zh-CN" sz="2800" b="1" dirty="0"/>
              <a:t> site, forming the open complex.</a:t>
            </a:r>
          </a:p>
        </p:txBody>
      </p:sp>
    </p:spTree>
    <p:extLst>
      <p:ext uri="{BB962C8B-B14F-4D97-AF65-F5344CB8AC3E}">
        <p14:creationId xmlns:p14="http://schemas.microsoft.com/office/powerpoint/2010/main" val="370512033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Picture 2" descr="f26-9a">
            <a:extLst>
              <a:ext uri="{FF2B5EF4-FFF2-40B4-BE49-F238E27FC236}">
                <a16:creationId xmlns:a16="http://schemas.microsoft.com/office/drawing/2014/main" id="{52CE5F3E-5DCF-472B-88AD-DFE1BEF48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lum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5476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019" name="Picture 3" descr="f26-9b">
            <a:extLst>
              <a:ext uri="{FF2B5EF4-FFF2-40B4-BE49-F238E27FC236}">
                <a16:creationId xmlns:a16="http://schemas.microsoft.com/office/drawing/2014/main" id="{13581345-2556-46E6-B993-6A69C0A21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lum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0"/>
            <a:ext cx="3733800" cy="274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0" name="Rectangle 4">
            <a:extLst>
              <a:ext uri="{FF2B5EF4-FFF2-40B4-BE49-F238E27FC236}">
                <a16:creationId xmlns:a16="http://schemas.microsoft.com/office/drawing/2014/main" id="{42428F95-0FE1-4408-8EA4-0DE1FACA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25" y="1928813"/>
            <a:ext cx="9286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</a:rPr>
              <a:t>TBP</a:t>
            </a:r>
          </a:p>
        </p:txBody>
      </p:sp>
      <p:sp>
        <p:nvSpPr>
          <p:cNvPr id="86021" name="Rectangle 5">
            <a:extLst>
              <a:ext uri="{FF2B5EF4-FFF2-40B4-BE49-F238E27FC236}">
                <a16:creationId xmlns:a16="http://schemas.microsoft.com/office/drawing/2014/main" id="{B435D039-9767-4E42-802A-DF671EFAF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549275"/>
            <a:ext cx="1065213" cy="579438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>
                <a:solidFill>
                  <a:schemeClr val="accent2"/>
                </a:solidFill>
                <a:latin typeface="Times New Roman" panose="02020603050405020304" pitchFamily="18" charset="0"/>
              </a:rPr>
              <a:t>DNA</a:t>
            </a:r>
          </a:p>
        </p:txBody>
      </p:sp>
      <p:sp>
        <p:nvSpPr>
          <p:cNvPr id="86022" name="Rectangle 6">
            <a:extLst>
              <a:ext uri="{FF2B5EF4-FFF2-40B4-BE49-F238E27FC236}">
                <a16:creationId xmlns:a16="http://schemas.microsoft.com/office/drawing/2014/main" id="{AB4254C7-E9ED-474F-9BAA-A6E939E02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743200"/>
            <a:ext cx="2819400" cy="411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86023" name="Rectangle 7">
            <a:extLst>
              <a:ext uri="{FF2B5EF4-FFF2-40B4-BE49-F238E27FC236}">
                <a16:creationId xmlns:a16="http://schemas.microsoft.com/office/drawing/2014/main" id="{639C70B2-64AF-4060-8F6D-B8D2378EC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720975"/>
            <a:ext cx="2809875" cy="374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4000" b="1">
                <a:solidFill>
                  <a:srgbClr val="800000"/>
                </a:solidFill>
                <a:latin typeface="Times New Roman" panose="02020603050405020304" pitchFamily="18" charset="0"/>
              </a:rPr>
              <a:t>A proposed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4000" b="1">
                <a:solidFill>
                  <a:srgbClr val="800000"/>
                </a:solidFill>
                <a:latin typeface="Times New Roman" panose="02020603050405020304" pitchFamily="18" charset="0"/>
              </a:rPr>
              <a:t>model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4000" b="1">
                <a:solidFill>
                  <a:srgbClr val="800000"/>
                </a:solidFill>
                <a:latin typeface="Times New Roman" panose="02020603050405020304" pitchFamily="18" charset="0"/>
              </a:rPr>
              <a:t>for Pol II-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4000" b="1">
                <a:solidFill>
                  <a:srgbClr val="800000"/>
                </a:solidFill>
                <a:latin typeface="Times New Roman" panose="02020603050405020304" pitchFamily="18" charset="0"/>
              </a:rPr>
              <a:t>catalyzed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4000" b="1">
                <a:solidFill>
                  <a:srgbClr val="800000"/>
                </a:solidFill>
                <a:latin typeface="Times New Roman" panose="02020603050405020304" pitchFamily="18" charset="0"/>
              </a:rPr>
              <a:t>mRNA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4000" b="1">
                <a:solidFill>
                  <a:srgbClr val="800000"/>
                </a:solidFill>
                <a:latin typeface="Times New Roman" panose="02020603050405020304" pitchFamily="18" charset="0"/>
              </a:rPr>
              <a:t>synthesis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4C3A27D-3C98-483C-88F4-6D762A95889B}"/>
              </a:ext>
            </a:extLst>
          </p:cNvPr>
          <p:cNvSpPr txBox="1"/>
          <p:nvPr/>
        </p:nvSpPr>
        <p:spPr>
          <a:xfrm>
            <a:off x="3379161" y="407719"/>
            <a:ext cx="2483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TFIID for promoter less TATA-Box</a:t>
            </a:r>
            <a:endParaRPr lang="zh-CN" altLang="en-US" sz="12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F656EDB-04E8-4F97-AFD5-852148C3F261}"/>
              </a:ext>
            </a:extLst>
          </p:cNvPr>
          <p:cNvCxnSpPr/>
          <p:nvPr/>
        </p:nvCxnSpPr>
        <p:spPr>
          <a:xfrm>
            <a:off x="5185008" y="5443344"/>
            <a:ext cx="57606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018D9D6-A278-40C3-B3F9-C846638ACBF9}"/>
              </a:ext>
            </a:extLst>
          </p:cNvPr>
          <p:cNvCxnSpPr/>
          <p:nvPr/>
        </p:nvCxnSpPr>
        <p:spPr>
          <a:xfrm>
            <a:off x="5004048" y="5733256"/>
            <a:ext cx="57606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C30353E-F865-4533-87AB-9A53AA17B1AB}"/>
              </a:ext>
            </a:extLst>
          </p:cNvPr>
          <p:cNvCxnSpPr>
            <a:cxnSpLocks/>
          </p:cNvCxnSpPr>
          <p:nvPr/>
        </p:nvCxnSpPr>
        <p:spPr>
          <a:xfrm>
            <a:off x="1835696" y="692696"/>
            <a:ext cx="151216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461D959-5203-4021-B17F-B020869C0584}"/>
              </a:ext>
            </a:extLst>
          </p:cNvPr>
          <p:cNvCxnSpPr>
            <a:cxnSpLocks/>
          </p:cNvCxnSpPr>
          <p:nvPr/>
        </p:nvCxnSpPr>
        <p:spPr>
          <a:xfrm>
            <a:off x="1835696" y="980728"/>
            <a:ext cx="50405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A2D0FFC-8B15-4D3B-B11C-91ADFFA43865}"/>
              </a:ext>
            </a:extLst>
          </p:cNvPr>
          <p:cNvCxnSpPr>
            <a:cxnSpLocks/>
          </p:cNvCxnSpPr>
          <p:nvPr/>
        </p:nvCxnSpPr>
        <p:spPr>
          <a:xfrm>
            <a:off x="1835696" y="1340768"/>
            <a:ext cx="151216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2028E9A-6D94-41A6-A12B-8BE34CEBFE9C}"/>
              </a:ext>
            </a:extLst>
          </p:cNvPr>
          <p:cNvCxnSpPr>
            <a:cxnSpLocks/>
          </p:cNvCxnSpPr>
          <p:nvPr/>
        </p:nvCxnSpPr>
        <p:spPr>
          <a:xfrm>
            <a:off x="1835696" y="1628800"/>
            <a:ext cx="50405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802362A-9A2E-486D-8640-6331DD9AE615}"/>
              </a:ext>
            </a:extLst>
          </p:cNvPr>
          <p:cNvCxnSpPr>
            <a:cxnSpLocks/>
          </p:cNvCxnSpPr>
          <p:nvPr/>
        </p:nvCxnSpPr>
        <p:spPr>
          <a:xfrm>
            <a:off x="1835696" y="1988840"/>
            <a:ext cx="50405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42171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79305017-16DE-433B-AF78-DE7D40FC6398}"/>
              </a:ext>
            </a:extLst>
          </p:cNvPr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0" y="549275"/>
            <a:ext cx="9144000" cy="583565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</a:rPr>
              <a:t>A </a:t>
            </a:r>
            <a:r>
              <a:rPr lang="en-US" altLang="zh-CN" sz="2800" b="1" dirty="0" err="1">
                <a:solidFill>
                  <a:srgbClr val="FF0000"/>
                </a:solidFill>
              </a:rPr>
              <a:t>kinase</a:t>
            </a:r>
            <a:r>
              <a:rPr lang="en-US" altLang="zh-CN" sz="2800" b="1" dirty="0">
                <a:solidFill>
                  <a:srgbClr val="FF0000"/>
                </a:solidFill>
              </a:rPr>
              <a:t> activity of TFIIH will </a:t>
            </a:r>
            <a:r>
              <a:rPr lang="en-US" altLang="zh-CN" sz="2800" b="1" dirty="0" err="1">
                <a:solidFill>
                  <a:srgbClr val="FF0000"/>
                </a:solidFill>
              </a:rPr>
              <a:t>phosphoryate</a:t>
            </a:r>
            <a:r>
              <a:rPr lang="en-US" altLang="zh-CN" sz="2800" b="1" dirty="0">
                <a:solidFill>
                  <a:srgbClr val="FF0000"/>
                </a:solidFill>
              </a:rPr>
              <a:t> the C-terminal domain of </a:t>
            </a:r>
            <a:r>
              <a:rPr lang="en-US" altLang="zh-CN" sz="2800" b="1" dirty="0" err="1">
                <a:solidFill>
                  <a:srgbClr val="FF0000"/>
                </a:solidFill>
              </a:rPr>
              <a:t>Pol</a:t>
            </a:r>
            <a:r>
              <a:rPr lang="en-US" altLang="zh-CN" sz="2800" b="1" dirty="0">
                <a:solidFill>
                  <a:srgbClr val="FF0000"/>
                </a:solidFill>
              </a:rPr>
              <a:t> II,</a:t>
            </a:r>
            <a:r>
              <a:rPr lang="en-US" altLang="zh-CN" sz="2800" b="1" dirty="0"/>
              <a:t> which will initiate RNA synthesis and  release the elongation complex.</a:t>
            </a:r>
          </a:p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</a:rPr>
              <a:t>TFIIE and TFIIH will be released </a:t>
            </a:r>
            <a:r>
              <a:rPr lang="en-US" altLang="zh-CN" sz="2800" b="1" dirty="0"/>
              <a:t>after the elongation  complex moves forward for a short distance.</a:t>
            </a:r>
          </a:p>
          <a:p>
            <a:pPr eaLnBrk="1" hangingPunct="1"/>
            <a:endParaRPr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24790478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Rectangle 3">
            <a:extLst>
              <a:ext uri="{FF2B5EF4-FFF2-40B4-BE49-F238E27FC236}">
                <a16:creationId xmlns:a16="http://schemas.microsoft.com/office/drawing/2014/main" id="{CF843FEC-27E6-40E8-B41F-48BEDE9D8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512" y="1157287"/>
            <a:ext cx="8588375" cy="4543425"/>
          </a:xfrm>
        </p:spPr>
        <p:txBody>
          <a:bodyPr/>
          <a:lstStyle/>
          <a:p>
            <a:pPr>
              <a:lnSpc>
                <a:spcPct val="110000"/>
              </a:lnSpc>
              <a:buClr>
                <a:srgbClr val="CC0000"/>
              </a:buClr>
              <a:buSzPct val="100000"/>
              <a:defRPr/>
            </a:pP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Transcriptional regulation in a eukaryotic cell is mediated by transcription factors (other than general transcription factors ) which recognize and bind to short regulatory DNA sequences (control elements) associated with the gene. These sequences are also called </a:t>
            </a:r>
            <a:r>
              <a:rPr lang="en-US" altLang="zh-CN" sz="2800" dirty="0" err="1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altLang="zh-CN" sz="28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-acting elements (</a:t>
            </a:r>
            <a:r>
              <a:rPr lang="en-US" altLang="zh-CN" sz="2800" dirty="0" err="1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altLang="zh-CN" sz="28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-elements) (</a:t>
            </a:r>
            <a:r>
              <a:rPr lang="zh-CN" altLang="en-US" sz="28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顺式作用元件）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. And the transcription factors are also known as </a:t>
            </a:r>
            <a:r>
              <a:rPr lang="en-US" altLang="zh-CN" sz="28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trans-acting factors (</a:t>
            </a:r>
            <a:r>
              <a:rPr lang="zh-CN" altLang="en-US" sz="28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反式作用因子）</a:t>
            </a:r>
            <a:r>
              <a:rPr lang="en-US" altLang="zh-CN" sz="28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2800" dirty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1A41CC-1BB8-46CE-9DF3-FEDA38FA1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B47BFF46-BB23-4971-B218-D3E6EFE72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88" y="836613"/>
            <a:ext cx="8540750" cy="3886200"/>
          </a:xfrm>
        </p:spPr>
        <p:txBody>
          <a:bodyPr/>
          <a:lstStyle/>
          <a:p>
            <a:pPr>
              <a:buClr>
                <a:srgbClr val="CC0000"/>
              </a:buClr>
              <a:buSzPct val="100000"/>
              <a:defRPr/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The transcription factors regulate specific gene transcription by interacting with the proteins of the transcription initiation complex and either </a:t>
            </a: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increase or decrease 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the rate of transcription of the target gene.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3EADA634-F89C-4DFA-A690-CCEE0C2798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23850" y="0"/>
            <a:ext cx="8540750" cy="882650"/>
          </a:xfrm>
        </p:spPr>
        <p:txBody>
          <a:bodyPr/>
          <a:lstStyle/>
          <a:p>
            <a:pPr>
              <a:defRPr/>
            </a:pPr>
            <a:r>
              <a:rPr lang="en-US" altLang="zh-CN" sz="3200">
                <a:ln>
                  <a:noFill/>
                </a:ln>
              </a:rPr>
              <a:t>Many regulatory elements in a promoter</a:t>
            </a:r>
          </a:p>
        </p:txBody>
      </p:sp>
      <p:pic>
        <p:nvPicPr>
          <p:cNvPr id="21507" name="Picture 3" descr="Fig">
            <a:extLst>
              <a:ext uri="{FF2B5EF4-FFF2-40B4-BE49-F238E27FC236}">
                <a16:creationId xmlns:a16="http://schemas.microsoft.com/office/drawing/2014/main" id="{DFC296F0-08AF-4D01-8998-7E4527B75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325" y="981075"/>
            <a:ext cx="6911975" cy="465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44" name="Rectangle 4">
            <a:extLst>
              <a:ext uri="{FF2B5EF4-FFF2-40B4-BE49-F238E27FC236}">
                <a16:creationId xmlns:a16="http://schemas.microsoft.com/office/drawing/2014/main" id="{30DDE94C-E652-4A49-9B88-5B5382027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5589588"/>
            <a:ext cx="7653337" cy="8540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顺式作用元件</a:t>
            </a: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kumimoji="1" lang="en-US" altLang="zh-CN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cis</a:t>
            </a: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-action elements)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16-20">
            <a:extLst>
              <a:ext uri="{FF2B5EF4-FFF2-40B4-BE49-F238E27FC236}">
                <a16:creationId xmlns:a16="http://schemas.microsoft.com/office/drawing/2014/main" id="{5C60DD42-F53D-415D-BE21-8682EBEF7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113" y="765175"/>
            <a:ext cx="5538787" cy="559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3672" name="Rectangle 8">
            <a:extLst>
              <a:ext uri="{FF2B5EF4-FFF2-40B4-BE49-F238E27FC236}">
                <a16:creationId xmlns:a16="http://schemas.microsoft.com/office/drawing/2014/main" id="{5AE40F34-FB50-440B-B1CC-AD597B5EA49E}"/>
              </a:ext>
            </a:extLst>
          </p:cNvPr>
          <p:cNvSpPr>
            <a:spLocks/>
          </p:cNvSpPr>
          <p:nvPr/>
        </p:nvSpPr>
        <p:spPr bwMode="auto">
          <a:xfrm>
            <a:off x="250825" y="0"/>
            <a:ext cx="85407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altLang="zh-CN"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Each cis-acting element has a specific sequence composition</a:t>
            </a:r>
          </a:p>
        </p:txBody>
      </p:sp>
    </p:spTree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nri887-f2">
            <a:extLst>
              <a:ext uri="{FF2B5EF4-FFF2-40B4-BE49-F238E27FC236}">
                <a16:creationId xmlns:a16="http://schemas.microsoft.com/office/drawing/2014/main" id="{8E746657-AD37-46C3-A203-3E9E980C6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12"/>
          <a:stretch>
            <a:fillRect/>
          </a:stretch>
        </p:blipFill>
        <p:spPr bwMode="auto">
          <a:xfrm>
            <a:off x="1403350" y="1268413"/>
            <a:ext cx="5688013" cy="518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5" name="Text Box 3">
            <a:extLst>
              <a:ext uri="{FF2B5EF4-FFF2-40B4-BE49-F238E27FC236}">
                <a16:creationId xmlns:a16="http://schemas.microsoft.com/office/drawing/2014/main" id="{D1816A4C-58B6-4496-BE70-F3283FAB0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88913"/>
            <a:ext cx="7920037" cy="955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rPr>
              <a:t>TFs contain a</a:t>
            </a:r>
            <a:r>
              <a:rPr lang="en-US" altLang="zh-C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rPr>
              <a:t> </a:t>
            </a:r>
            <a:r>
              <a:rPr lang="en-US" altLang="zh-CN" sz="2800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rPr>
              <a:t>DNA-binding domain</a:t>
            </a:r>
            <a:r>
              <a:rPr lang="en-US" altLang="zh-C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rPr>
              <a:t> </a:t>
            </a:r>
            <a:r>
              <a:rPr lang="en-US" altLang="zh-CN" sz="2800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rPr>
              <a:t>(BD)</a:t>
            </a:r>
            <a:r>
              <a:rPr lang="en-US" altLang="zh-C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rPr>
              <a:t> </a:t>
            </a:r>
            <a:r>
              <a:rPr lang="en-US" altLang="zh-CN" sz="28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rPr>
              <a:t>and an</a:t>
            </a:r>
            <a:r>
              <a:rPr lang="en-US" altLang="zh-C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rPr>
              <a:t> </a:t>
            </a:r>
            <a:r>
              <a:rPr lang="en-US" altLang="zh-CN" sz="2800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rPr>
              <a:t>activation domain (AD)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9252A1C2-7D3B-4297-A2BC-82157AB39F0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50825" y="260350"/>
            <a:ext cx="8540750" cy="1143000"/>
          </a:xfrm>
        </p:spPr>
        <p:txBody>
          <a:bodyPr/>
          <a:lstStyle/>
          <a:p>
            <a:pPr algn="ctr">
              <a:defRPr/>
            </a:pPr>
            <a:r>
              <a:rPr lang="en-US" altLang="zh-CN">
                <a:ln>
                  <a:noFill/>
                </a:ln>
              </a:rPr>
              <a:t>DNA-binding domains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5690263-27AB-4121-8CB1-1E6EE7DD9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188" y="1341438"/>
            <a:ext cx="7848600" cy="1800225"/>
          </a:xfrm>
        </p:spPr>
        <p:txBody>
          <a:bodyPr/>
          <a:lstStyle/>
          <a:p>
            <a:pPr>
              <a:buClr>
                <a:srgbClr val="CC0000"/>
              </a:buClr>
              <a:buSzPct val="100000"/>
            </a:pPr>
            <a:r>
              <a:rPr lang="en-US" altLang="zh-CN">
                <a:effectLst/>
              </a:rPr>
              <a:t>The BD of most of the TFs can forms a specific structure. </a:t>
            </a:r>
          </a:p>
          <a:p>
            <a:pPr>
              <a:buClr>
                <a:srgbClr val="CC0000"/>
              </a:buClr>
              <a:buSzPct val="100000"/>
            </a:pPr>
            <a:r>
              <a:rPr lang="en-US" altLang="zh-CN">
                <a:solidFill>
                  <a:srgbClr val="FF0066"/>
                </a:solidFill>
                <a:effectLst/>
              </a:rPr>
              <a:t>zinc finger (</a:t>
            </a:r>
            <a:r>
              <a:rPr lang="zh-CN" altLang="en-US">
                <a:solidFill>
                  <a:srgbClr val="FF0066"/>
                </a:solidFill>
                <a:effectLst/>
              </a:rPr>
              <a:t>锌指）</a:t>
            </a:r>
            <a:endParaRPr lang="en-US" altLang="zh-CN">
              <a:solidFill>
                <a:srgbClr val="FF0066"/>
              </a:solidFill>
              <a:effectLst/>
            </a:endParaRPr>
          </a:p>
        </p:txBody>
      </p:sp>
      <p:pic>
        <p:nvPicPr>
          <p:cNvPr id="24580" name="Picture 4" descr="锌指结构">
            <a:extLst>
              <a:ext uri="{FF2B5EF4-FFF2-40B4-BE49-F238E27FC236}">
                <a16:creationId xmlns:a16="http://schemas.microsoft.com/office/drawing/2014/main" id="{4A7E5C34-91ED-4CA3-9E5E-252FF8784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3068638"/>
            <a:ext cx="4248150" cy="3051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A2270D30-935D-45CE-A45A-E0F309B53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250" y="260350"/>
            <a:ext cx="8540750" cy="1800225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rgbClr val="FF0066"/>
                </a:solidFill>
              </a:rPr>
              <a:t>Basic </a:t>
            </a:r>
            <a:r>
              <a:rPr lang="en-US" altLang="zh-CN" dirty="0" err="1">
                <a:solidFill>
                  <a:srgbClr val="FF0066"/>
                </a:solidFill>
              </a:rPr>
              <a:t>leucine</a:t>
            </a:r>
            <a:r>
              <a:rPr lang="en-US" altLang="zh-CN" dirty="0">
                <a:solidFill>
                  <a:srgbClr val="FF0066"/>
                </a:solidFill>
              </a:rPr>
              <a:t> zipper</a:t>
            </a:r>
          </a:p>
        </p:txBody>
      </p:sp>
      <p:pic>
        <p:nvPicPr>
          <p:cNvPr id="25603" name="Picture 3" descr="figure-03-06c">
            <a:extLst>
              <a:ext uri="{FF2B5EF4-FFF2-40B4-BE49-F238E27FC236}">
                <a16:creationId xmlns:a16="http://schemas.microsoft.com/office/drawing/2014/main" id="{F2CD2ADD-2D6D-43AE-AC87-4BD4DE993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84" r="-1967" b="11226"/>
          <a:stretch>
            <a:fillRect/>
          </a:stretch>
        </p:blipFill>
        <p:spPr bwMode="auto">
          <a:xfrm>
            <a:off x="1331913" y="1052513"/>
            <a:ext cx="1465262" cy="324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5">
            <a:extLst>
              <a:ext uri="{FF2B5EF4-FFF2-40B4-BE49-F238E27FC236}">
                <a16:creationId xmlns:a16="http://schemas.microsoft.com/office/drawing/2014/main" id="{58EDEBE4-AC87-4453-ABE9-BD5967DB5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19"/>
          <a:stretch>
            <a:fillRect/>
          </a:stretch>
        </p:blipFill>
        <p:spPr bwMode="auto">
          <a:xfrm>
            <a:off x="179388" y="4221163"/>
            <a:ext cx="4303712" cy="249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88" name="Rectangle 4">
            <a:extLst>
              <a:ext uri="{FF2B5EF4-FFF2-40B4-BE49-F238E27FC236}">
                <a16:creationId xmlns:a16="http://schemas.microsoft.com/office/drawing/2014/main" id="{FD8657C4-B4A6-44D3-BD51-D72C3EC24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1196975"/>
            <a:ext cx="4859338" cy="48958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10000"/>
              </a:spcBef>
              <a:buClr>
                <a:schemeClr val="tx2"/>
              </a:buClr>
              <a:buSzPct val="60000"/>
              <a:buFont typeface="Wingdings 2" pitchFamily="18" charset="2"/>
              <a:buChar char=""/>
              <a:defRPr/>
            </a:pPr>
            <a:r>
              <a:rPr lang="zh-CN" alt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一段肽链中每隔</a:t>
            </a:r>
            <a:r>
              <a:rPr lang="en-US" altLang="zh-CN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7</a:t>
            </a:r>
            <a:r>
              <a:rPr lang="zh-CN" alt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个</a:t>
            </a:r>
            <a:r>
              <a:rPr lang="en-US" altLang="zh-CN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AA</a:t>
            </a:r>
          </a:p>
          <a:p>
            <a:pPr marL="342900" indent="-342900">
              <a:lnSpc>
                <a:spcPct val="120000"/>
              </a:lnSpc>
              <a:spcBef>
                <a:spcPct val="10000"/>
              </a:spcBef>
              <a:buClr>
                <a:schemeClr val="tx2"/>
              </a:buClr>
              <a:buSzPct val="60000"/>
              <a:buFont typeface="Wingdings 2" pitchFamily="18" charset="2"/>
              <a:buNone/>
              <a:defRPr/>
            </a:pPr>
            <a:r>
              <a:rPr lang="en-US" altLang="zh-CN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即有一个</a:t>
            </a:r>
            <a:r>
              <a:rPr lang="en-US" altLang="zh-CN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Leu</a:t>
            </a:r>
            <a:r>
              <a:rPr lang="zh-CN" alt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α</a:t>
            </a:r>
            <a:r>
              <a:rPr lang="zh-CN" alt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螺旋</a:t>
            </a:r>
          </a:p>
          <a:p>
            <a:pPr marL="342900" indent="-342900">
              <a:lnSpc>
                <a:spcPct val="120000"/>
              </a:lnSpc>
              <a:spcBef>
                <a:spcPct val="10000"/>
              </a:spcBef>
              <a:buClr>
                <a:schemeClr val="tx2"/>
              </a:buClr>
              <a:buSzPct val="60000"/>
              <a:buFont typeface="Wingdings 2" pitchFamily="18" charset="2"/>
              <a:buNone/>
              <a:defRPr/>
            </a:pPr>
            <a:r>
              <a:rPr lang="zh-CN" alt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亲水面：亲水</a:t>
            </a:r>
            <a:r>
              <a:rPr lang="en-US" altLang="zh-CN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AA</a:t>
            </a:r>
            <a:r>
              <a:rPr lang="zh-CN" alt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组成</a:t>
            </a:r>
          </a:p>
          <a:p>
            <a:pPr marL="342900" indent="-342900">
              <a:lnSpc>
                <a:spcPct val="120000"/>
              </a:lnSpc>
              <a:spcBef>
                <a:spcPct val="10000"/>
              </a:spcBef>
              <a:buClr>
                <a:schemeClr val="tx2"/>
              </a:buClr>
              <a:buSzPct val="60000"/>
              <a:buFont typeface="Wingdings 2" pitchFamily="18" charset="2"/>
              <a:buNone/>
              <a:defRPr/>
            </a:pPr>
            <a:r>
              <a:rPr lang="zh-CN" alt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疏水面：</a:t>
            </a:r>
            <a:r>
              <a:rPr lang="en-US" altLang="zh-CN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Leu</a:t>
            </a:r>
            <a:r>
              <a:rPr lang="zh-CN" alt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组成  </a:t>
            </a:r>
          </a:p>
          <a:p>
            <a:pPr marL="342900" indent="-342900">
              <a:lnSpc>
                <a:spcPct val="120000"/>
              </a:lnSpc>
              <a:spcBef>
                <a:spcPct val="10000"/>
              </a:spcBef>
              <a:buClr>
                <a:schemeClr val="tx2"/>
              </a:buClr>
              <a:buSzPct val="60000"/>
              <a:buFont typeface="Wingdings 2" pitchFamily="18" charset="2"/>
              <a:buNone/>
              <a:defRPr/>
            </a:pPr>
            <a:r>
              <a:rPr lang="zh-CN" alt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（亮氨酸拉链）</a:t>
            </a:r>
          </a:p>
          <a:p>
            <a:pPr marL="342900" indent="-342900">
              <a:lnSpc>
                <a:spcPct val="120000"/>
              </a:lnSpc>
              <a:spcBef>
                <a:spcPct val="10000"/>
              </a:spcBef>
              <a:buClr>
                <a:schemeClr val="tx2"/>
              </a:buClr>
              <a:buSzPct val="60000"/>
              <a:buFont typeface="Wingdings 2" pitchFamily="18" charset="2"/>
              <a:buChar char=""/>
              <a:defRPr/>
            </a:pPr>
            <a:r>
              <a:rPr lang="zh-CN" alt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可形成二聚体发挥作用</a:t>
            </a:r>
          </a:p>
          <a:p>
            <a:pPr marL="342900" indent="-342900">
              <a:lnSpc>
                <a:spcPct val="120000"/>
              </a:lnSpc>
              <a:spcBef>
                <a:spcPct val="10000"/>
              </a:spcBef>
              <a:buClr>
                <a:schemeClr val="tx2"/>
              </a:buClr>
              <a:buSzPct val="60000"/>
              <a:buFont typeface="Wingdings 2" pitchFamily="18" charset="2"/>
              <a:buNone/>
              <a:defRPr/>
            </a:pPr>
            <a:r>
              <a:rPr lang="zh-CN" alt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（同二聚体</a:t>
            </a:r>
            <a:r>
              <a:rPr lang="en-US" altLang="zh-CN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异二聚体）</a:t>
            </a:r>
          </a:p>
          <a:p>
            <a:pPr marL="342900" indent="-342900">
              <a:lnSpc>
                <a:spcPct val="120000"/>
              </a:lnSpc>
              <a:spcBef>
                <a:spcPct val="10000"/>
              </a:spcBef>
              <a:buClr>
                <a:schemeClr val="tx2"/>
              </a:buClr>
              <a:buSzPct val="60000"/>
              <a:buFont typeface="Wingdings 2" pitchFamily="18" charset="2"/>
              <a:buChar char=""/>
              <a:defRPr/>
            </a:pPr>
            <a:r>
              <a:rPr lang="en-US" altLang="zh-CN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DNA</a:t>
            </a:r>
            <a:r>
              <a:rPr lang="zh-CN" alt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的结合域：</a:t>
            </a:r>
          </a:p>
          <a:p>
            <a:pPr marL="342900" indent="-342900">
              <a:lnSpc>
                <a:spcPct val="120000"/>
              </a:lnSpc>
              <a:spcBef>
                <a:spcPct val="10000"/>
              </a:spcBef>
              <a:buClr>
                <a:schemeClr val="tx2"/>
              </a:buClr>
              <a:buSzPct val="60000"/>
              <a:buFont typeface="Wingdings 2" pitchFamily="18" charset="2"/>
              <a:buNone/>
              <a:defRPr/>
            </a:pPr>
            <a:r>
              <a:rPr lang="zh-CN" alt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拉链区的氨基端约</a:t>
            </a:r>
            <a:r>
              <a:rPr lang="en-US" altLang="zh-CN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30AA</a:t>
            </a:r>
            <a:r>
              <a:rPr lang="zh-CN" alt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的碱性区（富含</a:t>
            </a:r>
            <a:r>
              <a:rPr lang="en-US" altLang="zh-CN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Lys</a:t>
            </a:r>
            <a:r>
              <a:rPr lang="zh-CN" alt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Arg</a:t>
            </a:r>
            <a:r>
              <a:rPr lang="zh-CN" altLang="en-US" sz="24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）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5">
            <a:extLst>
              <a:ext uri="{FF2B5EF4-FFF2-40B4-BE49-F238E27FC236}">
                <a16:creationId xmlns:a16="http://schemas.microsoft.com/office/drawing/2014/main" id="{A0D1EE1E-F370-438C-9E47-74315CAE8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09"/>
          <a:stretch>
            <a:fillRect/>
          </a:stretch>
        </p:blipFill>
        <p:spPr bwMode="auto">
          <a:xfrm>
            <a:off x="179388" y="1484313"/>
            <a:ext cx="4427537" cy="337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矩形 2">
            <a:extLst>
              <a:ext uri="{FF2B5EF4-FFF2-40B4-BE49-F238E27FC236}">
                <a16:creationId xmlns:a16="http://schemas.microsoft.com/office/drawing/2014/main" id="{FAAE6FA3-3BF3-4A0C-A483-FE84ECCA0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765175"/>
            <a:ext cx="33496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9pPr>
          </a:lstStyle>
          <a:p>
            <a:r>
              <a:rPr lang="en-US" altLang="zh-CN" sz="3600">
                <a:solidFill>
                  <a:srgbClr val="FF0000"/>
                </a:solidFill>
              </a:rPr>
              <a:t>Helix-turn-helix</a:t>
            </a:r>
            <a:endParaRPr lang="zh-CN" altLang="en-US" sz="3600">
              <a:solidFill>
                <a:srgbClr val="FF0000"/>
              </a:solidFill>
            </a:endParaRPr>
          </a:p>
        </p:txBody>
      </p:sp>
      <p:sp>
        <p:nvSpPr>
          <p:cNvPr id="26628" name="矩形 3">
            <a:extLst>
              <a:ext uri="{FF2B5EF4-FFF2-40B4-BE49-F238E27FC236}">
                <a16:creationId xmlns:a16="http://schemas.microsoft.com/office/drawing/2014/main" id="{48AB6C4C-A6E1-43B4-A396-20B672F8F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620713"/>
            <a:ext cx="29591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9pPr>
          </a:lstStyle>
          <a:p>
            <a:r>
              <a:rPr lang="en-US" altLang="zh-CN" sz="3600">
                <a:solidFill>
                  <a:srgbClr val="FF0000"/>
                </a:solidFill>
              </a:rPr>
              <a:t>Homeodomain</a:t>
            </a:r>
            <a:endParaRPr lang="zh-CN" altLang="en-US" sz="3600">
              <a:solidFill>
                <a:srgbClr val="FF0000"/>
              </a:solidFill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B93F198-540F-4456-B572-ECE9481D70DA}"/>
              </a:ext>
            </a:extLst>
          </p:cNvPr>
          <p:cNvCxnSpPr/>
          <p:nvPr/>
        </p:nvCxnSpPr>
        <p:spPr>
          <a:xfrm>
            <a:off x="4500563" y="0"/>
            <a:ext cx="71437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630" name="Picture 2">
            <a:extLst>
              <a:ext uri="{FF2B5EF4-FFF2-40B4-BE49-F238E27FC236}">
                <a16:creationId xmlns:a16="http://schemas.microsoft.com/office/drawing/2014/main" id="{2D9E7CF7-1900-4C6C-BCD5-E2D70122A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263" y="1341438"/>
            <a:ext cx="2952750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>
            <a:extLst>
              <a:ext uri="{FF2B5EF4-FFF2-40B4-BE49-F238E27FC236}">
                <a16:creationId xmlns:a16="http://schemas.microsoft.com/office/drawing/2014/main" id="{F309940E-21FD-4380-B4B9-AE413BA81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1412875"/>
            <a:ext cx="352425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矩形 2">
            <a:extLst>
              <a:ext uri="{FF2B5EF4-FFF2-40B4-BE49-F238E27FC236}">
                <a16:creationId xmlns:a16="http://schemas.microsoft.com/office/drawing/2014/main" id="{0E5A8657-0CA3-4676-8F91-D238793C7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836613"/>
            <a:ext cx="33385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9pPr>
          </a:lstStyle>
          <a:p>
            <a:r>
              <a:rPr lang="en-US" altLang="zh-CN" sz="3600">
                <a:solidFill>
                  <a:srgbClr val="FF0000"/>
                </a:solidFill>
              </a:rPr>
              <a:t>Helix-loop-helix</a:t>
            </a:r>
            <a:endParaRPr lang="zh-CN" altLang="en-US" sz="3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79305017-16DE-433B-AF78-DE7D40FC6398}"/>
              </a:ext>
            </a:extLst>
          </p:cNvPr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0" y="549275"/>
            <a:ext cx="9144000" cy="5835650"/>
          </a:xfrm>
        </p:spPr>
        <p:txBody>
          <a:bodyPr/>
          <a:lstStyle/>
          <a:p>
            <a:pPr eaLnBrk="1" hangingPunct="1"/>
            <a:r>
              <a:rPr lang="en-US" altLang="zh-CN" sz="2800" b="1" dirty="0"/>
              <a:t>Transcription in Eukaryotes : imitation, elongation, termination</a:t>
            </a:r>
          </a:p>
          <a:p>
            <a:pPr eaLnBrk="1" hangingPunct="1"/>
            <a:endParaRPr lang="en-US" altLang="zh-CN" sz="2800" b="1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</a:rPr>
              <a:t>Elongation factors</a:t>
            </a:r>
            <a:r>
              <a:rPr lang="en-US" altLang="zh-CN" sz="2800" b="1" dirty="0"/>
              <a:t> will then join the elongation complex.</a:t>
            </a:r>
          </a:p>
          <a:p>
            <a:pPr eaLnBrk="1" hangingPunct="1"/>
            <a:r>
              <a:rPr lang="en-US" altLang="zh-CN" sz="2800" b="1" dirty="0"/>
              <a:t>Unlike RNA polymerase in prokaryotes, RNA polymerase II does not terminate transcription at specific sites but rather transcription stops at varying distances downstream of the gene with help from </a:t>
            </a:r>
            <a:r>
              <a:rPr lang="en-US" altLang="zh-CN" sz="2800" b="1" dirty="0">
                <a:solidFill>
                  <a:srgbClr val="FF0000"/>
                </a:solidFill>
              </a:rPr>
              <a:t>termination factors</a:t>
            </a:r>
            <a:r>
              <a:rPr lang="en-US" altLang="zh-CN" sz="2800" b="1" dirty="0"/>
              <a:t>.</a:t>
            </a:r>
          </a:p>
          <a:p>
            <a:pPr eaLnBrk="1" hangingPunct="1"/>
            <a:endParaRPr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416534858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FD770B5-AB31-44C8-A51B-D11531CCEF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9382" y="0"/>
            <a:ext cx="7425236" cy="659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84350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3408BA4A-0B21-47A8-8E83-8DA4B7435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4" y="1052736"/>
            <a:ext cx="91440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SzPct val="85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In prokaryotes, RNA transcribed from protein-coding genes (messenger RNA, mRNA), requires little or no modification prior to translation</a:t>
            </a:r>
          </a:p>
          <a:p>
            <a:pPr eaLnBrk="1" hangingPunct="1"/>
            <a:r>
              <a:rPr lang="en-US" altLang="zh-CN" dirty="0"/>
              <a:t>However, mRNA in eukaryotes, ribosomal RNA (rRNA) and transfer RNA (tRNA) are synthesized as precursor </a:t>
            </a:r>
            <a:r>
              <a:rPr lang="en-US" altLang="zh-CN" dirty="0" err="1"/>
              <a:t>molelules</a:t>
            </a:r>
            <a:r>
              <a:rPr lang="en-US" altLang="zh-CN" dirty="0"/>
              <a:t> that do require </a:t>
            </a:r>
            <a:r>
              <a:rPr lang="en-US" altLang="zh-CN" dirty="0">
                <a:solidFill>
                  <a:schemeClr val="tx2"/>
                </a:solidFill>
              </a:rPr>
              <a:t>post-transcriptional processing</a:t>
            </a:r>
            <a:r>
              <a:rPr lang="en-US" altLang="zh-CN" dirty="0"/>
              <a:t>) (G7, G8, G9)</a:t>
            </a:r>
          </a:p>
        </p:txBody>
      </p:sp>
    </p:spTree>
    <p:extLst>
      <p:ext uri="{BB962C8B-B14F-4D97-AF65-F5344CB8AC3E}">
        <p14:creationId xmlns:p14="http://schemas.microsoft.com/office/powerpoint/2010/main" val="342096391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A4191682-05A9-4161-BF75-11281447E4B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765175"/>
            <a:ext cx="9144000" cy="1311275"/>
          </a:xfrm>
        </p:spPr>
        <p:txBody>
          <a:bodyPr/>
          <a:lstStyle/>
          <a:p>
            <a:pPr eaLnBrk="1" hangingPunct="1"/>
            <a:r>
              <a:rPr lang="en-US" altLang="zh-CN" sz="4000" dirty="0">
                <a:solidFill>
                  <a:srgbClr val="7030A0"/>
                </a:solidFill>
              </a:rPr>
              <a:t>G7 Processing of eukaryotic pre-mRNA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24D7FC58-280A-4B88-98F1-808B839F36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2852936"/>
            <a:ext cx="8839200" cy="2286000"/>
          </a:xfrm>
          <a:solidFill>
            <a:srgbClr val="000066"/>
          </a:solidFill>
        </p:spPr>
        <p:txBody>
          <a:bodyPr/>
          <a:lstStyle/>
          <a:p>
            <a:pPr eaLnBrk="1" hangingPunct="1"/>
            <a:r>
              <a:rPr lang="en-US" altLang="zh-CN" dirty="0"/>
              <a:t>The primary transcripts of eukaryotic mRNAs are often </a:t>
            </a:r>
            <a:r>
              <a:rPr lang="en-US" altLang="zh-CN" dirty="0">
                <a:solidFill>
                  <a:srgbClr val="FF0000"/>
                </a:solidFill>
              </a:rPr>
              <a:t>capped at the 5` end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0000"/>
                </a:solidFill>
              </a:rPr>
              <a:t>spliced</a:t>
            </a:r>
            <a:r>
              <a:rPr lang="zh-CN" altLang="en-US" dirty="0">
                <a:solidFill>
                  <a:srgbClr val="FF0000"/>
                </a:solidFill>
              </a:rPr>
              <a:t>（剪接）</a:t>
            </a:r>
            <a:r>
              <a:rPr lang="en-US" altLang="zh-CN" dirty="0">
                <a:solidFill>
                  <a:srgbClr val="FF0000"/>
                </a:solidFill>
              </a:rPr>
              <a:t> in the middle </a:t>
            </a:r>
            <a:r>
              <a:rPr lang="en-US" altLang="zh-CN" dirty="0"/>
              <a:t>(introns removed and exons linked), </a:t>
            </a:r>
            <a:r>
              <a:rPr lang="en-US" altLang="zh-CN" dirty="0">
                <a:solidFill>
                  <a:srgbClr val="FF0000"/>
                </a:solidFill>
              </a:rPr>
              <a:t>polyadenylated at the 3` end</a:t>
            </a:r>
            <a:r>
              <a:rPr lang="en-US" altLang="zh-CN" dirty="0"/>
              <a:t>.</a:t>
            </a:r>
          </a:p>
          <a:p>
            <a:pPr eaLnBrk="1" hangingPunct="1">
              <a:buFontTx/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0794271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697C2EE8-B9C6-43BA-8E6B-123CCB08A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800"/>
            <a:ext cx="8229600" cy="1143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40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Most protein-coding genes in eukaryotes are discontinuous</a:t>
            </a:r>
          </a:p>
        </p:txBody>
      </p:sp>
      <p:pic>
        <p:nvPicPr>
          <p:cNvPr id="77827" name="Picture 5">
            <a:extLst>
              <a:ext uri="{FF2B5EF4-FFF2-40B4-BE49-F238E27FC236}">
                <a16:creationId xmlns:a16="http://schemas.microsoft.com/office/drawing/2014/main" id="{CF1F41EC-7282-4AA2-ABE2-EF9E6A252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76400"/>
            <a:ext cx="8026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369050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2" descr="f26-11">
            <a:extLst>
              <a:ext uri="{FF2B5EF4-FFF2-40B4-BE49-F238E27FC236}">
                <a16:creationId xmlns:a16="http://schemas.microsoft.com/office/drawing/2014/main" id="{120A419D-51E6-460E-BE54-E41C39519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F9DD2C8-76DF-43CE-9C15-A39D76E7D44E}"/>
              </a:ext>
            </a:extLst>
          </p:cNvPr>
          <p:cNvCxnSpPr>
            <a:cxnSpLocks/>
          </p:cNvCxnSpPr>
          <p:nvPr/>
        </p:nvCxnSpPr>
        <p:spPr>
          <a:xfrm>
            <a:off x="467544" y="4480545"/>
            <a:ext cx="129614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161BBC1-E7D0-416F-A805-D2FDD347BA7A}"/>
              </a:ext>
            </a:extLst>
          </p:cNvPr>
          <p:cNvCxnSpPr>
            <a:cxnSpLocks/>
          </p:cNvCxnSpPr>
          <p:nvPr/>
        </p:nvCxnSpPr>
        <p:spPr>
          <a:xfrm>
            <a:off x="467544" y="6597352"/>
            <a:ext cx="129614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F26E150-F720-44A6-9864-5F76F05D3E35}"/>
              </a:ext>
            </a:extLst>
          </p:cNvPr>
          <p:cNvCxnSpPr>
            <a:cxnSpLocks/>
          </p:cNvCxnSpPr>
          <p:nvPr/>
        </p:nvCxnSpPr>
        <p:spPr>
          <a:xfrm>
            <a:off x="650082" y="2708920"/>
            <a:ext cx="96959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4D560FF-7A98-4E7C-B54A-962AFD6E9042}"/>
              </a:ext>
            </a:extLst>
          </p:cNvPr>
          <p:cNvCxnSpPr>
            <a:cxnSpLocks/>
          </p:cNvCxnSpPr>
          <p:nvPr/>
        </p:nvCxnSpPr>
        <p:spPr>
          <a:xfrm>
            <a:off x="1979712" y="2708920"/>
            <a:ext cx="129614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942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ext Box 2">
            <a:extLst>
              <a:ext uri="{FF2B5EF4-FFF2-40B4-BE49-F238E27FC236}">
                <a16:creationId xmlns:a16="http://schemas.microsoft.com/office/drawing/2014/main" id="{61FE3454-F2D0-4C0D-84C2-C499285DB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305068"/>
            <a:ext cx="7990656" cy="6247864"/>
          </a:xfrm>
          <a:prstGeom prst="rect">
            <a:avLst/>
          </a:prstGeom>
          <a:solidFill>
            <a:srgbClr val="00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</a:rPr>
              <a:t>The 5’ cap is added before synthesis of the primary transcript is completed. </a:t>
            </a:r>
          </a:p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</a:rPr>
              <a:t>A noncoding sequence following the last exon is shown in orange. </a:t>
            </a:r>
          </a:p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</a:rPr>
              <a:t>Splicing can occur either before or after the cleavage and polyadenylation steps. </a:t>
            </a:r>
          </a:p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</a:rPr>
              <a:t>All of the processes shown here take place within the nucleus.</a:t>
            </a:r>
          </a:p>
          <a:p>
            <a:pPr eaLnBrk="1" hangingPunct="1">
              <a:spcBef>
                <a:spcPct val="50000"/>
              </a:spcBef>
              <a:buSzTx/>
              <a:buFontTx/>
              <a:buNone/>
            </a:pP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1347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ext Box 1026">
            <a:extLst>
              <a:ext uri="{FF2B5EF4-FFF2-40B4-BE49-F238E27FC236}">
                <a16:creationId xmlns:a16="http://schemas.microsoft.com/office/drawing/2014/main" id="{1DDA8C9D-4A43-4E25-A9DC-C98F88D8D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838200"/>
            <a:ext cx="8534400" cy="3539430"/>
          </a:xfrm>
          <a:prstGeom prst="rect">
            <a:avLst/>
          </a:prstGeom>
          <a:solidFill>
            <a:srgbClr val="00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真核生物中的所有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</a:rPr>
              <a:t>RNA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分子在合成后都会在一定程度上进行加工。
有趣的是，催化这些反应的酶有时由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</a:rPr>
              <a:t>RNA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而不是蛋白质组成。
催化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</a:rPr>
              <a:t>RNA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或核酶的发现为对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</a:rPr>
              <a:t>RNA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功能和生命起源的思考带来了一场革命。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69643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497E189A-CE07-480C-9F89-4113AFA7BC4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685800"/>
            <a:ext cx="9144000" cy="2530475"/>
          </a:xfrm>
        </p:spPr>
        <p:txBody>
          <a:bodyPr/>
          <a:lstStyle/>
          <a:p>
            <a:pPr eaLnBrk="1" hangingPunct="1"/>
            <a:r>
              <a:rPr lang="en-US" altLang="zh-CN" sz="4000" dirty="0">
                <a:solidFill>
                  <a:srgbClr val="7030A0"/>
                </a:solidFill>
              </a:rPr>
              <a:t>1. An eukaryotic mRNA precursor acquire a 5` cap shortly after transcription initiates</a:t>
            </a:r>
          </a:p>
        </p:txBody>
      </p:sp>
    </p:spTree>
    <p:extLst>
      <p:ext uri="{BB962C8B-B14F-4D97-AF65-F5344CB8AC3E}">
        <p14:creationId xmlns:p14="http://schemas.microsoft.com/office/powerpoint/2010/main" val="392742447"/>
      </p:ext>
    </p:extLst>
  </p:cSld>
  <p:clrMapOvr>
    <a:masterClrMapping/>
  </p:clrMapOvr>
  <p:transition>
    <p:random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5" name="Picture 3"/>
          <p:cNvPicPr>
            <a:picLocks noChangeAspect="1" noChangeArrowheads="1"/>
          </p:cNvPicPr>
          <p:nvPr/>
        </p:nvPicPr>
        <p:blipFill>
          <a:blip r:embed="rId3" cstate="print">
            <a:lum bright="-10000" contras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892480" cy="6597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4D959C90-2A2B-4D92-A2C4-5392A694D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640" y="5877272"/>
            <a:ext cx="3886200" cy="830997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2400" b="1" dirty="0">
                <a:solidFill>
                  <a:schemeClr val="bg1"/>
                </a:solidFill>
                <a:latin typeface="Arial" charset="0"/>
              </a:rPr>
              <a:t>5` cap</a:t>
            </a:r>
          </a:p>
          <a:p>
            <a:pPr eaLnBrk="1" hangingPunct="1">
              <a:defRPr/>
            </a:pPr>
            <a:r>
              <a:rPr kumimoji="1" lang="en-US" altLang="zh-CN" sz="2400" b="1" dirty="0">
                <a:solidFill>
                  <a:schemeClr val="bg1"/>
                </a:solidFill>
                <a:latin typeface="Arial" charset="0"/>
              </a:rPr>
              <a:t>m</a:t>
            </a:r>
            <a:r>
              <a:rPr kumimoji="1" lang="en-US" altLang="zh-CN" sz="2400" b="1" baseline="30000" dirty="0">
                <a:solidFill>
                  <a:schemeClr val="bg1"/>
                </a:solidFill>
                <a:latin typeface="Arial" charset="0"/>
              </a:rPr>
              <a:t>7</a:t>
            </a:r>
            <a:r>
              <a:rPr kumimoji="1" lang="en-US" altLang="zh-CN" sz="2400" b="1" dirty="0">
                <a:solidFill>
                  <a:schemeClr val="bg1"/>
                </a:solidFill>
                <a:latin typeface="Arial" charset="0"/>
              </a:rPr>
              <a:t>G</a:t>
            </a:r>
            <a:r>
              <a:rPr kumimoji="1" lang="en-US" altLang="zh-CN" sz="2400" b="1" baseline="30000" dirty="0">
                <a:solidFill>
                  <a:schemeClr val="bg1"/>
                </a:solidFill>
                <a:latin typeface="Arial" charset="0"/>
              </a:rPr>
              <a:t>5’</a:t>
            </a:r>
            <a:r>
              <a:rPr kumimoji="1" lang="en-US" altLang="zh-CN" sz="2400" b="1" dirty="0">
                <a:solidFill>
                  <a:schemeClr val="bg1"/>
                </a:solidFill>
                <a:latin typeface="Arial" charset="0"/>
              </a:rPr>
              <a:t>ppp</a:t>
            </a:r>
            <a:r>
              <a:rPr kumimoji="1" lang="en-US" altLang="zh-CN" sz="2400" b="1" baseline="30000" dirty="0">
                <a:solidFill>
                  <a:schemeClr val="bg1"/>
                </a:solidFill>
                <a:latin typeface="Arial" charset="0"/>
              </a:rPr>
              <a:t>5’</a:t>
            </a:r>
            <a:r>
              <a:rPr kumimoji="1" lang="en-US" altLang="zh-CN" sz="2400" b="1" dirty="0">
                <a:solidFill>
                  <a:schemeClr val="bg1"/>
                </a:solidFill>
                <a:latin typeface="Arial" charset="0"/>
              </a:rPr>
              <a:t>N</a:t>
            </a:r>
            <a:r>
              <a:rPr kumimoji="1" lang="en-US" altLang="zh-CN" sz="2400" b="1" baseline="-25000" dirty="0">
                <a:solidFill>
                  <a:schemeClr val="bg1"/>
                </a:solidFill>
                <a:latin typeface="Arial" charset="0"/>
              </a:rPr>
              <a:t>m</a:t>
            </a:r>
            <a:r>
              <a:rPr kumimoji="1" lang="en-US" altLang="zh-CN" sz="2400" b="1" dirty="0">
                <a:solidFill>
                  <a:schemeClr val="bg1"/>
                </a:solidFill>
                <a:latin typeface="Arial" charset="0"/>
              </a:rPr>
              <a:t>pN</a:t>
            </a:r>
            <a:r>
              <a:rPr kumimoji="1" lang="en-US" altLang="zh-CN" sz="2400" b="1" baseline="-25000" dirty="0">
                <a:solidFill>
                  <a:schemeClr val="bg1"/>
                </a:solidFill>
                <a:latin typeface="Arial" charset="0"/>
              </a:rPr>
              <a:t>(m)</a:t>
            </a:r>
            <a:r>
              <a:rPr kumimoji="1" lang="en-US" altLang="zh-CN" sz="2400" b="1" dirty="0">
                <a:solidFill>
                  <a:schemeClr val="bg1"/>
                </a:solidFill>
                <a:latin typeface="Arial" charset="0"/>
              </a:rPr>
              <a:t>p--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E7C97B1-F823-4D01-9E89-BE37B8FDD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80" y="1124744"/>
            <a:ext cx="7009640" cy="366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13380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AD83398-F6E4-7FE9-57BA-0F111C0018F1}"/>
              </a:ext>
            </a:extLst>
          </p:cNvPr>
          <p:cNvSpPr txBox="1"/>
          <p:nvPr/>
        </p:nvSpPr>
        <p:spPr>
          <a:xfrm>
            <a:off x="7423253" y="207323"/>
            <a:ext cx="1731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Homocystine</a:t>
            </a:r>
            <a:endParaRPr lang="zh-CN" altLang="en-US" dirty="0"/>
          </a:p>
        </p:txBody>
      </p:sp>
      <p:pic>
        <p:nvPicPr>
          <p:cNvPr id="1026" name="Picture 2" descr="高胱氨酸, 462-10-2, 结构式">
            <a:extLst>
              <a:ext uri="{FF2B5EF4-FFF2-40B4-BE49-F238E27FC236}">
                <a16:creationId xmlns:a16="http://schemas.microsoft.com/office/drawing/2014/main" id="{BFE1CD0A-00C2-7ED0-453C-F9654C3B25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919" y="694338"/>
            <a:ext cx="398145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B4C5AF4-8C74-6939-CA56-6A3C2B09CE54}"/>
              </a:ext>
            </a:extLst>
          </p:cNvPr>
          <p:cNvSpPr txBox="1"/>
          <p:nvPr/>
        </p:nvSpPr>
        <p:spPr>
          <a:xfrm>
            <a:off x="4716016" y="181845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Homocysteine</a:t>
            </a:r>
          </a:p>
        </p:txBody>
      </p:sp>
      <p:pic>
        <p:nvPicPr>
          <p:cNvPr id="1028" name="Picture 4" descr="454-29-5 同型半胱氨酸 结构式图片">
            <a:extLst>
              <a:ext uri="{FF2B5EF4-FFF2-40B4-BE49-F238E27FC236}">
                <a16:creationId xmlns:a16="http://schemas.microsoft.com/office/drawing/2014/main" id="{DB2C4568-4F18-5495-89E9-7459BEA78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2072704"/>
            <a:ext cx="2913523" cy="1659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17F89CB-6F2C-41FF-5C3D-B319E114DBC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2305" t="8400" r="2401" b="55900"/>
          <a:stretch/>
        </p:blipFill>
        <p:spPr>
          <a:xfrm>
            <a:off x="4143448" y="3721241"/>
            <a:ext cx="1385552" cy="224327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7488E52-B41A-B4B1-00F6-431A38B748D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5858" t="46183"/>
          <a:stretch/>
        </p:blipFill>
        <p:spPr>
          <a:xfrm>
            <a:off x="7518185" y="3888775"/>
            <a:ext cx="1279593" cy="224327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7BD0879-41FF-0D96-E812-ED0FB809DBCF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46222" y="2868924"/>
            <a:ext cx="3145532" cy="3324225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76017BC3-F4FA-A1EB-CA0E-5CAD5679E3AA}"/>
              </a:ext>
            </a:extLst>
          </p:cNvPr>
          <p:cNvGrpSpPr/>
          <p:nvPr/>
        </p:nvGrpSpPr>
        <p:grpSpPr>
          <a:xfrm>
            <a:off x="313506" y="89640"/>
            <a:ext cx="2764569" cy="2690817"/>
            <a:chOff x="-2941693" y="293349"/>
            <a:chExt cx="2764569" cy="2690817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BC9ACCC9-C9F4-7883-0EE4-B309E82D05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57119"/>
            <a:stretch/>
          </p:blipFill>
          <p:spPr>
            <a:xfrm>
              <a:off x="-2828113" y="293349"/>
              <a:ext cx="2650989" cy="2690817"/>
            </a:xfrm>
            <a:prstGeom prst="rect">
              <a:avLst/>
            </a:prstGeom>
          </p:spPr>
        </p:pic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7A491BDF-0316-A16A-51FC-95D3B261312E}"/>
                </a:ext>
              </a:extLst>
            </p:cNvPr>
            <p:cNvSpPr/>
            <p:nvPr/>
          </p:nvSpPr>
          <p:spPr>
            <a:xfrm>
              <a:off x="-2941693" y="611824"/>
              <a:ext cx="648072" cy="149679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ACE5BF87-6488-BAC7-80FB-A28098EAC57A}"/>
              </a:ext>
            </a:extLst>
          </p:cNvPr>
          <p:cNvSpPr txBox="1"/>
          <p:nvPr/>
        </p:nvSpPr>
        <p:spPr>
          <a:xfrm>
            <a:off x="2920588" y="-4995"/>
            <a:ext cx="42210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何为</a:t>
            </a:r>
            <a:r>
              <a:rPr lang="en-US" altLang="zh-CN" sz="3200" b="1" dirty="0">
                <a:solidFill>
                  <a:srgbClr val="FF0000"/>
                </a:solidFill>
              </a:rPr>
              <a:t>Homocysteine</a:t>
            </a:r>
            <a:r>
              <a:rPr lang="zh-CN" altLang="en-US" sz="3200" b="1" dirty="0">
                <a:solidFill>
                  <a:srgbClr val="FF0000"/>
                </a:solidFill>
              </a:rPr>
              <a:t>？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F8E4135-A5DE-5A0A-78C5-117ACB98B2D3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40595"/>
          <a:stretch/>
        </p:blipFill>
        <p:spPr>
          <a:xfrm>
            <a:off x="5652248" y="3752419"/>
            <a:ext cx="1390008" cy="133276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E5DE23F-6FB9-5FF8-B873-29DEE0BC317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2305" t="23725" r="2401" b="63194"/>
          <a:stretch/>
        </p:blipFill>
        <p:spPr>
          <a:xfrm>
            <a:off x="5655358" y="5084403"/>
            <a:ext cx="1385552" cy="82194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49B69E2-EB76-9FCE-FBF0-3E0B05D388F9}"/>
              </a:ext>
            </a:extLst>
          </p:cNvPr>
          <p:cNvSpPr txBox="1"/>
          <p:nvPr/>
        </p:nvSpPr>
        <p:spPr>
          <a:xfrm>
            <a:off x="5671414" y="5947383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homocysteine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286996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E81D012-4FA1-157F-8817-E38123334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434" y="0"/>
            <a:ext cx="39551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65065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D2C7F5AF-114F-42C7-A92C-A0F02C849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14400"/>
            <a:ext cx="9144000" cy="5181600"/>
          </a:xfrm>
          <a:prstGeom prst="rect">
            <a:avLst/>
          </a:prstGeom>
          <a:solidFill>
            <a:srgbClr val="000066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SzPct val="85000"/>
              <a:buFontTx/>
              <a:buBlip>
                <a:blip r:embed="rId3"/>
              </a:buBlip>
              <a:defRPr/>
            </a:pPr>
            <a:r>
              <a:rPr kumimoji="1" lang="en-US" altLang="zh-CN" sz="2800" dirty="0">
                <a:solidFill>
                  <a:schemeClr val="bg1"/>
                </a:solidFill>
                <a:latin typeface="Arial" charset="0"/>
              </a:rPr>
              <a:t>The terminal 5</a:t>
            </a:r>
            <a:r>
              <a:rPr kumimoji="1"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` phosphate is first removed by a phosphatase.</a:t>
            </a:r>
            <a:endParaRPr kumimoji="1" lang="en-US" altLang="zh-CN" sz="2800" dirty="0">
              <a:solidFill>
                <a:schemeClr val="bg1"/>
              </a:solidFill>
              <a:latin typeface="Arial" charset="0"/>
            </a:endParaRPr>
          </a:p>
          <a:p>
            <a:pPr marL="342900" indent="-342900" eaLnBrk="1" hangingPunct="1">
              <a:spcBef>
                <a:spcPct val="20000"/>
              </a:spcBef>
              <a:buSzPct val="85000"/>
              <a:buFontTx/>
              <a:buBlip>
                <a:blip r:embed="rId3"/>
              </a:buBlip>
              <a:defRPr/>
            </a:pPr>
            <a:r>
              <a:rPr kumimoji="1" lang="en-US" altLang="zh-CN" sz="2800" dirty="0">
                <a:solidFill>
                  <a:schemeClr val="bg1"/>
                </a:solidFill>
                <a:latin typeface="Arial" charset="0"/>
              </a:rPr>
              <a:t>A </a:t>
            </a:r>
            <a:r>
              <a:rPr kumimoji="1" lang="en-US" altLang="zh-CN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GMP</a:t>
            </a:r>
            <a:r>
              <a:rPr kumimoji="1" lang="en-US" altLang="zh-CN" sz="2800" dirty="0">
                <a:solidFill>
                  <a:schemeClr val="bg1"/>
                </a:solidFill>
                <a:latin typeface="Arial" charset="0"/>
              </a:rPr>
              <a:t> component (from a </a:t>
            </a:r>
            <a:r>
              <a:rPr kumimoji="1" lang="en-US" altLang="zh-CN" sz="2800" dirty="0" err="1">
                <a:solidFill>
                  <a:schemeClr val="bg1"/>
                </a:solidFill>
                <a:latin typeface="Arial" charset="0"/>
              </a:rPr>
              <a:t>GTP</a:t>
            </a:r>
            <a:r>
              <a:rPr kumimoji="1" lang="en-US" altLang="zh-CN" sz="2800" dirty="0">
                <a:solidFill>
                  <a:schemeClr val="bg1"/>
                </a:solidFill>
                <a:latin typeface="Arial" charset="0"/>
              </a:rPr>
              <a:t>) is joined to the 5` end of the mRNA catalyzed by </a:t>
            </a:r>
            <a:r>
              <a:rPr kumimoji="1" lang="en-US" altLang="zh-CN" sz="2800" dirty="0" err="1">
                <a:solidFill>
                  <a:schemeClr val="bg1"/>
                </a:solidFill>
                <a:latin typeface="Arial" charset="0"/>
              </a:rPr>
              <a:t>guanosyl</a:t>
            </a:r>
            <a:r>
              <a:rPr kumimoji="1" lang="en-US" altLang="zh-CN" sz="2800" dirty="0">
                <a:solidFill>
                  <a:schemeClr val="bg1"/>
                </a:solidFill>
                <a:latin typeface="Arial" charset="0"/>
              </a:rPr>
              <a:t> transferase in a novel </a:t>
            </a:r>
            <a:r>
              <a:rPr kumimoji="1" lang="en-US" altLang="zh-CN" sz="28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5`,</a:t>
            </a:r>
            <a:r>
              <a:rPr kumimoji="1" lang="en-US" altLang="zh-CN" sz="28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5`-triphosphate linkage</a:t>
            </a:r>
            <a:r>
              <a:rPr kumimoji="1"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</a:t>
            </a:r>
            <a:endParaRPr kumimoji="1" lang="en-US" altLang="zh-CN" sz="2800" dirty="0">
              <a:solidFill>
                <a:schemeClr val="bg1"/>
              </a:solidFill>
              <a:latin typeface="Arial" charset="0"/>
            </a:endParaRPr>
          </a:p>
          <a:p>
            <a:pPr marL="342900" indent="-342900" eaLnBrk="1" hangingPunct="1">
              <a:spcBef>
                <a:spcPct val="20000"/>
              </a:spcBef>
              <a:buSzPct val="85000"/>
              <a:buFontTx/>
              <a:buBlip>
                <a:blip r:embed="rId3"/>
              </a:buBlip>
              <a:defRPr/>
            </a:pPr>
            <a:r>
              <a:rPr kumimoji="1" lang="en-US" altLang="zh-CN" sz="2800" dirty="0">
                <a:solidFill>
                  <a:schemeClr val="bg1"/>
                </a:solidFill>
                <a:latin typeface="Arial" charset="0"/>
              </a:rPr>
              <a:t>The guanine base is then </a:t>
            </a:r>
            <a:r>
              <a:rPr kumimoji="1"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methylated</a:t>
            </a:r>
            <a:r>
              <a:rPr kumimoji="1" lang="en-US" altLang="zh-CN" sz="2800" dirty="0">
                <a:solidFill>
                  <a:schemeClr val="bg1"/>
                </a:solidFill>
                <a:latin typeface="Arial" charset="0"/>
              </a:rPr>
              <a:t> at the N-7.</a:t>
            </a:r>
          </a:p>
          <a:p>
            <a:pPr marL="342900" indent="-342900" eaLnBrk="1" hangingPunct="1">
              <a:spcBef>
                <a:spcPct val="20000"/>
              </a:spcBef>
              <a:buSzPct val="85000"/>
              <a:buFontTx/>
              <a:buBlip>
                <a:blip r:embed="rId3"/>
              </a:buBlip>
              <a:defRPr/>
            </a:pPr>
            <a:r>
              <a:rPr kumimoji="1" lang="en-US" altLang="zh-CN" sz="2800" dirty="0">
                <a:solidFill>
                  <a:schemeClr val="bg1"/>
                </a:solidFill>
                <a:latin typeface="Arial" charset="0"/>
              </a:rPr>
              <a:t>The 2`-OH groups of the 1st and 2nd nucleotides adjacent to the </a:t>
            </a:r>
            <a:r>
              <a:rPr kumimoji="1"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7-methylguanine cap</a:t>
            </a:r>
            <a:r>
              <a:rPr kumimoji="1" lang="en-US" altLang="zh-CN" sz="2800" dirty="0">
                <a:solidFill>
                  <a:schemeClr val="bg1"/>
                </a:solidFill>
                <a:latin typeface="Arial" charset="0"/>
              </a:rPr>
              <a:t> may also be </a:t>
            </a:r>
            <a:r>
              <a:rPr kumimoji="1" lang="en-US" altLang="zh-CN" sz="2800" b="1" dirty="0">
                <a:solidFill>
                  <a:schemeClr val="bg1"/>
                </a:solidFill>
                <a:latin typeface="Arial" charset="0"/>
              </a:rPr>
              <a:t>methylated </a:t>
            </a:r>
            <a:r>
              <a:rPr kumimoji="1" lang="en-US" altLang="zh-CN" sz="2800" dirty="0">
                <a:solidFill>
                  <a:schemeClr val="bg1"/>
                </a:solidFill>
                <a:latin typeface="Arial" charset="0"/>
              </a:rPr>
              <a:t>in certain organisms.</a:t>
            </a:r>
          </a:p>
          <a:p>
            <a:pPr marL="342900" indent="-342900" eaLnBrk="1" hangingPunct="1">
              <a:spcBef>
                <a:spcPct val="20000"/>
              </a:spcBef>
              <a:buSzPct val="85000"/>
              <a:buFontTx/>
              <a:buBlip>
                <a:blip r:embed="rId3"/>
              </a:buBlip>
              <a:defRPr/>
            </a:pPr>
            <a:r>
              <a:rPr kumimoji="1" lang="en-US" altLang="zh-CN" sz="2800" dirty="0">
                <a:solidFill>
                  <a:schemeClr val="bg1"/>
                </a:solidFill>
                <a:latin typeface="Arial" charset="0"/>
              </a:rPr>
              <a:t>The methyl groups are transferred from </a:t>
            </a:r>
            <a:r>
              <a:rPr kumimoji="1"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S-adenosyl methionine</a:t>
            </a:r>
            <a:r>
              <a:rPr kumimoji="1"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（</a:t>
            </a:r>
            <a:r>
              <a:rPr kumimoji="1"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SAM S-</a:t>
            </a:r>
            <a:r>
              <a:rPr kumimoji="1"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腺苷甲硫氨酸）</a:t>
            </a:r>
            <a:r>
              <a:rPr kumimoji="1" lang="en-US" altLang="zh-CN" sz="2800" dirty="0">
                <a:solidFill>
                  <a:schemeClr val="bg1"/>
                </a:solidFill>
                <a:latin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588923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0" name="Picture 2" descr="f26-19">
            <a:extLst>
              <a:ext uri="{FF2B5EF4-FFF2-40B4-BE49-F238E27FC236}">
                <a16:creationId xmlns:a16="http://schemas.microsoft.com/office/drawing/2014/main" id="{50DB8D99-5B47-4476-9EE3-487171531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0"/>
            <a:ext cx="54864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Rectangle 3">
            <a:extLst>
              <a:ext uri="{FF2B5EF4-FFF2-40B4-BE49-F238E27FC236}">
                <a16:creationId xmlns:a16="http://schemas.microsoft.com/office/drawing/2014/main" id="{E78E9852-C8D0-4E63-A96A-C09979459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8425"/>
            <a:ext cx="1747459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en-US" altLang="zh-CN" sz="3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A poly(A) tail is usually added at the 3` end of an  mRNA molecule via  a processing  step.</a:t>
            </a:r>
          </a:p>
        </p:txBody>
      </p:sp>
    </p:spTree>
    <p:extLst>
      <p:ext uri="{BB962C8B-B14F-4D97-AF65-F5344CB8AC3E}">
        <p14:creationId xmlns:p14="http://schemas.microsoft.com/office/powerpoint/2010/main" val="386644553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F4A2D90-2EA7-4F07-B030-DB988823A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09451" y="332656"/>
            <a:ext cx="5525097" cy="583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28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Picture 2">
            <a:extLst>
              <a:ext uri="{FF2B5EF4-FFF2-40B4-BE49-F238E27FC236}">
                <a16:creationId xmlns:a16="http://schemas.microsoft.com/office/drawing/2014/main" id="{46895745-1B5A-4E54-8350-5054ECE5D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752600"/>
            <a:ext cx="8026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55" name="Rectangle 3">
            <a:extLst>
              <a:ext uri="{FF2B5EF4-FFF2-40B4-BE49-F238E27FC236}">
                <a16:creationId xmlns:a16="http://schemas.microsoft.com/office/drawing/2014/main" id="{821D16C9-E634-4F39-9596-D56FDA987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"/>
            <a:ext cx="9144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3600" dirty="0">
                <a:solidFill>
                  <a:srgbClr val="7030A0"/>
                </a:solidFill>
                <a:latin typeface="Arial Black" panose="020B0A04020102020204" pitchFamily="34" charset="0"/>
              </a:rPr>
              <a:t>3. The introns transcribed into RNA are removed by </a:t>
            </a:r>
            <a:r>
              <a:rPr lang="en-US" altLang="zh-CN" sz="3600" b="1" u="sng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splicing</a:t>
            </a:r>
          </a:p>
        </p:txBody>
      </p:sp>
    </p:spTree>
    <p:extLst>
      <p:ext uri="{BB962C8B-B14F-4D97-AF65-F5344CB8AC3E}">
        <p14:creationId xmlns:p14="http://schemas.microsoft.com/office/powerpoint/2010/main" val="424507893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8" name="Picture 2" descr="f26-12a">
            <a:extLst>
              <a:ext uri="{FF2B5EF4-FFF2-40B4-BE49-F238E27FC236}">
                <a16:creationId xmlns:a16="http://schemas.microsoft.com/office/drawing/2014/main" id="{175BD9FF-F42F-417F-96F9-7D3EDCD0A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267200" cy="313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379" name="Picture 3" descr="f26-12b">
            <a:extLst>
              <a:ext uri="{FF2B5EF4-FFF2-40B4-BE49-F238E27FC236}">
                <a16:creationId xmlns:a16="http://schemas.microsoft.com/office/drawing/2014/main" id="{95A2D42B-5548-4CEA-AE51-952361BE2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0"/>
            <a:ext cx="4876800" cy="295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380" name="Picture 4" descr="f26-12c">
            <a:extLst>
              <a:ext uri="{FF2B5EF4-FFF2-40B4-BE49-F238E27FC236}">
                <a16:creationId xmlns:a16="http://schemas.microsoft.com/office/drawing/2014/main" id="{C66FE927-284D-47A6-AB66-9E0E54578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95"/>
          <a:stretch>
            <a:fillRect/>
          </a:stretch>
        </p:blipFill>
        <p:spPr bwMode="auto">
          <a:xfrm>
            <a:off x="0" y="3124200"/>
            <a:ext cx="91440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Rectangle 5">
            <a:extLst>
              <a:ext uri="{FF2B5EF4-FFF2-40B4-BE49-F238E27FC236}">
                <a16:creationId xmlns:a16="http://schemas.microsoft.com/office/drawing/2014/main" id="{993E2153-2179-4F8E-8CFA-F009EDAF2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712" y="4797152"/>
            <a:ext cx="8499475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3600" dirty="0">
                <a:latin typeface="Arial" charset="0"/>
              </a:rPr>
              <a:t>Demonstration of noncoding sequences in the chicken ovalbumin gene by RNA-DNA hybridization</a:t>
            </a:r>
          </a:p>
        </p:txBody>
      </p:sp>
    </p:spTree>
    <p:extLst>
      <p:ext uri="{BB962C8B-B14F-4D97-AF65-F5344CB8AC3E}">
        <p14:creationId xmlns:p14="http://schemas.microsoft.com/office/powerpoint/2010/main" val="257876100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2" name="Picture 2" descr="sharp">
            <a:extLst>
              <a:ext uri="{FF2B5EF4-FFF2-40B4-BE49-F238E27FC236}">
                <a16:creationId xmlns:a16="http://schemas.microsoft.com/office/drawing/2014/main" id="{080CDD7E-700A-400A-80E2-5314D2B8A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0"/>
            <a:ext cx="59928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03" name="Line 3">
            <a:extLst>
              <a:ext uri="{FF2B5EF4-FFF2-40B4-BE49-F238E27FC236}">
                <a16:creationId xmlns:a16="http://schemas.microsoft.com/office/drawing/2014/main" id="{4897FB24-3A59-4C02-9F56-0195A25860C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7760" y="1196752"/>
            <a:ext cx="914400" cy="0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81678"/>
      </p:ext>
    </p:extLst>
  </p:cSld>
  <p:clrMapOvr>
    <a:masterClrMapping/>
  </p:clrMapOvr>
  <p:transition>
    <p:random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5D0B35F5-65F9-403F-880E-A723BC5CC4B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57188"/>
            <a:ext cx="9144000" cy="1920875"/>
          </a:xfrm>
        </p:spPr>
        <p:txBody>
          <a:bodyPr/>
          <a:lstStyle/>
          <a:p>
            <a:pPr eaLnBrk="1" hangingPunct="1"/>
            <a:r>
              <a:rPr lang="en-US" altLang="zh-CN" sz="4000" dirty="0">
                <a:solidFill>
                  <a:srgbClr val="7030A0"/>
                </a:solidFill>
              </a:rPr>
              <a:t>4. Introns are self-splicing and the ends of the exon sequences ligate together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F2D5020C-5BD9-4886-9559-57A05CF3B51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2743200"/>
            <a:ext cx="8915400" cy="4114800"/>
          </a:xfrm>
        </p:spPr>
        <p:txBody>
          <a:bodyPr/>
          <a:lstStyle/>
          <a:p>
            <a:pPr eaLnBrk="1" hangingPunct="1"/>
            <a:r>
              <a:rPr lang="en-US" altLang="zh-CN" dirty="0"/>
              <a:t>The intron is removed and the two exons precisely linked to produce a functional mRNA molecule in Eukaryotes.</a:t>
            </a:r>
          </a:p>
        </p:txBody>
      </p:sp>
    </p:spTree>
    <p:extLst>
      <p:ext uri="{BB962C8B-B14F-4D97-AF65-F5344CB8AC3E}">
        <p14:creationId xmlns:p14="http://schemas.microsoft.com/office/powerpoint/2010/main" val="211845718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8AEF0E4-8B56-43A3-978F-F4579640FE8F}"/>
              </a:ext>
            </a:extLst>
          </p:cNvPr>
          <p:cNvSpPr txBox="1"/>
          <p:nvPr/>
        </p:nvSpPr>
        <p:spPr>
          <a:xfrm>
            <a:off x="1907704" y="260648"/>
            <a:ext cx="55446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Four classes of introns </a:t>
            </a:r>
            <a:br>
              <a:rPr lang="en-US" altLang="zh-CN" sz="3600" dirty="0"/>
            </a:br>
            <a:endParaRPr lang="zh-CN" altLang="en-US" sz="3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E9C4FA9-A5F6-4AF4-83A0-2E14D0F70747}"/>
              </a:ext>
            </a:extLst>
          </p:cNvPr>
          <p:cNvSpPr txBox="1"/>
          <p:nvPr/>
        </p:nvSpPr>
        <p:spPr>
          <a:xfrm>
            <a:off x="467544" y="1484784"/>
            <a:ext cx="698477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u="sng" dirty="0"/>
              <a:t>Group I introns</a:t>
            </a:r>
            <a:r>
              <a:rPr lang="en-US" altLang="zh-CN" dirty="0"/>
              <a:t>      nuclear,</a:t>
            </a:r>
            <a:r>
              <a:rPr lang="zh-CN" altLang="en-US" dirty="0"/>
              <a:t> </a:t>
            </a:r>
            <a:r>
              <a:rPr lang="en-US" altLang="zh-CN" dirty="0"/>
              <a:t>mitochondrial, and chloroplast	</a:t>
            </a:r>
          </a:p>
          <a:p>
            <a:r>
              <a:rPr lang="en-US" altLang="zh-CN" dirty="0"/>
              <a:t>                                genes that code for rRNAs, </a:t>
            </a:r>
          </a:p>
          <a:p>
            <a:r>
              <a:rPr lang="en-US" altLang="zh-CN" dirty="0"/>
              <a:t>                                 mRNAs, and tRNAs. </a:t>
            </a:r>
          </a:p>
          <a:p>
            <a:endParaRPr lang="en-US" altLang="zh-CN" dirty="0"/>
          </a:p>
          <a:p>
            <a:r>
              <a:rPr lang="en-US" altLang="zh-CN" b="1" u="sng" dirty="0"/>
              <a:t>Group II introns</a:t>
            </a:r>
            <a:r>
              <a:rPr lang="en-US" altLang="zh-CN" dirty="0"/>
              <a:t>       mitochondrial or chloroplast mRNAs </a:t>
            </a:r>
          </a:p>
          <a:p>
            <a:r>
              <a:rPr lang="en-US" altLang="zh-CN" dirty="0"/>
              <a:t>                                  in fungi, algae, and plants.</a:t>
            </a:r>
          </a:p>
          <a:p>
            <a:endParaRPr lang="en-US" altLang="zh-CN" dirty="0"/>
          </a:p>
          <a:p>
            <a:r>
              <a:rPr lang="en-US" altLang="zh-CN" dirty="0"/>
              <a:t> </a:t>
            </a:r>
            <a:r>
              <a:rPr lang="en-US" altLang="zh-CN" b="1" u="sng" dirty="0"/>
              <a:t>Group III </a:t>
            </a:r>
            <a:r>
              <a:rPr lang="en-US" altLang="zh-CN" b="1" u="sng" dirty="0" err="1"/>
              <a:t>introns</a:t>
            </a:r>
            <a:r>
              <a:rPr lang="en-US" altLang="zh-CN" dirty="0"/>
              <a:t> 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b="1" u="sng" dirty="0"/>
              <a:t>Group IV </a:t>
            </a:r>
            <a:r>
              <a:rPr lang="en-US" altLang="zh-CN" b="1" u="sng" dirty="0" err="1"/>
              <a:t>introns</a:t>
            </a:r>
            <a:r>
              <a:rPr lang="en-US" altLang="zh-CN" dirty="0"/>
              <a:t> </a:t>
            </a:r>
            <a:br>
              <a:rPr lang="en-US" altLang="zh-CN" dirty="0"/>
            </a:b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F311C45-87C5-46CE-B1C0-A738480BCB04}"/>
              </a:ext>
            </a:extLst>
          </p:cNvPr>
          <p:cNvSpPr/>
          <p:nvPr/>
        </p:nvSpPr>
        <p:spPr>
          <a:xfrm>
            <a:off x="7020272" y="1192684"/>
            <a:ext cx="1800200" cy="1754326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i="1" dirty="0"/>
              <a:t>self-splicing</a:t>
            </a:r>
          </a:p>
          <a:p>
            <a:br>
              <a:rPr lang="en-US" altLang="zh-CN" dirty="0"/>
            </a:br>
            <a:endParaRPr lang="en-US" altLang="zh-CN" dirty="0">
              <a:solidFill>
                <a:srgbClr val="231F20"/>
              </a:solidFill>
              <a:latin typeface="CenturyStd-Light"/>
            </a:endParaRPr>
          </a:p>
          <a:p>
            <a:r>
              <a:rPr lang="en-US" altLang="zh-CN" dirty="0">
                <a:solidFill>
                  <a:srgbClr val="231F20"/>
                </a:solidFill>
                <a:latin typeface="CenturyStd-Light"/>
              </a:rPr>
              <a:t>no</a:t>
            </a:r>
            <a:br>
              <a:rPr lang="en-US" altLang="zh-CN" dirty="0">
                <a:solidFill>
                  <a:srgbClr val="231F20"/>
                </a:solidFill>
                <a:latin typeface="CenturyStd-Light"/>
              </a:rPr>
            </a:br>
            <a:r>
              <a:rPr lang="en-US" altLang="zh-CN" dirty="0">
                <a:solidFill>
                  <a:srgbClr val="231F20"/>
                </a:solidFill>
                <a:latin typeface="CenturyStd-Light"/>
              </a:rPr>
              <a:t>high-energy (ATP) for splicing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4ECAB9-B719-41E9-8DC8-1F55108DD06D}"/>
              </a:ext>
            </a:extLst>
          </p:cNvPr>
          <p:cNvSpPr/>
          <p:nvPr/>
        </p:nvSpPr>
        <p:spPr>
          <a:xfrm>
            <a:off x="2843808" y="3429000"/>
            <a:ext cx="5688632" cy="2031325"/>
          </a:xfrm>
          <a:prstGeom prst="rect">
            <a:avLst/>
          </a:prstGeom>
          <a:ln w="28575"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Group III: the </a:t>
            </a:r>
            <a:r>
              <a:rPr lang="en-US" altLang="zh-CN" b="1" dirty="0" err="1"/>
              <a:t>spliceosomal</a:t>
            </a:r>
            <a:r>
              <a:rPr lang="en-US" altLang="zh-CN" b="1" dirty="0"/>
              <a:t> introns</a:t>
            </a:r>
            <a:endParaRPr lang="en-US" altLang="zh-CN" dirty="0"/>
          </a:p>
          <a:p>
            <a:r>
              <a:rPr lang="en-US" altLang="zh-CN" b="1" dirty="0">
                <a:solidFill>
                  <a:srgbClr val="231F20"/>
                </a:solidFill>
                <a:latin typeface="CenturyStd-Bold"/>
              </a:rPr>
              <a:t>spliceosome</a:t>
            </a:r>
            <a:r>
              <a:rPr lang="en-US" altLang="zh-CN" dirty="0">
                <a:solidFill>
                  <a:srgbClr val="231F20"/>
                </a:solidFill>
                <a:latin typeface="CenturyStd-Light"/>
              </a:rPr>
              <a:t> (protein complex) , containing:</a:t>
            </a:r>
          </a:p>
          <a:p>
            <a:endParaRPr lang="en-US" altLang="zh-CN" dirty="0">
              <a:solidFill>
                <a:srgbClr val="231F20"/>
              </a:solidFill>
              <a:latin typeface="CenturyStd-Light"/>
            </a:endParaRPr>
          </a:p>
          <a:p>
            <a:r>
              <a:rPr lang="en-US" altLang="zh-CN" b="1" dirty="0">
                <a:solidFill>
                  <a:srgbClr val="231F20"/>
                </a:solidFill>
                <a:latin typeface="CenturyStd-Bold"/>
              </a:rPr>
              <a:t>small nuclear RNAs</a:t>
            </a:r>
            <a:br>
              <a:rPr lang="en-US" altLang="zh-CN" b="1" dirty="0">
                <a:solidFill>
                  <a:srgbClr val="231F20"/>
                </a:solidFill>
                <a:latin typeface="CenturyStd-Bold"/>
              </a:rPr>
            </a:br>
            <a:r>
              <a:rPr lang="en-US" altLang="zh-CN" b="1" dirty="0">
                <a:solidFill>
                  <a:srgbClr val="231F20"/>
                </a:solidFill>
                <a:latin typeface="CenturyStd-Bold"/>
              </a:rPr>
              <a:t>(snRNAs)</a:t>
            </a:r>
            <a:r>
              <a:rPr lang="en-US" altLang="zh-CN" dirty="0"/>
              <a:t> : </a:t>
            </a:r>
            <a:r>
              <a:rPr lang="pl-PL" altLang="zh-CN" dirty="0">
                <a:solidFill>
                  <a:srgbClr val="231F20"/>
                </a:solidFill>
                <a:latin typeface="CenturyStd-Light"/>
              </a:rPr>
              <a:t>Five snRNAs (U1, U2, U4, U5, and U6)</a:t>
            </a:r>
            <a:endParaRPr lang="en-US" altLang="zh-CN" dirty="0">
              <a:solidFill>
                <a:srgbClr val="231F20"/>
              </a:solidFill>
              <a:latin typeface="CenturyStd-Light"/>
            </a:endParaRPr>
          </a:p>
          <a:p>
            <a:endParaRPr lang="en-US" altLang="zh-CN" dirty="0">
              <a:solidFill>
                <a:srgbClr val="231F20"/>
              </a:solidFill>
              <a:latin typeface="CenturyStd-Light"/>
            </a:endParaRPr>
          </a:p>
          <a:p>
            <a:r>
              <a:rPr lang="en-US" altLang="zh-CN" b="1" dirty="0">
                <a:solidFill>
                  <a:srgbClr val="231F20"/>
                </a:solidFill>
                <a:latin typeface="CenturyStd-Bold"/>
              </a:rPr>
              <a:t>small nuclear ribonucleoproteins (snRNPs)</a:t>
            </a:r>
            <a:endParaRPr lang="zh-CN" altLang="en-US" dirty="0"/>
          </a:p>
        </p:txBody>
      </p:sp>
      <p:sp>
        <p:nvSpPr>
          <p:cNvPr id="6" name="右大括号 5"/>
          <p:cNvSpPr/>
          <p:nvPr/>
        </p:nvSpPr>
        <p:spPr>
          <a:xfrm>
            <a:off x="6588224" y="1700808"/>
            <a:ext cx="288032" cy="1656184"/>
          </a:xfrm>
          <a:prstGeom prst="rightBrac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68C2E49-0436-2F1C-BB09-2EBCAEA67561}"/>
              </a:ext>
            </a:extLst>
          </p:cNvPr>
          <p:cNvSpPr txBox="1"/>
          <p:nvPr/>
        </p:nvSpPr>
        <p:spPr>
          <a:xfrm>
            <a:off x="1331640" y="5520421"/>
            <a:ext cx="6660680" cy="646331"/>
          </a:xfrm>
          <a:prstGeom prst="rect">
            <a:avLst/>
          </a:prstGeom>
          <a:noFill/>
          <a:ln>
            <a:solidFill>
              <a:srgbClr val="3399FF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NewRomanPSMT"/>
              </a:rPr>
              <a:t>Group IV: found in certain tRNAs, requires ATP and an endonuclease. 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1546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7A11E0B-CAF3-427A-A9EB-AC4C46A6C9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lum bright="-30000" contrast="30000"/>
          </a:blip>
          <a:stretch>
            <a:fillRect/>
          </a:stretch>
        </p:blipFill>
        <p:spPr>
          <a:xfrm>
            <a:off x="1550172" y="692696"/>
            <a:ext cx="6043655" cy="576064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763688" y="188640"/>
            <a:ext cx="59766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Splicing mechanism of group I </a:t>
            </a:r>
            <a:r>
              <a:rPr lang="en-US" altLang="zh-CN" sz="2400" dirty="0" err="1"/>
              <a:t>introns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2699792" y="2996952"/>
            <a:ext cx="710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GMP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925456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E69BB20-3C0D-4EE0-BD99-D87684706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lum bright="-30000" contrast="30000"/>
          </a:blip>
          <a:stretch>
            <a:fillRect/>
          </a:stretch>
        </p:blipFill>
        <p:spPr>
          <a:xfrm>
            <a:off x="1907704" y="620688"/>
            <a:ext cx="5292817" cy="580526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763688" y="188640"/>
            <a:ext cx="59766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Splicing mechanism of group II </a:t>
            </a:r>
            <a:r>
              <a:rPr lang="en-US" altLang="zh-CN" sz="2400" dirty="0" err="1"/>
              <a:t>introns</a:t>
            </a:r>
            <a:endParaRPr lang="zh-CN" altLang="en-US" sz="2400" dirty="0"/>
          </a:p>
        </p:txBody>
      </p:sp>
      <p:sp>
        <p:nvSpPr>
          <p:cNvPr id="4" name="弧形 3"/>
          <p:cNvSpPr/>
          <p:nvPr/>
        </p:nvSpPr>
        <p:spPr>
          <a:xfrm rot="12530822">
            <a:off x="5979725" y="3300356"/>
            <a:ext cx="360040" cy="1152128"/>
          </a:xfrm>
          <a:prstGeom prst="arc">
            <a:avLst>
              <a:gd name="adj1" fmla="val 16200000"/>
              <a:gd name="adj2" fmla="val 5294396"/>
            </a:avLst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805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3" presetClass="exit" presetSubtype="1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1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3" presetClass="exit" presetSubtype="1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11" presetClass="entr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3" presetClass="exit" presetSubtype="1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3" animBg="1"/>
      <p:bldP spid="4" grpId="4" animBg="1"/>
      <p:bldP spid="4" grpId="5" animBg="1"/>
      <p:bldP spid="4" grpId="6" animBg="1"/>
      <p:bldP spid="4" grpId="7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E47CCA4-62E2-4F50-B4F8-90C299669E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lum bright="-30000" contrast="30000"/>
          </a:blip>
          <a:stretch>
            <a:fillRect/>
          </a:stretch>
        </p:blipFill>
        <p:spPr>
          <a:xfrm>
            <a:off x="683568" y="836712"/>
            <a:ext cx="7704855" cy="576064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矩形 2"/>
          <p:cNvSpPr/>
          <p:nvPr/>
        </p:nvSpPr>
        <p:spPr>
          <a:xfrm>
            <a:off x="971600" y="188640"/>
            <a:ext cx="74888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Splicing mechanism with </a:t>
            </a:r>
            <a:r>
              <a:rPr lang="en-US" altLang="zh-CN" sz="2400" dirty="0" err="1"/>
              <a:t>spliceosome</a:t>
            </a:r>
            <a:r>
              <a:rPr lang="en-US" altLang="zh-CN" sz="2400" dirty="0"/>
              <a:t> complexes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4984936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50" name="Picture 2" descr="splicing intron">
            <a:extLst>
              <a:ext uri="{FF2B5EF4-FFF2-40B4-BE49-F238E27FC236}">
                <a16:creationId xmlns:a16="http://schemas.microsoft.com/office/drawing/2014/main" id="{6B91FF7C-50BE-4B01-9A43-E848604B4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lum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3" r="7018"/>
          <a:stretch>
            <a:fillRect/>
          </a:stretch>
        </p:blipFill>
        <p:spPr bwMode="auto">
          <a:xfrm>
            <a:off x="0" y="1436688"/>
            <a:ext cx="9144000" cy="496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451" name="Text Box 3">
            <a:extLst>
              <a:ext uri="{FF2B5EF4-FFF2-40B4-BE49-F238E27FC236}">
                <a16:creationId xmlns:a16="http://schemas.microsoft.com/office/drawing/2014/main" id="{7D2EABEE-602C-4BE5-A421-25023311A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875" y="3900488"/>
            <a:ext cx="1695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sz="1800" b="1">
                <a:solidFill>
                  <a:schemeClr val="folHlink"/>
                </a:solidFill>
                <a:ea typeface="Gulim" panose="020B0600000101010101" pitchFamily="34" charset="-127"/>
              </a:rPr>
              <a:t>UACUA</a:t>
            </a:r>
            <a:r>
              <a:rPr lang="en-US" altLang="zh-CN" sz="1800" b="1">
                <a:solidFill>
                  <a:srgbClr val="000000"/>
                </a:solidFill>
                <a:ea typeface="Gulim" panose="020B0600000101010101" pitchFamily="34" charset="-127"/>
              </a:rPr>
              <a:t>A</a:t>
            </a:r>
            <a:r>
              <a:rPr lang="en-US" altLang="zh-CN" sz="1800" b="1">
                <a:solidFill>
                  <a:schemeClr val="folHlink"/>
                </a:solidFill>
                <a:ea typeface="Gulim" panose="020B0600000101010101" pitchFamily="34" charset="-127"/>
              </a:rPr>
              <a:t>C</a:t>
            </a:r>
          </a:p>
        </p:txBody>
      </p:sp>
      <p:sp>
        <p:nvSpPr>
          <p:cNvPr id="104452" name="Text Box 4">
            <a:extLst>
              <a:ext uri="{FF2B5EF4-FFF2-40B4-BE49-F238E27FC236}">
                <a16:creationId xmlns:a16="http://schemas.microsoft.com/office/drawing/2014/main" id="{9A59ECFF-F2A3-45CF-B903-E9315BD45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784" y="476672"/>
            <a:ext cx="4283075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3600" dirty="0">
                <a:solidFill>
                  <a:srgbClr val="000000"/>
                </a:solidFill>
                <a:latin typeface="Times New Roman" panose="02020603050405020304" pitchFamily="18" charset="0"/>
              </a:rPr>
              <a:t>R- purine  </a:t>
            </a:r>
            <a:r>
              <a:rPr lang="zh-CN" altLang="en-US" sz="3600" dirty="0">
                <a:solidFill>
                  <a:srgbClr val="000000"/>
                </a:solidFill>
                <a:latin typeface="Times New Roman" panose="02020603050405020304" pitchFamily="18" charset="0"/>
              </a:rPr>
              <a:t>嘌呤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3600" dirty="0">
                <a:solidFill>
                  <a:srgbClr val="000000"/>
                </a:solidFill>
                <a:latin typeface="Times New Roman" panose="02020603050405020304" pitchFamily="18" charset="0"/>
              </a:rPr>
              <a:t>Y- pyrimidine   </a:t>
            </a:r>
            <a:r>
              <a:rPr lang="zh-CN" altLang="en-US" sz="3600" dirty="0">
                <a:solidFill>
                  <a:srgbClr val="000000"/>
                </a:solidFill>
                <a:latin typeface="Times New Roman" panose="02020603050405020304" pitchFamily="18" charset="0"/>
              </a:rPr>
              <a:t>嘧啶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F6CF422-4696-0369-FA02-BB26F111460B}"/>
              </a:ext>
            </a:extLst>
          </p:cNvPr>
          <p:cNvSpPr txBox="1"/>
          <p:nvPr/>
        </p:nvSpPr>
        <p:spPr>
          <a:xfrm>
            <a:off x="7596336" y="548680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Group III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372344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4" name="Picture 2" descr="splicing intron-2">
            <a:extLst>
              <a:ext uri="{FF2B5EF4-FFF2-40B4-BE49-F238E27FC236}">
                <a16:creationId xmlns:a16="http://schemas.microsoft.com/office/drawing/2014/main" id="{02CC29E3-FDDF-4A2E-B054-AA9595387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lum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2712"/>
            <a:ext cx="8534400" cy="663257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7195221-F732-9364-E0CA-D590898BFC74}"/>
              </a:ext>
            </a:extLst>
          </p:cNvPr>
          <p:cNvSpPr txBox="1"/>
          <p:nvPr/>
        </p:nvSpPr>
        <p:spPr>
          <a:xfrm>
            <a:off x="7596336" y="548680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Group III </a:t>
            </a:r>
            <a:endParaRPr lang="zh-CN" altLang="en-US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2F2676E3-7566-41A6-2F44-24D05EFF0A49}"/>
              </a:ext>
            </a:extLst>
          </p:cNvPr>
          <p:cNvCxnSpPr/>
          <p:nvPr/>
        </p:nvCxnSpPr>
        <p:spPr>
          <a:xfrm flipH="1" flipV="1">
            <a:off x="5108875" y="2885755"/>
            <a:ext cx="288032" cy="5040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6F571B4-B441-CD80-5B9E-B8A61A75E059}"/>
              </a:ext>
            </a:extLst>
          </p:cNvPr>
          <p:cNvSpPr txBox="1"/>
          <p:nvPr/>
        </p:nvSpPr>
        <p:spPr>
          <a:xfrm>
            <a:off x="5396907" y="2953117"/>
            <a:ext cx="2830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2’-5’ phosphodiester bond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5813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ext Box 2">
            <a:extLst>
              <a:ext uri="{FF2B5EF4-FFF2-40B4-BE49-F238E27FC236}">
                <a16:creationId xmlns:a16="http://schemas.microsoft.com/office/drawing/2014/main" id="{1B159F58-6B17-475F-B67C-D5EBD30EA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57200"/>
            <a:ext cx="815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107523" name="Text Box 4">
            <a:extLst>
              <a:ext uri="{FF2B5EF4-FFF2-40B4-BE49-F238E27FC236}">
                <a16:creationId xmlns:a16="http://schemas.microsoft.com/office/drawing/2014/main" id="{D8D635EC-CDE2-40A3-916D-B8ACDAF98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8458200" cy="378565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dirty="0"/>
              <a:t>RNA</a:t>
            </a:r>
            <a:r>
              <a:rPr lang="zh-CN" altLang="en-US" dirty="0"/>
              <a:t>剪接分两个步骤进行：
内含子中特定腺苷的 </a:t>
            </a:r>
            <a:r>
              <a:rPr lang="en-US" altLang="zh-CN" dirty="0" err="1"/>
              <a:t>2'OH</a:t>
            </a:r>
            <a:r>
              <a:rPr lang="en-US" altLang="zh-CN" dirty="0"/>
              <a:t> </a:t>
            </a:r>
            <a:r>
              <a:rPr lang="zh-CN" altLang="en-US" dirty="0"/>
              <a:t>充当亲核试剂，攻击 </a:t>
            </a:r>
            <a:r>
              <a:rPr lang="en-US" altLang="zh-CN" dirty="0"/>
              <a:t>5' </a:t>
            </a:r>
            <a:r>
              <a:rPr lang="zh-CN" altLang="en-US" dirty="0"/>
              <a:t>剪接位点以形成套板结构。
</a:t>
            </a:r>
            <a:r>
              <a:rPr lang="en-US" altLang="zh-CN" dirty="0"/>
              <a:t>5'</a:t>
            </a:r>
            <a:r>
              <a:rPr lang="zh-CN" altLang="en-US" dirty="0"/>
              <a:t>外显子的 </a:t>
            </a:r>
            <a:r>
              <a:rPr lang="en-US" altLang="zh-CN" dirty="0" err="1"/>
              <a:t>3'OH</a:t>
            </a:r>
            <a:r>
              <a:rPr lang="en-US" altLang="zh-CN" dirty="0"/>
              <a:t> </a:t>
            </a:r>
            <a:r>
              <a:rPr lang="zh-CN" altLang="en-US" dirty="0"/>
              <a:t>充当亲核试剂，完成反应
在两个剪接反应中的每一个中，一个磷酸酯键被交换为另一个磷酸酯键。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1304742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ext Box 2">
            <a:extLst>
              <a:ext uri="{FF2B5EF4-FFF2-40B4-BE49-F238E27FC236}">
                <a16:creationId xmlns:a16="http://schemas.microsoft.com/office/drawing/2014/main" id="{0D9661FE-C85A-4052-AF1C-6FBF2CD27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762000"/>
            <a:ext cx="7850832" cy="3933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RNA splicing requires the involvement of several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small nuclear RNAs (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snRNA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b="1" dirty="0">
                <a:latin typeface="Times New Roman" panose="02020603050405020304" pitchFamily="18" charset="0"/>
              </a:rPr>
              <a:t>each of which is associated with several proteins to form a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small nuclear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ribonucleoproteins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b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</a:b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particle or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snRNP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dirty="0"/>
              <a:t>a large protein complex called a </a:t>
            </a:r>
            <a:r>
              <a:rPr lang="en-US" altLang="zh-CN" b="1" dirty="0" err="1">
                <a:solidFill>
                  <a:srgbClr val="FF0000"/>
                </a:solidFill>
              </a:rPr>
              <a:t>spliceosome</a:t>
            </a:r>
            <a:r>
              <a:rPr lang="en-US" altLang="zh-CN" dirty="0"/>
              <a:t> )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79707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ext Box 2">
            <a:extLst>
              <a:ext uri="{FF2B5EF4-FFF2-40B4-BE49-F238E27FC236}">
                <a16:creationId xmlns:a16="http://schemas.microsoft.com/office/drawing/2014/main" id="{E4FB2BE0-672A-428E-AC14-C61A57477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11981"/>
            <a:ext cx="8839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sz="4000" dirty="0">
                <a:solidFill>
                  <a:srgbClr val="7030A0"/>
                </a:solidFill>
                <a:latin typeface="Arial Black" panose="020B0A04020102020204" pitchFamily="34" charset="0"/>
              </a:rPr>
              <a:t>5.Mutiple products are derived from one gene by differential RNA processing</a:t>
            </a:r>
            <a:r>
              <a:rPr lang="en-US" altLang="zh-CN" sz="2400" dirty="0">
                <a:solidFill>
                  <a:srgbClr val="7030A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10595" name="Text Box 3">
            <a:extLst>
              <a:ext uri="{FF2B5EF4-FFF2-40B4-BE49-F238E27FC236}">
                <a16:creationId xmlns:a16="http://schemas.microsoft.com/office/drawing/2014/main" id="{9E846756-6148-4258-8AB5-5DACB05EF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132856"/>
            <a:ext cx="8839200" cy="414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sz="2800" dirty="0"/>
              <a:t>The transcription of introns consumes cellular resources and energy without returning any obvious benefit to the organism, but introns may confer an advantage not yet appreciated by scientists.</a:t>
            </a:r>
          </a:p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sz="2800" dirty="0"/>
              <a:t>Although most eukaryotic mRNA transcripts produce only one mature mRNA and one corresponding polypeptide, some can be processed in more than one way to produce </a:t>
            </a:r>
            <a:r>
              <a:rPr lang="en-US" altLang="zh-CN" sz="2800" b="1" dirty="0">
                <a:solidFill>
                  <a:srgbClr val="7030A0"/>
                </a:solidFill>
              </a:rPr>
              <a:t>different</a:t>
            </a:r>
            <a:r>
              <a:rPr lang="en-US" altLang="zh-CN" sz="2800" dirty="0">
                <a:solidFill>
                  <a:srgbClr val="7030A0"/>
                </a:solidFill>
              </a:rPr>
              <a:t> </a:t>
            </a:r>
            <a:r>
              <a:rPr lang="en-US" altLang="zh-CN" sz="2800" dirty="0"/>
              <a:t>mRNAs and thus different polypeptides.</a:t>
            </a:r>
          </a:p>
        </p:txBody>
      </p:sp>
    </p:spTree>
    <p:extLst>
      <p:ext uri="{BB962C8B-B14F-4D97-AF65-F5344CB8AC3E}">
        <p14:creationId xmlns:p14="http://schemas.microsoft.com/office/powerpoint/2010/main" val="100102918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18" name="Picture 2" descr="f26-21a">
            <a:extLst>
              <a:ext uri="{FF2B5EF4-FFF2-40B4-BE49-F238E27FC236}">
                <a16:creationId xmlns:a16="http://schemas.microsoft.com/office/drawing/2014/main" id="{4710E254-0998-4162-B819-12FBC6A33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8006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1619" name="Picture 3" descr="f26-21b">
            <a:extLst>
              <a:ext uri="{FF2B5EF4-FFF2-40B4-BE49-F238E27FC236}">
                <a16:creationId xmlns:a16="http://schemas.microsoft.com/office/drawing/2014/main" id="{DD160283-7D89-4C4F-8FD8-B81EAC042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0"/>
            <a:ext cx="4267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7" name="Rectangle 5">
            <a:extLst>
              <a:ext uri="{FF2B5EF4-FFF2-40B4-BE49-F238E27FC236}">
                <a16:creationId xmlns:a16="http://schemas.microsoft.com/office/drawing/2014/main" id="{9C5AEC3E-1531-4D5A-ADF9-1BF9B174B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715000"/>
            <a:ext cx="44958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Multiple mRNAs can be produced via differential RNA processing.</a:t>
            </a:r>
          </a:p>
        </p:txBody>
      </p:sp>
    </p:spTree>
    <p:extLst>
      <p:ext uri="{BB962C8B-B14F-4D97-AF65-F5344CB8AC3E}">
        <p14:creationId xmlns:p14="http://schemas.microsoft.com/office/powerpoint/2010/main" val="319118187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2">
            <a:extLst>
              <a:ext uri="{FF2B5EF4-FFF2-40B4-BE49-F238E27FC236}">
                <a16:creationId xmlns:a16="http://schemas.microsoft.com/office/drawing/2014/main" id="{1FEC1C2D-6512-496E-A186-021F4B9AD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976" y="548680"/>
            <a:ext cx="9231560" cy="49688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In Fig. a,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alternative cleavage </a:t>
            </a:r>
            <a:r>
              <a:rPr lang="en-US" altLang="zh-CN" b="1" dirty="0">
                <a:latin typeface="Times New Roman" panose="02020603050405020304" pitchFamily="18" charset="0"/>
              </a:rPr>
              <a:t>and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polyadenylation</a:t>
            </a:r>
            <a:r>
              <a:rPr lang="en-US" altLang="zh-CN" b="1" dirty="0">
                <a:latin typeface="Times New Roman" panose="02020603050405020304" pitchFamily="18" charset="0"/>
              </a:rPr>
              <a:t> patterns.</a:t>
            </a:r>
          </a:p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Two ply(A) sites, A1 and A2, are shown.</a:t>
            </a:r>
          </a:p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In Fig. b,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alternative splicing patterns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Two different 3’ splice sites are shown. In both mechanisms, different mature mRNAs are produced from the same primary transcript.</a:t>
            </a:r>
          </a:p>
        </p:txBody>
      </p:sp>
    </p:spTree>
    <p:extLst>
      <p:ext uri="{BB962C8B-B14F-4D97-AF65-F5344CB8AC3E}">
        <p14:creationId xmlns:p14="http://schemas.microsoft.com/office/powerpoint/2010/main" val="33725828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ext Box 2">
            <a:extLst>
              <a:ext uri="{FF2B5EF4-FFF2-40B4-BE49-F238E27FC236}">
                <a16:creationId xmlns:a16="http://schemas.microsoft.com/office/drawing/2014/main" id="{680D5EE1-E46D-49B8-8386-7986D5CF1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81000"/>
            <a:ext cx="89154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sz="4000" dirty="0">
                <a:solidFill>
                  <a:srgbClr val="7030A0"/>
                </a:solidFill>
                <a:latin typeface="Arial Black" panose="020B0A04020102020204" pitchFamily="34" charset="0"/>
              </a:rPr>
              <a:t>6. The sequence of an RNA molecule may be changed after synthesis and processing</a:t>
            </a:r>
          </a:p>
        </p:txBody>
      </p:sp>
      <p:sp>
        <p:nvSpPr>
          <p:cNvPr id="113667" name="Text Box 3">
            <a:extLst>
              <a:ext uri="{FF2B5EF4-FFF2-40B4-BE49-F238E27FC236}">
                <a16:creationId xmlns:a16="http://schemas.microsoft.com/office/drawing/2014/main" id="{2440D641-CA4D-462E-AD32-BF15CD421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667000"/>
            <a:ext cx="7772400" cy="35394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Individual nucleotides within the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mRNA </a:t>
            </a:r>
            <a:r>
              <a:rPr lang="en-US" altLang="zh-CN" b="1" dirty="0">
                <a:latin typeface="Times New Roman" panose="02020603050405020304" pitchFamily="18" charset="0"/>
              </a:rPr>
              <a:t>may be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changed</a:t>
            </a:r>
            <a:r>
              <a:rPr lang="en-US" altLang="zh-CN" b="1" dirty="0">
                <a:latin typeface="Times New Roman" panose="02020603050405020304" pitchFamily="18" charset="0"/>
              </a:rPr>
              <a:t> to other </a:t>
            </a:r>
            <a:r>
              <a:rPr lang="en-US" altLang="zh-CN" b="1" dirty="0" err="1">
                <a:latin typeface="Times New Roman" panose="02020603050405020304" pitchFamily="18" charset="0"/>
              </a:rPr>
              <a:t>mucleotides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deleted </a:t>
            </a:r>
            <a:r>
              <a:rPr lang="en-US" altLang="zh-CN" b="1" dirty="0">
                <a:latin typeface="Times New Roman" panose="02020603050405020304" pitchFamily="18" charset="0"/>
              </a:rPr>
              <a:t>entirely or additional nucleotides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inserted</a:t>
            </a:r>
            <a:r>
              <a:rPr lang="en-US" altLang="zh-CN" b="1" dirty="0">
                <a:latin typeface="Times New Roman" panose="02020603050405020304" pitchFamily="18" charset="0"/>
              </a:rPr>
              <a:t>. The effect of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RNA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editing</a:t>
            </a: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is to change the coding capacity of the mRNA so that it encodes a different polypeptide than that originally encoded be the gene</a:t>
            </a:r>
            <a:r>
              <a:rPr lang="en-US" altLang="zh-CN" sz="2400" dirty="0">
                <a:latin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058134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90" name="Picture 2" descr="RNA editing">
            <a:extLst>
              <a:ext uri="{FF2B5EF4-FFF2-40B4-BE49-F238E27FC236}">
                <a16:creationId xmlns:a16="http://schemas.microsoft.com/office/drawing/2014/main" id="{B42849FB-7D02-4B44-AC22-7FE34CB77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lum brigh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1" t="12624" r="8911" b="13797"/>
          <a:stretch>
            <a:fillRect/>
          </a:stretch>
        </p:blipFill>
        <p:spPr bwMode="auto">
          <a:xfrm>
            <a:off x="228600" y="76200"/>
            <a:ext cx="8763000" cy="667702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7812360" y="332656"/>
            <a:ext cx="1872208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spcBef>
                <a:spcPct val="30000"/>
              </a:spcBef>
              <a:defRPr/>
            </a:pPr>
            <a:r>
              <a:rPr lang="en-US" altLang="zh-CN" dirty="0"/>
              <a:t>CAA =</a:t>
            </a:r>
            <a:r>
              <a:rPr lang="en-US" altLang="zh-CN" dirty="0" err="1"/>
              <a:t>gln</a:t>
            </a:r>
            <a:endParaRPr lang="en-US" altLang="zh-CN" dirty="0"/>
          </a:p>
          <a:p>
            <a:pPr lvl="0" eaLnBrk="0" hangingPunct="0">
              <a:spcBef>
                <a:spcPct val="30000"/>
              </a:spcBef>
              <a:defRPr/>
            </a:pPr>
            <a:r>
              <a:rPr lang="en-US" altLang="zh-CN" dirty="0"/>
              <a:t>UAA =stop</a:t>
            </a:r>
          </a:p>
        </p:txBody>
      </p:sp>
    </p:spTree>
    <p:extLst>
      <p:ext uri="{BB962C8B-B14F-4D97-AF65-F5344CB8AC3E}">
        <p14:creationId xmlns:p14="http://schemas.microsoft.com/office/powerpoint/2010/main" val="184841686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4" name="Picture 4">
            <a:extLst>
              <a:ext uri="{FF2B5EF4-FFF2-40B4-BE49-F238E27FC236}">
                <a16:creationId xmlns:a16="http://schemas.microsoft.com/office/drawing/2014/main" id="{6704F0A4-8E5B-44DD-A9A3-119F7D207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0"/>
            <a:ext cx="6310313" cy="640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F4AE85-F1EC-4861-9B70-48A1C94A8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90" b="11891"/>
          <a:stretch>
            <a:fillRect/>
          </a:stretch>
        </p:blipFill>
        <p:spPr bwMode="auto">
          <a:xfrm>
            <a:off x="323527" y="188640"/>
            <a:ext cx="2234291" cy="2172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3CBD2BF0-3565-4845-8793-8BB03C263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164" b="11189"/>
          <a:stretch>
            <a:fillRect/>
          </a:stretch>
        </p:blipFill>
        <p:spPr bwMode="auto">
          <a:xfrm>
            <a:off x="323528" y="3429000"/>
            <a:ext cx="1781715" cy="2372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185522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90" name="Picture 2"/>
          <p:cNvPicPr>
            <a:picLocks noChangeAspect="1" noChangeArrowheads="1"/>
          </p:cNvPicPr>
          <p:nvPr/>
        </p:nvPicPr>
        <p:blipFill>
          <a:blip r:embed="rId2" cstate="print">
            <a:lum bright="-20000" contrast="30000"/>
          </a:blip>
          <a:srcRect l="2063" t="3801" r="41238" b="11150"/>
          <a:stretch>
            <a:fillRect/>
          </a:stretch>
        </p:blipFill>
        <p:spPr bwMode="auto">
          <a:xfrm>
            <a:off x="251520" y="0"/>
            <a:ext cx="7560840" cy="6379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直接连接符 3"/>
          <p:cNvCxnSpPr/>
          <p:nvPr/>
        </p:nvCxnSpPr>
        <p:spPr>
          <a:xfrm>
            <a:off x="971600" y="2564904"/>
            <a:ext cx="374441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915816" y="1988840"/>
            <a:ext cx="3024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2015.12-2018.2 </a:t>
            </a:r>
          </a:p>
          <a:p>
            <a:r>
              <a:rPr lang="en-US" altLang="zh-CN" dirty="0"/>
              <a:t> 10 papers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72B5249-B33C-41BA-ADCB-F5FAB29F4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AAAB1B24-2FD9-46AF-9489-9BFB75E770D4}"/>
              </a:ext>
            </a:extLst>
          </p:cNvPr>
          <p:cNvSpPr txBox="1"/>
          <p:nvPr/>
        </p:nvSpPr>
        <p:spPr>
          <a:xfrm>
            <a:off x="4139952" y="1844824"/>
            <a:ext cx="3024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Today 2019.10.28</a:t>
            </a:r>
          </a:p>
          <a:p>
            <a:r>
              <a:rPr lang="en-US" altLang="zh-CN" dirty="0"/>
              <a:t>40 papers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651425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E4E5968-3DCA-440F-984E-A023A99BA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BE93328-AF56-49FF-80BC-49C02C0A655E}"/>
              </a:ext>
            </a:extLst>
          </p:cNvPr>
          <p:cNvSpPr txBox="1"/>
          <p:nvPr/>
        </p:nvSpPr>
        <p:spPr>
          <a:xfrm>
            <a:off x="4932040" y="2060848"/>
            <a:ext cx="2018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Today 2020.10.29</a:t>
            </a:r>
          </a:p>
          <a:p>
            <a:r>
              <a:rPr lang="en-US" altLang="zh-CN" dirty="0"/>
              <a:t>44 Papers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344933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D1C24A2-7FE7-1502-FACB-863A2566D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E9E52A1-6A45-D5ED-0FEE-F45011CAFA70}"/>
              </a:ext>
            </a:extLst>
          </p:cNvPr>
          <p:cNvSpPr txBox="1"/>
          <p:nvPr/>
        </p:nvSpPr>
        <p:spPr>
          <a:xfrm>
            <a:off x="6732240" y="620688"/>
            <a:ext cx="1402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2022.10.27 </a:t>
            </a:r>
          </a:p>
          <a:p>
            <a:r>
              <a:rPr lang="en-US" altLang="zh-CN" dirty="0"/>
              <a:t>767 Papers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522397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ext Box 1026">
            <a:extLst>
              <a:ext uri="{FF2B5EF4-FFF2-40B4-BE49-F238E27FC236}">
                <a16:creationId xmlns:a16="http://schemas.microsoft.com/office/drawing/2014/main" id="{055B6C88-D8F9-438C-9594-DA093F492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81000"/>
            <a:ext cx="5867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sz="4400" b="1" dirty="0">
                <a:latin typeface="Times New Roman" panose="02020603050405020304" pitchFamily="18" charset="0"/>
              </a:rPr>
              <a:t>G8     Ribosomal RNA</a:t>
            </a:r>
          </a:p>
        </p:txBody>
      </p:sp>
      <p:pic>
        <p:nvPicPr>
          <p:cNvPr id="116739" name="Picture 1027">
            <a:extLst>
              <a:ext uri="{FF2B5EF4-FFF2-40B4-BE49-F238E27FC236}">
                <a16:creationId xmlns:a16="http://schemas.microsoft.com/office/drawing/2014/main" id="{4CC466DE-34D4-488C-99CF-6610CFEA0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lum bright="10000"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7" t="9773" r="9773" b="10547"/>
          <a:stretch>
            <a:fillRect/>
          </a:stretch>
        </p:blipFill>
        <p:spPr bwMode="auto">
          <a:xfrm>
            <a:off x="1066800" y="1295400"/>
            <a:ext cx="6934200" cy="520065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891939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62" name="Picture 2" descr="F27-11b.GIF028                                                 00006E11Sumanas' Hard Drive            B4EBCDA7:">
            <a:extLst>
              <a:ext uri="{FF2B5EF4-FFF2-40B4-BE49-F238E27FC236}">
                <a16:creationId xmlns:a16="http://schemas.microsoft.com/office/drawing/2014/main" id="{F5F5B72E-54BD-47FA-AD35-211880885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52400"/>
            <a:ext cx="5513388" cy="662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7763" name="Text Box 3">
            <a:extLst>
              <a:ext uri="{FF2B5EF4-FFF2-40B4-BE49-F238E27FC236}">
                <a16:creationId xmlns:a16="http://schemas.microsoft.com/office/drawing/2014/main" id="{D4AF46A6-195C-44DC-9B89-472C203485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332656"/>
            <a:ext cx="3962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sz="4000" dirty="0">
                <a:solidFill>
                  <a:srgbClr val="7030A0"/>
                </a:solidFill>
                <a:latin typeface="Arial Black" panose="020B0A04020102020204" pitchFamily="34" charset="0"/>
              </a:rPr>
              <a:t>1. Ribosomes</a:t>
            </a:r>
          </a:p>
        </p:txBody>
      </p:sp>
      <p:sp>
        <p:nvSpPr>
          <p:cNvPr id="4" name="矩形 3"/>
          <p:cNvSpPr/>
          <p:nvPr/>
        </p:nvSpPr>
        <p:spPr>
          <a:xfrm>
            <a:off x="1907704" y="1556792"/>
            <a:ext cx="16273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/>
              <a:t>沉降系数</a:t>
            </a:r>
            <a:r>
              <a:rPr lang="en-US" altLang="zh-CN" sz="2400" b="1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68860353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82" name="Picture 1026" descr="27-11">
            <a:extLst>
              <a:ext uri="{FF2B5EF4-FFF2-40B4-BE49-F238E27FC236}">
                <a16:creationId xmlns:a16="http://schemas.microsoft.com/office/drawing/2014/main" id="{C79B769C-16C0-4CD3-9417-CDC3B8DE2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87"/>
          <a:stretch>
            <a:fillRect/>
          </a:stretch>
        </p:blipFill>
        <p:spPr bwMode="auto">
          <a:xfrm>
            <a:off x="536149" y="599616"/>
            <a:ext cx="7780267" cy="5658768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27584" y="836712"/>
            <a:ext cx="1008112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80S</a:t>
            </a:r>
            <a:endParaRPr lang="zh-CN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2339752" y="313492"/>
            <a:ext cx="2520280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28S, 5.8S, 5S</a:t>
            </a:r>
            <a:endParaRPr lang="zh-CN" alt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2355812" y="1098322"/>
            <a:ext cx="2520280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18S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72012871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86" name="Picture 2" descr="F:\biochemistry\photo\biophoto\27-10.jpg">
            <a:extLst>
              <a:ext uri="{FF2B5EF4-FFF2-40B4-BE49-F238E27FC236}">
                <a16:creationId xmlns:a16="http://schemas.microsoft.com/office/drawing/2014/main" id="{66C6C5D8-C520-405C-98EC-91D019B87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325" y="22225"/>
            <a:ext cx="2163763" cy="681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0691543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258451E9-A3BC-40E1-81FA-4E73E450FF3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44463"/>
            <a:ext cx="9144000" cy="2530475"/>
          </a:xfrm>
        </p:spPr>
        <p:txBody>
          <a:bodyPr/>
          <a:lstStyle/>
          <a:p>
            <a:pPr eaLnBrk="1" hangingPunct="1"/>
            <a:r>
              <a:rPr lang="en-US" altLang="zh-CN" sz="4000" dirty="0">
                <a:solidFill>
                  <a:srgbClr val="7030A0"/>
                </a:solidFill>
              </a:rPr>
              <a:t>2. The different </a:t>
            </a:r>
            <a:r>
              <a:rPr lang="en-US" altLang="zh-CN" sz="4000" dirty="0" err="1">
                <a:solidFill>
                  <a:srgbClr val="7030A0"/>
                </a:solidFill>
              </a:rPr>
              <a:t>rRNA</a:t>
            </a:r>
            <a:r>
              <a:rPr lang="en-US" altLang="zh-CN" sz="4000" dirty="0">
                <a:solidFill>
                  <a:srgbClr val="7030A0"/>
                </a:solidFill>
              </a:rPr>
              <a:t> molecules of both prokaryotes and eukaryotes are generated from single pre-</a:t>
            </a:r>
            <a:r>
              <a:rPr lang="en-US" altLang="zh-CN" sz="4000" dirty="0" err="1">
                <a:solidFill>
                  <a:srgbClr val="7030A0"/>
                </a:solidFill>
              </a:rPr>
              <a:t>rRNAs</a:t>
            </a:r>
            <a:endParaRPr lang="en-US" altLang="zh-CN" sz="4000" dirty="0">
              <a:solidFill>
                <a:srgbClr val="7030A0"/>
              </a:solidFill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2EE77810-F87D-4310-97B4-8A81304FF41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2743200"/>
            <a:ext cx="9144000" cy="4114800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CN" kern="0" dirty="0"/>
              <a:t>The 16S, 23S and 5S </a:t>
            </a:r>
            <a:r>
              <a:rPr lang="en-US" altLang="zh-CN" kern="0" dirty="0" err="1"/>
              <a:t>rRNAs</a:t>
            </a:r>
            <a:r>
              <a:rPr lang="en-US" altLang="zh-CN" kern="0" dirty="0"/>
              <a:t> in bacteria are all generated from a single </a:t>
            </a:r>
            <a:r>
              <a:rPr lang="en-US" altLang="zh-CN" kern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30S pre-</a:t>
            </a:r>
            <a:r>
              <a:rPr lang="en-US" altLang="zh-CN" kern="0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rRNA</a:t>
            </a:r>
            <a:r>
              <a:rPr lang="en-US" altLang="zh-CN" kern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(</a:t>
            </a:r>
            <a:r>
              <a:rPr lang="en-US" altLang="zh-CN" i="1" kern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about 6.5 kb</a:t>
            </a:r>
            <a:r>
              <a:rPr lang="en-US" altLang="zh-CN" kern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  <a:r>
              <a:rPr lang="en-US" altLang="zh-CN" kern="0" dirty="0"/>
              <a:t>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kern="0" dirty="0"/>
              <a:t>The 18S, 28S and 5.8S </a:t>
            </a:r>
            <a:r>
              <a:rPr lang="en-US" altLang="zh-CN" kern="0" dirty="0" err="1"/>
              <a:t>rRNAs</a:t>
            </a:r>
            <a:r>
              <a:rPr lang="en-US" altLang="zh-CN" kern="0" dirty="0"/>
              <a:t> in eukaryotes are generated from a single </a:t>
            </a:r>
            <a:r>
              <a:rPr lang="en-US" altLang="zh-CN" kern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45S pre-</a:t>
            </a:r>
            <a:r>
              <a:rPr lang="en-US" altLang="zh-CN" kern="0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rRNA</a:t>
            </a:r>
            <a:r>
              <a:rPr lang="en-US" altLang="zh-CN" kern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(~14 kb).</a:t>
            </a:r>
            <a:endParaRPr lang="en-US" altLang="zh-CN" kern="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kern="0" dirty="0"/>
              <a:t>The 5S </a:t>
            </a:r>
            <a:r>
              <a:rPr lang="en-US" altLang="zh-CN" kern="0" dirty="0" err="1"/>
              <a:t>rRNA</a:t>
            </a:r>
            <a:r>
              <a:rPr lang="en-US" altLang="zh-CN" kern="0" dirty="0"/>
              <a:t> in eukaryotic cells is generated separately (</a:t>
            </a:r>
            <a:r>
              <a:rPr lang="en-US" altLang="zh-CN" i="1" kern="0" dirty="0"/>
              <a:t>transcribed by RNA polymerase III</a:t>
            </a:r>
            <a:r>
              <a:rPr lang="en-US" altLang="zh-CN" kern="0" dirty="0"/>
              <a:t>).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zh-CN" kern="0" dirty="0"/>
          </a:p>
        </p:txBody>
      </p:sp>
    </p:spTree>
    <p:extLst>
      <p:ext uri="{BB962C8B-B14F-4D97-AF65-F5344CB8AC3E}">
        <p14:creationId xmlns:p14="http://schemas.microsoft.com/office/powerpoint/2010/main" val="1859575128"/>
      </p:ext>
    </p:extLst>
  </p:cSld>
  <p:clrMapOvr>
    <a:masterClrMapping/>
  </p:clrMapOvr>
  <p:transition>
    <p:random/>
  </p:transition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54" name="Picture 2" descr="D:\Biofigures\f26-23.jpg">
            <a:extLst>
              <a:ext uri="{FF2B5EF4-FFF2-40B4-BE49-F238E27FC236}">
                <a16:creationId xmlns:a16="http://schemas.microsoft.com/office/drawing/2014/main" id="{F6BBFF53-0379-4C92-9F24-F7E6DA91B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3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843494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978" name="Picture 2" descr="D:\Biofigures\f26-24.jpg">
            <a:extLst>
              <a:ext uri="{FF2B5EF4-FFF2-40B4-BE49-F238E27FC236}">
                <a16:creationId xmlns:a16="http://schemas.microsoft.com/office/drawing/2014/main" id="{CA52F78E-A46B-4FA5-9D80-12248762D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7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Rectangle 3">
            <a:extLst>
              <a:ext uri="{FF2B5EF4-FFF2-40B4-BE49-F238E27FC236}">
                <a16:creationId xmlns:a16="http://schemas.microsoft.com/office/drawing/2014/main" id="{43FAAB79-C7E8-4D93-9EC4-CBB5CDC36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00" y="5257800"/>
            <a:ext cx="8917826" cy="133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en-US" altLang="zh-CN" sz="27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The 18S, 5.8S, and 28S </a:t>
            </a:r>
            <a:r>
              <a:rPr kumimoji="1" lang="en-US" altLang="zh-CN" sz="2700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rRNAs</a:t>
            </a:r>
            <a:r>
              <a:rPr kumimoji="1" lang="en-US" altLang="zh-CN" sz="27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in eukaryotic cells are </a:t>
            </a:r>
          </a:p>
          <a:p>
            <a:pPr eaLnBrk="1" hangingPunct="1">
              <a:defRPr/>
            </a:pPr>
            <a:r>
              <a:rPr kumimoji="1" lang="en-US" altLang="zh-CN" sz="27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derived from one pre-</a:t>
            </a:r>
            <a:r>
              <a:rPr kumimoji="1" lang="en-US" altLang="zh-CN" sz="2700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rRNA</a:t>
            </a:r>
            <a:r>
              <a:rPr kumimoji="1" lang="en-US" altLang="zh-CN" sz="27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molecule (the processing</a:t>
            </a:r>
          </a:p>
          <a:p>
            <a:pPr eaLnBrk="1" hangingPunct="1">
              <a:defRPr/>
            </a:pPr>
            <a:r>
              <a:rPr kumimoji="1" lang="en-US" altLang="zh-CN" sz="27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needs small nucleolar RNA-containing proteins).</a:t>
            </a:r>
          </a:p>
        </p:txBody>
      </p:sp>
    </p:spTree>
    <p:extLst>
      <p:ext uri="{BB962C8B-B14F-4D97-AF65-F5344CB8AC3E}">
        <p14:creationId xmlns:p14="http://schemas.microsoft.com/office/powerpoint/2010/main" val="47998718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F437B2F9-3821-4B8F-A20A-1F0C565F23D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81000"/>
            <a:ext cx="9144000" cy="1920875"/>
          </a:xfrm>
        </p:spPr>
        <p:txBody>
          <a:bodyPr/>
          <a:lstStyle/>
          <a:p>
            <a:pPr eaLnBrk="1" hangingPunct="1"/>
            <a:r>
              <a:rPr lang="en-US" altLang="zh-CN" sz="4000" dirty="0">
                <a:solidFill>
                  <a:srgbClr val="7030A0"/>
                </a:solidFill>
              </a:rPr>
              <a:t>3.  More RNA molecules (ribozymes) were found to be catalytic</a:t>
            </a:r>
          </a:p>
        </p:txBody>
      </p:sp>
    </p:spTree>
    <p:extLst>
      <p:ext uri="{BB962C8B-B14F-4D97-AF65-F5344CB8AC3E}">
        <p14:creationId xmlns:p14="http://schemas.microsoft.com/office/powerpoint/2010/main" val="161584705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26" name="Picture 2" descr="D:\cech.jpg">
            <a:extLst>
              <a:ext uri="{FF2B5EF4-FFF2-40B4-BE49-F238E27FC236}">
                <a16:creationId xmlns:a16="http://schemas.microsoft.com/office/drawing/2014/main" id="{883FB84A-4912-40AF-AEE5-A844778F0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974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27" name="Rectangle 3">
            <a:extLst>
              <a:ext uri="{FF2B5EF4-FFF2-40B4-BE49-F238E27FC236}">
                <a16:creationId xmlns:a16="http://schemas.microsoft.com/office/drawing/2014/main" id="{A86A5A8B-24A2-46AE-9B8E-EC8E17744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1447800"/>
            <a:ext cx="314325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36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The M1 RNA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36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in ribonuclease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36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P is catalytic</a:t>
            </a:r>
          </a:p>
        </p:txBody>
      </p:sp>
      <p:sp>
        <p:nvSpPr>
          <p:cNvPr id="129028" name="Rectangle 4">
            <a:extLst>
              <a:ext uri="{FF2B5EF4-FFF2-40B4-BE49-F238E27FC236}">
                <a16:creationId xmlns:a16="http://schemas.microsoft.com/office/drawing/2014/main" id="{C224F746-4A92-4552-B75F-4E4F64F50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343400"/>
            <a:ext cx="3409950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The </a:t>
            </a:r>
            <a:r>
              <a:rPr lang="en-US" altLang="zh-CN" sz="3600" b="1" dirty="0" err="1">
                <a:solidFill>
                  <a:schemeClr val="folHlink"/>
                </a:solidFill>
                <a:latin typeface="Times New Roman" panose="02020603050405020304" pitchFamily="18" charset="0"/>
              </a:rPr>
              <a:t>intron</a:t>
            </a:r>
            <a:r>
              <a: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in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the pre-</a:t>
            </a:r>
            <a:r>
              <a:rPr lang="en-US" altLang="zh-CN" sz="3600" b="1" dirty="0" err="1">
                <a:solidFill>
                  <a:schemeClr val="folHlink"/>
                </a:solidFill>
                <a:latin typeface="Times New Roman" panose="02020603050405020304" pitchFamily="18" charset="0"/>
              </a:rPr>
              <a:t>rRNA</a:t>
            </a:r>
            <a:r>
              <a: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of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3600" b="1" i="1" dirty="0" err="1">
                <a:solidFill>
                  <a:schemeClr val="folHlink"/>
                </a:solidFill>
                <a:latin typeface="Times New Roman" panose="02020603050405020304" pitchFamily="18" charset="0"/>
              </a:rPr>
              <a:t>Tetrahemena</a:t>
            </a:r>
            <a:r>
              <a:rPr lang="en-US" altLang="zh-CN" sz="36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en-US" altLang="zh-CN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is self-spliced</a:t>
            </a:r>
          </a:p>
        </p:txBody>
      </p:sp>
      <p:sp>
        <p:nvSpPr>
          <p:cNvPr id="129029" name="AutoShape 5">
            <a:extLst>
              <a:ext uri="{FF2B5EF4-FFF2-40B4-BE49-F238E27FC236}">
                <a16:creationId xmlns:a16="http://schemas.microsoft.com/office/drawing/2014/main" id="{91FC4F33-B4D4-4A28-8979-D0344F314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257800"/>
            <a:ext cx="1066800" cy="685800"/>
          </a:xfrm>
          <a:prstGeom prst="leftArrow">
            <a:avLst>
              <a:gd name="adj1" fmla="val 50000"/>
              <a:gd name="adj2" fmla="val 3888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129030" name="AutoShape 6">
            <a:extLst>
              <a:ext uri="{FF2B5EF4-FFF2-40B4-BE49-F238E27FC236}">
                <a16:creationId xmlns:a16="http://schemas.microsoft.com/office/drawing/2014/main" id="{B31ACE8F-FC55-43C8-81D3-D6B43482F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286000"/>
            <a:ext cx="1524000" cy="457200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214980"/>
      </p:ext>
    </p:extLst>
  </p:cSld>
  <p:clrMapOvr>
    <a:masterClrMapping/>
  </p:clrMapOvr>
  <p:transition>
    <p:random/>
  </p:transition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ext Box 2">
            <a:extLst>
              <a:ext uri="{FF2B5EF4-FFF2-40B4-BE49-F238E27FC236}">
                <a16:creationId xmlns:a16="http://schemas.microsoft.com/office/drawing/2014/main" id="{1BBC21DF-7E33-4816-87F6-FD30FD8D8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133600"/>
            <a:ext cx="5867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sz="4400" b="1" dirty="0">
                <a:latin typeface="Times New Roman" panose="02020603050405020304" pitchFamily="18" charset="0"/>
              </a:rPr>
              <a:t>G9     Transfer RNA</a:t>
            </a:r>
          </a:p>
        </p:txBody>
      </p:sp>
    </p:spTree>
    <p:extLst>
      <p:ext uri="{BB962C8B-B14F-4D97-AF65-F5344CB8AC3E}">
        <p14:creationId xmlns:p14="http://schemas.microsoft.com/office/powerpoint/2010/main" val="302719624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74" name="Picture 2">
            <a:extLst>
              <a:ext uri="{FF2B5EF4-FFF2-40B4-BE49-F238E27FC236}">
                <a16:creationId xmlns:a16="http://schemas.microsoft.com/office/drawing/2014/main" id="{4DF551C9-42A9-4D81-A483-2A5C05592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0" t="9000" r="9000" b="9000"/>
          <a:stretch>
            <a:fillRect/>
          </a:stretch>
        </p:blipFill>
        <p:spPr bwMode="auto">
          <a:xfrm>
            <a:off x="304800" y="381000"/>
            <a:ext cx="8382000" cy="62865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9657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098" name="Picture 2">
            <a:extLst>
              <a:ext uri="{FF2B5EF4-FFF2-40B4-BE49-F238E27FC236}">
                <a16:creationId xmlns:a16="http://schemas.microsoft.com/office/drawing/2014/main" id="{06EAB779-3C00-4FDB-9613-2B7C0F38E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0" t="9000" r="9000" b="9000"/>
          <a:stretch>
            <a:fillRect/>
          </a:stretch>
        </p:blipFill>
        <p:spPr bwMode="auto">
          <a:xfrm>
            <a:off x="457200" y="304800"/>
            <a:ext cx="8305800" cy="622935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7282823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22" name="Picture 2" descr="&#10;F27-13.GIF030                                                  00006E11Sumanas' Hard Drive            B4EBCDA7:">
            <a:extLst>
              <a:ext uri="{FF2B5EF4-FFF2-40B4-BE49-F238E27FC236}">
                <a16:creationId xmlns:a16="http://schemas.microsoft.com/office/drawing/2014/main" id="{C5FAA9AD-073C-4DA0-A54A-B3795998C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143000"/>
            <a:ext cx="4419600" cy="543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23" name="Text Box 4">
            <a:extLst>
              <a:ext uri="{FF2B5EF4-FFF2-40B4-BE49-F238E27FC236}">
                <a16:creationId xmlns:a16="http://schemas.microsoft.com/office/drawing/2014/main" id="{18FE7929-36A8-4A98-A5E8-D9902E972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3000288"/>
            <a:ext cx="952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stem</a:t>
            </a:r>
          </a:p>
        </p:txBody>
      </p:sp>
      <p:sp>
        <p:nvSpPr>
          <p:cNvPr id="133124" name="Line 5">
            <a:extLst>
              <a:ext uri="{FF2B5EF4-FFF2-40B4-BE49-F238E27FC236}">
                <a16:creationId xmlns:a16="http://schemas.microsoft.com/office/drawing/2014/main" id="{5D6FB140-842E-4380-B561-FE5BBE962E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3000" y="1524000"/>
            <a:ext cx="1905000" cy="8382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125" name="Text Box 6">
            <a:extLst>
              <a:ext uri="{FF2B5EF4-FFF2-40B4-BE49-F238E27FC236}">
                <a16:creationId xmlns:a16="http://schemas.microsoft.com/office/drawing/2014/main" id="{3C10722B-5E95-4C2A-B8F2-70E2C19AD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4290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D loop</a:t>
            </a:r>
          </a:p>
        </p:txBody>
      </p:sp>
      <p:sp>
        <p:nvSpPr>
          <p:cNvPr id="133126" name="Text Box 7">
            <a:extLst>
              <a:ext uri="{FF2B5EF4-FFF2-40B4-BE49-F238E27FC236}">
                <a16:creationId xmlns:a16="http://schemas.microsoft.com/office/drawing/2014/main" id="{393D2D3D-8F9D-4779-9480-6386F2629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2004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T loop</a:t>
            </a:r>
          </a:p>
        </p:txBody>
      </p:sp>
      <p:sp>
        <p:nvSpPr>
          <p:cNvPr id="133127" name="Text Box 8">
            <a:extLst>
              <a:ext uri="{FF2B5EF4-FFF2-40B4-BE49-F238E27FC236}">
                <a16:creationId xmlns:a16="http://schemas.microsoft.com/office/drawing/2014/main" id="{BB46A3C2-8FCE-45B4-B442-C0A2547FE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5334000"/>
            <a:ext cx="1981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Anticodon loop</a:t>
            </a:r>
          </a:p>
        </p:txBody>
      </p:sp>
      <p:sp>
        <p:nvSpPr>
          <p:cNvPr id="133128" name="Text Box 9">
            <a:extLst>
              <a:ext uri="{FF2B5EF4-FFF2-40B4-BE49-F238E27FC236}">
                <a16:creationId xmlns:a16="http://schemas.microsoft.com/office/drawing/2014/main" id="{942319A6-CA6C-416D-B1CC-ACE1F89BC0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4572000"/>
            <a:ext cx="1981200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Variable arm</a:t>
            </a:r>
          </a:p>
        </p:txBody>
      </p:sp>
      <p:sp>
        <p:nvSpPr>
          <p:cNvPr id="133129" name="Line 10">
            <a:extLst>
              <a:ext uri="{FF2B5EF4-FFF2-40B4-BE49-F238E27FC236}">
                <a16:creationId xmlns:a16="http://schemas.microsoft.com/office/drawing/2014/main" id="{3002151F-E98A-419B-8172-55FB4BD2FA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3000" y="5715000"/>
            <a:ext cx="304800" cy="1524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130" name="Line 11">
            <a:extLst>
              <a:ext uri="{FF2B5EF4-FFF2-40B4-BE49-F238E27FC236}">
                <a16:creationId xmlns:a16="http://schemas.microsoft.com/office/drawing/2014/main" id="{F4424153-F902-4027-80B5-9D6B8EB91D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9624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131" name="Line 12">
            <a:extLst>
              <a:ext uri="{FF2B5EF4-FFF2-40B4-BE49-F238E27FC236}">
                <a16:creationId xmlns:a16="http://schemas.microsoft.com/office/drawing/2014/main" id="{C7E45BCE-07EC-4DE4-A250-7238D6784A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35052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132" name="Text Box 13">
            <a:extLst>
              <a:ext uri="{FF2B5EF4-FFF2-40B4-BE49-F238E27FC236}">
                <a16:creationId xmlns:a16="http://schemas.microsoft.com/office/drawing/2014/main" id="{821F121D-CF69-4BEF-8D23-778F6653E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8600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sz="4000" b="1">
                <a:solidFill>
                  <a:schemeClr val="tx2"/>
                </a:solidFill>
                <a:latin typeface="Times New Roman" panose="02020603050405020304" pitchFamily="18" charset="0"/>
              </a:rPr>
              <a:t>Cloverleaf secondary structure of tRNA</a:t>
            </a:r>
          </a:p>
        </p:txBody>
      </p:sp>
    </p:spTree>
    <p:extLst>
      <p:ext uri="{BB962C8B-B14F-4D97-AF65-F5344CB8AC3E}">
        <p14:creationId xmlns:p14="http://schemas.microsoft.com/office/powerpoint/2010/main" val="113387647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46" name="Picture 2" descr="&#10;F27-14.GIF031                                                  00006E11Sumanas' Hard Drive            B4EBCDA7:">
            <a:extLst>
              <a:ext uri="{FF2B5EF4-FFF2-40B4-BE49-F238E27FC236}">
                <a16:creationId xmlns:a16="http://schemas.microsoft.com/office/drawing/2014/main" id="{FC37F862-0181-45CA-9E5F-AC0A8C594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28600"/>
            <a:ext cx="5026025" cy="640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0824390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&#10;F27-14.GIF031                                                  00006E11Sumanas' Hard Drive            B4EBCDA7:">
            <a:extLst>
              <a:ext uri="{FF2B5EF4-FFF2-40B4-BE49-F238E27FC236}">
                <a16:creationId xmlns:a16="http://schemas.microsoft.com/office/drawing/2014/main" id="{E28028E9-6BA8-4D69-B0FA-E1AF83F2B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60350"/>
            <a:ext cx="4637088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1" name="Rectangle 3">
            <a:extLst>
              <a:ext uri="{FF2B5EF4-FFF2-40B4-BE49-F238E27FC236}">
                <a16:creationId xmlns:a16="http://schemas.microsoft.com/office/drawing/2014/main" id="{D4F5B3CC-FFB8-43BD-9382-7E90DF1BD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4938" y="4214813"/>
            <a:ext cx="3313112" cy="22828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  <a:defRPr/>
            </a:pPr>
            <a:r>
              <a:rPr lang="zh-CN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反密码区正中的3个核苷酸残基</a:t>
            </a:r>
            <a:r>
              <a:rPr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可以与</a:t>
            </a:r>
            <a:r>
              <a:rPr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mRNA</a:t>
            </a:r>
            <a:r>
              <a:rPr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的三联体密码子形成碱基互补配对，解读遗传密码，称为</a:t>
            </a:r>
            <a:r>
              <a:rPr lang="zh-CN" altLang="en-US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反密码子</a:t>
            </a:r>
            <a:r>
              <a:rPr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（</a:t>
            </a:r>
            <a:r>
              <a:rPr lang="en-US" altLang="zh-CN" sz="24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anticodon</a:t>
            </a:r>
            <a:r>
              <a:rPr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）。</a:t>
            </a:r>
          </a:p>
        </p:txBody>
      </p:sp>
      <p:sp>
        <p:nvSpPr>
          <p:cNvPr id="26628" name="Line 4">
            <a:extLst>
              <a:ext uri="{FF2B5EF4-FFF2-40B4-BE49-F238E27FC236}">
                <a16:creationId xmlns:a16="http://schemas.microsoft.com/office/drawing/2014/main" id="{00E7B22C-6C23-4347-8B8E-1E8B2B42BF5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5875" y="6165850"/>
            <a:ext cx="8636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0021C847-D6AC-4EC2-874F-24897BDB1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73238"/>
            <a:ext cx="1908175" cy="1006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  <a:spcBef>
                <a:spcPct val="20000"/>
              </a:spcBef>
              <a:defRPr/>
            </a:pPr>
            <a:r>
              <a:rPr lang="zh-CN" altLang="en-US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识别氨酰</a:t>
            </a:r>
            <a:r>
              <a:rPr lang="en-US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-</a:t>
            </a:r>
            <a:r>
              <a:rPr lang="en-US" altLang="zh-CN" sz="2400" b="1" dirty="0" err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tRNA</a:t>
            </a:r>
            <a:r>
              <a:rPr lang="zh-CN" altLang="en-US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合成酶</a:t>
            </a:r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345E450F-6AFD-4CF3-9F86-32F719E1F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0688" y="2643188"/>
            <a:ext cx="1970087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0" hangingPunct="0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识别核糖体</a:t>
            </a:r>
          </a:p>
        </p:txBody>
      </p:sp>
      <p:sp>
        <p:nvSpPr>
          <p:cNvPr id="8" name="Text Box 13">
            <a:extLst>
              <a:ext uri="{FF2B5EF4-FFF2-40B4-BE49-F238E27FC236}">
                <a16:creationId xmlns:a16="http://schemas.microsoft.com/office/drawing/2014/main" id="{6B2A5C48-E2DF-4EA9-B469-D2D6D70D0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313" y="285750"/>
            <a:ext cx="4143375" cy="584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kumimoji="1" lang="en-US" altLang="zh-CN" sz="3200" b="1" dirty="0">
                <a:solidFill>
                  <a:srgbClr val="002060"/>
                </a:solidFill>
                <a:latin typeface="Times New Roman" pitchFamily="18" charset="0"/>
              </a:rPr>
              <a:t>The function of </a:t>
            </a:r>
            <a:r>
              <a:rPr kumimoji="1" lang="en-US" altLang="zh-CN" sz="3200" b="1" dirty="0" err="1">
                <a:solidFill>
                  <a:srgbClr val="002060"/>
                </a:solidFill>
                <a:latin typeface="Times New Roman" pitchFamily="18" charset="0"/>
              </a:rPr>
              <a:t>tRNA</a:t>
            </a:r>
            <a:endParaRPr kumimoji="1" lang="en-US" altLang="zh-CN" sz="3200" b="1" dirty="0">
              <a:solidFill>
                <a:srgbClr val="002060"/>
              </a:solidFill>
              <a:latin typeface="Times New Roman" pitchFamily="18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6ADA2D3-6E84-428B-A476-D8F7A9CEA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0" y="1143000"/>
            <a:ext cx="1987550" cy="52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0" hangingPunct="0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结合氨基酸</a:t>
            </a:r>
          </a:p>
        </p:txBody>
      </p:sp>
    </p:spTree>
    <p:extLst>
      <p:ext uri="{BB962C8B-B14F-4D97-AF65-F5344CB8AC3E}">
        <p14:creationId xmlns:p14="http://schemas.microsoft.com/office/powerpoint/2010/main" val="256977955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70" name="Picture 2" descr="&#10;F27-15.GIF032                                                  00006E11Sumanas' Hard Drive            B4EBCDA7:">
            <a:extLst>
              <a:ext uri="{FF2B5EF4-FFF2-40B4-BE49-F238E27FC236}">
                <a16:creationId xmlns:a16="http://schemas.microsoft.com/office/drawing/2014/main" id="{AF1AA3A8-E592-4947-B275-4D6A6E35A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71600"/>
            <a:ext cx="8585200" cy="456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5171" name="Text Box 3">
            <a:extLst>
              <a:ext uri="{FF2B5EF4-FFF2-40B4-BE49-F238E27FC236}">
                <a16:creationId xmlns:a16="http://schemas.microsoft.com/office/drawing/2014/main" id="{90F79F82-71CA-4634-BEA6-02AC52CEE4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81000"/>
            <a:ext cx="6934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sz="4000" b="1">
                <a:solidFill>
                  <a:schemeClr val="tx2"/>
                </a:solidFill>
                <a:latin typeface="Times New Roman" panose="02020603050405020304" pitchFamily="18" charset="0"/>
              </a:rPr>
              <a:t>Tertiary structure of tRNA</a:t>
            </a:r>
          </a:p>
        </p:txBody>
      </p:sp>
    </p:spTree>
    <p:extLst>
      <p:ext uri="{BB962C8B-B14F-4D97-AF65-F5344CB8AC3E}">
        <p14:creationId xmlns:p14="http://schemas.microsoft.com/office/powerpoint/2010/main" val="1032693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C91108D1-F82C-4DD9-9532-21AAF42FC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5499"/>
            <a:ext cx="9144000" cy="1432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3600" dirty="0">
                <a:solidFill>
                  <a:srgbClr val="7030A0"/>
                </a:solidFill>
                <a:latin typeface="Arial Black" panose="020B0A04020102020204" pitchFamily="34" charset="0"/>
              </a:rPr>
              <a:t>1. Primary </a:t>
            </a:r>
            <a:r>
              <a:rPr lang="en-US" altLang="zh-CN" sz="3600" dirty="0" err="1">
                <a:solidFill>
                  <a:srgbClr val="7030A0"/>
                </a:solidFill>
                <a:latin typeface="Arial Black" panose="020B0A04020102020204" pitchFamily="34" charset="0"/>
              </a:rPr>
              <a:t>tRNA</a:t>
            </a:r>
            <a:r>
              <a:rPr lang="en-US" altLang="zh-CN" sz="3600" dirty="0">
                <a:solidFill>
                  <a:srgbClr val="7030A0"/>
                </a:solidFill>
                <a:latin typeface="Arial Black" panose="020B0A04020102020204" pitchFamily="34" charset="0"/>
              </a:rPr>
              <a:t> transcripts undergo a series of posttranscriptional processing</a:t>
            </a:r>
          </a:p>
        </p:txBody>
      </p:sp>
      <p:pic>
        <p:nvPicPr>
          <p:cNvPr id="136195" name="Picture 4" descr="&#10;F26-25.GIF034                                                  00006D0CSumanas' Hard Drive            B4EBCDA7:">
            <a:extLst>
              <a:ext uri="{FF2B5EF4-FFF2-40B4-BE49-F238E27FC236}">
                <a16:creationId xmlns:a16="http://schemas.microsoft.com/office/drawing/2014/main" id="{B5D9F28C-6896-40E8-88CB-8296238B9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62200"/>
            <a:ext cx="91440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362514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3">
            <a:extLst>
              <a:ext uri="{FF2B5EF4-FFF2-40B4-BE49-F238E27FC236}">
                <a16:creationId xmlns:a16="http://schemas.microsoft.com/office/drawing/2014/main" id="{FB73102A-1EBA-47D0-8FEA-6431E18FD07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676400"/>
            <a:ext cx="9144000" cy="4114800"/>
          </a:xfrm>
        </p:spPr>
        <p:txBody>
          <a:bodyPr/>
          <a:lstStyle/>
          <a:p>
            <a:pPr eaLnBrk="1" hangingPunct="1"/>
            <a:r>
              <a:rPr lang="en-US" altLang="zh-CN" dirty="0"/>
              <a:t>The extra sequences at the 5` and 3` ends are removed by </a:t>
            </a:r>
            <a:r>
              <a:rPr lang="en-US" altLang="zh-CN" b="1" dirty="0"/>
              <a:t>RNase P</a:t>
            </a:r>
            <a:r>
              <a:rPr lang="en-US" altLang="zh-CN" dirty="0"/>
              <a:t> and </a:t>
            </a:r>
            <a:r>
              <a:rPr lang="en-US" altLang="zh-CN" b="1" dirty="0"/>
              <a:t>RNase D</a:t>
            </a:r>
            <a:r>
              <a:rPr lang="en-US" altLang="zh-CN" dirty="0"/>
              <a:t> respectively. </a:t>
            </a:r>
            <a:r>
              <a:rPr lang="en-US" altLang="zh-CN" b="1" dirty="0"/>
              <a:t>Intron sequences are spliced</a:t>
            </a:r>
            <a:r>
              <a:rPr lang="en-US" altLang="zh-CN" dirty="0"/>
              <a:t>.</a:t>
            </a:r>
          </a:p>
          <a:p>
            <a:pPr eaLnBrk="1" hangingPunct="1"/>
            <a:r>
              <a:rPr lang="en-US" altLang="zh-CN" dirty="0"/>
              <a:t>The </a:t>
            </a:r>
            <a:r>
              <a:rPr lang="en-US" altLang="zh-CN" b="1" dirty="0">
                <a:solidFill>
                  <a:schemeClr val="tx2"/>
                </a:solidFill>
              </a:rPr>
              <a:t>CCA</a:t>
            </a:r>
            <a:r>
              <a:rPr lang="en-US" altLang="zh-CN" dirty="0"/>
              <a:t> sequence is generated at the 3` end.</a:t>
            </a:r>
          </a:p>
          <a:p>
            <a:pPr eaLnBrk="1" hangingPunct="1"/>
            <a:r>
              <a:rPr lang="en-US" altLang="zh-CN" dirty="0"/>
              <a:t>Some of the bases in </a:t>
            </a:r>
            <a:r>
              <a:rPr lang="en-US" altLang="zh-CN" dirty="0" err="1"/>
              <a:t>tRNA</a:t>
            </a:r>
            <a:r>
              <a:rPr lang="en-US" altLang="zh-CN" dirty="0"/>
              <a:t> molecules are modified by </a:t>
            </a:r>
            <a:r>
              <a:rPr lang="en-US" altLang="zh-CN" dirty="0" err="1"/>
              <a:t>methylation</a:t>
            </a:r>
            <a:r>
              <a:rPr lang="en-US" altLang="zh-CN" dirty="0"/>
              <a:t>, </a:t>
            </a:r>
            <a:r>
              <a:rPr lang="en-US" altLang="zh-CN" dirty="0" err="1"/>
              <a:t>deamination</a:t>
            </a:r>
            <a:r>
              <a:rPr lang="en-US" altLang="zh-CN" dirty="0"/>
              <a:t>, reduction and others.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A90965A-E38C-4DBD-9094-5838F8F49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7098"/>
            <a:ext cx="9144000" cy="989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3600" dirty="0">
                <a:solidFill>
                  <a:srgbClr val="7030A0"/>
                </a:solidFill>
                <a:latin typeface="Arial Black" panose="020B0A04020102020204" pitchFamily="34" charset="0"/>
              </a:rPr>
              <a:t>Primary tRNA posttranscriptional processing</a:t>
            </a:r>
          </a:p>
        </p:txBody>
      </p:sp>
    </p:spTree>
    <p:extLst>
      <p:ext uri="{BB962C8B-B14F-4D97-AF65-F5344CB8AC3E}">
        <p14:creationId xmlns:p14="http://schemas.microsoft.com/office/powerpoint/2010/main" val="2600677898"/>
      </p:ext>
    </p:extLst>
  </p:cSld>
  <p:clrMapOvr>
    <a:masterClrMapping/>
  </p:clrMapOvr>
  <p:transition>
    <p:random/>
  </p:transition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>
            <a:extLst>
              <a:ext uri="{FF2B5EF4-FFF2-40B4-BE49-F238E27FC236}">
                <a16:creationId xmlns:a16="http://schemas.microsoft.com/office/drawing/2014/main" id="{F049C193-98CB-4DF7-98F2-9FC90D9A2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29200"/>
            <a:ext cx="831509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en-US" altLang="zh-CN" sz="3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Some typical </a:t>
            </a:r>
            <a:r>
              <a:rPr kumimoji="1" lang="en-US" altLang="zh-CN" sz="3600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modificied</a:t>
            </a:r>
            <a:r>
              <a:rPr kumimoji="1" lang="en-US" altLang="zh-CN" sz="3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bases found</a:t>
            </a:r>
          </a:p>
          <a:p>
            <a:pPr eaLnBrk="1" hangingPunct="1">
              <a:defRPr/>
            </a:pPr>
            <a:r>
              <a:rPr kumimoji="1" lang="en-US" altLang="zh-CN" sz="3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In mature </a:t>
            </a:r>
            <a:r>
              <a:rPr kumimoji="1" lang="en-US" altLang="zh-CN" sz="3600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tRNA</a:t>
            </a:r>
            <a:r>
              <a:rPr kumimoji="1" lang="en-US" altLang="zh-CN" sz="3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molecules.</a:t>
            </a:r>
          </a:p>
        </p:txBody>
      </p:sp>
      <p:pic>
        <p:nvPicPr>
          <p:cNvPr id="139267" name="Picture 4" descr="&#10;F26-26.GIF035                                                  00006D0CSumanas' Hard Drive            B4EBCDA7:">
            <a:extLst>
              <a:ext uri="{FF2B5EF4-FFF2-40B4-BE49-F238E27FC236}">
                <a16:creationId xmlns:a16="http://schemas.microsoft.com/office/drawing/2014/main" id="{FE66CBD1-D304-4B6A-9A99-F7085C8F1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9144000" cy="474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4EBBA0E-B94B-44E6-8913-BCE8E606EE04}"/>
              </a:ext>
            </a:extLst>
          </p:cNvPr>
          <p:cNvSpPr/>
          <p:nvPr/>
        </p:nvSpPr>
        <p:spPr>
          <a:xfrm>
            <a:off x="755576" y="4844534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异戊烯腺苷</a:t>
            </a:r>
          </a:p>
        </p:txBody>
      </p:sp>
      <p:sp>
        <p:nvSpPr>
          <p:cNvPr id="5" name="矩形 4"/>
          <p:cNvSpPr/>
          <p:nvPr/>
        </p:nvSpPr>
        <p:spPr>
          <a:xfrm>
            <a:off x="7164288" y="4869160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二氢尿嘧啶核苷</a:t>
            </a:r>
          </a:p>
        </p:txBody>
      </p:sp>
      <p:sp>
        <p:nvSpPr>
          <p:cNvPr id="6" name="矩形 5"/>
          <p:cNvSpPr/>
          <p:nvPr/>
        </p:nvSpPr>
        <p:spPr>
          <a:xfrm>
            <a:off x="4860032" y="4869160"/>
            <a:ext cx="2159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. </a:t>
            </a:r>
            <a:r>
              <a:rPr lang="zh-CN" altLang="en-US" dirty="0"/>
              <a:t>假尿（嘧啶核）苷</a:t>
            </a:r>
          </a:p>
        </p:txBody>
      </p:sp>
      <p:sp>
        <p:nvSpPr>
          <p:cNvPr id="7" name="矩形 6"/>
          <p:cNvSpPr/>
          <p:nvPr/>
        </p:nvSpPr>
        <p:spPr>
          <a:xfrm>
            <a:off x="1115616" y="2276872"/>
            <a:ext cx="1082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4-</a:t>
            </a:r>
            <a:r>
              <a:rPr lang="zh-CN" altLang="en-US" dirty="0"/>
              <a:t>硫尿苷</a:t>
            </a:r>
          </a:p>
        </p:txBody>
      </p:sp>
      <p:sp>
        <p:nvSpPr>
          <p:cNvPr id="8" name="矩形 7"/>
          <p:cNvSpPr/>
          <p:nvPr/>
        </p:nvSpPr>
        <p:spPr>
          <a:xfrm>
            <a:off x="3059832" y="2348880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次黄（嘌呤核）苷，肌苷</a:t>
            </a:r>
          </a:p>
        </p:txBody>
      </p:sp>
    </p:spTree>
    <p:extLst>
      <p:ext uri="{BB962C8B-B14F-4D97-AF65-F5344CB8AC3E}">
        <p14:creationId xmlns:p14="http://schemas.microsoft.com/office/powerpoint/2010/main" val="3317593763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04800"/>
            <a:ext cx="6310313" cy="640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 descr="49033-10-04 copy">
            <a:extLst>
              <a:ext uri="{FF2B5EF4-FFF2-40B4-BE49-F238E27FC236}">
                <a16:creationId xmlns:a16="http://schemas.microsoft.com/office/drawing/2014/main" id="{8EF5B8A4-3716-4236-944A-8D09CD680A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51" r="66065" b="23069"/>
          <a:stretch/>
        </p:blipFill>
        <p:spPr bwMode="auto">
          <a:xfrm>
            <a:off x="6516216" y="620687"/>
            <a:ext cx="2585864" cy="2376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CA6C1E39-F7CB-4C22-882D-2D2DC4BB69BD}"/>
              </a:ext>
            </a:extLst>
          </p:cNvPr>
          <p:cNvGrpSpPr/>
          <p:nvPr/>
        </p:nvGrpSpPr>
        <p:grpSpPr>
          <a:xfrm>
            <a:off x="6823042" y="919444"/>
            <a:ext cx="2164705" cy="1166636"/>
            <a:chOff x="1068826" y="2359604"/>
            <a:chExt cx="2164705" cy="1166636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5F26DDC-03BF-4D63-A5C8-2BCE9DC03397}"/>
                </a:ext>
              </a:extLst>
            </p:cNvPr>
            <p:cNvSpPr txBox="1"/>
            <p:nvPr/>
          </p:nvSpPr>
          <p:spPr>
            <a:xfrm>
              <a:off x="1068826" y="2590925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8DA9AFE-52BB-4FEB-9DD4-9433EC1D1E71}"/>
                </a:ext>
              </a:extLst>
            </p:cNvPr>
            <p:cNvSpPr txBox="1"/>
            <p:nvPr/>
          </p:nvSpPr>
          <p:spPr>
            <a:xfrm>
              <a:off x="1097495" y="2957095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2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5A9C124-CE7F-4A4B-BBF6-9FE40676C911}"/>
                </a:ext>
              </a:extLst>
            </p:cNvPr>
            <p:cNvSpPr txBox="1"/>
            <p:nvPr/>
          </p:nvSpPr>
          <p:spPr>
            <a:xfrm>
              <a:off x="1482212" y="3156908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3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86612D3D-C329-4287-AD9F-C70441CFD32F}"/>
                </a:ext>
              </a:extLst>
            </p:cNvPr>
            <p:cNvSpPr txBox="1"/>
            <p:nvPr/>
          </p:nvSpPr>
          <p:spPr>
            <a:xfrm>
              <a:off x="1917035" y="3006322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4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CA1D83B-49DF-494C-88A1-DE41089DC892}"/>
                </a:ext>
              </a:extLst>
            </p:cNvPr>
            <p:cNvSpPr txBox="1"/>
            <p:nvPr/>
          </p:nvSpPr>
          <p:spPr>
            <a:xfrm>
              <a:off x="1902024" y="2536948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5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59B01F3-D51F-480E-A19D-118D017CB2A0}"/>
                </a:ext>
              </a:extLst>
            </p:cNvPr>
            <p:cNvSpPr txBox="1"/>
            <p:nvPr/>
          </p:nvSpPr>
          <p:spPr>
            <a:xfrm>
              <a:off x="1479170" y="2359604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6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92A6FB3-DAF8-4247-BC47-1FC9C2AFA923}"/>
                </a:ext>
              </a:extLst>
            </p:cNvPr>
            <p:cNvSpPr txBox="1"/>
            <p:nvPr/>
          </p:nvSpPr>
          <p:spPr>
            <a:xfrm>
              <a:off x="2540902" y="2524575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7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E0B1B84-39B4-4AA7-A7D0-5AFC7B70E387}"/>
                </a:ext>
              </a:extLst>
            </p:cNvPr>
            <p:cNvSpPr txBox="1"/>
            <p:nvPr/>
          </p:nvSpPr>
          <p:spPr>
            <a:xfrm>
              <a:off x="2801483" y="2849604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8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248B908-52F1-4684-828E-C9D8808C4161}"/>
                </a:ext>
              </a:extLst>
            </p:cNvPr>
            <p:cNvSpPr txBox="1"/>
            <p:nvPr/>
          </p:nvSpPr>
          <p:spPr>
            <a:xfrm>
              <a:off x="2585459" y="3059668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9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4" name="Picture 4" descr="49033-10-03 copy">
            <a:extLst>
              <a:ext uri="{FF2B5EF4-FFF2-40B4-BE49-F238E27FC236}">
                <a16:creationId xmlns:a16="http://schemas.microsoft.com/office/drawing/2014/main" id="{7F185060-5E39-460D-BAD3-DB150DDF7E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6" t="9702" r="79191" b="28645"/>
          <a:stretch/>
        </p:blipFill>
        <p:spPr bwMode="auto">
          <a:xfrm>
            <a:off x="7233386" y="3942427"/>
            <a:ext cx="1227046" cy="2078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D22D94A2-1D91-4B37-BD0A-99FE252C7B4B}"/>
              </a:ext>
            </a:extLst>
          </p:cNvPr>
          <p:cNvGrpSpPr/>
          <p:nvPr/>
        </p:nvGrpSpPr>
        <p:grpSpPr>
          <a:xfrm>
            <a:off x="7340900" y="4224490"/>
            <a:ext cx="1077950" cy="974145"/>
            <a:chOff x="1228129" y="2352282"/>
            <a:chExt cx="1077950" cy="974145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966DE4A-7A19-4408-B3E6-7E64A1F9554D}"/>
                </a:ext>
              </a:extLst>
            </p:cNvPr>
            <p:cNvSpPr txBox="1"/>
            <p:nvPr/>
          </p:nvSpPr>
          <p:spPr>
            <a:xfrm>
              <a:off x="1536370" y="2957095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BA37113C-1C67-4996-8185-FEF3327CC66E}"/>
                </a:ext>
              </a:extLst>
            </p:cNvPr>
            <p:cNvSpPr txBox="1"/>
            <p:nvPr/>
          </p:nvSpPr>
          <p:spPr>
            <a:xfrm>
              <a:off x="1228129" y="2863785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2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A7A7EE1-6155-40E0-B62B-F1081A6FD1AA}"/>
                </a:ext>
              </a:extLst>
            </p:cNvPr>
            <p:cNvSpPr txBox="1"/>
            <p:nvPr/>
          </p:nvSpPr>
          <p:spPr>
            <a:xfrm>
              <a:off x="1261861" y="2515631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3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3713733-8CF3-4EBF-BDC6-6E7848652B7E}"/>
                </a:ext>
              </a:extLst>
            </p:cNvPr>
            <p:cNvSpPr txBox="1"/>
            <p:nvPr/>
          </p:nvSpPr>
          <p:spPr>
            <a:xfrm>
              <a:off x="1562940" y="2352282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4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E52D876-B528-425C-B379-9096AEE522A6}"/>
                </a:ext>
              </a:extLst>
            </p:cNvPr>
            <p:cNvSpPr txBox="1"/>
            <p:nvPr/>
          </p:nvSpPr>
          <p:spPr>
            <a:xfrm>
              <a:off x="1836707" y="2508955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5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654709D-C1FA-40F0-8C14-13CCABC523FC}"/>
                </a:ext>
              </a:extLst>
            </p:cNvPr>
            <p:cNvSpPr txBox="1"/>
            <p:nvPr/>
          </p:nvSpPr>
          <p:spPr>
            <a:xfrm>
              <a:off x="1874031" y="2875632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6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Text Box 4">
            <a:extLst>
              <a:ext uri="{FF2B5EF4-FFF2-40B4-BE49-F238E27FC236}">
                <a16:creationId xmlns:a16="http://schemas.microsoft.com/office/drawing/2014/main" id="{478863AB-5B23-495B-928D-071F4FAC4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628775"/>
            <a:ext cx="8208963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sz="4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RNA </a:t>
            </a:r>
            <a:r>
              <a:rPr lang="zh-CN" altLang="en-US" sz="4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指导下的</a:t>
            </a:r>
            <a:r>
              <a:rPr lang="en-US" altLang="zh-CN" sz="4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RNA</a:t>
            </a:r>
            <a:r>
              <a:rPr lang="zh-CN" altLang="en-US" sz="4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sz="4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DNA</a:t>
            </a:r>
            <a:r>
              <a:rPr lang="zh-CN" altLang="en-US" sz="4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的合成</a:t>
            </a:r>
          </a:p>
          <a:p>
            <a:pPr algn="ctr"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sz="4000" b="1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RNA dependent synthesis of DNA and RNA</a:t>
            </a:r>
          </a:p>
        </p:txBody>
      </p:sp>
    </p:spTree>
    <p:extLst>
      <p:ext uri="{BB962C8B-B14F-4D97-AF65-F5344CB8AC3E}">
        <p14:creationId xmlns:p14="http://schemas.microsoft.com/office/powerpoint/2010/main" val="2798027107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DEAE2BD4-5798-4BAD-91D0-13EA44D4B3D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0350"/>
            <a:ext cx="9144000" cy="1190625"/>
          </a:xfrm>
        </p:spPr>
        <p:txBody>
          <a:bodyPr/>
          <a:lstStyle/>
          <a:p>
            <a:pPr eaLnBrk="1" hangingPunct="1"/>
            <a:r>
              <a:rPr lang="en-US" altLang="zh-CN" sz="3600" dirty="0">
                <a:solidFill>
                  <a:srgbClr val="00FF00"/>
                </a:solidFill>
              </a:rPr>
              <a:t>  </a:t>
            </a:r>
            <a:r>
              <a:rPr lang="en-US" altLang="zh-CN" sz="3600" dirty="0">
                <a:solidFill>
                  <a:srgbClr val="7030A0"/>
                </a:solidFill>
              </a:rPr>
              <a:t>Reverse </a:t>
            </a:r>
            <a:r>
              <a:rPr lang="en-US" altLang="zh-CN" sz="3600" dirty="0" err="1">
                <a:solidFill>
                  <a:srgbClr val="7030A0"/>
                </a:solidFill>
              </a:rPr>
              <a:t>transcriptases</a:t>
            </a:r>
            <a:r>
              <a:rPr lang="en-US" altLang="zh-CN" sz="3600" dirty="0">
                <a:solidFill>
                  <a:srgbClr val="7030A0"/>
                </a:solidFill>
              </a:rPr>
              <a:t> catalyze the production of DNA from RNA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443E641D-967A-4A74-AD6A-FBD9085468D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844675"/>
            <a:ext cx="9144000" cy="4824413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CN" kern="0" dirty="0"/>
              <a:t>This enzyme catalyzes three reactions: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kern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RNA-directed DNA synthesis</a:t>
            </a:r>
            <a:r>
              <a:rPr lang="en-US" altLang="zh-CN" kern="0" dirty="0"/>
              <a:t> using </a:t>
            </a:r>
            <a:r>
              <a:rPr lang="en-US" altLang="zh-CN" kern="0" dirty="0" err="1"/>
              <a:t>tRNAs</a:t>
            </a:r>
            <a:r>
              <a:rPr lang="en-US" altLang="zh-CN" kern="0" dirty="0"/>
              <a:t> as primers;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kern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Degradation of the RNA template</a:t>
            </a:r>
            <a:r>
              <a:rPr lang="en-US" altLang="zh-CN" kern="0" dirty="0"/>
              <a:t>;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kern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DNA-directed DNA synthesis</a:t>
            </a:r>
            <a:r>
              <a:rPr lang="en-US" altLang="zh-CN" kern="0" dirty="0"/>
              <a:t>;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kern="0" dirty="0"/>
              <a:t>The enzyme has </a:t>
            </a:r>
            <a:r>
              <a:rPr lang="en-US" altLang="zh-CN" b="1" kern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no 3`- 5` </a:t>
            </a:r>
            <a:r>
              <a:rPr lang="en-US" altLang="zh-CN" kern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proofreading exonuclease</a:t>
            </a:r>
            <a:r>
              <a:rPr lang="en-US" altLang="zh-CN" kern="0" dirty="0"/>
              <a:t> activity, thus generating high rate of mutations.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kern="0" dirty="0"/>
              <a:t>This enzyme is widely used to synthesize </a:t>
            </a:r>
            <a:r>
              <a:rPr lang="en-US" altLang="zh-CN" b="1" kern="0" dirty="0">
                <a:solidFill>
                  <a:srgbClr val="FF0000"/>
                </a:solidFill>
              </a:rPr>
              <a:t>complementary DNAs (</a:t>
            </a:r>
            <a:r>
              <a:rPr lang="en-US" altLang="zh-CN" b="1" kern="0" dirty="0" err="1">
                <a:solidFill>
                  <a:srgbClr val="FF0000"/>
                </a:solidFill>
              </a:rPr>
              <a:t>cDNAs</a:t>
            </a:r>
            <a:r>
              <a:rPr lang="en-US" altLang="zh-CN" b="1" kern="0" dirty="0">
                <a:solidFill>
                  <a:srgbClr val="FF0000"/>
                </a:solidFill>
              </a:rPr>
              <a:t>) </a:t>
            </a:r>
            <a:r>
              <a:rPr lang="en-US" altLang="zh-CN" kern="0" dirty="0"/>
              <a:t>from mRNAs.</a:t>
            </a:r>
          </a:p>
        </p:txBody>
      </p:sp>
    </p:spTree>
    <p:extLst>
      <p:ext uri="{BB962C8B-B14F-4D97-AF65-F5344CB8AC3E}">
        <p14:creationId xmlns:p14="http://schemas.microsoft.com/office/powerpoint/2010/main" val="2450588209"/>
      </p:ext>
    </p:extLst>
  </p:cSld>
  <p:clrMapOvr>
    <a:masterClrMapping/>
  </p:clrMapOvr>
  <p:transition>
    <p:random/>
  </p:transition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38" name="Picture 2">
            <a:extLst>
              <a:ext uri="{FF2B5EF4-FFF2-40B4-BE49-F238E27FC236}">
                <a16:creationId xmlns:a16="http://schemas.microsoft.com/office/drawing/2014/main" id="{62258C2A-0454-432A-998D-EB5E93821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14" b="3133"/>
          <a:stretch>
            <a:fillRect/>
          </a:stretch>
        </p:blipFill>
        <p:spPr bwMode="auto">
          <a:xfrm>
            <a:off x="428625" y="285750"/>
            <a:ext cx="8550275" cy="635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2339" name="TextBox 2">
            <a:extLst>
              <a:ext uri="{FF2B5EF4-FFF2-40B4-BE49-F238E27FC236}">
                <a16:creationId xmlns:a16="http://schemas.microsoft.com/office/drawing/2014/main" id="{197A6161-05A3-47E5-8057-44792E86E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323850"/>
            <a:ext cx="1724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逆转录病毒</a:t>
            </a:r>
          </a:p>
        </p:txBody>
      </p:sp>
    </p:spTree>
    <p:extLst>
      <p:ext uri="{BB962C8B-B14F-4D97-AF65-F5344CB8AC3E}">
        <p14:creationId xmlns:p14="http://schemas.microsoft.com/office/powerpoint/2010/main" val="2281913381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0B8A6FF9-0009-4590-862A-84783207DE2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0350"/>
            <a:ext cx="9144000" cy="1920875"/>
          </a:xfrm>
        </p:spPr>
        <p:txBody>
          <a:bodyPr/>
          <a:lstStyle/>
          <a:p>
            <a:pPr eaLnBrk="1" hangingPunct="1"/>
            <a:r>
              <a:rPr lang="en-US" altLang="zh-CN" sz="4000" dirty="0">
                <a:solidFill>
                  <a:srgbClr val="00FF00"/>
                </a:solidFill>
              </a:rPr>
              <a:t>  </a:t>
            </a:r>
            <a:r>
              <a:rPr lang="en-US" altLang="zh-CN" sz="4000" dirty="0">
                <a:solidFill>
                  <a:srgbClr val="7030A0"/>
                </a:solidFill>
              </a:rPr>
              <a:t>Some viral RNAs are replicated by RNA-directed RNA polymerase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575B25B2-3E73-41AE-9EBB-57A3FABF7C6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2349500"/>
            <a:ext cx="9144000" cy="4114800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CN" kern="0" dirty="0"/>
              <a:t>The RNA genomes of some viruses are replicated using RNA-directed RNA polymerases (or </a:t>
            </a:r>
            <a:r>
              <a:rPr lang="en-US" altLang="zh-CN" b="1" kern="0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RNA </a:t>
            </a:r>
            <a:r>
              <a:rPr lang="en-US" altLang="zh-CN" b="1" kern="0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replicases</a:t>
            </a:r>
            <a:r>
              <a:rPr lang="en-US" altLang="zh-CN" kern="0" dirty="0"/>
              <a:t>).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kern="0" dirty="0"/>
              <a:t>The RNA </a:t>
            </a:r>
            <a:r>
              <a:rPr lang="en-US" altLang="zh-CN" kern="0" dirty="0" err="1"/>
              <a:t>replicase</a:t>
            </a:r>
            <a:r>
              <a:rPr lang="en-US" altLang="zh-CN" kern="0" dirty="0"/>
              <a:t> consists of subunits encoded both by the viruses and the host genome.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kern="0" dirty="0"/>
              <a:t>They have features similar to that of DNA-directed RNA polymerases, but are usually specific for the RNA of the specific viruses.</a:t>
            </a:r>
          </a:p>
        </p:txBody>
      </p:sp>
    </p:spTree>
    <p:extLst>
      <p:ext uri="{BB962C8B-B14F-4D97-AF65-F5344CB8AC3E}">
        <p14:creationId xmlns:p14="http://schemas.microsoft.com/office/powerpoint/2010/main" val="1327633794"/>
      </p:ext>
    </p:extLst>
  </p:cSld>
  <p:clrMapOvr>
    <a:masterClrMapping/>
  </p:clrMapOvr>
  <p:transition>
    <p:random/>
  </p:transition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CA600C0E-9F97-450B-AB0C-533D19C6839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143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zh-CN"/>
              <a:t>Summary</a:t>
            </a:r>
          </a:p>
        </p:txBody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7EACA7F7-AD5D-48F9-8A75-BD2B4AF61A4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838200"/>
            <a:ext cx="9144000" cy="56149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/>
              <a:t>Transcription shares the basic chemical mechanisms with replication except: no primers required, no proofreading activity exist.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Transcription begins at specific promoter sequences  and ends at specific terminator sequences (being </a:t>
            </a:r>
            <a:r>
              <a:rPr lang="en-US" altLang="zh-CN" b="1" dirty="0">
                <a:sym typeface="Symbol" panose="05050102010706020507" pitchFamily="18" charset="2"/>
              </a:rPr>
              <a:t></a:t>
            </a:r>
            <a:r>
              <a:rPr lang="en-US" altLang="zh-CN" dirty="0"/>
              <a:t> -independent or dependent in bacteria).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One multimeric RNA polymerase catalyzes the synthesis of all the RNA molecules in bacteria and different RNA polymerases are used to synthesize the different types of RNAs in eukaryotes. </a:t>
            </a:r>
          </a:p>
        </p:txBody>
      </p:sp>
    </p:spTree>
    <p:extLst>
      <p:ext uri="{BB962C8B-B14F-4D97-AF65-F5344CB8AC3E}">
        <p14:creationId xmlns:p14="http://schemas.microsoft.com/office/powerpoint/2010/main" val="1192005220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667BEDA6-5F56-450F-9BBB-4E0E060850D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404813"/>
            <a:ext cx="9144000" cy="6192837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/>
              <a:t>Primary RNA transcripts are further processed: capped, tailed, spliced and sometimes edited for the mRNAs; ends removed and modified, bases modified for the tRNAs; cleaved and sometimes spliced for the rRNAs.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DNA can be synthesized by using RNA as templates in a reaction catalyzed by reverse transcriptase.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RNA is very likely the first type of biomacromolecules produced during biochemical evolution.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RNA replicase catalyzes the synthesis of RNA from RNA templates.</a:t>
            </a:r>
          </a:p>
        </p:txBody>
      </p:sp>
    </p:spTree>
    <p:extLst>
      <p:ext uri="{BB962C8B-B14F-4D97-AF65-F5344CB8AC3E}">
        <p14:creationId xmlns:p14="http://schemas.microsoft.com/office/powerpoint/2010/main" val="902482399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EB02119-2AA4-455E-805F-B0430FD3DE3A}"/>
              </a:ext>
            </a:extLst>
          </p:cNvPr>
          <p:cNvSpPr txBox="1"/>
          <p:nvPr/>
        </p:nvSpPr>
        <p:spPr>
          <a:xfrm>
            <a:off x="899592" y="428178"/>
            <a:ext cx="6857390" cy="6370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/>
              <a:t>Summary of RNA transcription</a:t>
            </a:r>
          </a:p>
          <a:p>
            <a:pPr algn="ctr"/>
            <a:endParaRPr lang="en-US" altLang="zh-CN" sz="2400" dirty="0"/>
          </a:p>
          <a:p>
            <a:r>
              <a:rPr lang="en-US" altLang="zh-CN" sz="1800" b="1" dirty="0">
                <a:solidFill>
                  <a:schemeClr val="folHlink"/>
                </a:solidFill>
              </a:rPr>
              <a:t>G1  RNA structure:  tRNA cloverleaf </a:t>
            </a:r>
          </a:p>
          <a:p>
            <a:r>
              <a:rPr lang="en-US" altLang="zh-CN" b="1" dirty="0">
                <a:solidFill>
                  <a:schemeClr val="folHlink"/>
                </a:solidFill>
              </a:rPr>
              <a:t>G2  RNA Transcription in Prokaryotes </a:t>
            </a:r>
          </a:p>
          <a:p>
            <a:r>
              <a:rPr lang="en-US" altLang="zh-CN" sz="1800" b="1" dirty="0">
                <a:solidFill>
                  <a:schemeClr val="folHlink"/>
                </a:solidFill>
              </a:rPr>
              <a:t>       1. similar and differ</a:t>
            </a:r>
            <a:r>
              <a:rPr lang="en-US" altLang="zh-CN" b="1" dirty="0">
                <a:solidFill>
                  <a:schemeClr val="folHlink"/>
                </a:solidFill>
              </a:rPr>
              <a:t>ent aspects between DNA replication </a:t>
            </a:r>
          </a:p>
          <a:p>
            <a:r>
              <a:rPr lang="en-US" altLang="zh-CN" sz="1800" b="1" dirty="0">
                <a:solidFill>
                  <a:schemeClr val="folHlink"/>
                </a:solidFill>
              </a:rPr>
              <a:t>                                    and RNA transcription</a:t>
            </a:r>
          </a:p>
          <a:p>
            <a:r>
              <a:rPr lang="en-US" altLang="zh-CN" b="1" dirty="0">
                <a:solidFill>
                  <a:schemeClr val="folHlink"/>
                </a:solidFill>
              </a:rPr>
              <a:t>        2. RNA polymerase</a:t>
            </a:r>
          </a:p>
          <a:p>
            <a:r>
              <a:rPr lang="en-US" altLang="zh-CN" b="1" dirty="0">
                <a:solidFill>
                  <a:schemeClr val="folHlink"/>
                </a:solidFill>
              </a:rPr>
              <a:t>        3. transcriptional bubble</a:t>
            </a:r>
          </a:p>
          <a:p>
            <a:r>
              <a:rPr lang="en-US" altLang="zh-CN" b="1" dirty="0">
                <a:solidFill>
                  <a:schemeClr val="folHlink"/>
                </a:solidFill>
              </a:rPr>
              <a:t>        4. promoter</a:t>
            </a:r>
          </a:p>
          <a:p>
            <a:r>
              <a:rPr lang="en-US" altLang="zh-CN" b="1" dirty="0">
                <a:solidFill>
                  <a:schemeClr val="folHlink"/>
                </a:solidFill>
              </a:rPr>
              <a:t>        5. RNA transcription: initiation, elongation, termination</a:t>
            </a:r>
          </a:p>
          <a:p>
            <a:r>
              <a:rPr lang="en-US" altLang="zh-CN" b="1" dirty="0">
                <a:solidFill>
                  <a:schemeClr val="folHlink"/>
                </a:solidFill>
              </a:rPr>
              <a:t>G3 the Lac operon</a:t>
            </a:r>
          </a:p>
          <a:p>
            <a:r>
              <a:rPr lang="en-US" altLang="zh-CN" b="1" dirty="0">
                <a:solidFill>
                  <a:schemeClr val="folHlink"/>
                </a:solidFill>
              </a:rPr>
              <a:t>G5,G6 Transcription in Eukaryotes</a:t>
            </a:r>
          </a:p>
          <a:p>
            <a:r>
              <a:rPr lang="en-US" altLang="zh-CN" b="1" dirty="0">
                <a:solidFill>
                  <a:schemeClr val="folHlink"/>
                </a:solidFill>
              </a:rPr>
              <a:t>       1. Three RNA polymerases</a:t>
            </a:r>
          </a:p>
          <a:p>
            <a:r>
              <a:rPr lang="en-US" altLang="zh-CN" b="1" dirty="0">
                <a:solidFill>
                  <a:schemeClr val="folHlink"/>
                </a:solidFill>
              </a:rPr>
              <a:t>       2. Pol II binding promoter, transcription factor</a:t>
            </a:r>
          </a:p>
          <a:p>
            <a:r>
              <a:rPr lang="en-US" altLang="zh-CN" b="1" dirty="0">
                <a:solidFill>
                  <a:schemeClr val="folHlink"/>
                </a:solidFill>
              </a:rPr>
              <a:t>G7 Processing of eukaryotic pre-mRNA</a:t>
            </a:r>
          </a:p>
          <a:p>
            <a:r>
              <a:rPr lang="en-US" altLang="zh-CN" b="1" dirty="0">
                <a:solidFill>
                  <a:schemeClr val="folHlink"/>
                </a:solidFill>
              </a:rPr>
              <a:t>       1. mRNA processing</a:t>
            </a:r>
          </a:p>
          <a:p>
            <a:r>
              <a:rPr lang="en-US" altLang="zh-CN" b="1" dirty="0">
                <a:solidFill>
                  <a:schemeClr val="folHlink"/>
                </a:solidFill>
              </a:rPr>
              <a:t>       2. rRNA processing</a:t>
            </a:r>
          </a:p>
          <a:p>
            <a:r>
              <a:rPr lang="en-US" altLang="zh-CN" b="1" dirty="0">
                <a:solidFill>
                  <a:schemeClr val="folHlink"/>
                </a:solidFill>
              </a:rPr>
              <a:t>       3. tRNA processing</a:t>
            </a:r>
          </a:p>
          <a:p>
            <a:endParaRPr lang="en-US" altLang="zh-CN" b="1" dirty="0">
              <a:solidFill>
                <a:schemeClr val="folHlink"/>
              </a:solidFill>
            </a:endParaRPr>
          </a:p>
          <a:p>
            <a:endParaRPr lang="en-US" altLang="zh-CN" sz="1800" b="1" dirty="0">
              <a:solidFill>
                <a:schemeClr val="folHlink"/>
              </a:solidFill>
            </a:endParaRPr>
          </a:p>
          <a:p>
            <a:endParaRPr lang="en-US" altLang="zh-CN" sz="1800" b="1" dirty="0">
              <a:solidFill>
                <a:schemeClr val="folHlink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8119165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DFC3423-E345-4802-AB9D-C80D504E2B96}"/>
              </a:ext>
            </a:extLst>
          </p:cNvPr>
          <p:cNvSpPr txBox="1"/>
          <p:nvPr/>
        </p:nvSpPr>
        <p:spPr>
          <a:xfrm>
            <a:off x="3419872" y="2276872"/>
            <a:ext cx="27363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/>
              <a:t>END</a:t>
            </a:r>
          </a:p>
          <a:p>
            <a:pPr algn="ctr"/>
            <a:endParaRPr lang="en-US" altLang="zh-CN" dirty="0"/>
          </a:p>
          <a:p>
            <a:pPr algn="ctr"/>
            <a:r>
              <a:rPr lang="en-US" altLang="zh-CN" sz="3600" dirty="0"/>
              <a:t>Thank you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389139802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1A79A1A-30C2-4DC8-B593-3B123018EF5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3538" t="22000" r="50787" b="6601"/>
          <a:stretch/>
        </p:blipFill>
        <p:spPr>
          <a:xfrm>
            <a:off x="1259632" y="404664"/>
            <a:ext cx="6408712" cy="563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587495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62" name="Picture 2" descr="f26-31">
            <a:extLst>
              <a:ext uri="{FF2B5EF4-FFF2-40B4-BE49-F238E27FC236}">
                <a16:creationId xmlns:a16="http://schemas.microsoft.com/office/drawing/2014/main" id="{DF155C91-E3B8-4631-A164-83F584FD7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470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63" name="Picture 3" descr="f26-30">
            <a:extLst>
              <a:ext uri="{FF2B5EF4-FFF2-40B4-BE49-F238E27FC236}">
                <a16:creationId xmlns:a16="http://schemas.microsoft.com/office/drawing/2014/main" id="{6AB61B45-AC8C-4D1E-B98F-1410CD585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0"/>
            <a:ext cx="45720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0" name="Rectangle 4">
            <a:extLst>
              <a:ext uri="{FF2B5EF4-FFF2-40B4-BE49-F238E27FC236}">
                <a16:creationId xmlns:a16="http://schemas.microsoft.com/office/drawing/2014/main" id="{4E56BC00-47E5-4F7D-91EE-8AFA405E4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800600"/>
            <a:ext cx="9083675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en-US" altLang="zh-CN" sz="4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Reverse </a:t>
            </a:r>
            <a:r>
              <a:rPr kumimoji="1" lang="en-US" altLang="zh-CN" sz="4000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transcriptases</a:t>
            </a:r>
            <a:r>
              <a:rPr kumimoji="1" lang="en-US" altLang="zh-CN" sz="4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catalyzes the</a:t>
            </a:r>
          </a:p>
          <a:p>
            <a:pPr eaLnBrk="1" hangingPunct="1">
              <a:defRPr/>
            </a:pPr>
            <a:r>
              <a:rPr kumimoji="1" lang="en-US" altLang="zh-CN" sz="4000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sythesis</a:t>
            </a:r>
            <a:r>
              <a:rPr kumimoji="1" lang="en-US" altLang="zh-CN" sz="4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of DNA from RNA template.</a:t>
            </a:r>
          </a:p>
        </p:txBody>
      </p:sp>
    </p:spTree>
    <p:extLst>
      <p:ext uri="{BB962C8B-B14F-4D97-AF65-F5344CB8AC3E}">
        <p14:creationId xmlns:p14="http://schemas.microsoft.com/office/powerpoint/2010/main" val="167242249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86" name="Picture 2" descr="baltimor">
            <a:extLst>
              <a:ext uri="{FF2B5EF4-FFF2-40B4-BE49-F238E27FC236}">
                <a16:creationId xmlns:a16="http://schemas.microsoft.com/office/drawing/2014/main" id="{67BCBD7C-0645-4E4D-A539-430D45815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0"/>
            <a:ext cx="5554663" cy="662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0520461"/>
      </p:ext>
    </p:extLst>
  </p:cSld>
  <p:clrMapOvr>
    <a:masterClrMapping/>
  </p:clrMapOvr>
  <p:transition>
    <p:random/>
  </p:transition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B63ABFB6-B501-475D-83E8-1DF83B997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533400"/>
            <a:ext cx="6096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400" b="1" dirty="0"/>
              <a:t>关于沉降系数</a:t>
            </a:r>
            <a:r>
              <a:rPr lang="en-US" altLang="zh-CN" sz="4400" b="1" dirty="0"/>
              <a:t>S</a:t>
            </a:r>
          </a:p>
        </p:txBody>
      </p:sp>
      <p:pic>
        <p:nvPicPr>
          <p:cNvPr id="119811" name="Picture 3">
            <a:extLst>
              <a:ext uri="{FF2B5EF4-FFF2-40B4-BE49-F238E27FC236}">
                <a16:creationId xmlns:a16="http://schemas.microsoft.com/office/drawing/2014/main" id="{A8FAF694-61D3-4829-A333-2B42E4836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8" t="35022" r="25781" b="21875"/>
          <a:stretch>
            <a:fillRect/>
          </a:stretch>
        </p:blipFill>
        <p:spPr bwMode="auto">
          <a:xfrm>
            <a:off x="611560" y="1556792"/>
            <a:ext cx="8424863" cy="409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5286452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4" name="Picture 2">
            <a:extLst>
              <a:ext uri="{FF2B5EF4-FFF2-40B4-BE49-F238E27FC236}">
                <a16:creationId xmlns:a16="http://schemas.microsoft.com/office/drawing/2014/main" id="{AA8BC4C5-859F-4691-9D27-CBCCEC5C2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15" t="29167" r="21503" b="13542"/>
          <a:stretch>
            <a:fillRect/>
          </a:stretch>
        </p:blipFill>
        <p:spPr bwMode="auto">
          <a:xfrm>
            <a:off x="899592" y="620688"/>
            <a:ext cx="7056105" cy="5340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7546667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8" name="Picture 2">
            <a:extLst>
              <a:ext uri="{FF2B5EF4-FFF2-40B4-BE49-F238E27FC236}">
                <a16:creationId xmlns:a16="http://schemas.microsoft.com/office/drawing/2014/main" id="{CA5B801E-940B-429B-A163-BAC920AEA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94" t="43750" r="18750" b="28125"/>
          <a:stretch>
            <a:fillRect/>
          </a:stretch>
        </p:blipFill>
        <p:spPr bwMode="auto">
          <a:xfrm>
            <a:off x="304800" y="1876425"/>
            <a:ext cx="8534400" cy="299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8800782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53E32458-5042-4A28-B661-B95070740ED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01625" y="188913"/>
            <a:ext cx="854075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CN">
                <a:ln>
                  <a:noFill/>
                </a:ln>
              </a:rPr>
              <a:t>Enhancers (upstream activator sequences (</a:t>
            </a:r>
            <a:r>
              <a:rPr lang="en-US" altLang="zh-CN" err="1">
                <a:ln>
                  <a:noFill/>
                </a:ln>
              </a:rPr>
              <a:t>UASs</a:t>
            </a:r>
            <a:r>
              <a:rPr lang="en-US" altLang="zh-CN">
                <a:ln>
                  <a:noFill/>
                </a:ln>
              </a:rPr>
              <a:t>) in yeast)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4FFCAD63-67CD-4994-BC7B-71582B436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850" y="1268413"/>
            <a:ext cx="8540750" cy="38862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Although many positive control elements lie close to the gene they regulate, </a:t>
            </a:r>
            <a:r>
              <a:rPr lang="en-US" altLang="zh-CN">
                <a:solidFill>
                  <a:srgbClr val="CC0000"/>
                </a:solidFill>
              </a:rPr>
              <a:t>others can be located long distances away (10-50kb) either upstream or downstream of the gene</a:t>
            </a:r>
            <a:r>
              <a:rPr lang="en-US" altLang="zh-CN">
                <a:solidFill>
                  <a:srgbClr val="00FFCC"/>
                </a:solidFill>
              </a:rPr>
              <a:t>.</a:t>
            </a:r>
          </a:p>
        </p:txBody>
      </p:sp>
      <p:pic>
        <p:nvPicPr>
          <p:cNvPr id="28676" name="Picture 4" descr="Ch4C1">
            <a:extLst>
              <a:ext uri="{FF2B5EF4-FFF2-40B4-BE49-F238E27FC236}">
                <a16:creationId xmlns:a16="http://schemas.microsoft.com/office/drawing/2014/main" id="{E204D438-24BC-42F1-B868-57F156755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318"/>
          <a:stretch>
            <a:fillRect/>
          </a:stretch>
        </p:blipFill>
        <p:spPr bwMode="auto">
          <a:xfrm>
            <a:off x="900113" y="3573463"/>
            <a:ext cx="7200900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9196236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EB8B4E50-A9D0-454C-B27C-F264C20D6F07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altLang="zh-CN" dirty="0">
                <a:ln>
                  <a:noFill/>
                </a:ln>
              </a:rPr>
              <a:t>                   Repressors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4675BAF7-7AB7-4DEC-8815-41AF0EBEF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850" y="1557338"/>
            <a:ext cx="8540750" cy="3886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Repressors near the gene called negative regulators.</a:t>
            </a:r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r>
              <a:rPr lang="en-US" altLang="zh-CN" dirty="0"/>
              <a:t>Repressors long distance away from the gene called </a:t>
            </a:r>
            <a:r>
              <a:rPr lang="en-US" altLang="zh-CN" dirty="0">
                <a:solidFill>
                  <a:srgbClr val="CC0000"/>
                </a:solidFill>
              </a:rPr>
              <a:t>silencers</a:t>
            </a:r>
            <a:r>
              <a:rPr lang="en-US" altLang="zh-CN" dirty="0"/>
              <a:t> (</a:t>
            </a:r>
            <a:r>
              <a:rPr lang="zh-CN" altLang="en-US" dirty="0"/>
              <a:t>沉默子）</a:t>
            </a:r>
            <a:r>
              <a:rPr lang="en-US" altLang="zh-C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1629798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4">
            <a:extLst>
              <a:ext uri="{FF2B5EF4-FFF2-40B4-BE49-F238E27FC236}">
                <a16:creationId xmlns:a16="http://schemas.microsoft.com/office/drawing/2014/main" id="{2DE3AAEB-609E-4A18-8035-DC19ED9FE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0"/>
            <a:ext cx="5214938" cy="659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矩形 2">
            <a:extLst>
              <a:ext uri="{FF2B5EF4-FFF2-40B4-BE49-F238E27FC236}">
                <a16:creationId xmlns:a16="http://schemas.microsoft.com/office/drawing/2014/main" id="{9708A9FC-714C-4BEA-A819-0B3F1D72C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1557338"/>
            <a:ext cx="33845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9pPr>
          </a:lstStyle>
          <a:p>
            <a:r>
              <a:rPr lang="en-US" altLang="zh-CN" sz="200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TBP: TATA-Binding Protein;</a:t>
            </a:r>
          </a:p>
          <a:p>
            <a:r>
              <a:rPr lang="en-US" altLang="zh-CN" sz="200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00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84681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>
            <a:extLst>
              <a:ext uri="{FF2B5EF4-FFF2-40B4-BE49-F238E27FC236}">
                <a16:creationId xmlns:a16="http://schemas.microsoft.com/office/drawing/2014/main" id="{8ACFDD68-F1F8-4272-8D6C-6AB3350D0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0"/>
            <a:ext cx="523081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7" name="矩形 2">
            <a:extLst>
              <a:ext uri="{FF2B5EF4-FFF2-40B4-BE49-F238E27FC236}">
                <a16:creationId xmlns:a16="http://schemas.microsoft.com/office/drawing/2014/main" id="{92996B71-7EDB-4E43-90E2-FB924CE7F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76250"/>
            <a:ext cx="2592388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9pPr>
          </a:lstStyle>
          <a:p>
            <a:r>
              <a:rPr lang="en-US" altLang="zh-CN" sz="280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Regulation of transcription at genes of galactose</a:t>
            </a:r>
          </a:p>
          <a:p>
            <a:r>
              <a:rPr lang="en-US" altLang="zh-CN" sz="280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metabolism in yeast.</a:t>
            </a:r>
            <a:endParaRPr lang="zh-CN" altLang="en-US" sz="280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153936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>
            <a:extLst>
              <a:ext uri="{FF2B5EF4-FFF2-40B4-BE49-F238E27FC236}">
                <a16:creationId xmlns:a16="http://schemas.microsoft.com/office/drawing/2014/main" id="{9460709C-2FE7-4ED9-91AC-8750DD73B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0"/>
            <a:ext cx="4162425" cy="661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矩形 2">
            <a:extLst>
              <a:ext uri="{FF2B5EF4-FFF2-40B4-BE49-F238E27FC236}">
                <a16:creationId xmlns:a16="http://schemas.microsoft.com/office/drawing/2014/main" id="{5DC7B8AF-9965-4794-BAF3-F0403DAC9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33375"/>
            <a:ext cx="3024187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Footlight MT Light" panose="0204060206030A020304" pitchFamily="18" charset="0"/>
                <a:ea typeface="华文新魏" panose="02010800040101010101" pitchFamily="2" charset="-122"/>
              </a:defRPr>
            </a:lvl9pPr>
          </a:lstStyle>
          <a:p>
            <a:r>
              <a:rPr lang="en-US" altLang="zh-CN" sz="280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Protein complexes involved in transcription activation of a group of related eukaryotic genes</a:t>
            </a:r>
            <a:endParaRPr lang="zh-CN" altLang="en-US" sz="280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999101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灯片编号占位符 5">
            <a:extLst>
              <a:ext uri="{FF2B5EF4-FFF2-40B4-BE49-F238E27FC236}">
                <a16:creationId xmlns:a16="http://schemas.microsoft.com/office/drawing/2014/main" id="{A9DDA9B5-24EB-4AC1-8EF6-58A757CE5F5C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019800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/>
              <a:t>11-</a:t>
            </a:r>
            <a:fld id="{6E5D54C5-FD1A-416E-AFEC-B94F7E99E423}" type="slidenum">
              <a:rPr lang="en-US" altLang="zh-CN" sz="1400"/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169</a:t>
            </a:fld>
            <a:endParaRPr lang="en-US" altLang="zh-CN" sz="14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AE532FD3-A71C-45A3-8677-64B907DACA5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                                                                            </a:t>
            </a:r>
            <a:br>
              <a:rPr lang="en-US" altLang="zh-CN" dirty="0"/>
            </a:br>
            <a:r>
              <a:rPr lang="en-US" altLang="zh-CN" dirty="0"/>
              <a:t>                                                                    </a:t>
            </a:r>
            <a:r>
              <a:rPr lang="en-US" altLang="zh-CN" sz="3200" dirty="0"/>
              <a:t>Model of Formation of </a:t>
            </a:r>
            <a:br>
              <a:rPr lang="en-US" altLang="zh-CN" sz="3200" dirty="0"/>
            </a:br>
            <a:r>
              <a:rPr lang="en-US" altLang="zh-CN" sz="3200" dirty="0"/>
              <a:t>                                                                                                          the </a:t>
            </a:r>
            <a:r>
              <a:rPr lang="en-US" altLang="zh-CN" sz="3200" dirty="0" err="1"/>
              <a:t>DABPolF</a:t>
            </a:r>
            <a:r>
              <a:rPr lang="en-US" altLang="zh-CN" sz="3200" dirty="0"/>
              <a:t> Complex</a:t>
            </a:r>
            <a:endParaRPr lang="en-US" altLang="zh-CN" dirty="0"/>
          </a:p>
        </p:txBody>
      </p:sp>
      <p:pic>
        <p:nvPicPr>
          <p:cNvPr id="83972" name="Picture 6" descr="model_formation_dab_c_la_739">
            <a:extLst>
              <a:ext uri="{FF2B5EF4-FFF2-40B4-BE49-F238E27FC236}">
                <a16:creationId xmlns:a16="http://schemas.microsoft.com/office/drawing/2014/main" id="{C1452FB6-563C-4660-8062-1EC02FD3A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044700"/>
            <a:ext cx="6324600" cy="35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6910799"/>
      </p:ext>
    </p:extLst>
  </p:cSld>
  <p:clrMapOvr>
    <a:masterClrMapping/>
  </p:clrMapOvr>
</p:sld>
</file>

<file path=ppt/theme/theme1.xml><?xml version="1.0" encoding="utf-8"?>
<a:theme xmlns:a="http://schemas.openxmlformats.org/drawingml/2006/main" name="shan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shand</Template>
  <TotalTime>12026</TotalTime>
  <Words>9266</Words>
  <Application>Microsoft Office PowerPoint</Application>
  <PresentationFormat>全屏显示(4:3)</PresentationFormat>
  <Paragraphs>831</Paragraphs>
  <Slides>169</Slides>
  <Notes>72</Notes>
  <HiddenSlides>0</HiddenSlides>
  <MMClips>0</MMClips>
  <ScaleCrop>false</ScaleCrop>
  <HeadingPairs>
    <vt:vector size="8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169</vt:i4>
      </vt:variant>
    </vt:vector>
  </HeadingPairs>
  <TitlesOfParts>
    <vt:vector size="200" baseType="lpstr">
      <vt:lpstr>BlinkMacSystemFont</vt:lpstr>
      <vt:lpstr>CenturyStd-Bold</vt:lpstr>
      <vt:lpstr>CenturyStd-Light</vt:lpstr>
      <vt:lpstr>PingFang SC</vt:lpstr>
      <vt:lpstr>TimesNewRomanPS-BoldItalicMT</vt:lpstr>
      <vt:lpstr>TimesNewRomanPS-BoldMT</vt:lpstr>
      <vt:lpstr>TimesNewRomanPS-ItalicMT</vt:lpstr>
      <vt:lpstr>TimesNewRomanPSMT</vt:lpstr>
      <vt:lpstr>WhitneyIndexBlack-RoundBd</vt:lpstr>
      <vt:lpstr>Whitney-Light</vt:lpstr>
      <vt:lpstr>黑体</vt:lpstr>
      <vt:lpstr>华文中宋</vt:lpstr>
      <vt:lpstr>楷体_GB2312</vt:lpstr>
      <vt:lpstr>宋体</vt:lpstr>
      <vt:lpstr>Microsoft YaHei</vt:lpstr>
      <vt:lpstr>Microsoft YaHei</vt:lpstr>
      <vt:lpstr>arial</vt:lpstr>
      <vt:lpstr>arial</vt:lpstr>
      <vt:lpstr>Arial Black</vt:lpstr>
      <vt:lpstr>Arial Narrow</vt:lpstr>
      <vt:lpstr>Calibri</vt:lpstr>
      <vt:lpstr>Courier New</vt:lpstr>
      <vt:lpstr>Footlight MT Light</vt:lpstr>
      <vt:lpstr>Symbol</vt:lpstr>
      <vt:lpstr>Times</vt:lpstr>
      <vt:lpstr>Times New Roman</vt:lpstr>
      <vt:lpstr>Wingdings</vt:lpstr>
      <vt:lpstr>Wingdings 2</vt:lpstr>
      <vt:lpstr>shand</vt:lpstr>
      <vt:lpstr>BMP 图象</vt:lpstr>
      <vt:lpstr>位图图像</vt:lpstr>
      <vt:lpstr>Section G   RNA synthesis and processing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RNA Transcription in Prokaryotes  (G2)</vt:lpstr>
      <vt:lpstr>1. DNA and RNA syntheses are similar in some aspects but different in others</vt:lpstr>
      <vt:lpstr>PowerPoint 演示文稿</vt:lpstr>
      <vt:lpstr>2. The multimeric RNA polymerase in E.coli has multiple functions</vt:lpstr>
      <vt:lpstr>PowerPoint 演示文稿</vt:lpstr>
      <vt:lpstr>PowerPoint 演示文稿</vt:lpstr>
      <vt:lpstr>PowerPoint 演示文稿</vt:lpstr>
      <vt:lpstr>PowerPoint 演示文稿</vt:lpstr>
      <vt:lpstr>3. RNA synthesis occurs in a “moving” transcription bubble on the DNA template</vt:lpstr>
      <vt:lpstr>PowerPoint 演示文稿</vt:lpstr>
      <vt:lpstr>PowerPoint 演示文稿</vt:lpstr>
      <vt:lpstr>4. RNA polymerase recognizes specific promoter sequences on DNA to initiate transcription</vt:lpstr>
      <vt:lpstr>PowerPoint 演示文稿</vt:lpstr>
      <vt:lpstr>PowerPoint 演示文稿</vt:lpstr>
      <vt:lpstr>PowerPoint 演示文稿</vt:lpstr>
      <vt:lpstr>5. The s subunits enable the E.coli RNA polymerase to recognize specific promoter sites</vt:lpstr>
      <vt:lpstr>Three stages of transcription</vt:lpstr>
      <vt:lpstr>6. RNA polymerase unwinds the template DNA then initiate RNA synthesis -Initiation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 E.coli RNA polymerase stops synthesizing RNA at specific terminator DNA sequences -Termination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9. RNA processing</vt:lpstr>
      <vt:lpstr>PowerPoint 演示文稿</vt:lpstr>
      <vt:lpstr>PowerPoint 演示文稿</vt:lpstr>
      <vt:lpstr>PowerPoint 演示文稿</vt:lpstr>
      <vt:lpstr>PowerPoint 演示文稿</vt:lpstr>
      <vt:lpstr>2、操纵子（operon）的定义</vt:lpstr>
      <vt:lpstr>PowerPoint 演示文稿</vt:lpstr>
      <vt:lpstr>Lac operon (乳糖操纵子）</vt:lpstr>
      <vt:lpstr>PowerPoint 演示文稿</vt:lpstr>
      <vt:lpstr>PowerPoint 演示文稿</vt:lpstr>
      <vt:lpstr>PowerPoint 演示文稿</vt:lpstr>
      <vt:lpstr>Negative Control of the lac Operon</vt:lpstr>
      <vt:lpstr>PowerPoint 演示文稿</vt:lpstr>
      <vt:lpstr>cAMP与代谢物激活蛋白-正调控模型</vt:lpstr>
      <vt:lpstr>CAP Plus cAMP Action</vt:lpstr>
      <vt:lpstr>The Lac Operon: When Lactose Is Present But Not Glucose</vt:lpstr>
      <vt:lpstr>The Lac Operon: When Glucose Is Present But Not Lactose</vt:lpstr>
      <vt:lpstr>The Lac Operon: When Neither Lactose Nor Glucose Is Present</vt:lpstr>
      <vt:lpstr>PowerPoint 演示文稿</vt:lpstr>
      <vt:lpstr>PowerPoint 演示文稿</vt:lpstr>
      <vt:lpstr>3. The tryptophan operon </vt:lpstr>
      <vt:lpstr>Leader peptide of trp operon</vt:lpstr>
      <vt:lpstr>Leader peptide of trp operon</vt:lpstr>
      <vt:lpstr>PowerPoint 演示文稿</vt:lpstr>
      <vt:lpstr>PowerPoint 演示文稿</vt:lpstr>
      <vt:lpstr>PowerPoint 演示文稿</vt:lpstr>
      <vt:lpstr>PowerPoint 演示文稿</vt:lpstr>
      <vt:lpstr>1. Three kinds of RNA polymerases (I, II, and III) have been revealed for making RNAs in the nucleus of eukaryotic cells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 RNA polymerase II (Pol II) binds to promoters of thousands of protein-coding genes</vt:lpstr>
      <vt:lpstr>PowerPoint 演示文稿</vt:lpstr>
      <vt:lpstr>PowerPoint 演示文稿</vt:lpstr>
      <vt:lpstr>PowerPoint 演示文稿</vt:lpstr>
      <vt:lpstr>3. Pol II is helped by an arrays of protein factors (called general transcription factors(TF)) to form an active transcription complex at a promoter </vt:lpstr>
      <vt:lpstr>PowerPoint 演示文稿</vt:lpstr>
      <vt:lpstr>PowerPoint 演示文稿</vt:lpstr>
      <vt:lpstr>PowerPoint 演示文稿</vt:lpstr>
      <vt:lpstr>PowerPoint 演示文稿</vt:lpstr>
      <vt:lpstr>Many regulatory elements in a promoter</vt:lpstr>
      <vt:lpstr>PowerPoint 演示文稿</vt:lpstr>
      <vt:lpstr>PowerPoint 演示文稿</vt:lpstr>
      <vt:lpstr>DNA-binding domains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G7 Processing of eukaryotic pre-mRNA</vt:lpstr>
      <vt:lpstr>PowerPoint 演示文稿</vt:lpstr>
      <vt:lpstr>PowerPoint 演示文稿</vt:lpstr>
      <vt:lpstr>PowerPoint 演示文稿</vt:lpstr>
      <vt:lpstr>PowerPoint 演示文稿</vt:lpstr>
      <vt:lpstr>1. An eukaryotic mRNA precursor acquire a 5` cap shortly after transcription initiates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 Introns are self-splicing and the ends of the exon sequences ligate together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 The different rRNA molecules of both prokaryotes and eukaryotes are generated from single pre-rRNAs</vt:lpstr>
      <vt:lpstr>PowerPoint 演示文稿</vt:lpstr>
      <vt:lpstr>PowerPoint 演示文稿</vt:lpstr>
      <vt:lpstr>3.  More RNA molecules (ribozymes) were found to be catalytic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Reverse transcriptases catalyze the production of DNA from RNA</vt:lpstr>
      <vt:lpstr>PowerPoint 演示文稿</vt:lpstr>
      <vt:lpstr>  Some viral RNAs are replicated by RNA-directed RNA polymerase</vt:lpstr>
      <vt:lpstr>Summary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Enhancers (upstream activator sequences (UASs) in yeast)</vt:lpstr>
      <vt:lpstr>                   Repressors</vt:lpstr>
      <vt:lpstr>PowerPoint 演示文稿</vt:lpstr>
      <vt:lpstr>PowerPoint 演示文稿</vt:lpstr>
      <vt:lpstr>PowerPoint 演示文稿</vt:lpstr>
      <vt:lpstr>                                                                                                                                                 Model of Formation of                                                                                                            the DABPolF Complex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</dc:creator>
  <cp:lastModifiedBy>洛冰 韩</cp:lastModifiedBy>
  <cp:revision>261</cp:revision>
  <dcterms:created xsi:type="dcterms:W3CDTF">2014-10-13T11:37:17Z</dcterms:created>
  <dcterms:modified xsi:type="dcterms:W3CDTF">2023-11-02T08:36:12Z</dcterms:modified>
</cp:coreProperties>
</file>