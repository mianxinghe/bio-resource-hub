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handoutMasterIdLst>
    <p:handoutMasterId r:id="rId122"/>
  </p:handoutMasterIdLst>
  <p:sldIdLst>
    <p:sldId id="256" r:id="rId2"/>
    <p:sldId id="418" r:id="rId3"/>
    <p:sldId id="385" r:id="rId4"/>
    <p:sldId id="280" r:id="rId5"/>
    <p:sldId id="416" r:id="rId6"/>
    <p:sldId id="277" r:id="rId7"/>
    <p:sldId id="278" r:id="rId8"/>
    <p:sldId id="279" r:id="rId9"/>
    <p:sldId id="419" r:id="rId10"/>
    <p:sldId id="281" r:id="rId11"/>
    <p:sldId id="282" r:id="rId12"/>
    <p:sldId id="283" r:id="rId13"/>
    <p:sldId id="284" r:id="rId14"/>
    <p:sldId id="285" r:id="rId15"/>
    <p:sldId id="286" r:id="rId16"/>
    <p:sldId id="287" r:id="rId17"/>
    <p:sldId id="288" r:id="rId18"/>
    <p:sldId id="387" r:id="rId19"/>
    <p:sldId id="388" r:id="rId20"/>
    <p:sldId id="289" r:id="rId21"/>
    <p:sldId id="290" r:id="rId22"/>
    <p:sldId id="292" r:id="rId23"/>
    <p:sldId id="293" r:id="rId24"/>
    <p:sldId id="294" r:id="rId25"/>
    <p:sldId id="295"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420" r:id="rId39"/>
    <p:sldId id="309" r:id="rId40"/>
    <p:sldId id="391" r:id="rId41"/>
    <p:sldId id="417" r:id="rId42"/>
    <p:sldId id="310" r:id="rId43"/>
    <p:sldId id="311" r:id="rId44"/>
    <p:sldId id="312" r:id="rId45"/>
    <p:sldId id="313" r:id="rId46"/>
    <p:sldId id="314" r:id="rId47"/>
    <p:sldId id="315" r:id="rId48"/>
    <p:sldId id="316" r:id="rId49"/>
    <p:sldId id="317" r:id="rId50"/>
    <p:sldId id="318" r:id="rId51"/>
    <p:sldId id="319" r:id="rId52"/>
    <p:sldId id="321" r:id="rId53"/>
    <p:sldId id="322" r:id="rId54"/>
    <p:sldId id="323" r:id="rId55"/>
    <p:sldId id="324" r:id="rId56"/>
    <p:sldId id="325" r:id="rId57"/>
    <p:sldId id="394" r:id="rId58"/>
    <p:sldId id="326" r:id="rId59"/>
    <p:sldId id="397" r:id="rId60"/>
    <p:sldId id="393" r:id="rId61"/>
    <p:sldId id="327" r:id="rId62"/>
    <p:sldId id="329" r:id="rId63"/>
    <p:sldId id="328" r:id="rId64"/>
    <p:sldId id="333" r:id="rId65"/>
    <p:sldId id="334" r:id="rId66"/>
    <p:sldId id="335" r:id="rId67"/>
    <p:sldId id="396" r:id="rId68"/>
    <p:sldId id="336" r:id="rId69"/>
    <p:sldId id="395" r:id="rId70"/>
    <p:sldId id="337" r:id="rId71"/>
    <p:sldId id="338" r:id="rId72"/>
    <p:sldId id="339" r:id="rId73"/>
    <p:sldId id="341" r:id="rId74"/>
    <p:sldId id="343" r:id="rId75"/>
    <p:sldId id="344" r:id="rId76"/>
    <p:sldId id="345" r:id="rId77"/>
    <p:sldId id="346" r:id="rId78"/>
    <p:sldId id="347" r:id="rId79"/>
    <p:sldId id="349" r:id="rId80"/>
    <p:sldId id="348" r:id="rId81"/>
    <p:sldId id="350" r:id="rId82"/>
    <p:sldId id="351" r:id="rId83"/>
    <p:sldId id="352" r:id="rId84"/>
    <p:sldId id="353" r:id="rId85"/>
    <p:sldId id="400" r:id="rId86"/>
    <p:sldId id="354" r:id="rId87"/>
    <p:sldId id="355" r:id="rId88"/>
    <p:sldId id="401" r:id="rId89"/>
    <p:sldId id="406" r:id="rId90"/>
    <p:sldId id="410" r:id="rId91"/>
    <p:sldId id="414" r:id="rId92"/>
    <p:sldId id="357" r:id="rId93"/>
    <p:sldId id="358" r:id="rId94"/>
    <p:sldId id="359" r:id="rId95"/>
    <p:sldId id="361" r:id="rId96"/>
    <p:sldId id="362" r:id="rId97"/>
    <p:sldId id="360" r:id="rId98"/>
    <p:sldId id="363" r:id="rId99"/>
    <p:sldId id="364" r:id="rId100"/>
    <p:sldId id="367" r:id="rId101"/>
    <p:sldId id="368" r:id="rId102"/>
    <p:sldId id="369" r:id="rId103"/>
    <p:sldId id="370" r:id="rId104"/>
    <p:sldId id="371" r:id="rId105"/>
    <p:sldId id="372" r:id="rId106"/>
    <p:sldId id="373" r:id="rId107"/>
    <p:sldId id="374" r:id="rId108"/>
    <p:sldId id="398" r:id="rId109"/>
    <p:sldId id="366" r:id="rId110"/>
    <p:sldId id="365" r:id="rId111"/>
    <p:sldId id="377" r:id="rId112"/>
    <p:sldId id="378" r:id="rId113"/>
    <p:sldId id="379" r:id="rId114"/>
    <p:sldId id="380" r:id="rId115"/>
    <p:sldId id="383" r:id="rId116"/>
    <p:sldId id="384" r:id="rId117"/>
    <p:sldId id="276" r:id="rId118"/>
    <p:sldId id="392" r:id="rId119"/>
    <p:sldId id="407" r:id="rId12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33CC33"/>
    <a:srgbClr val="008000"/>
    <a:srgbClr val="3399FF"/>
    <a:srgbClr val="FF3399"/>
    <a:srgbClr val="600000"/>
    <a:srgbClr val="F8F8F8"/>
    <a:srgbClr val="99CC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893" autoAdjust="0"/>
  </p:normalViewPr>
  <p:slideViewPr>
    <p:cSldViewPr>
      <p:cViewPr varScale="1">
        <p:scale>
          <a:sx n="69" d="100"/>
          <a:sy n="69" d="100"/>
        </p:scale>
        <p:origin x="960" y="62"/>
      </p:cViewPr>
      <p:guideLst>
        <p:guide orient="horz" pos="2160"/>
        <p:guide pos="2880"/>
      </p:guideLst>
    </p:cSldViewPr>
  </p:slideViewPr>
  <p:outlineViewPr>
    <p:cViewPr>
      <p:scale>
        <a:sx n="33" d="100"/>
        <a:sy n="33" d="100"/>
      </p:scale>
      <p:origin x="0" y="-40626"/>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2023/12/27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2023/12/27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a:t>
            </a:fld>
            <a:endParaRPr lang="zh-CN" altLang="en-US"/>
          </a:p>
        </p:txBody>
      </p:sp>
    </p:spTree>
    <p:extLst>
      <p:ext uri="{BB962C8B-B14F-4D97-AF65-F5344CB8AC3E}">
        <p14:creationId xmlns:p14="http://schemas.microsoft.com/office/powerpoint/2010/main" val="303201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a:t>
            </a:fld>
            <a:endParaRPr lang="zh-CN" altLang="en-US"/>
          </a:p>
        </p:txBody>
      </p:sp>
    </p:spTree>
    <p:extLst>
      <p:ext uri="{BB962C8B-B14F-4D97-AF65-F5344CB8AC3E}">
        <p14:creationId xmlns:p14="http://schemas.microsoft.com/office/powerpoint/2010/main" val="1919444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a:t>
            </a:fld>
            <a:endParaRPr lang="zh-CN" altLang="en-US"/>
          </a:p>
        </p:txBody>
      </p:sp>
    </p:spTree>
    <p:extLst>
      <p:ext uri="{BB962C8B-B14F-4D97-AF65-F5344CB8AC3E}">
        <p14:creationId xmlns:p14="http://schemas.microsoft.com/office/powerpoint/2010/main" val="1906520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a:t>
            </a:fld>
            <a:endParaRPr lang="zh-CN" altLang="en-US"/>
          </a:p>
        </p:txBody>
      </p:sp>
    </p:spTree>
    <p:extLst>
      <p:ext uri="{BB962C8B-B14F-4D97-AF65-F5344CB8AC3E}">
        <p14:creationId xmlns:p14="http://schemas.microsoft.com/office/powerpoint/2010/main" val="1949952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a:t>
            </a:fld>
            <a:endParaRPr lang="zh-CN" altLang="en-US"/>
          </a:p>
        </p:txBody>
      </p:sp>
    </p:spTree>
    <p:extLst>
      <p:ext uri="{BB962C8B-B14F-4D97-AF65-F5344CB8AC3E}">
        <p14:creationId xmlns:p14="http://schemas.microsoft.com/office/powerpoint/2010/main" val="1582696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a:t>
            </a:fld>
            <a:endParaRPr lang="zh-CN" altLang="en-US"/>
          </a:p>
        </p:txBody>
      </p:sp>
    </p:spTree>
    <p:extLst>
      <p:ext uri="{BB962C8B-B14F-4D97-AF65-F5344CB8AC3E}">
        <p14:creationId xmlns:p14="http://schemas.microsoft.com/office/powerpoint/2010/main" val="3005503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a:t>
            </a:fld>
            <a:endParaRPr lang="zh-CN" altLang="en-US"/>
          </a:p>
        </p:txBody>
      </p:sp>
    </p:spTree>
    <p:extLst>
      <p:ext uri="{BB962C8B-B14F-4D97-AF65-F5344CB8AC3E}">
        <p14:creationId xmlns:p14="http://schemas.microsoft.com/office/powerpoint/2010/main" val="2753902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a:t>
            </a:fld>
            <a:endParaRPr lang="zh-CN" altLang="en-US"/>
          </a:p>
        </p:txBody>
      </p:sp>
    </p:spTree>
    <p:extLst>
      <p:ext uri="{BB962C8B-B14F-4D97-AF65-F5344CB8AC3E}">
        <p14:creationId xmlns:p14="http://schemas.microsoft.com/office/powerpoint/2010/main" val="1996763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a:t>
            </a:fld>
            <a:endParaRPr lang="zh-CN" altLang="en-US"/>
          </a:p>
        </p:txBody>
      </p:sp>
    </p:spTree>
    <p:extLst>
      <p:ext uri="{BB962C8B-B14F-4D97-AF65-F5344CB8AC3E}">
        <p14:creationId xmlns:p14="http://schemas.microsoft.com/office/powerpoint/2010/main" val="3006259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a:t>
            </a:fld>
            <a:endParaRPr lang="zh-CN" altLang="en-US"/>
          </a:p>
        </p:txBody>
      </p:sp>
    </p:spTree>
    <p:extLst>
      <p:ext uri="{BB962C8B-B14F-4D97-AF65-F5344CB8AC3E}">
        <p14:creationId xmlns:p14="http://schemas.microsoft.com/office/powerpoint/2010/main" val="3987373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15</a:t>
            </a:fld>
            <a:endParaRPr lang="zh-CN" altLang="en-US"/>
          </a:p>
        </p:txBody>
      </p:sp>
    </p:spTree>
    <p:extLst>
      <p:ext uri="{BB962C8B-B14F-4D97-AF65-F5344CB8AC3E}">
        <p14:creationId xmlns:p14="http://schemas.microsoft.com/office/powerpoint/2010/main" val="126403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a:t>
            </a:fld>
            <a:endParaRPr lang="zh-CN" altLang="en-US"/>
          </a:p>
        </p:txBody>
      </p:sp>
    </p:spTree>
    <p:extLst>
      <p:ext uri="{BB962C8B-B14F-4D97-AF65-F5344CB8AC3E}">
        <p14:creationId xmlns:p14="http://schemas.microsoft.com/office/powerpoint/2010/main" val="3793184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a:t>
            </a:fld>
            <a:endParaRPr lang="zh-CN" altLang="en-US"/>
          </a:p>
        </p:txBody>
      </p:sp>
    </p:spTree>
    <p:extLst>
      <p:ext uri="{BB962C8B-B14F-4D97-AF65-F5344CB8AC3E}">
        <p14:creationId xmlns:p14="http://schemas.microsoft.com/office/powerpoint/2010/main" val="3316095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a:t>
            </a:fld>
            <a:endParaRPr lang="zh-CN" altLang="en-US"/>
          </a:p>
        </p:txBody>
      </p:sp>
    </p:spTree>
    <p:extLst>
      <p:ext uri="{BB962C8B-B14F-4D97-AF65-F5344CB8AC3E}">
        <p14:creationId xmlns:p14="http://schemas.microsoft.com/office/powerpoint/2010/main" val="3283378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a:t>
            </a:fld>
            <a:endParaRPr lang="zh-CN" altLang="en-US"/>
          </a:p>
        </p:txBody>
      </p:sp>
    </p:spTree>
    <p:extLst>
      <p:ext uri="{BB962C8B-B14F-4D97-AF65-F5344CB8AC3E}">
        <p14:creationId xmlns:p14="http://schemas.microsoft.com/office/powerpoint/2010/main" val="2877968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a:t>
            </a:fld>
            <a:endParaRPr lang="zh-CN" altLang="en-US"/>
          </a:p>
        </p:txBody>
      </p:sp>
    </p:spTree>
    <p:extLst>
      <p:ext uri="{BB962C8B-B14F-4D97-AF65-F5344CB8AC3E}">
        <p14:creationId xmlns:p14="http://schemas.microsoft.com/office/powerpoint/2010/main" val="3202510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a:t>
            </a:fld>
            <a:endParaRPr lang="zh-CN" altLang="en-US"/>
          </a:p>
        </p:txBody>
      </p:sp>
    </p:spTree>
    <p:extLst>
      <p:ext uri="{BB962C8B-B14F-4D97-AF65-F5344CB8AC3E}">
        <p14:creationId xmlns:p14="http://schemas.microsoft.com/office/powerpoint/2010/main" val="3444953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a:t>
            </a:fld>
            <a:endParaRPr lang="zh-CN" altLang="en-US"/>
          </a:p>
        </p:txBody>
      </p:sp>
    </p:spTree>
    <p:extLst>
      <p:ext uri="{BB962C8B-B14F-4D97-AF65-F5344CB8AC3E}">
        <p14:creationId xmlns:p14="http://schemas.microsoft.com/office/powerpoint/2010/main" val="2471698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26</a:t>
            </a:fld>
            <a:endParaRPr lang="zh-CN" altLang="en-US"/>
          </a:p>
        </p:txBody>
      </p:sp>
    </p:spTree>
    <p:extLst>
      <p:ext uri="{BB962C8B-B14F-4D97-AF65-F5344CB8AC3E}">
        <p14:creationId xmlns:p14="http://schemas.microsoft.com/office/powerpoint/2010/main" val="2806386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27</a:t>
            </a:fld>
            <a:endParaRPr lang="zh-CN" altLang="en-US"/>
          </a:p>
        </p:txBody>
      </p:sp>
    </p:spTree>
    <p:extLst>
      <p:ext uri="{BB962C8B-B14F-4D97-AF65-F5344CB8AC3E}">
        <p14:creationId xmlns:p14="http://schemas.microsoft.com/office/powerpoint/2010/main" val="2950208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a:t>
            </a:fld>
            <a:endParaRPr lang="zh-CN" altLang="en-US"/>
          </a:p>
        </p:txBody>
      </p:sp>
    </p:spTree>
    <p:extLst>
      <p:ext uri="{BB962C8B-B14F-4D97-AF65-F5344CB8AC3E}">
        <p14:creationId xmlns:p14="http://schemas.microsoft.com/office/powerpoint/2010/main" val="34325085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3895537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33</a:t>
            </a:fld>
            <a:endParaRPr lang="zh-CN" altLang="en-US"/>
          </a:p>
        </p:txBody>
      </p:sp>
    </p:spTree>
    <p:extLst>
      <p:ext uri="{BB962C8B-B14F-4D97-AF65-F5344CB8AC3E}">
        <p14:creationId xmlns:p14="http://schemas.microsoft.com/office/powerpoint/2010/main" val="9985742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34</a:t>
            </a:fld>
            <a:endParaRPr lang="zh-CN" altLang="en-US"/>
          </a:p>
        </p:txBody>
      </p:sp>
    </p:spTree>
    <p:extLst>
      <p:ext uri="{BB962C8B-B14F-4D97-AF65-F5344CB8AC3E}">
        <p14:creationId xmlns:p14="http://schemas.microsoft.com/office/powerpoint/2010/main" val="19844008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35</a:t>
            </a:fld>
            <a:endParaRPr lang="zh-CN" altLang="en-US"/>
          </a:p>
        </p:txBody>
      </p:sp>
    </p:spTree>
    <p:extLst>
      <p:ext uri="{BB962C8B-B14F-4D97-AF65-F5344CB8AC3E}">
        <p14:creationId xmlns:p14="http://schemas.microsoft.com/office/powerpoint/2010/main" val="22979840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3735061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37</a:t>
            </a:fld>
            <a:endParaRPr lang="zh-CN" altLang="en-US"/>
          </a:p>
        </p:txBody>
      </p:sp>
    </p:spTree>
    <p:extLst>
      <p:ext uri="{BB962C8B-B14F-4D97-AF65-F5344CB8AC3E}">
        <p14:creationId xmlns:p14="http://schemas.microsoft.com/office/powerpoint/2010/main" val="2447320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39</a:t>
            </a:fld>
            <a:endParaRPr lang="zh-CN" altLang="en-US"/>
          </a:p>
        </p:txBody>
      </p:sp>
    </p:spTree>
    <p:extLst>
      <p:ext uri="{BB962C8B-B14F-4D97-AF65-F5344CB8AC3E}">
        <p14:creationId xmlns:p14="http://schemas.microsoft.com/office/powerpoint/2010/main" val="23030440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40</a:t>
            </a:fld>
            <a:endParaRPr lang="zh-CN" altLang="en-US"/>
          </a:p>
        </p:txBody>
      </p:sp>
    </p:spTree>
    <p:extLst>
      <p:ext uri="{BB962C8B-B14F-4D97-AF65-F5344CB8AC3E}">
        <p14:creationId xmlns:p14="http://schemas.microsoft.com/office/powerpoint/2010/main" val="24551534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42</a:t>
            </a:fld>
            <a:endParaRPr lang="zh-CN" altLang="en-US"/>
          </a:p>
        </p:txBody>
      </p:sp>
    </p:spTree>
    <p:extLst>
      <p:ext uri="{BB962C8B-B14F-4D97-AF65-F5344CB8AC3E}">
        <p14:creationId xmlns:p14="http://schemas.microsoft.com/office/powerpoint/2010/main" val="8054229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43</a:t>
            </a:fld>
            <a:endParaRPr lang="zh-CN" altLang="en-US"/>
          </a:p>
        </p:txBody>
      </p:sp>
    </p:spTree>
    <p:extLst>
      <p:ext uri="{BB962C8B-B14F-4D97-AF65-F5344CB8AC3E}">
        <p14:creationId xmlns:p14="http://schemas.microsoft.com/office/powerpoint/2010/main" val="22513111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44</a:t>
            </a:fld>
            <a:endParaRPr lang="zh-CN" altLang="en-US"/>
          </a:p>
        </p:txBody>
      </p:sp>
    </p:spTree>
    <p:extLst>
      <p:ext uri="{BB962C8B-B14F-4D97-AF65-F5344CB8AC3E}">
        <p14:creationId xmlns:p14="http://schemas.microsoft.com/office/powerpoint/2010/main" val="40538450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6F8C4087-F86F-48C8-A6CB-AC491D5965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F5EE089-36D7-444F-BB47-F47F5AF8950C}" type="slidenum">
              <a:rPr lang="en-US" altLang="zh-CN" sz="1200"/>
              <a:pPr eaLnBrk="1" hangingPunct="1"/>
              <a:t>45</a:t>
            </a:fld>
            <a:endParaRPr lang="en-US" altLang="zh-CN" sz="1200"/>
          </a:p>
        </p:txBody>
      </p:sp>
      <p:sp>
        <p:nvSpPr>
          <p:cNvPr id="89091" name="Rectangle 2">
            <a:extLst>
              <a:ext uri="{FF2B5EF4-FFF2-40B4-BE49-F238E27FC236}">
                <a16:creationId xmlns:a16="http://schemas.microsoft.com/office/drawing/2014/main" id="{D1E2D1B6-DAD9-4796-ACD1-57EBB3B86397}"/>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C3132E6C-31C9-4DA9-8098-B961F60B7D1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209168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48</a:t>
            </a:fld>
            <a:endParaRPr lang="zh-CN" altLang="en-US"/>
          </a:p>
        </p:txBody>
      </p:sp>
    </p:spTree>
    <p:extLst>
      <p:ext uri="{BB962C8B-B14F-4D97-AF65-F5344CB8AC3E}">
        <p14:creationId xmlns:p14="http://schemas.microsoft.com/office/powerpoint/2010/main" val="2145445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12851177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54</a:t>
            </a:fld>
            <a:endParaRPr lang="zh-CN" altLang="en-US"/>
          </a:p>
        </p:txBody>
      </p:sp>
    </p:spTree>
    <p:extLst>
      <p:ext uri="{BB962C8B-B14F-4D97-AF65-F5344CB8AC3E}">
        <p14:creationId xmlns:p14="http://schemas.microsoft.com/office/powerpoint/2010/main" val="7830517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4F34283C-E5DE-407C-BE55-45E82F7C12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9CFEA80-CE2A-42CD-ACC5-1EA104FC5161}" type="slidenum">
              <a:rPr lang="en-US" altLang="zh-CN" sz="1200"/>
              <a:pPr eaLnBrk="1" hangingPunct="1"/>
              <a:t>55</a:t>
            </a:fld>
            <a:endParaRPr lang="en-US" altLang="zh-CN" sz="1200"/>
          </a:p>
        </p:txBody>
      </p:sp>
      <p:sp>
        <p:nvSpPr>
          <p:cNvPr id="90115" name="Rectangle 2">
            <a:extLst>
              <a:ext uri="{FF2B5EF4-FFF2-40B4-BE49-F238E27FC236}">
                <a16:creationId xmlns:a16="http://schemas.microsoft.com/office/drawing/2014/main" id="{392D3F1E-6991-422E-B83B-D5FEB2A6A27B}"/>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EED9BFF6-C0D5-43DD-8DE6-8B0834B9760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2462218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60</a:t>
            </a:fld>
            <a:endParaRPr lang="zh-CN" altLang="en-US"/>
          </a:p>
        </p:txBody>
      </p:sp>
    </p:spTree>
    <p:extLst>
      <p:ext uri="{BB962C8B-B14F-4D97-AF65-F5344CB8AC3E}">
        <p14:creationId xmlns:p14="http://schemas.microsoft.com/office/powerpoint/2010/main" val="3997298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732CD8F4-4207-4702-B7EB-B814403630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C6AB61E-9687-40DB-8851-3927A5FE14B3}" type="slidenum">
              <a:rPr lang="en-US" altLang="zh-CN" sz="1200"/>
              <a:pPr eaLnBrk="1" hangingPunct="1"/>
              <a:t>61</a:t>
            </a:fld>
            <a:endParaRPr lang="en-US" altLang="zh-CN" sz="1200"/>
          </a:p>
        </p:txBody>
      </p:sp>
      <p:sp>
        <p:nvSpPr>
          <p:cNvPr id="91139" name="Rectangle 2">
            <a:extLst>
              <a:ext uri="{FF2B5EF4-FFF2-40B4-BE49-F238E27FC236}">
                <a16:creationId xmlns:a16="http://schemas.microsoft.com/office/drawing/2014/main" id="{F6151644-0108-4874-9C13-AEAE85B2CF13}"/>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D238BA30-4934-4775-832D-34419EEBEAE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9568531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62</a:t>
            </a:fld>
            <a:endParaRPr lang="zh-CN" altLang="en-US"/>
          </a:p>
        </p:txBody>
      </p:sp>
    </p:spTree>
    <p:extLst>
      <p:ext uri="{BB962C8B-B14F-4D97-AF65-F5344CB8AC3E}">
        <p14:creationId xmlns:p14="http://schemas.microsoft.com/office/powerpoint/2010/main" val="376733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64</a:t>
            </a:fld>
            <a:endParaRPr lang="zh-CN" altLang="en-US"/>
          </a:p>
        </p:txBody>
      </p:sp>
    </p:spTree>
    <p:extLst>
      <p:ext uri="{BB962C8B-B14F-4D97-AF65-F5344CB8AC3E}">
        <p14:creationId xmlns:p14="http://schemas.microsoft.com/office/powerpoint/2010/main" val="25727847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45F8EA09-65C8-4628-8830-0EAF80BFC2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BF43D84-086F-4546-923B-A010FB829AD4}" type="slidenum">
              <a:rPr lang="en-US" altLang="zh-CN" sz="1200"/>
              <a:pPr eaLnBrk="1" hangingPunct="1"/>
              <a:t>65</a:t>
            </a:fld>
            <a:endParaRPr lang="en-US" altLang="zh-CN" sz="1200"/>
          </a:p>
        </p:txBody>
      </p:sp>
      <p:sp>
        <p:nvSpPr>
          <p:cNvPr id="92163" name="Rectangle 2">
            <a:extLst>
              <a:ext uri="{FF2B5EF4-FFF2-40B4-BE49-F238E27FC236}">
                <a16:creationId xmlns:a16="http://schemas.microsoft.com/office/drawing/2014/main" id="{DED86E4C-7AB7-494E-A1B1-49F77FE424BF}"/>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AB7435E8-997A-4F20-A30F-8B7DBA06A59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229560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A30471DB-2DE0-4CD2-8D57-FED604183B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3C796C2-E688-451F-89D8-2B8829A21691}" type="slidenum">
              <a:rPr lang="en-US" altLang="zh-CN" sz="1200"/>
              <a:pPr eaLnBrk="1" hangingPunct="1"/>
              <a:t>66</a:t>
            </a:fld>
            <a:endParaRPr lang="en-US" altLang="zh-CN" sz="1200"/>
          </a:p>
        </p:txBody>
      </p:sp>
      <p:sp>
        <p:nvSpPr>
          <p:cNvPr id="93187" name="Rectangle 2">
            <a:extLst>
              <a:ext uri="{FF2B5EF4-FFF2-40B4-BE49-F238E27FC236}">
                <a16:creationId xmlns:a16="http://schemas.microsoft.com/office/drawing/2014/main" id="{15985AC2-4B3E-46C3-B851-91D98EA7690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109CF057-D74E-4232-B150-E5089201AF3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1331149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0562EBB-0D5F-43A0-93DF-9D830D9A99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AE50616-B9AB-4C95-B3BD-AF1D041D8E37}" type="slidenum">
              <a:rPr lang="en-US" altLang="zh-CN" sz="1200"/>
              <a:pPr eaLnBrk="1" hangingPunct="1"/>
              <a:t>68</a:t>
            </a:fld>
            <a:endParaRPr lang="en-US" altLang="zh-CN" sz="1200"/>
          </a:p>
        </p:txBody>
      </p:sp>
      <p:sp>
        <p:nvSpPr>
          <p:cNvPr id="94211" name="Rectangle 2">
            <a:extLst>
              <a:ext uri="{FF2B5EF4-FFF2-40B4-BE49-F238E27FC236}">
                <a16:creationId xmlns:a16="http://schemas.microsoft.com/office/drawing/2014/main" id="{D199D2FA-995B-4A01-BA0E-B9974CCBA327}"/>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3DC7A640-8565-4070-8D2F-25C33D4D078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4663059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69</a:t>
            </a:fld>
            <a:endParaRPr lang="zh-CN" altLang="en-US"/>
          </a:p>
        </p:txBody>
      </p:sp>
    </p:spTree>
    <p:extLst>
      <p:ext uri="{BB962C8B-B14F-4D97-AF65-F5344CB8AC3E}">
        <p14:creationId xmlns:p14="http://schemas.microsoft.com/office/powerpoint/2010/main" val="35377282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70</a:t>
            </a:fld>
            <a:endParaRPr lang="zh-CN" altLang="en-US"/>
          </a:p>
        </p:txBody>
      </p:sp>
    </p:spTree>
    <p:extLst>
      <p:ext uri="{BB962C8B-B14F-4D97-AF65-F5344CB8AC3E}">
        <p14:creationId xmlns:p14="http://schemas.microsoft.com/office/powerpoint/2010/main" val="2367388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74</a:t>
            </a:fld>
            <a:endParaRPr lang="zh-CN" altLang="en-US"/>
          </a:p>
        </p:txBody>
      </p:sp>
    </p:spTree>
    <p:extLst>
      <p:ext uri="{BB962C8B-B14F-4D97-AF65-F5344CB8AC3E}">
        <p14:creationId xmlns:p14="http://schemas.microsoft.com/office/powerpoint/2010/main" val="9152123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77</a:t>
            </a:fld>
            <a:endParaRPr lang="zh-CN" altLang="en-US"/>
          </a:p>
        </p:txBody>
      </p:sp>
    </p:spTree>
    <p:extLst>
      <p:ext uri="{BB962C8B-B14F-4D97-AF65-F5344CB8AC3E}">
        <p14:creationId xmlns:p14="http://schemas.microsoft.com/office/powerpoint/2010/main" val="7640013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9603FA8-4EC4-4D67-B6F9-DBB1456A9B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722183B-82C7-433C-9DB9-CE444F0968E3}" type="slidenum">
              <a:rPr lang="en-US" altLang="zh-CN" sz="1200"/>
              <a:pPr eaLnBrk="1" hangingPunct="1"/>
              <a:t>79</a:t>
            </a:fld>
            <a:endParaRPr lang="en-US" altLang="zh-CN" sz="1200"/>
          </a:p>
        </p:txBody>
      </p:sp>
      <p:sp>
        <p:nvSpPr>
          <p:cNvPr id="95235" name="Rectangle 2">
            <a:extLst>
              <a:ext uri="{FF2B5EF4-FFF2-40B4-BE49-F238E27FC236}">
                <a16:creationId xmlns:a16="http://schemas.microsoft.com/office/drawing/2014/main" id="{24620FCC-C2EC-4511-87A5-94E8518BF6BE}"/>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7D92B156-EB6F-41D3-B69C-EE5A4D1DF04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866060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82</a:t>
            </a:fld>
            <a:endParaRPr lang="zh-CN" altLang="en-US"/>
          </a:p>
        </p:txBody>
      </p:sp>
    </p:spTree>
    <p:extLst>
      <p:ext uri="{BB962C8B-B14F-4D97-AF65-F5344CB8AC3E}">
        <p14:creationId xmlns:p14="http://schemas.microsoft.com/office/powerpoint/2010/main" val="19819157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83</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84</a:t>
            </a:fld>
            <a:endParaRPr lang="zh-CN" altLang="en-US"/>
          </a:p>
        </p:txBody>
      </p:sp>
    </p:spTree>
    <p:extLst>
      <p:ext uri="{BB962C8B-B14F-4D97-AF65-F5344CB8AC3E}">
        <p14:creationId xmlns:p14="http://schemas.microsoft.com/office/powerpoint/2010/main" val="23045093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7CA93ABB-70BE-4777-8AA9-4F602E40F87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C051E452-888B-4B78-806F-0554CFE0B931}" type="slidenum">
              <a:rPr kumimoji="0" lang="zh-CN" altLang="en-US" sz="1200">
                <a:latin typeface="Arial" panose="020B0604020202020204" pitchFamily="34" charset="0"/>
              </a:rPr>
              <a:pPr algn="r" eaLnBrk="1" hangingPunct="1"/>
              <a:t>85</a:t>
            </a:fld>
            <a:endParaRPr kumimoji="0" lang="en-US" altLang="zh-CN" sz="1200">
              <a:latin typeface="Arial" panose="020B0604020202020204" pitchFamily="34" charset="0"/>
            </a:endParaRPr>
          </a:p>
        </p:txBody>
      </p:sp>
      <p:sp>
        <p:nvSpPr>
          <p:cNvPr id="138243" name="Rectangle 2">
            <a:extLst>
              <a:ext uri="{FF2B5EF4-FFF2-40B4-BE49-F238E27FC236}">
                <a16:creationId xmlns:a16="http://schemas.microsoft.com/office/drawing/2014/main" id="{F10C9248-2468-4190-B232-D3D90759A1D8}"/>
              </a:ext>
            </a:extLst>
          </p:cNvPr>
          <p:cNvSpPr>
            <a:spLocks noGrp="1" noRot="1" noChangeAspect="1" noChangeArrowheads="1" noTextEdit="1"/>
          </p:cNvSpPr>
          <p:nvPr>
            <p:ph type="sldImg"/>
          </p:nvPr>
        </p:nvSpPr>
        <p:spPr>
          <a:xfrm>
            <a:off x="1144588" y="685800"/>
            <a:ext cx="4572000" cy="3429000"/>
          </a:xfrm>
          <a:ln/>
        </p:spPr>
      </p:sp>
      <p:sp>
        <p:nvSpPr>
          <p:cNvPr id="138244" name="Rectangle 3">
            <a:extLst>
              <a:ext uri="{FF2B5EF4-FFF2-40B4-BE49-F238E27FC236}">
                <a16:creationId xmlns:a16="http://schemas.microsoft.com/office/drawing/2014/main" id="{05043BB3-3AD8-4D39-B339-600DDD518CF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4" tIns="45712" rIns="91424" bIns="45712"/>
          <a:lstStyle/>
          <a:p>
            <a:endParaRPr lang="zh-CN" altLang="en-US" dirty="0"/>
          </a:p>
        </p:txBody>
      </p:sp>
    </p:spTree>
    <p:extLst>
      <p:ext uri="{BB962C8B-B14F-4D97-AF65-F5344CB8AC3E}">
        <p14:creationId xmlns:p14="http://schemas.microsoft.com/office/powerpoint/2010/main" val="23693602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86</a:t>
            </a:fld>
            <a:endParaRPr lang="zh-CN" altLang="en-US"/>
          </a:p>
        </p:txBody>
      </p:sp>
    </p:spTree>
    <p:extLst>
      <p:ext uri="{BB962C8B-B14F-4D97-AF65-F5344CB8AC3E}">
        <p14:creationId xmlns:p14="http://schemas.microsoft.com/office/powerpoint/2010/main" val="20438835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87</a:t>
            </a:fld>
            <a:endParaRPr lang="zh-CN" altLang="en-US"/>
          </a:p>
        </p:txBody>
      </p:sp>
    </p:spTree>
    <p:extLst>
      <p:ext uri="{BB962C8B-B14F-4D97-AF65-F5344CB8AC3E}">
        <p14:creationId xmlns:p14="http://schemas.microsoft.com/office/powerpoint/2010/main" val="26257599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89</a:t>
            </a:fld>
            <a:endParaRPr lang="zh-CN" altLang="en-US"/>
          </a:p>
        </p:txBody>
      </p:sp>
    </p:spTree>
    <p:extLst>
      <p:ext uri="{BB962C8B-B14F-4D97-AF65-F5344CB8AC3E}">
        <p14:creationId xmlns:p14="http://schemas.microsoft.com/office/powerpoint/2010/main" val="2554198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90</a:t>
            </a:fld>
            <a:endParaRPr lang="zh-CN" altLang="en-US"/>
          </a:p>
        </p:txBody>
      </p:sp>
    </p:spTree>
    <p:extLst>
      <p:ext uri="{BB962C8B-B14F-4D97-AF65-F5344CB8AC3E}">
        <p14:creationId xmlns:p14="http://schemas.microsoft.com/office/powerpoint/2010/main" val="24689858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92</a:t>
            </a:fld>
            <a:endParaRPr lang="zh-CN" altLang="en-US"/>
          </a:p>
        </p:txBody>
      </p:sp>
    </p:spTree>
    <p:extLst>
      <p:ext uri="{BB962C8B-B14F-4D97-AF65-F5344CB8AC3E}">
        <p14:creationId xmlns:p14="http://schemas.microsoft.com/office/powerpoint/2010/main" val="1860597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DBFB36E8-5108-44CD-AE89-F47E5876C07C}"/>
              </a:ext>
            </a:extLst>
          </p:cNvPr>
          <p:cNvSpPr>
            <a:spLocks noGrp="1" noRot="1" noChangeAspect="1" noTextEdit="1"/>
          </p:cNvSpPr>
          <p:nvPr>
            <p:ph type="sldImg"/>
          </p:nvPr>
        </p:nvSpPr>
        <p:spPr>
          <a:xfrm>
            <a:off x="1144588" y="685800"/>
            <a:ext cx="4572000" cy="3429000"/>
          </a:xfrm>
          <a:ln/>
        </p:spPr>
      </p:sp>
      <p:sp>
        <p:nvSpPr>
          <p:cNvPr id="110595" name="Notes Placeholder 2">
            <a:extLst>
              <a:ext uri="{FF2B5EF4-FFF2-40B4-BE49-F238E27FC236}">
                <a16:creationId xmlns:a16="http://schemas.microsoft.com/office/drawing/2014/main" id="{885006EF-C647-4A9D-B5BA-9E0E6A2092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a:p>
        </p:txBody>
      </p:sp>
      <p:sp>
        <p:nvSpPr>
          <p:cNvPr id="110596" name="Slide Number Placeholder 3">
            <a:extLst>
              <a:ext uri="{FF2B5EF4-FFF2-40B4-BE49-F238E27FC236}">
                <a16:creationId xmlns:a16="http://schemas.microsoft.com/office/drawing/2014/main" id="{421BF0DD-2AF5-4A68-9252-6494D30F8548}"/>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A8863E83-FFED-49BC-A528-9F91185F78B3}" type="slidenum">
              <a:rPr kumimoji="0" lang="zh-CN" altLang="en-US" sz="1200">
                <a:latin typeface="Arial" panose="020B0604020202020204" pitchFamily="34" charset="0"/>
              </a:rPr>
              <a:pPr algn="r" eaLnBrk="1" hangingPunct="1"/>
              <a:t>95</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20333555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90D62BF1-3B36-4582-82CB-A425D7147B73}"/>
              </a:ext>
            </a:extLst>
          </p:cNvPr>
          <p:cNvSpPr>
            <a:spLocks noGrp="1" noRot="1" noChangeAspect="1" noTextEdit="1"/>
          </p:cNvSpPr>
          <p:nvPr>
            <p:ph type="sldImg"/>
          </p:nvPr>
        </p:nvSpPr>
        <p:spPr>
          <a:xfrm>
            <a:off x="1144588" y="685800"/>
            <a:ext cx="4572000" cy="3429000"/>
          </a:xfrm>
          <a:ln/>
        </p:spPr>
      </p:sp>
      <p:sp>
        <p:nvSpPr>
          <p:cNvPr id="112643" name="Notes Placeholder 2">
            <a:extLst>
              <a:ext uri="{FF2B5EF4-FFF2-40B4-BE49-F238E27FC236}">
                <a16:creationId xmlns:a16="http://schemas.microsoft.com/office/drawing/2014/main" id="{DB4B022D-80E7-4223-B2AF-979F618283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12644" name="Slide Number Placeholder 3">
            <a:extLst>
              <a:ext uri="{FF2B5EF4-FFF2-40B4-BE49-F238E27FC236}">
                <a16:creationId xmlns:a16="http://schemas.microsoft.com/office/drawing/2014/main" id="{56C255D1-BA91-4D68-8D7F-C7FEE13251B8}"/>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7BEEB68E-D467-4D35-802D-790D8E6335B5}" type="slidenum">
              <a:rPr kumimoji="0" lang="zh-CN" altLang="en-US" sz="1200">
                <a:latin typeface="Arial" panose="020B0604020202020204" pitchFamily="34" charset="0"/>
              </a:rPr>
              <a:pPr algn="r" eaLnBrk="1" hangingPunct="1"/>
              <a:t>96</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38142569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97</a:t>
            </a:fld>
            <a:endParaRPr lang="zh-CN" altLang="en-US"/>
          </a:p>
        </p:txBody>
      </p:sp>
    </p:spTree>
    <p:extLst>
      <p:ext uri="{BB962C8B-B14F-4D97-AF65-F5344CB8AC3E}">
        <p14:creationId xmlns:p14="http://schemas.microsoft.com/office/powerpoint/2010/main" val="3673491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BDE4B7F3-29CE-4A74-A113-ECC78A915D21}"/>
              </a:ext>
            </a:extLst>
          </p:cNvPr>
          <p:cNvSpPr>
            <a:spLocks noGrp="1" noRot="1" noChangeAspect="1" noTextEdit="1"/>
          </p:cNvSpPr>
          <p:nvPr>
            <p:ph type="sldImg"/>
          </p:nvPr>
        </p:nvSpPr>
        <p:spPr>
          <a:xfrm>
            <a:off x="1144588" y="685800"/>
            <a:ext cx="4572000" cy="3429000"/>
          </a:xfrm>
          <a:ln/>
        </p:spPr>
      </p:sp>
      <p:sp>
        <p:nvSpPr>
          <p:cNvPr id="114691" name="Notes Placeholder 2">
            <a:extLst>
              <a:ext uri="{FF2B5EF4-FFF2-40B4-BE49-F238E27FC236}">
                <a16:creationId xmlns:a16="http://schemas.microsoft.com/office/drawing/2014/main" id="{AED8C409-C4E9-4D30-B64E-37ACBC2F57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14692" name="Slide Number Placeholder 3">
            <a:extLst>
              <a:ext uri="{FF2B5EF4-FFF2-40B4-BE49-F238E27FC236}">
                <a16:creationId xmlns:a16="http://schemas.microsoft.com/office/drawing/2014/main" id="{CA080DC3-0E84-4559-BE38-86F7FB7E591E}"/>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A1AA1B1B-6A70-4C33-8E0C-19D097159FA4}" type="slidenum">
              <a:rPr kumimoji="0" lang="zh-CN" altLang="en-US" sz="1200">
                <a:latin typeface="Arial" panose="020B0604020202020204" pitchFamily="34" charset="0"/>
              </a:rPr>
              <a:pPr algn="r" eaLnBrk="1" hangingPunct="1"/>
              <a:t>98</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17241460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99</a:t>
            </a:fld>
            <a:endParaRPr lang="zh-CN" altLang="en-US"/>
          </a:p>
        </p:txBody>
      </p:sp>
    </p:spTree>
    <p:extLst>
      <p:ext uri="{BB962C8B-B14F-4D97-AF65-F5344CB8AC3E}">
        <p14:creationId xmlns:p14="http://schemas.microsoft.com/office/powerpoint/2010/main" val="24725324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0598B7FB-E665-4264-81E9-615D4B3D3540}"/>
              </a:ext>
            </a:extLst>
          </p:cNvPr>
          <p:cNvSpPr>
            <a:spLocks noGrp="1" noRot="1" noChangeAspect="1" noTextEdit="1"/>
          </p:cNvSpPr>
          <p:nvPr>
            <p:ph type="sldImg"/>
          </p:nvPr>
        </p:nvSpPr>
        <p:spPr>
          <a:xfrm>
            <a:off x="1144588" y="685800"/>
            <a:ext cx="4572000" cy="3429000"/>
          </a:xfrm>
          <a:ln/>
        </p:spPr>
      </p:sp>
      <p:sp>
        <p:nvSpPr>
          <p:cNvPr id="120835" name="Notes Placeholder 2">
            <a:extLst>
              <a:ext uri="{FF2B5EF4-FFF2-40B4-BE49-F238E27FC236}">
                <a16:creationId xmlns:a16="http://schemas.microsoft.com/office/drawing/2014/main" id="{45F4E769-A1FB-4838-A1E0-03D744A00C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a:p>
        </p:txBody>
      </p:sp>
      <p:sp>
        <p:nvSpPr>
          <p:cNvPr id="120836" name="Slide Number Placeholder 3">
            <a:extLst>
              <a:ext uri="{FF2B5EF4-FFF2-40B4-BE49-F238E27FC236}">
                <a16:creationId xmlns:a16="http://schemas.microsoft.com/office/drawing/2014/main" id="{9FE25740-644A-4115-8E4A-0B9CE1508250}"/>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6A7EF970-9EA4-4549-96AE-B2BED301049F}" type="slidenum">
              <a:rPr kumimoji="0" lang="zh-CN" altLang="en-US" sz="1200">
                <a:latin typeface="Arial" panose="020B0604020202020204" pitchFamily="34" charset="0"/>
              </a:rPr>
              <a:pPr algn="r" eaLnBrk="1" hangingPunct="1"/>
              <a:t>100</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14859972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101</a:t>
            </a:fld>
            <a:endParaRPr lang="zh-CN" altLang="en-US"/>
          </a:p>
        </p:txBody>
      </p:sp>
    </p:spTree>
    <p:extLst>
      <p:ext uri="{BB962C8B-B14F-4D97-AF65-F5344CB8AC3E}">
        <p14:creationId xmlns:p14="http://schemas.microsoft.com/office/powerpoint/2010/main" val="21828893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a:extLst>
              <a:ext uri="{FF2B5EF4-FFF2-40B4-BE49-F238E27FC236}">
                <a16:creationId xmlns:a16="http://schemas.microsoft.com/office/drawing/2014/main" id="{AF556B09-24EB-46BE-B409-1FCABAF36643}"/>
              </a:ext>
            </a:extLst>
          </p:cNvPr>
          <p:cNvSpPr>
            <a:spLocks noGrp="1" noRot="1" noChangeAspect="1" noTextEdit="1"/>
          </p:cNvSpPr>
          <p:nvPr>
            <p:ph type="sldImg"/>
          </p:nvPr>
        </p:nvSpPr>
        <p:spPr>
          <a:xfrm>
            <a:off x="1144588" y="685800"/>
            <a:ext cx="4572000" cy="3429000"/>
          </a:xfrm>
          <a:ln/>
        </p:spPr>
      </p:sp>
      <p:sp>
        <p:nvSpPr>
          <p:cNvPr id="123907" name="Notes Placeholder 2">
            <a:extLst>
              <a:ext uri="{FF2B5EF4-FFF2-40B4-BE49-F238E27FC236}">
                <a16:creationId xmlns:a16="http://schemas.microsoft.com/office/drawing/2014/main" id="{2D226E86-49EC-4675-842F-71371C4DD2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23908" name="Slide Number Placeholder 3">
            <a:extLst>
              <a:ext uri="{FF2B5EF4-FFF2-40B4-BE49-F238E27FC236}">
                <a16:creationId xmlns:a16="http://schemas.microsoft.com/office/drawing/2014/main" id="{04BA5103-5406-4235-B595-DC533174FCDC}"/>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61F88E81-7F25-4E76-ABD2-056051588903}" type="slidenum">
              <a:rPr kumimoji="0" lang="zh-CN" altLang="en-US" sz="1200">
                <a:latin typeface="Arial" panose="020B0604020202020204" pitchFamily="34" charset="0"/>
              </a:rPr>
              <a:pPr algn="r" eaLnBrk="1" hangingPunct="1"/>
              <a:t>102</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1996139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a:extLst>
              <a:ext uri="{FF2B5EF4-FFF2-40B4-BE49-F238E27FC236}">
                <a16:creationId xmlns:a16="http://schemas.microsoft.com/office/drawing/2014/main" id="{9DABEBC7-6BCC-49F6-9C2C-7CBD377531E4}"/>
              </a:ext>
            </a:extLst>
          </p:cNvPr>
          <p:cNvSpPr>
            <a:spLocks noGrp="1" noRot="1" noChangeAspect="1" noTextEdit="1"/>
          </p:cNvSpPr>
          <p:nvPr>
            <p:ph type="sldImg"/>
          </p:nvPr>
        </p:nvSpPr>
        <p:spPr>
          <a:xfrm>
            <a:off x="1144588" y="685800"/>
            <a:ext cx="4572000" cy="3429000"/>
          </a:xfrm>
          <a:ln/>
        </p:spPr>
      </p:sp>
      <p:sp>
        <p:nvSpPr>
          <p:cNvPr id="125955" name="Notes Placeholder 2">
            <a:extLst>
              <a:ext uri="{FF2B5EF4-FFF2-40B4-BE49-F238E27FC236}">
                <a16:creationId xmlns:a16="http://schemas.microsoft.com/office/drawing/2014/main" id="{E1BB167E-5E22-41D0-B2CB-1B4CEF9C7C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25956" name="Slide Number Placeholder 3">
            <a:extLst>
              <a:ext uri="{FF2B5EF4-FFF2-40B4-BE49-F238E27FC236}">
                <a16:creationId xmlns:a16="http://schemas.microsoft.com/office/drawing/2014/main" id="{7D44FC46-B92B-448E-8031-1434ED88D7A9}"/>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75325F05-48AF-41DC-B1D2-F1542D3D85C0}" type="slidenum">
              <a:rPr kumimoji="0" lang="zh-CN" altLang="en-US" sz="1200">
                <a:latin typeface="Arial" panose="020B0604020202020204" pitchFamily="34" charset="0"/>
              </a:rPr>
              <a:pPr algn="r" eaLnBrk="1" hangingPunct="1"/>
              <a:t>103</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34588732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a:extLst>
              <a:ext uri="{FF2B5EF4-FFF2-40B4-BE49-F238E27FC236}">
                <a16:creationId xmlns:a16="http://schemas.microsoft.com/office/drawing/2014/main" id="{3C9A0E91-31ED-4D69-AC2B-FCB7DD1BC1FF}"/>
              </a:ext>
            </a:extLst>
          </p:cNvPr>
          <p:cNvSpPr>
            <a:spLocks noGrp="1" noRot="1" noChangeAspect="1" noTextEdit="1"/>
          </p:cNvSpPr>
          <p:nvPr>
            <p:ph type="sldImg"/>
          </p:nvPr>
        </p:nvSpPr>
        <p:spPr>
          <a:xfrm>
            <a:off x="1144588" y="685800"/>
            <a:ext cx="4572000" cy="3429000"/>
          </a:xfrm>
          <a:ln/>
        </p:spPr>
      </p:sp>
      <p:sp>
        <p:nvSpPr>
          <p:cNvPr id="128003" name="Notes Placeholder 2">
            <a:extLst>
              <a:ext uri="{FF2B5EF4-FFF2-40B4-BE49-F238E27FC236}">
                <a16:creationId xmlns:a16="http://schemas.microsoft.com/office/drawing/2014/main" id="{A427AC35-0B97-467A-874C-3CB368009A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a:p>
        </p:txBody>
      </p:sp>
      <p:sp>
        <p:nvSpPr>
          <p:cNvPr id="128004" name="Slide Number Placeholder 3">
            <a:extLst>
              <a:ext uri="{FF2B5EF4-FFF2-40B4-BE49-F238E27FC236}">
                <a16:creationId xmlns:a16="http://schemas.microsoft.com/office/drawing/2014/main" id="{4A74BC03-1B8C-4273-B07C-D6FD9FF00932}"/>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CB65C647-BDBE-43F9-8432-B08AE8F5F94F}" type="slidenum">
              <a:rPr kumimoji="0" lang="zh-CN" altLang="en-US" sz="1200">
                <a:latin typeface="Arial" panose="020B0604020202020204" pitchFamily="34" charset="0"/>
              </a:rPr>
              <a:pPr algn="r" eaLnBrk="1" hangingPunct="1"/>
              <a:t>104</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33138146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id="{FBA7FB4E-033C-4086-8C75-6589E4DB83CE}"/>
              </a:ext>
            </a:extLst>
          </p:cNvPr>
          <p:cNvSpPr>
            <a:spLocks noGrp="1" noRot="1" noChangeAspect="1" noTextEdit="1"/>
          </p:cNvSpPr>
          <p:nvPr>
            <p:ph type="sldImg"/>
          </p:nvPr>
        </p:nvSpPr>
        <p:spPr>
          <a:xfrm>
            <a:off x="1144588" y="685800"/>
            <a:ext cx="4572000" cy="3429000"/>
          </a:xfrm>
          <a:ln/>
        </p:spPr>
      </p:sp>
      <p:sp>
        <p:nvSpPr>
          <p:cNvPr id="130051" name="Notes Placeholder 2">
            <a:extLst>
              <a:ext uri="{FF2B5EF4-FFF2-40B4-BE49-F238E27FC236}">
                <a16:creationId xmlns:a16="http://schemas.microsoft.com/office/drawing/2014/main" id="{8E79B7D8-5BDB-402B-A514-BAB3E703F1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a:p>
        </p:txBody>
      </p:sp>
      <p:sp>
        <p:nvSpPr>
          <p:cNvPr id="130052" name="Slide Number Placeholder 3">
            <a:extLst>
              <a:ext uri="{FF2B5EF4-FFF2-40B4-BE49-F238E27FC236}">
                <a16:creationId xmlns:a16="http://schemas.microsoft.com/office/drawing/2014/main" id="{2607AADF-CB79-4E30-9C68-4C0A959830A7}"/>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4204C439-801D-4E7D-8570-75FE5A8E485F}" type="slidenum">
              <a:rPr kumimoji="0" lang="zh-CN" altLang="en-US" sz="1200">
                <a:latin typeface="Arial" panose="020B0604020202020204" pitchFamily="34" charset="0"/>
              </a:rPr>
              <a:pPr algn="r" eaLnBrk="1" hangingPunct="1"/>
              <a:t>105</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39719996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EE2BF372-4AE5-4C6A-BE94-F09D50490E3E}"/>
              </a:ext>
            </a:extLst>
          </p:cNvPr>
          <p:cNvSpPr>
            <a:spLocks noGrp="1" noRot="1" noChangeAspect="1" noTextEdit="1"/>
          </p:cNvSpPr>
          <p:nvPr>
            <p:ph type="sldImg"/>
          </p:nvPr>
        </p:nvSpPr>
        <p:spPr>
          <a:xfrm>
            <a:off x="1144588" y="685800"/>
            <a:ext cx="4572000" cy="3429000"/>
          </a:xfrm>
          <a:ln/>
        </p:spPr>
      </p:sp>
      <p:sp>
        <p:nvSpPr>
          <p:cNvPr id="132099" name="Notes Placeholder 2">
            <a:extLst>
              <a:ext uri="{FF2B5EF4-FFF2-40B4-BE49-F238E27FC236}">
                <a16:creationId xmlns:a16="http://schemas.microsoft.com/office/drawing/2014/main" id="{575B0471-2FD4-4D72-9FA5-510FED64B5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a:p>
        </p:txBody>
      </p:sp>
      <p:sp>
        <p:nvSpPr>
          <p:cNvPr id="132100" name="Slide Number Placeholder 3">
            <a:extLst>
              <a:ext uri="{FF2B5EF4-FFF2-40B4-BE49-F238E27FC236}">
                <a16:creationId xmlns:a16="http://schemas.microsoft.com/office/drawing/2014/main" id="{BEE8AB27-24A7-4D2B-925E-89DC9CC48F4D}"/>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EB853046-9834-48AB-AE2F-F32EB972C248}" type="slidenum">
              <a:rPr kumimoji="0" lang="zh-CN" altLang="en-US" sz="1200">
                <a:latin typeface="Arial" panose="020B0604020202020204" pitchFamily="34" charset="0"/>
              </a:rPr>
              <a:pPr algn="r" eaLnBrk="1" hangingPunct="1"/>
              <a:t>106</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30491069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id="{8FDD0BB6-FCA3-4447-A17B-EF9B21656CBA}"/>
              </a:ext>
            </a:extLst>
          </p:cNvPr>
          <p:cNvSpPr>
            <a:spLocks noGrp="1" noRot="1" noChangeAspect="1" noTextEdit="1"/>
          </p:cNvSpPr>
          <p:nvPr>
            <p:ph type="sldImg"/>
          </p:nvPr>
        </p:nvSpPr>
        <p:spPr>
          <a:xfrm>
            <a:off x="1144588" y="685800"/>
            <a:ext cx="4572000" cy="3429000"/>
          </a:xfrm>
          <a:ln/>
        </p:spPr>
      </p:sp>
      <p:sp>
        <p:nvSpPr>
          <p:cNvPr id="134147" name="Notes Placeholder 2">
            <a:extLst>
              <a:ext uri="{FF2B5EF4-FFF2-40B4-BE49-F238E27FC236}">
                <a16:creationId xmlns:a16="http://schemas.microsoft.com/office/drawing/2014/main" id="{73256AA9-A8C9-497E-BAE4-969FE22A44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34148" name="Slide Number Placeholder 3">
            <a:extLst>
              <a:ext uri="{FF2B5EF4-FFF2-40B4-BE49-F238E27FC236}">
                <a16:creationId xmlns:a16="http://schemas.microsoft.com/office/drawing/2014/main" id="{8EB61697-BE58-4F75-8AFF-83688D0CEC66}"/>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AA61628B-CA73-4483-A71A-DA5B3A378DDA}" type="slidenum">
              <a:rPr kumimoji="0" lang="zh-CN" altLang="en-US" sz="1200">
                <a:latin typeface="Arial" panose="020B0604020202020204" pitchFamily="34" charset="0"/>
              </a:rPr>
              <a:pPr algn="r" eaLnBrk="1" hangingPunct="1"/>
              <a:t>107</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14656098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90D62BF1-3B36-4582-82CB-A425D7147B73}"/>
              </a:ext>
            </a:extLst>
          </p:cNvPr>
          <p:cNvSpPr>
            <a:spLocks noGrp="1" noRot="1" noChangeAspect="1" noTextEdit="1"/>
          </p:cNvSpPr>
          <p:nvPr>
            <p:ph type="sldImg"/>
          </p:nvPr>
        </p:nvSpPr>
        <p:spPr>
          <a:xfrm>
            <a:off x="1144588" y="685800"/>
            <a:ext cx="4572000" cy="3429000"/>
          </a:xfrm>
          <a:ln/>
        </p:spPr>
      </p:sp>
      <p:sp>
        <p:nvSpPr>
          <p:cNvPr id="112643" name="Notes Placeholder 2">
            <a:extLst>
              <a:ext uri="{FF2B5EF4-FFF2-40B4-BE49-F238E27FC236}">
                <a16:creationId xmlns:a16="http://schemas.microsoft.com/office/drawing/2014/main" id="{DB4B022D-80E7-4223-B2AF-979F618283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12644" name="Slide Number Placeholder 3">
            <a:extLst>
              <a:ext uri="{FF2B5EF4-FFF2-40B4-BE49-F238E27FC236}">
                <a16:creationId xmlns:a16="http://schemas.microsoft.com/office/drawing/2014/main" id="{56C255D1-BA91-4D68-8D7F-C7FEE13251B8}"/>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7BEEB68E-D467-4D35-802D-790D8E6335B5}" type="slidenum">
              <a:rPr kumimoji="0" lang="zh-CN" altLang="en-US" sz="1200">
                <a:latin typeface="Arial" panose="020B0604020202020204" pitchFamily="34" charset="0"/>
              </a:rPr>
              <a:pPr algn="r" eaLnBrk="1" hangingPunct="1"/>
              <a:t>108</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40469724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109</a:t>
            </a:fld>
            <a:endParaRPr lang="zh-CN" altLang="en-US"/>
          </a:p>
        </p:txBody>
      </p:sp>
    </p:spTree>
    <p:extLst>
      <p:ext uri="{BB962C8B-B14F-4D97-AF65-F5344CB8AC3E}">
        <p14:creationId xmlns:p14="http://schemas.microsoft.com/office/powerpoint/2010/main" val="417577285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a:extLst>
              <a:ext uri="{FF2B5EF4-FFF2-40B4-BE49-F238E27FC236}">
                <a16:creationId xmlns:a16="http://schemas.microsoft.com/office/drawing/2014/main" id="{734B74BE-C3BF-4F68-BC24-BE9769249852}"/>
              </a:ext>
            </a:extLst>
          </p:cNvPr>
          <p:cNvSpPr>
            <a:spLocks noGrp="1" noRot="1" noChangeAspect="1" noTextEdit="1"/>
          </p:cNvSpPr>
          <p:nvPr>
            <p:ph type="sldImg"/>
          </p:nvPr>
        </p:nvSpPr>
        <p:spPr>
          <a:xfrm>
            <a:off x="1144588" y="685800"/>
            <a:ext cx="4572000" cy="3429000"/>
          </a:xfrm>
          <a:ln/>
        </p:spPr>
      </p:sp>
      <p:sp>
        <p:nvSpPr>
          <p:cNvPr id="117763" name="Notes Placeholder 2">
            <a:extLst>
              <a:ext uri="{FF2B5EF4-FFF2-40B4-BE49-F238E27FC236}">
                <a16:creationId xmlns:a16="http://schemas.microsoft.com/office/drawing/2014/main" id="{6B456E7E-1C89-430D-B5C9-4E66AF5465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17764" name="Slide Number Placeholder 3">
            <a:extLst>
              <a:ext uri="{FF2B5EF4-FFF2-40B4-BE49-F238E27FC236}">
                <a16:creationId xmlns:a16="http://schemas.microsoft.com/office/drawing/2014/main" id="{AD875765-C208-46C2-8D76-6DF40904D008}"/>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20F77C37-FAEF-430D-9BFC-5A3E561E0C14}" type="slidenum">
              <a:rPr kumimoji="0" lang="zh-CN" altLang="en-US" sz="1200">
                <a:latin typeface="Arial" panose="020B0604020202020204" pitchFamily="34" charset="0"/>
              </a:rPr>
              <a:pPr algn="r" eaLnBrk="1" hangingPunct="1"/>
              <a:t>110</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19045917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id="{2363A4A9-14D8-4E1F-9745-F20A7EABB4BB}"/>
              </a:ext>
            </a:extLst>
          </p:cNvPr>
          <p:cNvSpPr>
            <a:spLocks noGrp="1" noRot="1" noChangeAspect="1" noTextEdit="1"/>
          </p:cNvSpPr>
          <p:nvPr>
            <p:ph type="sldImg"/>
          </p:nvPr>
        </p:nvSpPr>
        <p:spPr>
          <a:xfrm>
            <a:off x="1144588" y="685800"/>
            <a:ext cx="4572000" cy="3429000"/>
          </a:xfrm>
          <a:ln/>
        </p:spPr>
      </p:sp>
      <p:sp>
        <p:nvSpPr>
          <p:cNvPr id="140291" name="Notes Placeholder 2">
            <a:extLst>
              <a:ext uri="{FF2B5EF4-FFF2-40B4-BE49-F238E27FC236}">
                <a16:creationId xmlns:a16="http://schemas.microsoft.com/office/drawing/2014/main" id="{8DE7A9BA-412C-4107-A984-E4FCF2235D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40292" name="Slide Number Placeholder 3">
            <a:extLst>
              <a:ext uri="{FF2B5EF4-FFF2-40B4-BE49-F238E27FC236}">
                <a16:creationId xmlns:a16="http://schemas.microsoft.com/office/drawing/2014/main" id="{D9FED286-B3F4-448D-A96F-0DBFBB3D4531}"/>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399ACB65-D2CA-4C13-889B-BD6710DB27BE}" type="slidenum">
              <a:rPr kumimoji="0" lang="zh-CN" altLang="en-US" sz="1200">
                <a:latin typeface="Arial" panose="020B0604020202020204" pitchFamily="34" charset="0"/>
              </a:rPr>
              <a:pPr algn="r" eaLnBrk="1" hangingPunct="1"/>
              <a:t>111</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334441994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23DC37D2-AD0C-475B-B65E-F297A9C2683F}"/>
              </a:ext>
            </a:extLst>
          </p:cNvPr>
          <p:cNvSpPr>
            <a:spLocks noGrp="1" noRot="1" noChangeAspect="1" noChangeArrowheads="1" noTextEdit="1"/>
          </p:cNvSpPr>
          <p:nvPr>
            <p:ph type="sldImg"/>
          </p:nvPr>
        </p:nvSpPr>
        <p:spPr>
          <a:xfrm>
            <a:off x="1144588" y="685800"/>
            <a:ext cx="4572000" cy="3429000"/>
          </a:xfrm>
          <a:ln/>
        </p:spPr>
      </p:sp>
      <p:sp>
        <p:nvSpPr>
          <p:cNvPr id="142339" name="Rectangle 3">
            <a:extLst>
              <a:ext uri="{FF2B5EF4-FFF2-40B4-BE49-F238E27FC236}">
                <a16:creationId xmlns:a16="http://schemas.microsoft.com/office/drawing/2014/main" id="{D77888C2-B1D2-4E75-96DC-D8F40C6E70F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6292556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2A295FA6-6ACB-47D4-8EA7-F1D3873E0657}"/>
              </a:ext>
            </a:extLst>
          </p:cNvPr>
          <p:cNvSpPr>
            <a:spLocks noGrp="1" noRot="1" noChangeAspect="1" noChangeArrowheads="1" noTextEdit="1"/>
          </p:cNvSpPr>
          <p:nvPr>
            <p:ph type="sldImg"/>
          </p:nvPr>
        </p:nvSpPr>
        <p:spPr>
          <a:xfrm>
            <a:off x="1144588" y="685800"/>
            <a:ext cx="4572000" cy="3429000"/>
          </a:xfrm>
          <a:ln/>
        </p:spPr>
      </p:sp>
      <p:sp>
        <p:nvSpPr>
          <p:cNvPr id="144387" name="Rectangle 3">
            <a:extLst>
              <a:ext uri="{FF2B5EF4-FFF2-40B4-BE49-F238E27FC236}">
                <a16:creationId xmlns:a16="http://schemas.microsoft.com/office/drawing/2014/main" id="{B885705F-4B0B-4C96-84EF-FC6698FEE4F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07142118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E49195EA-7527-4F52-AF2D-90282E459902}"/>
              </a:ext>
            </a:extLst>
          </p:cNvPr>
          <p:cNvSpPr>
            <a:spLocks noGrp="1" noRot="1" noChangeAspect="1" noTextEdit="1"/>
          </p:cNvSpPr>
          <p:nvPr>
            <p:ph type="sldImg"/>
          </p:nvPr>
        </p:nvSpPr>
        <p:spPr>
          <a:xfrm>
            <a:off x="1144588" y="685800"/>
            <a:ext cx="4572000" cy="3429000"/>
          </a:xfrm>
          <a:ln/>
        </p:spPr>
      </p:sp>
      <p:sp>
        <p:nvSpPr>
          <p:cNvPr id="151555" name="Notes Placeholder 2">
            <a:extLst>
              <a:ext uri="{FF2B5EF4-FFF2-40B4-BE49-F238E27FC236}">
                <a16:creationId xmlns:a16="http://schemas.microsoft.com/office/drawing/2014/main" id="{4E670636-BF16-40F0-9621-E0B04430DC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51556" name="Slide Number Placeholder 3">
            <a:extLst>
              <a:ext uri="{FF2B5EF4-FFF2-40B4-BE49-F238E27FC236}">
                <a16:creationId xmlns:a16="http://schemas.microsoft.com/office/drawing/2014/main" id="{C7FD5DEB-3EC0-4D8A-B6A2-CF977E3E982A}"/>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7E0C4414-7D76-4E8E-810E-76E1C4110A1F}" type="slidenum">
              <a:rPr kumimoji="0" lang="zh-CN" altLang="en-US" sz="1200">
                <a:latin typeface="Arial" panose="020B0604020202020204" pitchFamily="34" charset="0"/>
              </a:rPr>
              <a:pPr algn="r" eaLnBrk="1" hangingPunct="1"/>
              <a:t>115</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28184358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6329EDE8-AD50-471C-B074-455992E22838}"/>
              </a:ext>
            </a:extLst>
          </p:cNvPr>
          <p:cNvSpPr>
            <a:spLocks noGrp="1" noRot="1" noChangeAspect="1" noTextEdit="1"/>
          </p:cNvSpPr>
          <p:nvPr>
            <p:ph type="sldImg"/>
          </p:nvPr>
        </p:nvSpPr>
        <p:spPr>
          <a:xfrm>
            <a:off x="1144588" y="685800"/>
            <a:ext cx="4572000" cy="3429000"/>
          </a:xfrm>
          <a:ln/>
        </p:spPr>
      </p:sp>
      <p:sp>
        <p:nvSpPr>
          <p:cNvPr id="153603" name="Notes Placeholder 2">
            <a:extLst>
              <a:ext uri="{FF2B5EF4-FFF2-40B4-BE49-F238E27FC236}">
                <a16:creationId xmlns:a16="http://schemas.microsoft.com/office/drawing/2014/main" id="{C357D455-C30E-4651-A613-0021E2C2A9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lstStyle/>
          <a:p>
            <a:endParaRPr lang="zh-CN" altLang="en-US" dirty="0"/>
          </a:p>
        </p:txBody>
      </p:sp>
      <p:sp>
        <p:nvSpPr>
          <p:cNvPr id="153604" name="Slide Number Placeholder 3">
            <a:extLst>
              <a:ext uri="{FF2B5EF4-FFF2-40B4-BE49-F238E27FC236}">
                <a16:creationId xmlns:a16="http://schemas.microsoft.com/office/drawing/2014/main" id="{1ED798B0-36CB-42FF-B2AF-C4F1061A44A2}"/>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03263" indent="-271463" eaLnBrk="0" hangingPunct="0">
              <a:defRPr kumimoji="1" sz="2400">
                <a:solidFill>
                  <a:schemeClr val="tx1"/>
                </a:solidFill>
                <a:latin typeface="Times New Roman" panose="02020603050405020304" pitchFamily="18" charset="0"/>
                <a:ea typeface="宋体" panose="02010600030101010101" pitchFamily="2" charset="-122"/>
              </a:defRPr>
            </a:lvl2pPr>
            <a:lvl3pPr marL="1081088" indent="-215900" eaLnBrk="0" hangingPunct="0">
              <a:defRPr kumimoji="1" sz="2400">
                <a:solidFill>
                  <a:schemeClr val="tx1"/>
                </a:solidFill>
                <a:latin typeface="Times New Roman" panose="02020603050405020304" pitchFamily="18" charset="0"/>
                <a:ea typeface="宋体" panose="02010600030101010101" pitchFamily="2" charset="-122"/>
              </a:defRPr>
            </a:lvl3pPr>
            <a:lvl4pPr marL="1512888" indent="-215900" eaLnBrk="0" hangingPunct="0">
              <a:defRPr kumimoji="1" sz="2400">
                <a:solidFill>
                  <a:schemeClr val="tx1"/>
                </a:solidFill>
                <a:latin typeface="Times New Roman" panose="02020603050405020304" pitchFamily="18" charset="0"/>
                <a:ea typeface="宋体" panose="02010600030101010101" pitchFamily="2" charset="-122"/>
              </a:defRPr>
            </a:lvl4pPr>
            <a:lvl5pPr marL="1946275" indent="-215900" eaLnBrk="0" hangingPunct="0">
              <a:defRPr kumimoji="1" sz="2400">
                <a:solidFill>
                  <a:schemeClr val="tx1"/>
                </a:solidFill>
                <a:latin typeface="Times New Roman" panose="02020603050405020304" pitchFamily="18" charset="0"/>
                <a:ea typeface="宋体" panose="02010600030101010101" pitchFamily="2" charset="-122"/>
              </a:defRPr>
            </a:lvl5pPr>
            <a:lvl6pPr marL="24034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8606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178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775075" indent="-2159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fld id="{87CAF2FB-ED82-4967-988E-B57CBEA97337}" type="slidenum">
              <a:rPr kumimoji="0" lang="zh-CN" altLang="en-US" sz="1200">
                <a:latin typeface="Arial" panose="020B0604020202020204" pitchFamily="34" charset="0"/>
              </a:rPr>
              <a:pPr algn="r" eaLnBrk="1" hangingPunct="1"/>
              <a:t>116</a:t>
            </a:fld>
            <a:endParaRPr kumimoji="0" lang="en-US" altLang="zh-CN" sz="1200">
              <a:latin typeface="Arial" panose="020B0604020202020204" pitchFamily="34" charset="0"/>
            </a:endParaRPr>
          </a:p>
        </p:txBody>
      </p:sp>
    </p:spTree>
    <p:extLst>
      <p:ext uri="{BB962C8B-B14F-4D97-AF65-F5344CB8AC3E}">
        <p14:creationId xmlns:p14="http://schemas.microsoft.com/office/powerpoint/2010/main" val="136171788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119</a:t>
            </a:fld>
            <a:endParaRPr lang="zh-CN" altLang="en-US"/>
          </a:p>
        </p:txBody>
      </p:sp>
    </p:spTree>
    <p:extLst>
      <p:ext uri="{BB962C8B-B14F-4D97-AF65-F5344CB8AC3E}">
        <p14:creationId xmlns:p14="http://schemas.microsoft.com/office/powerpoint/2010/main" val="22621700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2023/12/27</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cstate="print"/>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2023/12/27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2023/12/27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2023/12/27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36">
            <a:extLst>
              <a:ext uri="{FF2B5EF4-FFF2-40B4-BE49-F238E27FC236}">
                <a16:creationId xmlns:a16="http://schemas.microsoft.com/office/drawing/2014/main" id="{85B2D9FF-22D0-40C4-AD49-95DAA405F62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7">
            <a:extLst>
              <a:ext uri="{FF2B5EF4-FFF2-40B4-BE49-F238E27FC236}">
                <a16:creationId xmlns:a16="http://schemas.microsoft.com/office/drawing/2014/main" id="{614517B6-4C84-4820-8095-D86059B278D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8">
            <a:extLst>
              <a:ext uri="{FF2B5EF4-FFF2-40B4-BE49-F238E27FC236}">
                <a16:creationId xmlns:a16="http://schemas.microsoft.com/office/drawing/2014/main" id="{BA83D067-0D4F-421F-838B-10CF99A785EB}"/>
              </a:ext>
            </a:extLst>
          </p:cNvPr>
          <p:cNvSpPr>
            <a:spLocks noGrp="1" noChangeArrowheads="1"/>
          </p:cNvSpPr>
          <p:nvPr>
            <p:ph type="sldNum" sz="quarter" idx="12"/>
          </p:nvPr>
        </p:nvSpPr>
        <p:spPr>
          <a:ln/>
        </p:spPr>
        <p:txBody>
          <a:bodyPr/>
          <a:lstStyle>
            <a:lvl1pPr>
              <a:defRPr/>
            </a:lvl1pPr>
          </a:lstStyle>
          <a:p>
            <a:fld id="{255524B1-B5E6-4754-AD4E-951A4D78740D}" type="slidenum">
              <a:rPr lang="en-US" altLang="zh-CN"/>
              <a:pPr/>
              <a:t>‹#›</a:t>
            </a:fld>
            <a:endParaRPr lang="en-US" altLang="zh-CN"/>
          </a:p>
        </p:txBody>
      </p:sp>
    </p:spTree>
    <p:extLst>
      <p:ext uri="{BB962C8B-B14F-4D97-AF65-F5344CB8AC3E}">
        <p14:creationId xmlns:p14="http://schemas.microsoft.com/office/powerpoint/2010/main" val="2431822961"/>
      </p:ext>
    </p:extLst>
  </p:cSld>
  <p:clrMapOvr>
    <a:masterClrMapping/>
  </p:clrMapOvr>
  <p:transition spd="med">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2023/12/27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5"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26.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slide" Target="slide39.xml"/><Relationship Id="rId4" Type="http://schemas.openxmlformats.org/officeDocument/2006/relationships/image" Target="../media/image26.jpeg"/></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81.xml"/></Relationships>
</file>

<file path=ppt/slides/_rels/slide3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5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 Id="rId5" Type="http://schemas.openxmlformats.org/officeDocument/2006/relationships/image" Target="../media/image60.jpeg"/><Relationship Id="rId4" Type="http://schemas.openxmlformats.org/officeDocument/2006/relationships/image" Target="../media/image59.jpeg"/></Relationships>
</file>

<file path=ppt/slides/_rels/slide7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oleObject" Target="../embeddings/oleObject2.bin"/></Relationships>
</file>

<file path=ppt/slides/_rels/slide11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solidFill>
                  <a:schemeClr val="accent2">
                    <a:lumMod val="75000"/>
                  </a:schemeClr>
                </a:solidFill>
              </a:rPr>
              <a:t>Section H   </a:t>
            </a:r>
            <a:br>
              <a:rPr lang="en-US" altLang="zh-CN" sz="4000" b="1" dirty="0">
                <a:solidFill>
                  <a:schemeClr val="accent2">
                    <a:lumMod val="75000"/>
                  </a:schemeClr>
                </a:solidFill>
              </a:rPr>
            </a:br>
            <a:r>
              <a:rPr lang="en-US" altLang="zh-CN" sz="4000" b="1" dirty="0">
                <a:solidFill>
                  <a:schemeClr val="accent2">
                    <a:lumMod val="75000"/>
                  </a:schemeClr>
                </a:solidFill>
              </a:rPr>
              <a:t>Protein synthesis </a:t>
            </a:r>
            <a:endParaRPr lang="zh-CN" altLang="en-US" sz="4000" b="1" dirty="0">
              <a:solidFill>
                <a:schemeClr val="accent2">
                  <a:lumMod val="75000"/>
                </a:schemeClr>
              </a:solidFill>
            </a:endParaRPr>
          </a:p>
        </p:txBody>
      </p:sp>
      <p:sp>
        <p:nvSpPr>
          <p:cNvPr id="4099" name="副标题 2"/>
          <p:cNvSpPr>
            <a:spLocks noGrp="1"/>
          </p:cNvSpPr>
          <p:nvPr>
            <p:ph type="subTitle" idx="1"/>
          </p:nvPr>
        </p:nvSpPr>
        <p:spPr>
          <a:xfrm>
            <a:off x="5143500" y="3714750"/>
            <a:ext cx="3214688" cy="1471613"/>
          </a:xfrm>
        </p:spPr>
        <p:txBody>
          <a:bodyPr/>
          <a:lstStyle/>
          <a:p>
            <a:pPr eaLnBrk="1" hangingPunct="1"/>
            <a:r>
              <a:rPr lang="zh-CN" altLang="en-US" sz="2400" b="1" dirty="0">
                <a:solidFill>
                  <a:schemeClr val="tx1"/>
                </a:solidFill>
              </a:rPr>
              <a:t>杨国栋</a:t>
            </a:r>
            <a:endParaRPr lang="en-US" altLang="zh-CN" sz="2400" b="1" dirty="0">
              <a:solidFill>
                <a:schemeClr val="tx1"/>
              </a:solidFill>
            </a:endParaRPr>
          </a:p>
          <a:p>
            <a:pPr eaLnBrk="1" hangingPunct="1"/>
            <a:r>
              <a:rPr lang="en-US" altLang="zh-CN" sz="2400" b="1" dirty="0">
                <a:solidFill>
                  <a:schemeClr val="tx1"/>
                </a:solidFill>
              </a:rPr>
              <a:t>Yang </a:t>
            </a:r>
            <a:r>
              <a:rPr lang="en-US" altLang="zh-CN" sz="2400" b="1" dirty="0" err="1">
                <a:solidFill>
                  <a:schemeClr val="tx1"/>
                </a:solidFill>
              </a:rPr>
              <a:t>Guodong</a:t>
            </a:r>
            <a:endParaRPr lang="en-US" altLang="zh-CN" sz="2400" b="1">
              <a:solidFill>
                <a:schemeClr val="tx1"/>
              </a:solidFill>
            </a:endParaRPr>
          </a:p>
          <a:p>
            <a:pPr eaLnBrk="1" hangingPunct="1"/>
            <a:r>
              <a:rPr lang="en-US" altLang="zh-CN" sz="1600" b="1">
                <a:solidFill>
                  <a:schemeClr val="tx1"/>
                </a:solidFill>
              </a:rPr>
              <a:t>Biochemistry </a:t>
            </a:r>
            <a:r>
              <a:rPr lang="en-US" altLang="zh-CN" sz="1600" b="1" dirty="0">
                <a:solidFill>
                  <a:schemeClr val="tx1"/>
                </a:solidFill>
              </a:rPr>
              <a:t>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4CA19E5-1F7A-4632-AAC2-C90DF1CF6DF5}"/>
              </a:ext>
            </a:extLst>
          </p:cNvPr>
          <p:cNvSpPr txBox="1"/>
          <p:nvPr/>
        </p:nvSpPr>
        <p:spPr>
          <a:xfrm>
            <a:off x="1043608" y="980728"/>
            <a:ext cx="7056784" cy="3939540"/>
          </a:xfrm>
          <a:prstGeom prst="rect">
            <a:avLst/>
          </a:prstGeom>
          <a:noFill/>
        </p:spPr>
        <p:txBody>
          <a:bodyPr wrap="square">
            <a:spAutoFit/>
          </a:bodyPr>
          <a:lstStyle/>
          <a:p>
            <a:pPr eaLnBrk="1" hangingPunct="1">
              <a:spcBef>
                <a:spcPts val="1200"/>
              </a:spcBef>
              <a:spcAft>
                <a:spcPts val="600"/>
              </a:spcAft>
            </a:pPr>
            <a:r>
              <a:rPr lang="en-US" altLang="zh-CN" sz="3600" dirty="0">
                <a:solidFill>
                  <a:srgbClr val="CC3300"/>
                </a:solidFill>
                <a:latin typeface="Arial" panose="020B0604020202020204" pitchFamily="34" charset="0"/>
              </a:rPr>
              <a:t>H1 The genetic code</a:t>
            </a:r>
          </a:p>
          <a:p>
            <a:pPr eaLnBrk="1" hangingPunct="1">
              <a:spcBef>
                <a:spcPts val="1200"/>
              </a:spcBef>
              <a:spcAft>
                <a:spcPts val="600"/>
              </a:spcAft>
            </a:pPr>
            <a:r>
              <a:rPr lang="en-US" altLang="zh-CN" sz="3600" dirty="0">
                <a:solidFill>
                  <a:srgbClr val="CC3300"/>
                </a:solidFill>
                <a:latin typeface="Arial" panose="020B0604020202020204" pitchFamily="34" charset="0"/>
              </a:rPr>
              <a:t>H2 Translation in prokaryotes</a:t>
            </a:r>
          </a:p>
          <a:p>
            <a:pPr eaLnBrk="1" hangingPunct="1">
              <a:spcBef>
                <a:spcPts val="1200"/>
              </a:spcBef>
              <a:spcAft>
                <a:spcPts val="600"/>
              </a:spcAft>
            </a:pPr>
            <a:r>
              <a:rPr lang="en-US" altLang="zh-CN" sz="3600" dirty="0">
                <a:solidFill>
                  <a:srgbClr val="CC3300"/>
                </a:solidFill>
                <a:latin typeface="Arial" panose="020B0604020202020204" pitchFamily="34" charset="0"/>
              </a:rPr>
              <a:t>H3 Translation in eukaryotes</a:t>
            </a:r>
          </a:p>
          <a:p>
            <a:pPr eaLnBrk="1" hangingPunct="1">
              <a:spcBef>
                <a:spcPts val="1800"/>
              </a:spcBef>
              <a:spcAft>
                <a:spcPts val="600"/>
              </a:spcAft>
            </a:pPr>
            <a:r>
              <a:rPr lang="en-US" altLang="zh-CN" sz="3600" dirty="0">
                <a:solidFill>
                  <a:srgbClr val="CC3300"/>
                </a:solidFill>
                <a:latin typeface="Arial" panose="020B0604020202020204" pitchFamily="34" charset="0"/>
              </a:rPr>
              <a:t>H4 Protein Targeting</a:t>
            </a:r>
          </a:p>
          <a:p>
            <a:pPr eaLnBrk="1" hangingPunct="1">
              <a:spcBef>
                <a:spcPts val="1800"/>
              </a:spcBef>
              <a:spcAft>
                <a:spcPts val="600"/>
              </a:spcAft>
            </a:pPr>
            <a:r>
              <a:rPr lang="en-US" altLang="zh-CN" sz="3600" dirty="0">
                <a:solidFill>
                  <a:srgbClr val="CC3300"/>
                </a:solidFill>
                <a:latin typeface="Arial" panose="020B0604020202020204" pitchFamily="34" charset="0"/>
              </a:rPr>
              <a:t>H5 Protein Glycosylation</a:t>
            </a:r>
            <a:endParaRPr lang="en-US" altLang="zh-CN" sz="3600" b="1" dirty="0">
              <a:solidFill>
                <a:schemeClr val="accent2">
                  <a:lumMod val="75000"/>
                </a:schemeClr>
              </a:solidFill>
            </a:endParaRPr>
          </a:p>
        </p:txBody>
      </p:sp>
    </p:spTree>
    <p:extLst>
      <p:ext uri="{BB962C8B-B14F-4D97-AF65-F5344CB8AC3E}">
        <p14:creationId xmlns:p14="http://schemas.microsoft.com/office/powerpoint/2010/main" val="565996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B0E2E2-6103-473B-A524-A6E50F3D198C}"/>
              </a:ext>
            </a:extLst>
          </p:cNvPr>
          <p:cNvSpPr>
            <a:spLocks noGrp="1"/>
          </p:cNvSpPr>
          <p:nvPr>
            <p:ph type="title" idx="4294967295"/>
          </p:nvPr>
        </p:nvSpPr>
        <p:spPr>
          <a:xfrm>
            <a:off x="457200" y="274638"/>
            <a:ext cx="8229600" cy="1143000"/>
          </a:xfrm>
          <a:prstGeom prst="rect">
            <a:avLst/>
          </a:prstGeom>
        </p:spPr>
        <p:txBody>
          <a:bodyPr/>
          <a:lstStyle/>
          <a:p>
            <a:endParaRPr lang="zh-CN" altLang="en-US" dirty="0"/>
          </a:p>
        </p:txBody>
      </p:sp>
      <p:sp>
        <p:nvSpPr>
          <p:cNvPr id="3" name="内容占位符 2">
            <a:extLst>
              <a:ext uri="{FF2B5EF4-FFF2-40B4-BE49-F238E27FC236}">
                <a16:creationId xmlns:a16="http://schemas.microsoft.com/office/drawing/2014/main" id="{A0667D51-99D9-4501-9620-974C4FD7122D}"/>
              </a:ext>
            </a:extLst>
          </p:cNvPr>
          <p:cNvSpPr>
            <a:spLocks noGrp="1"/>
          </p:cNvSpPr>
          <p:nvPr>
            <p:ph idx="4294967295"/>
          </p:nvPr>
        </p:nvSpPr>
        <p:spPr>
          <a:xfrm>
            <a:off x="457200" y="1600200"/>
            <a:ext cx="8229600" cy="4525963"/>
          </a:xfrm>
          <a:prstGeom prst="rect">
            <a:avLst/>
          </a:prstGeom>
        </p:spPr>
        <p:txBody>
          <a:bodyPr/>
          <a:lstStyle/>
          <a:p>
            <a:endParaRPr lang="zh-CN" altLang="en-US" dirty="0"/>
          </a:p>
        </p:txBody>
      </p:sp>
      <p:pic>
        <p:nvPicPr>
          <p:cNvPr id="4" name="Picture 4" descr="15-1">
            <a:extLst>
              <a:ext uri="{FF2B5EF4-FFF2-40B4-BE49-F238E27FC236}">
                <a16:creationId xmlns:a16="http://schemas.microsoft.com/office/drawing/2014/main" id="{623F0D58-2F3A-4701-8B50-BFB85E371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88913"/>
            <a:ext cx="6408191" cy="575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a:extLst>
              <a:ext uri="{FF2B5EF4-FFF2-40B4-BE49-F238E27FC236}">
                <a16:creationId xmlns:a16="http://schemas.microsoft.com/office/drawing/2014/main" id="{3F8FA93D-31DE-4433-AB6E-C0AF0BA7F9F4}"/>
              </a:ext>
            </a:extLst>
          </p:cNvPr>
          <p:cNvSpPr txBox="1">
            <a:spLocks noChangeArrowheads="1"/>
          </p:cNvSpPr>
          <p:nvPr/>
        </p:nvSpPr>
        <p:spPr bwMode="auto">
          <a:xfrm>
            <a:off x="479078" y="4508291"/>
            <a:ext cx="330873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solidFill>
                  <a:srgbClr val="CC00FF"/>
                </a:solidFill>
              </a:rPr>
              <a:t>Genetic Central Dogma</a:t>
            </a:r>
          </a:p>
          <a:p>
            <a:pPr eaLnBrk="1" hangingPunct="1">
              <a:spcBef>
                <a:spcPct val="50000"/>
              </a:spcBef>
              <a:buFontTx/>
              <a:buNone/>
            </a:pPr>
            <a:r>
              <a:rPr lang="zh-CN" altLang="en-US" sz="2400" b="1" dirty="0">
                <a:solidFill>
                  <a:srgbClr val="CC00FF"/>
                </a:solidFill>
              </a:rPr>
              <a:t>遗传中心法则</a:t>
            </a:r>
          </a:p>
        </p:txBody>
      </p:sp>
    </p:spTree>
    <p:extLst>
      <p:ext uri="{BB962C8B-B14F-4D97-AF65-F5344CB8AC3E}">
        <p14:creationId xmlns:p14="http://schemas.microsoft.com/office/powerpoint/2010/main" val="2978092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3570AFE-E6B2-4B3D-BE20-ED96546F49B0}"/>
              </a:ext>
            </a:extLst>
          </p:cNvPr>
          <p:cNvSpPr>
            <a:spLocks noGrp="1" noChangeArrowheads="1"/>
          </p:cNvSpPr>
          <p:nvPr>
            <p:ph type="title" idx="4294967295"/>
          </p:nvPr>
        </p:nvSpPr>
        <p:spPr>
          <a:xfrm>
            <a:off x="-108520" y="260648"/>
            <a:ext cx="9144000" cy="1143000"/>
          </a:xfrm>
        </p:spPr>
        <p:txBody>
          <a:bodyPr/>
          <a:lstStyle/>
          <a:p>
            <a:pPr eaLnBrk="1" hangingPunct="1"/>
            <a:r>
              <a:rPr lang="en-US" altLang="zh-CN" sz="4000" b="1" dirty="0">
                <a:solidFill>
                  <a:schemeClr val="accent2">
                    <a:lumMod val="75000"/>
                  </a:schemeClr>
                </a:solidFill>
              </a:rPr>
              <a:t>Brief history of discovery of genetic central dogma</a:t>
            </a:r>
          </a:p>
        </p:txBody>
      </p:sp>
      <p:sp>
        <p:nvSpPr>
          <p:cNvPr id="6147" name="Rectangle 3">
            <a:extLst>
              <a:ext uri="{FF2B5EF4-FFF2-40B4-BE49-F238E27FC236}">
                <a16:creationId xmlns:a16="http://schemas.microsoft.com/office/drawing/2014/main" id="{0A1993F8-E384-43FC-B525-F99CFBC03C8F}"/>
              </a:ext>
            </a:extLst>
          </p:cNvPr>
          <p:cNvSpPr>
            <a:spLocks noGrp="1" noChangeArrowheads="1"/>
          </p:cNvSpPr>
          <p:nvPr>
            <p:ph type="body" idx="4294967295"/>
          </p:nvPr>
        </p:nvSpPr>
        <p:spPr>
          <a:xfrm>
            <a:off x="0" y="2133600"/>
            <a:ext cx="9144000" cy="4114800"/>
          </a:xfrm>
        </p:spPr>
        <p:txBody>
          <a:bodyPr/>
          <a:lstStyle/>
          <a:p>
            <a:pPr eaLnBrk="1" hangingPunct="1">
              <a:defRPr/>
            </a:pPr>
            <a:r>
              <a:rPr lang="en-US" altLang="zh-CN" sz="1800" dirty="0"/>
              <a:t>1865</a:t>
            </a:r>
            <a:r>
              <a:rPr lang="zh-CN" altLang="en-US" sz="1800" dirty="0"/>
              <a:t>年，孟德尔完成长达</a:t>
            </a:r>
            <a:r>
              <a:rPr lang="en-US" altLang="zh-CN" sz="1800" dirty="0"/>
              <a:t>8</a:t>
            </a:r>
            <a:r>
              <a:rPr lang="zh-CN" altLang="en-US" sz="1800" dirty="0"/>
              <a:t>年的豌豆实验。</a:t>
            </a:r>
            <a:endParaRPr lang="en-US" altLang="zh-CN" sz="1800" dirty="0"/>
          </a:p>
          <a:p>
            <a:pPr eaLnBrk="1" hangingPunct="1">
              <a:defRPr/>
            </a:pPr>
            <a:r>
              <a:rPr lang="en-US" altLang="zh-CN" sz="1800" dirty="0"/>
              <a:t>1902</a:t>
            </a:r>
            <a:r>
              <a:rPr lang="zh-CN" altLang="en-US" sz="1800" dirty="0"/>
              <a:t>年，美国生物学家萨顿和鲍维里通过观察细胞的减数分裂时又发现染色体是成对的，并推测基因位于染色体上。</a:t>
            </a:r>
            <a:endParaRPr lang="en-US" altLang="zh-CN" sz="1800" dirty="0"/>
          </a:p>
          <a:p>
            <a:pPr eaLnBrk="1" hangingPunct="1">
              <a:defRPr/>
            </a:pPr>
            <a:r>
              <a:rPr lang="en-US" altLang="zh-CN" sz="1800" dirty="0"/>
              <a:t>1928</a:t>
            </a:r>
            <a:r>
              <a:rPr lang="zh-CN" altLang="en-US" sz="1800" dirty="0"/>
              <a:t>年 </a:t>
            </a:r>
            <a:r>
              <a:rPr lang="en-US" altLang="zh-CN" sz="1800" dirty="0"/>
              <a:t>, </a:t>
            </a:r>
            <a:r>
              <a:rPr lang="zh-CN" altLang="en-US" sz="1800" dirty="0"/>
              <a:t>摩尔根发现了基因的连锁与交换。</a:t>
            </a:r>
          </a:p>
          <a:p>
            <a:pPr eaLnBrk="1" hangingPunct="1">
              <a:defRPr/>
            </a:pPr>
            <a:r>
              <a:rPr lang="en-US" altLang="zh-CN" sz="1800" dirty="0"/>
              <a:t>1944</a:t>
            </a:r>
            <a:r>
              <a:rPr lang="zh-CN" altLang="en-US" sz="1800" dirty="0"/>
              <a:t>年，</a:t>
            </a:r>
            <a:r>
              <a:rPr lang="en-US" altLang="zh-CN" sz="1800" dirty="0"/>
              <a:t>Oswald T. Avery</a:t>
            </a:r>
            <a:r>
              <a:rPr lang="zh-CN" altLang="en-US" sz="1800" dirty="0"/>
              <a:t>首次证明</a:t>
            </a:r>
            <a:r>
              <a:rPr lang="en-US" altLang="zh-CN" sz="1800" dirty="0"/>
              <a:t>DNA</a:t>
            </a:r>
            <a:r>
              <a:rPr lang="zh-CN" altLang="en-US" sz="1800" dirty="0"/>
              <a:t>是基因的载体（遗传信息的载体）</a:t>
            </a:r>
          </a:p>
          <a:p>
            <a:pPr eaLnBrk="1" hangingPunct="1">
              <a:defRPr/>
            </a:pPr>
            <a:r>
              <a:rPr lang="en-US" altLang="zh-CN" sz="1800" dirty="0"/>
              <a:t>1950,1953</a:t>
            </a:r>
            <a:r>
              <a:rPr lang="zh-CN" altLang="en-US" sz="1800" dirty="0"/>
              <a:t>年，</a:t>
            </a:r>
            <a:r>
              <a:rPr lang="en-US" altLang="zh-CN" sz="1800" dirty="0"/>
              <a:t>Barbara </a:t>
            </a:r>
            <a:r>
              <a:rPr lang="en-US" altLang="zh-CN" sz="1800" dirty="0" err="1"/>
              <a:t>Mclintock</a:t>
            </a:r>
            <a:r>
              <a:rPr lang="en-US" altLang="zh-CN" sz="1800" dirty="0"/>
              <a:t> </a:t>
            </a:r>
            <a:r>
              <a:rPr lang="zh-CN" altLang="en-US" sz="1800" dirty="0"/>
              <a:t>发现跳跃基因</a:t>
            </a:r>
            <a:r>
              <a:rPr lang="en-US" altLang="zh-CN" sz="1800" dirty="0"/>
              <a:t>transposon.</a:t>
            </a:r>
          </a:p>
          <a:p>
            <a:pPr eaLnBrk="1" hangingPunct="1">
              <a:defRPr/>
            </a:pPr>
            <a:r>
              <a:rPr lang="en-US" altLang="zh-CN" sz="1800" dirty="0"/>
              <a:t>1953</a:t>
            </a:r>
            <a:r>
              <a:rPr lang="zh-CN" altLang="en-US" sz="1800" dirty="0"/>
              <a:t>年，</a:t>
            </a:r>
            <a:r>
              <a:rPr lang="en-US" altLang="zh-CN" sz="1800" dirty="0"/>
              <a:t>Watson and Crick DNA double helix   </a:t>
            </a:r>
          </a:p>
          <a:p>
            <a:pPr eaLnBrk="1" hangingPunct="1">
              <a:defRPr/>
            </a:pPr>
            <a:r>
              <a:rPr lang="en-US" altLang="zh-CN" sz="1800" dirty="0"/>
              <a:t>              Semiconservative replication–for high fidelity of DNA replication</a:t>
            </a:r>
          </a:p>
          <a:p>
            <a:pPr eaLnBrk="1" hangingPunct="1">
              <a:defRPr/>
            </a:pPr>
            <a:r>
              <a:rPr lang="en-US" altLang="zh-CN" sz="1800" dirty="0"/>
              <a:t>1955 </a:t>
            </a:r>
            <a:r>
              <a:rPr lang="zh-CN" altLang="en-US" sz="1800" dirty="0"/>
              <a:t>年，</a:t>
            </a:r>
            <a:r>
              <a:rPr lang="en-US" altLang="zh-CN" sz="1800" dirty="0"/>
              <a:t>Francis Crick raised a purely theoretical adaptor hypothesis to explain how sequences of four nucleotides in a nucleic acid template determine sequences of 20 amino acids in proteins. </a:t>
            </a:r>
          </a:p>
          <a:p>
            <a:pPr eaLnBrk="1" hangingPunct="1">
              <a:defRPr/>
            </a:pPr>
            <a:r>
              <a:rPr lang="en-US" altLang="zh-CN" sz="1800" dirty="0"/>
              <a:t>1958</a:t>
            </a:r>
            <a:r>
              <a:rPr lang="zh-CN" altLang="en-US" sz="1800" dirty="0"/>
              <a:t>年， </a:t>
            </a:r>
            <a:r>
              <a:rPr lang="en-US" altLang="zh-CN" sz="1800" dirty="0"/>
              <a:t>Francis Crick genetic central dogma (The concept of messenger RNA (</a:t>
            </a:r>
            <a:r>
              <a:rPr lang="en-US" altLang="zh-CN" sz="1800" b="1" dirty="0">
                <a:solidFill>
                  <a:srgbClr val="FF0000"/>
                </a:solidFill>
                <a:effectLst>
                  <a:outerShdw blurRad="38100" dist="38100" dir="2700000" algn="tl">
                    <a:srgbClr val="000000"/>
                  </a:outerShdw>
                </a:effectLst>
              </a:rPr>
              <a:t>mRNA</a:t>
            </a:r>
            <a:r>
              <a:rPr lang="en-US" altLang="zh-CN" sz="1800" dirty="0"/>
              <a:t>) was boldly formulated by Jacob and Monod in </a:t>
            </a:r>
            <a:r>
              <a:rPr lang="en-US" altLang="zh-CN" sz="1800" dirty="0">
                <a:solidFill>
                  <a:srgbClr val="FF0000"/>
                </a:solidFill>
              </a:rPr>
              <a:t>1961)</a:t>
            </a:r>
            <a:endParaRPr lang="en-US" altLang="zh-CN" sz="1800" dirty="0"/>
          </a:p>
          <a:p>
            <a:pPr eaLnBrk="1" hangingPunct="1">
              <a:defRPr/>
            </a:pPr>
            <a:endParaRPr lang="en-US" altLang="zh-CN" sz="1800" dirty="0"/>
          </a:p>
          <a:p>
            <a:pPr eaLnBrk="1" hangingPunct="1">
              <a:defRPr/>
            </a:pPr>
            <a:endParaRPr lang="en-US" altLang="zh-CN" sz="1800" dirty="0"/>
          </a:p>
        </p:txBody>
      </p:sp>
    </p:spTree>
    <p:extLst>
      <p:ext uri="{BB962C8B-B14F-4D97-AF65-F5344CB8AC3E}">
        <p14:creationId xmlns:p14="http://schemas.microsoft.com/office/powerpoint/2010/main" val="176351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075">
            <a:extLst>
              <a:ext uri="{FF2B5EF4-FFF2-40B4-BE49-F238E27FC236}">
                <a16:creationId xmlns:a16="http://schemas.microsoft.com/office/drawing/2014/main" id="{7FF1DC10-7D89-4DBA-BF5E-2D419AD752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000" t="9000" r="9000" b="9000"/>
          <a:stretch>
            <a:fillRect/>
          </a:stretch>
        </p:blipFill>
        <p:spPr bwMode="auto">
          <a:xfrm>
            <a:off x="755576" y="404664"/>
            <a:ext cx="7418784" cy="556408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AC6FF764-7E3E-4926-98F6-12970DCC789B}"/>
              </a:ext>
            </a:extLst>
          </p:cNvPr>
          <p:cNvSpPr txBox="1"/>
          <p:nvPr/>
        </p:nvSpPr>
        <p:spPr>
          <a:xfrm>
            <a:off x="5652120" y="3585790"/>
            <a:ext cx="2160240" cy="923330"/>
          </a:xfrm>
          <a:prstGeom prst="rect">
            <a:avLst/>
          </a:prstGeom>
          <a:noFill/>
        </p:spPr>
        <p:txBody>
          <a:bodyPr wrap="square" rtlCol="0">
            <a:spAutoFit/>
          </a:bodyPr>
          <a:lstStyle/>
          <a:p>
            <a:r>
              <a:rPr lang="en-US" altLang="zh-CN" b="1" dirty="0">
                <a:solidFill>
                  <a:srgbClr val="FF0000"/>
                </a:solidFill>
              </a:rPr>
              <a:t>Genetic code</a:t>
            </a:r>
          </a:p>
          <a:p>
            <a:endParaRPr lang="en-US" altLang="zh-CN" b="1" dirty="0">
              <a:solidFill>
                <a:srgbClr val="FF0000"/>
              </a:solidFill>
            </a:endParaRPr>
          </a:p>
          <a:p>
            <a:r>
              <a:rPr lang="en-US" altLang="zh-CN" b="1" dirty="0" err="1">
                <a:solidFill>
                  <a:srgbClr val="FF0000"/>
                </a:solidFill>
              </a:rPr>
              <a:t>tRNA</a:t>
            </a:r>
            <a:r>
              <a:rPr lang="en-US" altLang="zh-CN" b="1" dirty="0">
                <a:solidFill>
                  <a:srgbClr val="FF0000"/>
                </a:solidFill>
              </a:rPr>
              <a:t> / </a:t>
            </a:r>
            <a:r>
              <a:rPr lang="en-US" altLang="zh-CN" b="1" dirty="0" err="1">
                <a:solidFill>
                  <a:srgbClr val="FF0000"/>
                </a:solidFill>
              </a:rPr>
              <a:t>anticodon</a:t>
            </a:r>
            <a:r>
              <a:rPr lang="en-US" altLang="zh-CN" b="1" dirty="0">
                <a:solidFill>
                  <a:srgbClr val="FF0000"/>
                </a:solidFill>
              </a:rPr>
              <a:t> </a:t>
            </a:r>
            <a:endParaRPr lang="zh-CN" altLang="en-US" b="1" dirty="0">
              <a:solidFill>
                <a:srgbClr val="FF0000"/>
              </a:solidFill>
            </a:endParaRPr>
          </a:p>
        </p:txBody>
      </p:sp>
    </p:spTree>
    <p:extLst>
      <p:ext uri="{BB962C8B-B14F-4D97-AF65-F5344CB8AC3E}">
        <p14:creationId xmlns:p14="http://schemas.microsoft.com/office/powerpoint/2010/main" val="14192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050" descr="C:\Documents and Settings\nd\My Documents\My Pictures\New Folder\protein_synthesis.gif">
            <a:extLst>
              <a:ext uri="{FF2B5EF4-FFF2-40B4-BE49-F238E27FC236}">
                <a16:creationId xmlns:a16="http://schemas.microsoft.com/office/drawing/2014/main" id="{384CD11F-E7AE-45F9-9CF3-ED0ED40DC7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152400"/>
            <a:ext cx="6383338"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342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F782AD8-B1ED-4C7C-93E1-66641B68A9FA}"/>
              </a:ext>
            </a:extLst>
          </p:cNvPr>
          <p:cNvSpPr>
            <a:spLocks noGrp="1" noChangeArrowheads="1"/>
          </p:cNvSpPr>
          <p:nvPr>
            <p:ph type="title" idx="4294967295"/>
          </p:nvPr>
        </p:nvSpPr>
        <p:spPr>
          <a:xfrm>
            <a:off x="0" y="457200"/>
            <a:ext cx="9144000" cy="1143000"/>
          </a:xfrm>
        </p:spPr>
        <p:txBody>
          <a:bodyPr/>
          <a:lstStyle/>
          <a:p>
            <a:pPr eaLnBrk="1" hangingPunct="1">
              <a:defRPr/>
            </a:pPr>
            <a:r>
              <a:rPr lang="en-US" altLang="zh-CN" sz="4000" b="1" dirty="0">
                <a:solidFill>
                  <a:schemeClr val="accent2">
                    <a:lumMod val="75000"/>
                  </a:schemeClr>
                </a:solidFill>
                <a:effectLst>
                  <a:outerShdw blurRad="38100" dist="38100" dir="2700000" algn="tl">
                    <a:srgbClr val="000000"/>
                  </a:outerShdw>
                </a:effectLst>
              </a:rPr>
              <a:t>1. Translation (protein synthesis)</a:t>
            </a:r>
            <a:r>
              <a:rPr lang="en-US" altLang="zh-CN" sz="4000" b="1" dirty="0">
                <a:solidFill>
                  <a:schemeClr val="accent2">
                    <a:lumMod val="75000"/>
                  </a:schemeClr>
                </a:solidFill>
              </a:rPr>
              <a:t> necessitates the coordinated interplay of about 300 macromolecules in the cells</a:t>
            </a:r>
          </a:p>
        </p:txBody>
      </p:sp>
      <p:sp>
        <p:nvSpPr>
          <p:cNvPr id="4099" name="Rectangle 3">
            <a:extLst>
              <a:ext uri="{FF2B5EF4-FFF2-40B4-BE49-F238E27FC236}">
                <a16:creationId xmlns:a16="http://schemas.microsoft.com/office/drawing/2014/main" id="{196A64AD-BFB1-4377-8A2F-40C9CACA9F59}"/>
              </a:ext>
            </a:extLst>
          </p:cNvPr>
          <p:cNvSpPr>
            <a:spLocks noGrp="1" noChangeArrowheads="1"/>
          </p:cNvSpPr>
          <p:nvPr>
            <p:ph type="body" idx="4294967295"/>
          </p:nvPr>
        </p:nvSpPr>
        <p:spPr>
          <a:xfrm>
            <a:off x="228600" y="2438400"/>
            <a:ext cx="8915400" cy="4114800"/>
          </a:xfrm>
        </p:spPr>
        <p:txBody>
          <a:bodyPr/>
          <a:lstStyle/>
          <a:p>
            <a:pPr eaLnBrk="1" hangingPunct="1"/>
            <a:r>
              <a:rPr lang="en-US" altLang="zh-CN" sz="2800" b="1" dirty="0"/>
              <a:t>The most complex of all biosynthetic pathways.</a:t>
            </a:r>
          </a:p>
          <a:p>
            <a:pPr eaLnBrk="1" hangingPunct="1"/>
            <a:r>
              <a:rPr lang="en-US" altLang="zh-CN" sz="2800" b="1" dirty="0">
                <a:effectLst>
                  <a:outerShdw blurRad="38100" dist="38100" dir="2700000" algn="tl">
                    <a:srgbClr val="000000"/>
                  </a:outerShdw>
                </a:effectLst>
              </a:rPr>
              <a:t>60 to 90</a:t>
            </a:r>
            <a:r>
              <a:rPr lang="en-US" altLang="zh-CN" sz="2800" b="1" dirty="0"/>
              <a:t> macromolecules for making up the protein-synthesizing machine </a:t>
            </a:r>
            <a:r>
              <a:rPr lang="en-US" altLang="zh-CN" sz="2800" b="1" dirty="0">
                <a:effectLst>
                  <a:outerShdw blurRad="38100" dist="38100" dir="2700000" algn="tl">
                    <a:srgbClr val="000000"/>
                  </a:outerShdw>
                </a:effectLst>
              </a:rPr>
              <a:t>ribosomes</a:t>
            </a:r>
            <a:endParaRPr lang="en-US" altLang="zh-CN" sz="2800" b="1" dirty="0"/>
          </a:p>
          <a:p>
            <a:pPr eaLnBrk="1" hangingPunct="1"/>
            <a:r>
              <a:rPr lang="en-US" altLang="zh-CN" sz="2800" b="1" dirty="0">
                <a:effectLst>
                  <a:outerShdw blurRad="38100" dist="38100" dir="2700000" algn="tl">
                    <a:srgbClr val="000000"/>
                  </a:outerShdw>
                </a:effectLst>
              </a:rPr>
              <a:t>Over 20</a:t>
            </a:r>
            <a:r>
              <a:rPr lang="en-US" altLang="zh-CN" sz="2800" b="1" dirty="0"/>
              <a:t> enzymes for activating the amino acids.</a:t>
            </a:r>
          </a:p>
          <a:p>
            <a:pPr eaLnBrk="1" hangingPunct="1"/>
            <a:r>
              <a:rPr lang="en-US" altLang="zh-CN" sz="2800" b="1" dirty="0">
                <a:effectLst>
                  <a:outerShdw blurRad="38100" dist="38100" dir="2700000" algn="tl">
                    <a:srgbClr val="000000"/>
                  </a:outerShdw>
                </a:effectLst>
              </a:rPr>
              <a:t>Over 10</a:t>
            </a:r>
            <a:r>
              <a:rPr lang="en-US" altLang="zh-CN" sz="2800" b="1" dirty="0"/>
              <a:t> auxiliary proteins for the initiation, elongation and termination of the polypeptide chains.</a:t>
            </a:r>
          </a:p>
          <a:p>
            <a:pPr eaLnBrk="1" hangingPunct="1"/>
            <a:r>
              <a:rPr lang="en-US" altLang="zh-CN" sz="2800" b="1" dirty="0"/>
              <a:t>Account for up to </a:t>
            </a:r>
            <a:r>
              <a:rPr lang="en-US" altLang="zh-CN" sz="2800" b="1" dirty="0">
                <a:effectLst>
                  <a:outerShdw blurRad="38100" dist="38100" dir="2700000" algn="tl">
                    <a:srgbClr val="000000"/>
                  </a:outerShdw>
                </a:effectLst>
              </a:rPr>
              <a:t>90%</a:t>
            </a:r>
            <a:r>
              <a:rPr lang="en-US" altLang="zh-CN" sz="2800" b="1" dirty="0"/>
              <a:t> of the chemical energy used by a cell for all biosynthetic reactions.</a:t>
            </a:r>
          </a:p>
        </p:txBody>
      </p:sp>
    </p:spTree>
    <p:extLst>
      <p:ext uri="{BB962C8B-B14F-4D97-AF65-F5344CB8AC3E}">
        <p14:creationId xmlns:p14="http://schemas.microsoft.com/office/powerpoint/2010/main" val="278521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4B2303B-C30E-4BC8-B0F0-D46736B3BFB8}"/>
              </a:ext>
            </a:extLst>
          </p:cNvPr>
          <p:cNvSpPr>
            <a:spLocks noGrp="1" noChangeArrowheads="1"/>
          </p:cNvSpPr>
          <p:nvPr>
            <p:ph type="title" idx="4294967295"/>
          </p:nvPr>
        </p:nvSpPr>
        <p:spPr>
          <a:xfrm>
            <a:off x="0" y="0"/>
            <a:ext cx="7772400" cy="76200"/>
          </a:xfrm>
        </p:spPr>
        <p:txBody>
          <a:bodyPr/>
          <a:lstStyle/>
          <a:p>
            <a:pPr eaLnBrk="1" hangingPunct="1"/>
            <a:r>
              <a:rPr lang="en-US" altLang="zh-CN"/>
              <a:t> </a:t>
            </a:r>
          </a:p>
        </p:txBody>
      </p:sp>
      <p:sp>
        <p:nvSpPr>
          <p:cNvPr id="5123" name="Rectangle 3">
            <a:extLst>
              <a:ext uri="{FF2B5EF4-FFF2-40B4-BE49-F238E27FC236}">
                <a16:creationId xmlns:a16="http://schemas.microsoft.com/office/drawing/2014/main" id="{9AE52F3B-5077-4B25-B23B-8CDE2FD778FD}"/>
              </a:ext>
            </a:extLst>
          </p:cNvPr>
          <p:cNvSpPr>
            <a:spLocks noGrp="1" noChangeArrowheads="1"/>
          </p:cNvSpPr>
          <p:nvPr>
            <p:ph type="body" idx="4294967295"/>
          </p:nvPr>
        </p:nvSpPr>
        <p:spPr>
          <a:xfrm>
            <a:off x="0" y="762000"/>
            <a:ext cx="8915400" cy="3581400"/>
          </a:xfrm>
        </p:spPr>
        <p:txBody>
          <a:bodyPr/>
          <a:lstStyle/>
          <a:p>
            <a:pPr eaLnBrk="1" hangingPunct="1"/>
            <a:r>
              <a:rPr lang="en-US" altLang="zh-CN" b="1" dirty="0"/>
              <a:t>The molecules used for translation account for more than </a:t>
            </a:r>
            <a:r>
              <a:rPr lang="en-US" altLang="zh-CN" b="1" dirty="0">
                <a:effectLst>
                  <a:outerShdw blurRad="38100" dist="38100" dir="2700000" algn="tl">
                    <a:srgbClr val="000000"/>
                  </a:outerShdw>
                </a:effectLst>
              </a:rPr>
              <a:t>35%</a:t>
            </a:r>
            <a:r>
              <a:rPr lang="en-US" altLang="zh-CN" b="1" dirty="0"/>
              <a:t> of the cell’s dry weight. </a:t>
            </a:r>
          </a:p>
          <a:p>
            <a:pPr eaLnBrk="1" hangingPunct="1"/>
            <a:r>
              <a:rPr lang="en-US" altLang="zh-CN" b="1" dirty="0"/>
              <a:t>However, proteins are synthesized with very high efficiency: a complete polypeptide chain of </a:t>
            </a:r>
            <a:r>
              <a:rPr lang="en-US" altLang="zh-CN" b="1" dirty="0">
                <a:effectLst>
                  <a:outerShdw blurRad="38100" dist="38100" dir="2700000" algn="tl">
                    <a:srgbClr val="000000"/>
                  </a:outerShdw>
                </a:effectLst>
              </a:rPr>
              <a:t>100 residues</a:t>
            </a:r>
            <a:r>
              <a:rPr lang="en-US" altLang="zh-CN" b="1" dirty="0"/>
              <a:t> is synthesized in about </a:t>
            </a:r>
            <a:r>
              <a:rPr lang="en-US" altLang="zh-CN" b="1" dirty="0">
                <a:effectLst>
                  <a:outerShdw blurRad="38100" dist="38100" dir="2700000" algn="tl">
                    <a:srgbClr val="000000"/>
                  </a:outerShdw>
                </a:effectLst>
              </a:rPr>
              <a:t>5 seconds</a:t>
            </a:r>
            <a:r>
              <a:rPr lang="en-US" altLang="zh-CN" b="1" dirty="0"/>
              <a:t> in an </a:t>
            </a:r>
            <a:r>
              <a:rPr lang="en-US" altLang="zh-CN" b="1" i="1" dirty="0"/>
              <a:t>E.coli</a:t>
            </a:r>
            <a:r>
              <a:rPr lang="en-US" altLang="zh-CN" b="1" dirty="0"/>
              <a:t> cells at 37</a:t>
            </a:r>
            <a:r>
              <a:rPr lang="en-US" altLang="zh-CN" b="1" baseline="30000" dirty="0"/>
              <a:t>o</a:t>
            </a:r>
            <a:r>
              <a:rPr lang="en-US" altLang="zh-CN" b="1" dirty="0"/>
              <a:t>C</a:t>
            </a:r>
            <a:r>
              <a:rPr lang="en-US" altLang="zh-CN" sz="2800" b="1" dirty="0"/>
              <a:t>.</a:t>
            </a:r>
          </a:p>
        </p:txBody>
      </p:sp>
    </p:spTree>
    <p:extLst>
      <p:ext uri="{BB962C8B-B14F-4D97-AF65-F5344CB8AC3E}">
        <p14:creationId xmlns:p14="http://schemas.microsoft.com/office/powerpoint/2010/main" val="373420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3570AFE-E6B2-4B3D-BE20-ED96546F49B0}"/>
              </a:ext>
            </a:extLst>
          </p:cNvPr>
          <p:cNvSpPr>
            <a:spLocks noGrp="1" noChangeArrowheads="1"/>
          </p:cNvSpPr>
          <p:nvPr>
            <p:ph type="title" idx="4294967295"/>
          </p:nvPr>
        </p:nvSpPr>
        <p:spPr>
          <a:xfrm>
            <a:off x="0" y="381000"/>
            <a:ext cx="9144000" cy="1143000"/>
          </a:xfrm>
        </p:spPr>
        <p:txBody>
          <a:bodyPr/>
          <a:lstStyle/>
          <a:p>
            <a:pPr eaLnBrk="1" hangingPunct="1"/>
            <a:r>
              <a:rPr lang="en-US" altLang="zh-CN" sz="4000" b="1" dirty="0">
                <a:solidFill>
                  <a:schemeClr val="accent2">
                    <a:lumMod val="75000"/>
                  </a:schemeClr>
                </a:solidFill>
              </a:rPr>
              <a:t>2. The molecular mechanism of protein synthesis was mainly revealed during the 2nd half of the 20th century</a:t>
            </a:r>
          </a:p>
        </p:txBody>
      </p:sp>
      <p:sp>
        <p:nvSpPr>
          <p:cNvPr id="6147" name="Rectangle 3">
            <a:extLst>
              <a:ext uri="{FF2B5EF4-FFF2-40B4-BE49-F238E27FC236}">
                <a16:creationId xmlns:a16="http://schemas.microsoft.com/office/drawing/2014/main" id="{0A1993F8-E384-43FC-B525-F99CFBC03C8F}"/>
              </a:ext>
            </a:extLst>
          </p:cNvPr>
          <p:cNvSpPr>
            <a:spLocks noGrp="1" noChangeArrowheads="1"/>
          </p:cNvSpPr>
          <p:nvPr>
            <p:ph type="body" idx="4294967295"/>
          </p:nvPr>
        </p:nvSpPr>
        <p:spPr>
          <a:xfrm>
            <a:off x="0" y="2133600"/>
            <a:ext cx="9144000" cy="4114800"/>
          </a:xfrm>
        </p:spPr>
        <p:txBody>
          <a:bodyPr/>
          <a:lstStyle/>
          <a:p>
            <a:pPr eaLnBrk="1" hangingPunct="1">
              <a:defRPr/>
            </a:pPr>
            <a:r>
              <a:rPr lang="en-US" altLang="zh-CN" sz="2800" dirty="0"/>
              <a:t>Ribonucleoprotein particles (were later called</a:t>
            </a:r>
            <a:r>
              <a:rPr lang="en-US" altLang="zh-CN" sz="2800" b="1" dirty="0"/>
              <a:t> </a:t>
            </a:r>
            <a:r>
              <a:rPr lang="en-US" altLang="zh-CN" sz="2800" b="1" dirty="0">
                <a:solidFill>
                  <a:srgbClr val="FF0000"/>
                </a:solidFill>
                <a:effectLst>
                  <a:outerShdw blurRad="38100" dist="38100" dir="2700000" algn="tl">
                    <a:srgbClr val="000000"/>
                  </a:outerShdw>
                </a:effectLst>
              </a:rPr>
              <a:t>ribosomes</a:t>
            </a:r>
            <a:r>
              <a:rPr lang="en-US" altLang="zh-CN" sz="2800" b="1" dirty="0">
                <a:effectLst>
                  <a:outerShdw blurRad="38100" dist="38100" dir="2700000" algn="tl">
                    <a:srgbClr val="000000"/>
                  </a:outerShdw>
                </a:effectLst>
              </a:rPr>
              <a:t>)</a:t>
            </a:r>
            <a:r>
              <a:rPr lang="en-US" altLang="zh-CN" sz="2800" dirty="0"/>
              <a:t> were revealed to be the site of protein synthesis in rat liver cells, using radioactively labeled amino acids and immediate subcellular fractionations (</a:t>
            </a:r>
            <a:r>
              <a:rPr lang="en-US" altLang="zh-CN" sz="2800" i="1" dirty="0"/>
              <a:t>early </a:t>
            </a:r>
            <a:r>
              <a:rPr lang="en-US" altLang="zh-CN" sz="2800" i="1" dirty="0">
                <a:solidFill>
                  <a:srgbClr val="FF0000"/>
                </a:solidFill>
              </a:rPr>
              <a:t>1950s</a:t>
            </a:r>
            <a:r>
              <a:rPr lang="en-US" altLang="zh-CN" sz="2800" i="1" dirty="0"/>
              <a:t>, by </a:t>
            </a:r>
            <a:r>
              <a:rPr lang="en-US" altLang="zh-CN" sz="2800" i="1" dirty="0" err="1"/>
              <a:t>Zamecnik</a:t>
            </a:r>
            <a:r>
              <a:rPr lang="en-US" altLang="zh-CN" sz="2800" dirty="0"/>
              <a:t>).</a:t>
            </a:r>
          </a:p>
          <a:p>
            <a:pPr eaLnBrk="1" hangingPunct="1">
              <a:defRPr/>
            </a:pPr>
            <a:r>
              <a:rPr lang="en-US" altLang="zh-CN" sz="2800" dirty="0">
                <a:solidFill>
                  <a:srgbClr val="FF0000"/>
                </a:solidFill>
              </a:rPr>
              <a:t>Amino acids </a:t>
            </a:r>
            <a:r>
              <a:rPr lang="en-US" altLang="zh-CN" sz="2800" dirty="0"/>
              <a:t>were found to </a:t>
            </a:r>
            <a:r>
              <a:rPr lang="en-US" altLang="zh-CN" sz="2800" dirty="0">
                <a:solidFill>
                  <a:srgbClr val="FF0000"/>
                </a:solidFill>
              </a:rPr>
              <a:t>be activated </a:t>
            </a:r>
            <a:r>
              <a:rPr lang="en-US" altLang="zh-CN" sz="2800" dirty="0"/>
              <a:t>by attaching to a special form of heat-stable RNA molecules (later called </a:t>
            </a:r>
            <a:r>
              <a:rPr lang="en-US" altLang="zh-CN" sz="2800" dirty="0" err="1">
                <a:solidFill>
                  <a:srgbClr val="FF0000"/>
                </a:solidFill>
              </a:rPr>
              <a:t>tRNAs</a:t>
            </a:r>
            <a:r>
              <a:rPr lang="en-US" altLang="zh-CN" sz="2800" dirty="0"/>
              <a:t>)  before being incorporated into polypeptides (</a:t>
            </a:r>
            <a:r>
              <a:rPr lang="en-US" altLang="zh-CN" sz="2800" i="1" dirty="0">
                <a:solidFill>
                  <a:srgbClr val="FF0000"/>
                </a:solidFill>
              </a:rPr>
              <a:t>1950s</a:t>
            </a:r>
            <a:r>
              <a:rPr lang="en-US" altLang="zh-CN" sz="2800" i="1" dirty="0"/>
              <a:t>, by Hoagland and </a:t>
            </a:r>
            <a:r>
              <a:rPr lang="en-US" altLang="zh-CN" sz="2800" i="1" dirty="0" err="1"/>
              <a:t>Zamecnik</a:t>
            </a:r>
            <a:r>
              <a:rPr lang="en-US" altLang="zh-CN" sz="2800" dirty="0"/>
              <a:t>).</a:t>
            </a:r>
          </a:p>
        </p:txBody>
      </p:sp>
    </p:spTree>
    <p:extLst>
      <p:ext uri="{BB962C8B-B14F-4D97-AF65-F5344CB8AC3E}">
        <p14:creationId xmlns:p14="http://schemas.microsoft.com/office/powerpoint/2010/main" val="3254205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2EAB3CF-1FE9-4274-BA28-FF9503AB9509}"/>
              </a:ext>
            </a:extLst>
          </p:cNvPr>
          <p:cNvSpPr>
            <a:spLocks noGrp="1" noChangeArrowheads="1"/>
          </p:cNvSpPr>
          <p:nvPr>
            <p:ph type="title" idx="4294967295"/>
          </p:nvPr>
        </p:nvSpPr>
        <p:spPr>
          <a:xfrm flipV="1">
            <a:off x="0" y="0"/>
            <a:ext cx="7772400" cy="76200"/>
          </a:xfrm>
        </p:spPr>
        <p:txBody>
          <a:bodyPr/>
          <a:lstStyle/>
          <a:p>
            <a:pPr eaLnBrk="1" hangingPunct="1"/>
            <a:r>
              <a:rPr lang="en-US" altLang="zh-CN"/>
              <a:t> </a:t>
            </a:r>
          </a:p>
        </p:txBody>
      </p:sp>
      <p:sp>
        <p:nvSpPr>
          <p:cNvPr id="7171" name="Rectangle 3">
            <a:extLst>
              <a:ext uri="{FF2B5EF4-FFF2-40B4-BE49-F238E27FC236}">
                <a16:creationId xmlns:a16="http://schemas.microsoft.com/office/drawing/2014/main" id="{1B10E7F9-8283-48D1-8A77-DFD97D97414E}"/>
              </a:ext>
            </a:extLst>
          </p:cNvPr>
          <p:cNvSpPr>
            <a:spLocks noGrp="1" noChangeArrowheads="1"/>
          </p:cNvSpPr>
          <p:nvPr>
            <p:ph type="body" idx="4294967295"/>
          </p:nvPr>
        </p:nvSpPr>
        <p:spPr>
          <a:xfrm>
            <a:off x="0" y="838200"/>
            <a:ext cx="8686800" cy="4953000"/>
          </a:xfrm>
        </p:spPr>
        <p:txBody>
          <a:bodyPr/>
          <a:lstStyle/>
          <a:p>
            <a:pPr eaLnBrk="1" hangingPunct="1">
              <a:lnSpc>
                <a:spcPct val="90000"/>
              </a:lnSpc>
              <a:defRPr/>
            </a:pPr>
            <a:r>
              <a:rPr lang="en-US" altLang="zh-CN" sz="2800" dirty="0"/>
              <a:t>Each </a:t>
            </a:r>
            <a:r>
              <a:rPr lang="en-US" altLang="zh-CN" sz="2800" dirty="0" err="1">
                <a:solidFill>
                  <a:srgbClr val="FF0000"/>
                </a:solidFill>
              </a:rPr>
              <a:t>tRNA</a:t>
            </a:r>
            <a:r>
              <a:rPr lang="en-US" altLang="zh-CN" sz="2800" dirty="0">
                <a:solidFill>
                  <a:srgbClr val="FF0000"/>
                </a:solidFill>
              </a:rPr>
              <a:t> </a:t>
            </a:r>
            <a:r>
              <a:rPr lang="en-US" altLang="zh-CN" sz="2800" dirty="0"/>
              <a:t>molecule was found to function as an </a:t>
            </a:r>
            <a:r>
              <a:rPr lang="en-US" altLang="zh-CN" sz="2800" b="1" dirty="0">
                <a:solidFill>
                  <a:srgbClr val="FF0000"/>
                </a:solidFill>
                <a:effectLst>
                  <a:outerShdw blurRad="38100" dist="38100" dir="2700000" algn="tl">
                    <a:srgbClr val="000000"/>
                  </a:outerShdw>
                </a:effectLst>
              </a:rPr>
              <a:t>adapter </a:t>
            </a:r>
            <a:r>
              <a:rPr lang="en-US" altLang="zh-CN" sz="2800" dirty="0"/>
              <a:t>(originally hypothesized by </a:t>
            </a:r>
            <a:r>
              <a:rPr lang="en-US" altLang="zh-CN" sz="2800" dirty="0">
                <a:solidFill>
                  <a:srgbClr val="FF0000"/>
                </a:solidFill>
              </a:rPr>
              <a:t>Francis Crick</a:t>
            </a:r>
            <a:r>
              <a:rPr lang="en-US" altLang="zh-CN" sz="2800" dirty="0"/>
              <a:t>), carrying a specific amino acid with one site and recognizing a specific site on a template with another site. </a:t>
            </a:r>
          </a:p>
          <a:p>
            <a:pPr eaLnBrk="1" hangingPunct="1">
              <a:lnSpc>
                <a:spcPct val="90000"/>
              </a:lnSpc>
              <a:defRPr/>
            </a:pPr>
            <a:r>
              <a:rPr lang="en-US" altLang="zh-CN" sz="2800" dirty="0"/>
              <a:t>The concept of messenger RNA (</a:t>
            </a:r>
            <a:r>
              <a:rPr lang="en-US" altLang="zh-CN" sz="2800" b="1" dirty="0">
                <a:solidFill>
                  <a:srgbClr val="FF0000"/>
                </a:solidFill>
                <a:effectLst>
                  <a:outerShdw blurRad="38100" dist="38100" dir="2700000" algn="tl">
                    <a:srgbClr val="000000"/>
                  </a:outerShdw>
                </a:effectLst>
              </a:rPr>
              <a:t>mRNA</a:t>
            </a:r>
            <a:r>
              <a:rPr lang="en-US" altLang="zh-CN" sz="2800" dirty="0"/>
              <a:t>) was boldly formulated by Jacob and Monod in </a:t>
            </a:r>
            <a:r>
              <a:rPr lang="en-US" altLang="zh-CN" sz="2800" dirty="0">
                <a:solidFill>
                  <a:srgbClr val="FF0000"/>
                </a:solidFill>
              </a:rPr>
              <a:t>1961</a:t>
            </a:r>
            <a:r>
              <a:rPr lang="en-US" altLang="zh-CN" sz="2800" dirty="0"/>
              <a:t>: a short-lived RNA should serve as the </a:t>
            </a:r>
            <a:r>
              <a:rPr lang="en-US" altLang="zh-CN" sz="2800" b="1" dirty="0">
                <a:solidFill>
                  <a:srgbClr val="FF0000"/>
                </a:solidFill>
                <a:effectLst>
                  <a:outerShdw blurRad="38100" dist="38100" dir="2700000" algn="tl">
                    <a:srgbClr val="000000"/>
                  </a:outerShdw>
                </a:effectLst>
              </a:rPr>
              <a:t>information carrier</a:t>
            </a:r>
            <a:r>
              <a:rPr lang="en-US" altLang="zh-CN" sz="2800" dirty="0">
                <a:solidFill>
                  <a:srgbClr val="FF0000"/>
                </a:solidFill>
              </a:rPr>
              <a:t> </a:t>
            </a:r>
            <a:r>
              <a:rPr lang="en-US" altLang="zh-CN" sz="2800" dirty="0"/>
              <a:t>between gene and protein (to explain the quick induction of proteins in </a:t>
            </a:r>
            <a:r>
              <a:rPr lang="en-US" altLang="zh-CN" sz="2800" i="1" dirty="0"/>
              <a:t>E.coli</a:t>
            </a:r>
            <a:r>
              <a:rPr lang="en-US" altLang="zh-CN" sz="2800" dirty="0"/>
              <a:t>).</a:t>
            </a:r>
          </a:p>
          <a:p>
            <a:pPr eaLnBrk="1" hangingPunct="1">
              <a:lnSpc>
                <a:spcPct val="90000"/>
              </a:lnSpc>
              <a:defRPr/>
            </a:pPr>
            <a:r>
              <a:rPr lang="en-US" altLang="zh-CN" sz="2800" dirty="0"/>
              <a:t>This bold hypothesis was quickly confirmed by studies of </a:t>
            </a:r>
            <a:r>
              <a:rPr lang="en-US" altLang="zh-CN" sz="2800" i="1" dirty="0"/>
              <a:t>E.coli</a:t>
            </a:r>
            <a:r>
              <a:rPr lang="en-US" altLang="zh-CN" sz="2800" dirty="0"/>
              <a:t> cells infected by </a:t>
            </a:r>
            <a:r>
              <a:rPr lang="en-US" altLang="zh-CN" sz="2800" dirty="0">
                <a:effectLst>
                  <a:outerShdw blurRad="38100" dist="38100" dir="2700000" algn="tl">
                    <a:srgbClr val="000000"/>
                  </a:outerShdw>
                </a:effectLst>
              </a:rPr>
              <a:t>T</a:t>
            </a:r>
            <a:r>
              <a:rPr lang="en-US" altLang="zh-CN" sz="2800" baseline="-25000" dirty="0">
                <a:effectLst>
                  <a:outerShdw blurRad="38100" dist="38100" dir="2700000" algn="tl">
                    <a:srgbClr val="000000"/>
                  </a:outerShdw>
                </a:effectLst>
              </a:rPr>
              <a:t>2 </a:t>
            </a:r>
            <a:r>
              <a:rPr lang="en-US" altLang="zh-CN" sz="2800" dirty="0">
                <a:effectLst>
                  <a:outerShdw blurRad="38100" dist="38100" dir="2700000" algn="tl">
                    <a:srgbClr val="000000"/>
                  </a:outerShdw>
                </a:effectLst>
              </a:rPr>
              <a:t>phages</a:t>
            </a:r>
            <a:r>
              <a:rPr lang="en-US" altLang="zh-CN" sz="2800" dirty="0"/>
              <a:t> .</a:t>
            </a:r>
          </a:p>
        </p:txBody>
      </p:sp>
    </p:spTree>
    <p:extLst>
      <p:ext uri="{BB962C8B-B14F-4D97-AF65-F5344CB8AC3E}">
        <p14:creationId xmlns:p14="http://schemas.microsoft.com/office/powerpoint/2010/main" val="1756941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46C09B1C-C561-496D-9F9B-7901745F2F6E}"/>
              </a:ext>
            </a:extLst>
          </p:cNvPr>
          <p:cNvSpPr>
            <a:spLocks noChangeArrowheads="1"/>
          </p:cNvSpPr>
          <p:nvPr/>
        </p:nvSpPr>
        <p:spPr bwMode="auto">
          <a:xfrm>
            <a:off x="683568" y="4067891"/>
            <a:ext cx="7704856"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FF0000"/>
                </a:solidFill>
              </a:rPr>
              <a:t>Ribosomes</a:t>
            </a:r>
            <a:r>
              <a:rPr lang="en-US" altLang="zh-CN" sz="3200" b="1" dirty="0">
                <a:solidFill>
                  <a:schemeClr val="accent5">
                    <a:lumMod val="50000"/>
                  </a:schemeClr>
                </a:solidFill>
              </a:rPr>
              <a:t> were revealed to be the site of </a:t>
            </a:r>
          </a:p>
          <a:p>
            <a:pPr eaLnBrk="1" hangingPunct="1"/>
            <a:r>
              <a:rPr lang="en-US" altLang="zh-CN" sz="3200" b="1" dirty="0">
                <a:solidFill>
                  <a:schemeClr val="accent5">
                    <a:lumMod val="50000"/>
                  </a:schemeClr>
                </a:solidFill>
              </a:rPr>
              <a:t>protein synthesis in early </a:t>
            </a:r>
            <a:r>
              <a:rPr lang="en-US" altLang="zh-CN" sz="3200" b="1" dirty="0">
                <a:solidFill>
                  <a:srgbClr val="FF0000"/>
                </a:solidFill>
              </a:rPr>
              <a:t>1950s </a:t>
            </a:r>
            <a:r>
              <a:rPr lang="en-US" altLang="zh-CN" sz="3200" b="1" dirty="0">
                <a:solidFill>
                  <a:schemeClr val="accent5">
                    <a:lumMod val="50000"/>
                  </a:schemeClr>
                </a:solidFill>
              </a:rPr>
              <a:t>(pulse </a:t>
            </a:r>
          </a:p>
          <a:p>
            <a:pPr eaLnBrk="1" hangingPunct="1"/>
            <a:r>
              <a:rPr lang="en-US" altLang="zh-CN" sz="3200" b="1" dirty="0">
                <a:solidFill>
                  <a:schemeClr val="accent5">
                    <a:lumMod val="50000"/>
                  </a:schemeClr>
                </a:solidFill>
              </a:rPr>
              <a:t>labeling with radioactive amino acids and</a:t>
            </a:r>
          </a:p>
          <a:p>
            <a:pPr eaLnBrk="1" hangingPunct="1"/>
            <a:r>
              <a:rPr lang="en-US" altLang="zh-CN" sz="3200" b="1" dirty="0">
                <a:solidFill>
                  <a:schemeClr val="accent5">
                    <a:lumMod val="50000"/>
                  </a:schemeClr>
                </a:solidFill>
              </a:rPr>
              <a:t>subcellular fractionations).</a:t>
            </a:r>
            <a:endParaRPr lang="en-US" altLang="zh-CN" sz="3200" dirty="0">
              <a:solidFill>
                <a:schemeClr val="accent5">
                  <a:lumMod val="50000"/>
                </a:schemeClr>
              </a:solidFill>
            </a:endParaRPr>
          </a:p>
        </p:txBody>
      </p:sp>
      <p:pic>
        <p:nvPicPr>
          <p:cNvPr id="9219" name="Picture 4" descr="&#10;F27-01.GIF002                                                  00006E11Sumanas' Hard Drive            B4EBCDA7:">
            <a:extLst>
              <a:ext uri="{FF2B5EF4-FFF2-40B4-BE49-F238E27FC236}">
                <a16:creationId xmlns:a16="http://schemas.microsoft.com/office/drawing/2014/main" id="{51CE6131-95EE-49D1-9D76-5C1C6F08D4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304800"/>
            <a:ext cx="8686800"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7346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6" descr="&#10;F27-02.GIF003                                                  00006E11Sumanas' Hard Drive            B4EBCDA7:">
            <a:extLst>
              <a:ext uri="{FF2B5EF4-FFF2-40B4-BE49-F238E27FC236}">
                <a16:creationId xmlns:a16="http://schemas.microsoft.com/office/drawing/2014/main" id="{02B330A9-2E6C-491E-B497-8D3CFA7289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4600" y="144463"/>
            <a:ext cx="6629400" cy="633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a:extLst>
              <a:ext uri="{FF2B5EF4-FFF2-40B4-BE49-F238E27FC236}">
                <a16:creationId xmlns:a16="http://schemas.microsoft.com/office/drawing/2014/main" id="{B2C286FF-B8C6-4970-8798-44F179CA0DE7}"/>
              </a:ext>
            </a:extLst>
          </p:cNvPr>
          <p:cNvSpPr>
            <a:spLocks noChangeArrowheads="1"/>
          </p:cNvSpPr>
          <p:nvPr/>
        </p:nvSpPr>
        <p:spPr bwMode="auto">
          <a:xfrm>
            <a:off x="0" y="147638"/>
            <a:ext cx="203132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chemeClr val="accent2">
                    <a:lumMod val="75000"/>
                  </a:schemeClr>
                </a:solidFill>
              </a:rPr>
              <a:t>Crick’s </a:t>
            </a:r>
          </a:p>
          <a:p>
            <a:pPr eaLnBrk="1" hangingPunct="1"/>
            <a:r>
              <a:rPr lang="en-US" altLang="zh-CN" sz="3200" b="1" dirty="0">
                <a:solidFill>
                  <a:schemeClr val="accent2">
                    <a:lumMod val="75000"/>
                  </a:schemeClr>
                </a:solidFill>
              </a:rPr>
              <a:t>adapter</a:t>
            </a:r>
          </a:p>
          <a:p>
            <a:pPr eaLnBrk="1" hangingPunct="1"/>
            <a:r>
              <a:rPr lang="en-US" altLang="zh-CN" sz="3200" b="1" dirty="0">
                <a:solidFill>
                  <a:schemeClr val="accent2">
                    <a:lumMod val="75000"/>
                  </a:schemeClr>
                </a:solidFill>
              </a:rPr>
              <a:t>hypothesis</a:t>
            </a:r>
          </a:p>
          <a:p>
            <a:pPr eaLnBrk="1" hangingPunct="1"/>
            <a:endParaRPr lang="en-US" altLang="zh-CN" sz="3200" b="1" dirty="0">
              <a:solidFill>
                <a:schemeClr val="accent2">
                  <a:lumMod val="75000"/>
                </a:schemeClr>
              </a:solidFill>
            </a:endParaRPr>
          </a:p>
        </p:txBody>
      </p:sp>
      <p:sp>
        <p:nvSpPr>
          <p:cNvPr id="10244" name="Rectangle 4">
            <a:extLst>
              <a:ext uri="{FF2B5EF4-FFF2-40B4-BE49-F238E27FC236}">
                <a16:creationId xmlns:a16="http://schemas.microsoft.com/office/drawing/2014/main" id="{EBD5FE07-3AC1-4745-B74C-E124A5AD608B}"/>
              </a:ext>
            </a:extLst>
          </p:cNvPr>
          <p:cNvSpPr>
            <a:spLocks noChangeArrowheads="1"/>
          </p:cNvSpPr>
          <p:nvPr/>
        </p:nvSpPr>
        <p:spPr bwMode="auto">
          <a:xfrm>
            <a:off x="3048000" y="3429000"/>
            <a:ext cx="1911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333399"/>
                </a:solidFill>
              </a:rPr>
              <a:t>Hydrogen </a:t>
            </a:r>
          </a:p>
          <a:p>
            <a:pPr eaLnBrk="1" hangingPunct="1"/>
            <a:r>
              <a:rPr lang="en-US" altLang="zh-CN" sz="3200">
                <a:solidFill>
                  <a:srgbClr val="333399"/>
                </a:solidFill>
              </a:rPr>
              <a:t>bonds</a:t>
            </a:r>
            <a:endParaRPr lang="en-US" altLang="zh-CN" sz="3200" b="1"/>
          </a:p>
        </p:txBody>
      </p:sp>
      <p:sp>
        <p:nvSpPr>
          <p:cNvPr id="10245" name="Line 5">
            <a:extLst>
              <a:ext uri="{FF2B5EF4-FFF2-40B4-BE49-F238E27FC236}">
                <a16:creationId xmlns:a16="http://schemas.microsoft.com/office/drawing/2014/main" id="{98AB7FCD-EFE1-4AF8-B4F7-F7F239A4B1E3}"/>
              </a:ext>
            </a:extLst>
          </p:cNvPr>
          <p:cNvSpPr>
            <a:spLocks noChangeShapeType="1"/>
          </p:cNvSpPr>
          <p:nvPr/>
        </p:nvSpPr>
        <p:spPr bwMode="auto">
          <a:xfrm>
            <a:off x="4343400" y="4114800"/>
            <a:ext cx="1600200" cy="533400"/>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430199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074">
            <a:extLst>
              <a:ext uri="{FF2B5EF4-FFF2-40B4-BE49-F238E27FC236}">
                <a16:creationId xmlns:a16="http://schemas.microsoft.com/office/drawing/2014/main" id="{51918C52-FC1E-402C-9777-FE238D6AE80A}"/>
              </a:ext>
            </a:extLst>
          </p:cNvPr>
          <p:cNvSpPr txBox="1">
            <a:spLocks noChangeArrowheads="1"/>
          </p:cNvSpPr>
          <p:nvPr/>
        </p:nvSpPr>
        <p:spPr bwMode="auto">
          <a:xfrm>
            <a:off x="609600" y="1676400"/>
            <a:ext cx="7848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6000" dirty="0">
                <a:solidFill>
                  <a:schemeClr val="tx2"/>
                </a:solidFill>
              </a:rPr>
              <a:t>H1 The genetic code</a:t>
            </a:r>
          </a:p>
        </p:txBody>
      </p:sp>
      <p:sp>
        <p:nvSpPr>
          <p:cNvPr id="3" name="动作按钮: 前进或下一项 2">
            <a:hlinkClick r:id="rId2" action="ppaction://hlinksldjump" highlightClick="1"/>
            <a:extLst>
              <a:ext uri="{FF2B5EF4-FFF2-40B4-BE49-F238E27FC236}">
                <a16:creationId xmlns:a16="http://schemas.microsoft.com/office/drawing/2014/main" id="{99716073-6DD6-44B1-8E41-A40F94D128D1}"/>
              </a:ext>
            </a:extLst>
          </p:cNvPr>
          <p:cNvSpPr/>
          <p:nvPr/>
        </p:nvSpPr>
        <p:spPr>
          <a:xfrm>
            <a:off x="8316416" y="6381328"/>
            <a:ext cx="360040" cy="288032"/>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11289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D2B6BC1-F92E-4E06-B9D6-3C8B3683B6C9}"/>
              </a:ext>
            </a:extLst>
          </p:cNvPr>
          <p:cNvSpPr>
            <a:spLocks noGrp="1" noChangeArrowheads="1"/>
          </p:cNvSpPr>
          <p:nvPr>
            <p:ph type="title" idx="4294967295"/>
          </p:nvPr>
        </p:nvSpPr>
        <p:spPr>
          <a:xfrm>
            <a:off x="0" y="332656"/>
            <a:ext cx="9144000" cy="1143000"/>
          </a:xfrm>
        </p:spPr>
        <p:txBody>
          <a:bodyPr/>
          <a:lstStyle/>
          <a:p>
            <a:pPr eaLnBrk="1" hangingPunct="1"/>
            <a:r>
              <a:rPr lang="en-US" altLang="zh-CN" sz="4000" b="1" dirty="0">
                <a:solidFill>
                  <a:schemeClr val="accent2">
                    <a:lumMod val="75000"/>
                  </a:schemeClr>
                </a:solidFill>
              </a:rPr>
              <a:t>1. Amino acids in a polypeptide chain were found to be coded by groups of three nucleotides in a mRNA</a:t>
            </a:r>
          </a:p>
        </p:txBody>
      </p:sp>
      <p:sp>
        <p:nvSpPr>
          <p:cNvPr id="10243" name="Rectangle 3">
            <a:extLst>
              <a:ext uri="{FF2B5EF4-FFF2-40B4-BE49-F238E27FC236}">
                <a16:creationId xmlns:a16="http://schemas.microsoft.com/office/drawing/2014/main" id="{F604333D-A580-4C09-9823-27154020A622}"/>
              </a:ext>
            </a:extLst>
          </p:cNvPr>
          <p:cNvSpPr>
            <a:spLocks noGrp="1" noChangeArrowheads="1"/>
          </p:cNvSpPr>
          <p:nvPr>
            <p:ph type="body" idx="4294967295"/>
          </p:nvPr>
        </p:nvSpPr>
        <p:spPr>
          <a:xfrm>
            <a:off x="0" y="2132856"/>
            <a:ext cx="9144000" cy="4114800"/>
          </a:xfrm>
        </p:spPr>
        <p:txBody>
          <a:bodyPr/>
          <a:lstStyle/>
          <a:p>
            <a:pPr eaLnBrk="1" hangingPunct="1">
              <a:lnSpc>
                <a:spcPct val="90000"/>
              </a:lnSpc>
              <a:defRPr/>
            </a:pPr>
            <a:r>
              <a:rPr lang="en-US" altLang="zh-CN" sz="2800" dirty="0">
                <a:effectLst>
                  <a:outerShdw blurRad="38100" dist="38100" dir="2700000" algn="tl">
                    <a:srgbClr val="000000"/>
                  </a:outerShdw>
                </a:effectLst>
              </a:rPr>
              <a:t>Simple</a:t>
            </a:r>
            <a:r>
              <a:rPr lang="en-US" altLang="zh-CN" sz="2800" dirty="0"/>
              <a:t> </a:t>
            </a:r>
            <a:r>
              <a:rPr lang="en-US" altLang="zh-CN" sz="2800" dirty="0">
                <a:effectLst>
                  <a:outerShdw blurRad="38100" dist="38100" dir="2700000" algn="tl">
                    <a:srgbClr val="000000"/>
                  </a:outerShdw>
                </a:effectLst>
              </a:rPr>
              <a:t>calculation</a:t>
            </a:r>
            <a:r>
              <a:rPr lang="en-US" altLang="zh-CN" sz="2800" dirty="0"/>
              <a:t> indicated that three or more bases are probably needed to specify one amino acid.</a:t>
            </a:r>
          </a:p>
          <a:p>
            <a:pPr eaLnBrk="1" hangingPunct="1">
              <a:lnSpc>
                <a:spcPct val="90000"/>
              </a:lnSpc>
              <a:defRPr/>
            </a:pPr>
            <a:r>
              <a:rPr lang="en-US" altLang="zh-CN" sz="2800" dirty="0">
                <a:effectLst>
                  <a:outerShdw blurRad="38100" dist="38100" dir="2700000" algn="tl">
                    <a:srgbClr val="000000"/>
                  </a:outerShdw>
                </a:effectLst>
              </a:rPr>
              <a:t>Genetic studies</a:t>
            </a:r>
            <a:r>
              <a:rPr lang="en-US" altLang="zh-CN" sz="2800" dirty="0"/>
              <a:t> of insertion, deletion, and substitution mutants showed </a:t>
            </a:r>
            <a:r>
              <a:rPr lang="en-US" altLang="zh-CN" sz="2800" b="1" dirty="0"/>
              <a:t>codons</a:t>
            </a:r>
            <a:r>
              <a:rPr lang="en-US" altLang="zh-CN" sz="2800" dirty="0"/>
              <a:t> for amino acids are </a:t>
            </a:r>
            <a:r>
              <a:rPr lang="en-US" altLang="zh-CN" sz="2800" b="1" dirty="0">
                <a:solidFill>
                  <a:schemeClr val="accent2">
                    <a:lumMod val="75000"/>
                  </a:schemeClr>
                </a:solidFill>
                <a:effectLst>
                  <a:outerShdw blurRad="38100" dist="38100" dir="2700000" algn="tl">
                    <a:srgbClr val="000000"/>
                  </a:outerShdw>
                </a:effectLst>
              </a:rPr>
              <a:t>triplet</a:t>
            </a:r>
            <a:r>
              <a:rPr lang="en-US" altLang="zh-CN" sz="2800" dirty="0">
                <a:solidFill>
                  <a:schemeClr val="accent2">
                    <a:lumMod val="75000"/>
                  </a:schemeClr>
                </a:solidFill>
              </a:rPr>
              <a:t> </a:t>
            </a:r>
            <a:r>
              <a:rPr lang="en-US" altLang="zh-CN" sz="2800" dirty="0"/>
              <a:t>of nucleotides; codons do </a:t>
            </a:r>
            <a:r>
              <a:rPr lang="en-US" altLang="zh-CN" sz="2800" dirty="0">
                <a:solidFill>
                  <a:schemeClr val="accent2">
                    <a:lumMod val="75000"/>
                  </a:schemeClr>
                </a:solidFill>
                <a:effectLst>
                  <a:outerShdw blurRad="38100" dist="38100" dir="2700000" algn="tl">
                    <a:srgbClr val="000000"/>
                  </a:outerShdw>
                </a:effectLst>
              </a:rPr>
              <a:t>not overlap</a:t>
            </a:r>
            <a:r>
              <a:rPr lang="en-US" altLang="zh-CN" sz="2800" dirty="0">
                <a:solidFill>
                  <a:schemeClr val="accent2">
                    <a:lumMod val="75000"/>
                  </a:schemeClr>
                </a:solidFill>
              </a:rPr>
              <a:t> </a:t>
            </a:r>
            <a:r>
              <a:rPr lang="en-US" altLang="zh-CN" sz="2800" dirty="0"/>
              <a:t>and there is </a:t>
            </a:r>
            <a:r>
              <a:rPr lang="en-US" altLang="zh-CN" sz="2800" dirty="0">
                <a:solidFill>
                  <a:schemeClr val="accent2">
                    <a:lumMod val="75000"/>
                  </a:schemeClr>
                </a:solidFill>
                <a:effectLst>
                  <a:outerShdw blurRad="38100" dist="38100" dir="2700000" algn="tl">
                    <a:srgbClr val="000000"/>
                  </a:outerShdw>
                </a:effectLst>
              </a:rPr>
              <a:t>no punctuation</a:t>
            </a:r>
            <a:r>
              <a:rPr lang="en-US" altLang="zh-CN" sz="2800" dirty="0">
                <a:solidFill>
                  <a:schemeClr val="accent2">
                    <a:lumMod val="75000"/>
                  </a:schemeClr>
                </a:solidFill>
              </a:rPr>
              <a:t> </a:t>
            </a:r>
            <a:r>
              <a:rPr lang="en-US" altLang="zh-CN" sz="2800" dirty="0"/>
              <a:t>between codons for </a:t>
            </a:r>
            <a:r>
              <a:rPr lang="en-US" altLang="zh-CN" sz="2800" b="1" dirty="0">
                <a:solidFill>
                  <a:srgbClr val="C00000"/>
                </a:solidFill>
              </a:rPr>
              <a:t>successive</a:t>
            </a:r>
            <a:r>
              <a:rPr lang="en-US" altLang="zh-CN" sz="2800" dirty="0"/>
              <a:t> amino acid residues.</a:t>
            </a:r>
          </a:p>
          <a:p>
            <a:pPr eaLnBrk="1" hangingPunct="1">
              <a:lnSpc>
                <a:spcPct val="90000"/>
              </a:lnSpc>
              <a:defRPr/>
            </a:pPr>
            <a:r>
              <a:rPr lang="en-US" altLang="zh-CN" sz="2800" dirty="0"/>
              <a:t>The amino acid sequence of a polypeptide is defined by a linear sequence of contiguous codons: the first codon </a:t>
            </a:r>
            <a:r>
              <a:rPr lang="en-US" altLang="zh-CN" sz="2800" dirty="0" err="1"/>
              <a:t>establishs</a:t>
            </a:r>
            <a:r>
              <a:rPr lang="en-US" altLang="zh-CN" sz="2800" dirty="0"/>
              <a:t> a </a:t>
            </a:r>
            <a:r>
              <a:rPr lang="en-US" altLang="zh-CN" sz="2800" b="1" dirty="0">
                <a:solidFill>
                  <a:schemeClr val="accent2">
                    <a:lumMod val="75000"/>
                  </a:schemeClr>
                </a:solidFill>
              </a:rPr>
              <a:t>reading frame</a:t>
            </a:r>
            <a:r>
              <a:rPr lang="en-US" altLang="zh-CN" sz="2800" dirty="0"/>
              <a:t>.</a:t>
            </a:r>
          </a:p>
        </p:txBody>
      </p:sp>
    </p:spTree>
    <p:extLst>
      <p:ext uri="{BB962C8B-B14F-4D97-AF65-F5344CB8AC3E}">
        <p14:creationId xmlns:p14="http://schemas.microsoft.com/office/powerpoint/2010/main" val="857655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8BCD439A-27CC-4707-8C55-1089008A3836}"/>
              </a:ext>
            </a:extLst>
          </p:cNvPr>
          <p:cNvSpPr>
            <a:spLocks noChangeArrowheads="1"/>
          </p:cNvSpPr>
          <p:nvPr/>
        </p:nvSpPr>
        <p:spPr bwMode="auto">
          <a:xfrm>
            <a:off x="465045" y="4944070"/>
            <a:ext cx="8499443" cy="1015663"/>
          </a:xfrm>
          <a:prstGeom prst="rect">
            <a:avLst/>
          </a:prstGeom>
          <a:noFill/>
          <a:ln w="9525">
            <a:noFill/>
            <a:miter lim="800000"/>
            <a:headEnd/>
            <a:tailEnd/>
          </a:ln>
        </p:spPr>
        <p:txBody>
          <a:bodyPr wrap="none">
            <a:spAutoFit/>
          </a:bodyPr>
          <a:lstStyle/>
          <a:p>
            <a:pPr>
              <a:defRPr/>
            </a:pPr>
            <a:r>
              <a:rPr lang="en-US" altLang="zh-CN" sz="3000" b="1" dirty="0">
                <a:solidFill>
                  <a:schemeClr val="accent2">
                    <a:lumMod val="75000"/>
                  </a:schemeClr>
                </a:solidFill>
              </a:rPr>
              <a:t>Genetic studies showed that genetic </a:t>
            </a:r>
          </a:p>
          <a:p>
            <a:pPr>
              <a:defRPr/>
            </a:pPr>
            <a:r>
              <a:rPr lang="en-US" altLang="zh-CN" sz="3000" b="1" dirty="0">
                <a:solidFill>
                  <a:schemeClr val="accent2">
                    <a:lumMod val="75000"/>
                  </a:schemeClr>
                </a:solidFill>
              </a:rPr>
              <a:t>codons are </a:t>
            </a:r>
            <a:r>
              <a:rPr lang="en-US" altLang="zh-CN" sz="3000" b="1" dirty="0">
                <a:solidFill>
                  <a:schemeClr val="accent2">
                    <a:lumMod val="75000"/>
                  </a:schemeClr>
                </a:solidFill>
                <a:effectLst>
                  <a:outerShdw blurRad="38100" dist="38100" dir="2700000" algn="tl">
                    <a:srgbClr val="000000"/>
                  </a:outerShdw>
                </a:effectLst>
              </a:rPr>
              <a:t>successive</a:t>
            </a:r>
            <a:r>
              <a:rPr lang="en-US" altLang="zh-CN" sz="3000" b="1" dirty="0">
                <a:solidFill>
                  <a:schemeClr val="accent2">
                    <a:lumMod val="75000"/>
                  </a:schemeClr>
                </a:solidFill>
              </a:rPr>
              <a:t> triplets of nucleotides</a:t>
            </a:r>
          </a:p>
        </p:txBody>
      </p:sp>
      <p:sp>
        <p:nvSpPr>
          <p:cNvPr id="13315" name="Rectangle 4">
            <a:extLst>
              <a:ext uri="{FF2B5EF4-FFF2-40B4-BE49-F238E27FC236}">
                <a16:creationId xmlns:a16="http://schemas.microsoft.com/office/drawing/2014/main" id="{173E005E-8164-4F81-87BF-43EE70503EE6}"/>
              </a:ext>
            </a:extLst>
          </p:cNvPr>
          <p:cNvSpPr>
            <a:spLocks noChangeArrowheads="1"/>
          </p:cNvSpPr>
          <p:nvPr/>
        </p:nvSpPr>
        <p:spPr bwMode="auto">
          <a:xfrm>
            <a:off x="5638800" y="1981200"/>
            <a:ext cx="3390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chemeClr val="accent2"/>
                </a:solidFill>
              </a:rPr>
              <a:t>Altered amino acid sequences</a:t>
            </a:r>
            <a:endParaRPr lang="en-US" altLang="zh-CN" sz="3200" b="1">
              <a:solidFill>
                <a:schemeClr val="accent2"/>
              </a:solidFill>
            </a:endParaRPr>
          </a:p>
        </p:txBody>
      </p:sp>
      <p:sp>
        <p:nvSpPr>
          <p:cNvPr id="13316" name="Line 5">
            <a:extLst>
              <a:ext uri="{FF2B5EF4-FFF2-40B4-BE49-F238E27FC236}">
                <a16:creationId xmlns:a16="http://schemas.microsoft.com/office/drawing/2014/main" id="{AD0D1870-B5BA-418A-83F0-7237B63F65C2}"/>
              </a:ext>
            </a:extLst>
          </p:cNvPr>
          <p:cNvSpPr>
            <a:spLocks noChangeShapeType="1"/>
          </p:cNvSpPr>
          <p:nvPr/>
        </p:nvSpPr>
        <p:spPr bwMode="auto">
          <a:xfrm>
            <a:off x="5410200" y="1905000"/>
            <a:ext cx="3505200"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7" name="Line 6">
            <a:extLst>
              <a:ext uri="{FF2B5EF4-FFF2-40B4-BE49-F238E27FC236}">
                <a16:creationId xmlns:a16="http://schemas.microsoft.com/office/drawing/2014/main" id="{98276B18-D180-4C80-8BD4-CCB193C6878A}"/>
              </a:ext>
            </a:extLst>
          </p:cNvPr>
          <p:cNvSpPr>
            <a:spLocks noChangeShapeType="1"/>
          </p:cNvSpPr>
          <p:nvPr/>
        </p:nvSpPr>
        <p:spPr bwMode="auto">
          <a:xfrm>
            <a:off x="4191000" y="3048000"/>
            <a:ext cx="4953000"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3318" name="Picture 7" descr="&#10;F27-03.GIF004                                                  00006E11Sumanas' Hard Drive            B4EBCDA7:">
            <a:extLst>
              <a:ext uri="{FF2B5EF4-FFF2-40B4-BE49-F238E27FC236}">
                <a16:creationId xmlns:a16="http://schemas.microsoft.com/office/drawing/2014/main" id="{F4402197-8E62-4BC0-9A64-A465C907F5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28600"/>
            <a:ext cx="861060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7583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10;F27-04.GIF005                                                  00006E11Sumanas' Hard Drive            B4EBCDA7:">
            <a:extLst>
              <a:ext uri="{FF2B5EF4-FFF2-40B4-BE49-F238E27FC236}">
                <a16:creationId xmlns:a16="http://schemas.microsoft.com/office/drawing/2014/main" id="{45801FBC-911D-42D2-AE5A-0B3A7DF52C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143000"/>
            <a:ext cx="8686800"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7812360" y="980728"/>
            <a:ext cx="720080" cy="1015663"/>
          </a:xfrm>
          <a:prstGeom prst="rect">
            <a:avLst/>
          </a:prstGeom>
          <a:noFill/>
        </p:spPr>
        <p:txBody>
          <a:bodyPr wrap="square" rtlCol="0">
            <a:spAutoFit/>
          </a:bodyPr>
          <a:lstStyle/>
          <a:p>
            <a:r>
              <a:rPr lang="zh-CN" altLang="en-US" sz="6000" dirty="0">
                <a:solidFill>
                  <a:srgbClr val="FF0000"/>
                </a:solidFill>
                <a:effectLst>
                  <a:outerShdw blurRad="38100" dist="38100" dir="2700000" algn="tl">
                    <a:srgbClr val="000000">
                      <a:alpha val="43137"/>
                    </a:srgbClr>
                  </a:outerShdw>
                </a:effectLst>
              </a:rPr>
              <a:t>√</a:t>
            </a:r>
          </a:p>
        </p:txBody>
      </p:sp>
      <p:sp>
        <p:nvSpPr>
          <p:cNvPr id="4" name="TextBox 3"/>
          <p:cNvSpPr txBox="1"/>
          <p:nvPr/>
        </p:nvSpPr>
        <p:spPr>
          <a:xfrm>
            <a:off x="7884368" y="2276872"/>
            <a:ext cx="504056" cy="769441"/>
          </a:xfrm>
          <a:prstGeom prst="rect">
            <a:avLst/>
          </a:prstGeom>
          <a:noFill/>
        </p:spPr>
        <p:txBody>
          <a:bodyPr wrap="square" rtlCol="0">
            <a:spAutoFit/>
          </a:bodyPr>
          <a:lstStyle/>
          <a:p>
            <a:r>
              <a:rPr lang="en-US" altLang="zh-CN" sz="4400" b="1" dirty="0">
                <a:solidFill>
                  <a:srgbClr val="FF0000"/>
                </a:solidFill>
              </a:rPr>
              <a:t>X</a:t>
            </a:r>
            <a:endParaRPr lang="zh-CN" altLang="en-US" sz="4400" b="1" dirty="0">
              <a:solidFill>
                <a:srgbClr val="FF0000"/>
              </a:solidFill>
            </a:endParaRPr>
          </a:p>
        </p:txBody>
      </p:sp>
    </p:spTree>
    <p:extLst>
      <p:ext uri="{BB962C8B-B14F-4D97-AF65-F5344CB8AC3E}">
        <p14:creationId xmlns:p14="http://schemas.microsoft.com/office/powerpoint/2010/main" val="99611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5E20BF92-5170-4CB8-93AB-E52527BB4C60}"/>
              </a:ext>
            </a:extLst>
          </p:cNvPr>
          <p:cNvSpPr>
            <a:spLocks noChangeArrowheads="1"/>
          </p:cNvSpPr>
          <p:nvPr/>
        </p:nvSpPr>
        <p:spPr bwMode="auto">
          <a:xfrm>
            <a:off x="304800" y="2832100"/>
            <a:ext cx="8836586" cy="1754326"/>
          </a:xfrm>
          <a:prstGeom prst="rect">
            <a:avLst/>
          </a:prstGeom>
          <a:noFill/>
          <a:ln w="9525">
            <a:noFill/>
            <a:miter lim="800000"/>
            <a:headEnd/>
            <a:tailEnd/>
          </a:ln>
        </p:spPr>
        <p:txBody>
          <a:bodyPr wrap="none">
            <a:spAutoFit/>
          </a:bodyPr>
          <a:lstStyle/>
          <a:p>
            <a:pPr>
              <a:defRPr/>
            </a:pPr>
            <a:r>
              <a:rPr lang="en-US" altLang="zh-CN" sz="3600" b="1" dirty="0">
                <a:solidFill>
                  <a:schemeClr val="accent5">
                    <a:lumMod val="50000"/>
                  </a:schemeClr>
                </a:solidFill>
              </a:rPr>
              <a:t>Each mRNA molecule would have three</a:t>
            </a:r>
          </a:p>
          <a:p>
            <a:pPr>
              <a:defRPr/>
            </a:pPr>
            <a:r>
              <a:rPr lang="en-US" altLang="zh-CN" sz="3600" b="1" dirty="0">
                <a:solidFill>
                  <a:schemeClr val="accent5">
                    <a:lumMod val="50000"/>
                  </a:schemeClr>
                </a:solidFill>
              </a:rPr>
              <a:t>potential </a:t>
            </a:r>
            <a:r>
              <a:rPr lang="en-US" altLang="zh-CN" sz="3600" b="1" dirty="0">
                <a:solidFill>
                  <a:schemeClr val="accent5">
                    <a:lumMod val="50000"/>
                  </a:schemeClr>
                </a:solidFill>
                <a:effectLst>
                  <a:outerShdw blurRad="38100" dist="38100" dir="2700000" algn="tl">
                    <a:srgbClr val="000000"/>
                  </a:outerShdw>
                </a:effectLst>
              </a:rPr>
              <a:t>reading frames</a:t>
            </a:r>
            <a:r>
              <a:rPr lang="en-US" altLang="zh-CN" sz="3600" b="1" dirty="0">
                <a:solidFill>
                  <a:schemeClr val="accent5">
                    <a:lumMod val="50000"/>
                  </a:schemeClr>
                </a:solidFill>
              </a:rPr>
              <a:t> (</a:t>
            </a:r>
            <a:r>
              <a:rPr lang="en-US" altLang="zh-CN" sz="3600" b="1" i="1" dirty="0">
                <a:solidFill>
                  <a:schemeClr val="accent5">
                    <a:lumMod val="50000"/>
                  </a:schemeClr>
                </a:solidFill>
              </a:rPr>
              <a:t>but only one</a:t>
            </a:r>
          </a:p>
          <a:p>
            <a:pPr>
              <a:defRPr/>
            </a:pPr>
            <a:r>
              <a:rPr lang="en-US" altLang="zh-CN" sz="3600" b="1" i="1" dirty="0">
                <a:solidFill>
                  <a:schemeClr val="accent5">
                    <a:lumMod val="50000"/>
                  </a:schemeClr>
                </a:solidFill>
              </a:rPr>
              <a:t>usually codes for a polypeptide chain</a:t>
            </a:r>
            <a:r>
              <a:rPr lang="en-US" altLang="zh-CN" sz="3600" b="1" dirty="0">
                <a:solidFill>
                  <a:schemeClr val="accent5">
                    <a:lumMod val="50000"/>
                  </a:schemeClr>
                </a:solidFill>
              </a:rPr>
              <a:t>) .</a:t>
            </a:r>
          </a:p>
        </p:txBody>
      </p:sp>
      <p:pic>
        <p:nvPicPr>
          <p:cNvPr id="15363" name="Picture 4" descr="F27-05.0.GIF006                                                00006E11Sumanas' Hard Drive            B4EBCDA7:">
            <a:extLst>
              <a:ext uri="{FF2B5EF4-FFF2-40B4-BE49-F238E27FC236}">
                <a16:creationId xmlns:a16="http://schemas.microsoft.com/office/drawing/2014/main" id="{54A7511D-BB3D-46DC-8222-2EC839277E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838200"/>
            <a:ext cx="9067800"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7116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9A24367-B839-4328-AF9D-6560E6AC5DF5}"/>
              </a:ext>
            </a:extLst>
          </p:cNvPr>
          <p:cNvSpPr txBox="1"/>
          <p:nvPr/>
        </p:nvSpPr>
        <p:spPr>
          <a:xfrm>
            <a:off x="683568" y="188640"/>
            <a:ext cx="3888432" cy="369332"/>
          </a:xfrm>
          <a:prstGeom prst="rect">
            <a:avLst/>
          </a:prstGeom>
          <a:noFill/>
        </p:spPr>
        <p:txBody>
          <a:bodyPr wrap="square" rtlCol="0">
            <a:spAutoFit/>
          </a:bodyPr>
          <a:lstStyle/>
          <a:p>
            <a:r>
              <a:rPr lang="en-US" altLang="zh-CN" dirty="0"/>
              <a:t>Arabidopsis </a:t>
            </a:r>
            <a:r>
              <a:rPr lang="en-US" altLang="zh-CN" dirty="0" err="1"/>
              <a:t>Argonaute</a:t>
            </a:r>
            <a:r>
              <a:rPr lang="en-US" altLang="zh-CN" dirty="0"/>
              <a:t> 1 (AGO 1) </a:t>
            </a:r>
            <a:endParaRPr lang="zh-CN" altLang="en-US" dirty="0"/>
          </a:p>
        </p:txBody>
      </p:sp>
      <p:pic>
        <p:nvPicPr>
          <p:cNvPr id="6" name="图片 5">
            <a:extLst>
              <a:ext uri="{FF2B5EF4-FFF2-40B4-BE49-F238E27FC236}">
                <a16:creationId xmlns:a16="http://schemas.microsoft.com/office/drawing/2014/main" id="{81D9F54C-1E24-4B76-9A82-D706BD71BE2D}"/>
              </a:ext>
            </a:extLst>
          </p:cNvPr>
          <p:cNvPicPr>
            <a:picLocks noChangeAspect="1"/>
          </p:cNvPicPr>
          <p:nvPr/>
        </p:nvPicPr>
        <p:blipFill>
          <a:blip r:embed="rId3" cstate="print"/>
          <a:stretch>
            <a:fillRect/>
          </a:stretch>
        </p:blipFill>
        <p:spPr>
          <a:xfrm>
            <a:off x="755576" y="557972"/>
            <a:ext cx="6876256" cy="4561184"/>
          </a:xfrm>
          <a:prstGeom prst="rect">
            <a:avLst/>
          </a:prstGeom>
        </p:spPr>
      </p:pic>
      <p:sp>
        <p:nvSpPr>
          <p:cNvPr id="7" name="文本框 6">
            <a:extLst>
              <a:ext uri="{FF2B5EF4-FFF2-40B4-BE49-F238E27FC236}">
                <a16:creationId xmlns:a16="http://schemas.microsoft.com/office/drawing/2014/main" id="{256B8681-8367-4B63-B59D-23F0214F57E3}"/>
              </a:ext>
            </a:extLst>
          </p:cNvPr>
          <p:cNvSpPr txBox="1"/>
          <p:nvPr/>
        </p:nvSpPr>
        <p:spPr>
          <a:xfrm>
            <a:off x="2915816" y="5733256"/>
            <a:ext cx="3024336" cy="369332"/>
          </a:xfrm>
          <a:prstGeom prst="rect">
            <a:avLst/>
          </a:prstGeom>
          <a:noFill/>
        </p:spPr>
        <p:txBody>
          <a:bodyPr wrap="square" rtlCol="0">
            <a:spAutoFit/>
          </a:bodyPr>
          <a:lstStyle/>
          <a:p>
            <a:r>
              <a:rPr lang="en-US" altLang="zh-CN" i="1" dirty="0"/>
              <a:t>ago1</a:t>
            </a:r>
            <a:r>
              <a:rPr lang="en-US" altLang="zh-CN" dirty="0"/>
              <a:t> mutant phenotype</a:t>
            </a:r>
            <a:endParaRPr lang="zh-CN" altLang="en-US" dirty="0"/>
          </a:p>
        </p:txBody>
      </p:sp>
      <p:sp>
        <p:nvSpPr>
          <p:cNvPr id="2" name="文本框 1">
            <a:extLst>
              <a:ext uri="{FF2B5EF4-FFF2-40B4-BE49-F238E27FC236}">
                <a16:creationId xmlns:a16="http://schemas.microsoft.com/office/drawing/2014/main" id="{D503708B-B76B-4FA1-93DE-9AD48FA35E7F}"/>
              </a:ext>
            </a:extLst>
          </p:cNvPr>
          <p:cNvSpPr txBox="1"/>
          <p:nvPr/>
        </p:nvSpPr>
        <p:spPr>
          <a:xfrm>
            <a:off x="1259632" y="5044534"/>
            <a:ext cx="2088232" cy="369332"/>
          </a:xfrm>
          <a:prstGeom prst="rect">
            <a:avLst/>
          </a:prstGeom>
          <a:noFill/>
        </p:spPr>
        <p:txBody>
          <a:bodyPr wrap="square" rtlCol="0">
            <a:spAutoFit/>
          </a:bodyPr>
          <a:lstStyle/>
          <a:p>
            <a:r>
              <a:rPr lang="en-US" altLang="zh-CN" dirty="0"/>
              <a:t>WT      mutant</a:t>
            </a:r>
            <a:endParaRPr lang="zh-CN" altLang="en-US" dirty="0"/>
          </a:p>
        </p:txBody>
      </p:sp>
    </p:spTree>
    <p:extLst>
      <p:ext uri="{BB962C8B-B14F-4D97-AF65-F5344CB8AC3E}">
        <p14:creationId xmlns:p14="http://schemas.microsoft.com/office/powerpoint/2010/main" val="3807601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6FABB69-CFB9-4AAD-B85D-82B81935E403}"/>
              </a:ext>
            </a:extLst>
          </p:cNvPr>
          <p:cNvPicPr>
            <a:picLocks noChangeAspect="1"/>
          </p:cNvPicPr>
          <p:nvPr/>
        </p:nvPicPr>
        <p:blipFill rotWithShape="1">
          <a:blip r:embed="rId3" cstate="print"/>
          <a:srcRect l="15351" t="15001" r="53087" b="53397"/>
          <a:stretch/>
        </p:blipFill>
        <p:spPr>
          <a:xfrm>
            <a:off x="323527" y="332656"/>
            <a:ext cx="8566013" cy="5904656"/>
          </a:xfrm>
          <a:prstGeom prst="rect">
            <a:avLst/>
          </a:prstGeom>
        </p:spPr>
      </p:pic>
      <p:cxnSp>
        <p:nvCxnSpPr>
          <p:cNvPr id="4" name="直接连接符 3">
            <a:extLst>
              <a:ext uri="{FF2B5EF4-FFF2-40B4-BE49-F238E27FC236}">
                <a16:creationId xmlns:a16="http://schemas.microsoft.com/office/drawing/2014/main" id="{F3A561C6-676C-4DD9-8815-05CCB747F2F0}"/>
              </a:ext>
            </a:extLst>
          </p:cNvPr>
          <p:cNvCxnSpPr/>
          <p:nvPr/>
        </p:nvCxnSpPr>
        <p:spPr>
          <a:xfrm>
            <a:off x="1619672" y="1801691"/>
            <a:ext cx="30243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6CE7A8C5-1064-4E99-8CD6-21295D9EA6B4}"/>
              </a:ext>
            </a:extLst>
          </p:cNvPr>
          <p:cNvCxnSpPr/>
          <p:nvPr/>
        </p:nvCxnSpPr>
        <p:spPr>
          <a:xfrm>
            <a:off x="1792563" y="1844824"/>
            <a:ext cx="3024336" cy="0"/>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767FDE36-BB78-43FA-B0F4-B076BD9F884B}"/>
              </a:ext>
            </a:extLst>
          </p:cNvPr>
          <p:cNvCxnSpPr/>
          <p:nvPr/>
        </p:nvCxnSpPr>
        <p:spPr>
          <a:xfrm>
            <a:off x="1888454" y="1796699"/>
            <a:ext cx="3024336" cy="0"/>
          </a:xfrm>
          <a:prstGeom prst="line">
            <a:avLst/>
          </a:prstGeom>
          <a:ln w="28575">
            <a:solidFill>
              <a:srgbClr val="000099"/>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29B3893E-A1A1-4A57-81FC-2360A74EBE0A}"/>
              </a:ext>
            </a:extLst>
          </p:cNvPr>
          <p:cNvCxnSpPr/>
          <p:nvPr/>
        </p:nvCxnSpPr>
        <p:spPr>
          <a:xfrm>
            <a:off x="1772072" y="2046590"/>
            <a:ext cx="30243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FB88E36C-491E-454A-BC73-A8A146B7034D}"/>
              </a:ext>
            </a:extLst>
          </p:cNvPr>
          <p:cNvCxnSpPr/>
          <p:nvPr/>
        </p:nvCxnSpPr>
        <p:spPr>
          <a:xfrm>
            <a:off x="1835696" y="2348880"/>
            <a:ext cx="3024336" cy="0"/>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8ED72F5-EE22-42D9-B957-18D70ABC5471}"/>
              </a:ext>
            </a:extLst>
          </p:cNvPr>
          <p:cNvCxnSpPr/>
          <p:nvPr/>
        </p:nvCxnSpPr>
        <p:spPr>
          <a:xfrm>
            <a:off x="1990247" y="2627287"/>
            <a:ext cx="3024336" cy="0"/>
          </a:xfrm>
          <a:prstGeom prst="line">
            <a:avLst/>
          </a:prstGeom>
          <a:ln w="28575">
            <a:solidFill>
              <a:srgbClr val="0000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690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DB84931-8130-4DEC-89BC-57AD557F7F13}"/>
              </a:ext>
            </a:extLst>
          </p:cNvPr>
          <p:cNvSpPr>
            <a:spLocks noGrp="1" noChangeArrowheads="1"/>
          </p:cNvSpPr>
          <p:nvPr>
            <p:ph type="title" idx="4294967295"/>
          </p:nvPr>
        </p:nvSpPr>
        <p:spPr>
          <a:xfrm>
            <a:off x="0" y="197768"/>
            <a:ext cx="9144000" cy="1143000"/>
          </a:xfrm>
        </p:spPr>
        <p:txBody>
          <a:bodyPr/>
          <a:lstStyle/>
          <a:p>
            <a:pPr eaLnBrk="1" hangingPunct="1"/>
            <a:r>
              <a:rPr lang="en-US" altLang="zh-CN" sz="4000" b="1" dirty="0">
                <a:solidFill>
                  <a:schemeClr val="accent2">
                    <a:lumMod val="75000"/>
                  </a:schemeClr>
                </a:solidFill>
              </a:rPr>
              <a:t>2. All 64 triplet codes were deciphered by 1966</a:t>
            </a:r>
          </a:p>
        </p:txBody>
      </p:sp>
      <p:sp>
        <p:nvSpPr>
          <p:cNvPr id="25603" name="Rectangle 3">
            <a:extLst>
              <a:ext uri="{FF2B5EF4-FFF2-40B4-BE49-F238E27FC236}">
                <a16:creationId xmlns:a16="http://schemas.microsoft.com/office/drawing/2014/main" id="{E9BCE070-F1EB-408C-8060-1BB78AA8A959}"/>
              </a:ext>
            </a:extLst>
          </p:cNvPr>
          <p:cNvSpPr>
            <a:spLocks noGrp="1" noChangeArrowheads="1"/>
          </p:cNvSpPr>
          <p:nvPr>
            <p:ph type="body" idx="4294967295"/>
          </p:nvPr>
        </p:nvSpPr>
        <p:spPr>
          <a:xfrm>
            <a:off x="0" y="1484784"/>
            <a:ext cx="9144000" cy="4648200"/>
          </a:xfrm>
        </p:spPr>
        <p:txBody>
          <a:bodyPr/>
          <a:lstStyle/>
          <a:p>
            <a:pPr eaLnBrk="1" hangingPunct="1">
              <a:lnSpc>
                <a:spcPct val="90000"/>
              </a:lnSpc>
              <a:defRPr/>
            </a:pPr>
            <a:r>
              <a:rPr lang="en-US" altLang="zh-CN" sz="2800" dirty="0"/>
              <a:t>61 of the codons code for the 20 amino acids and three (</a:t>
            </a:r>
            <a:r>
              <a:rPr lang="en-US" altLang="zh-CN" sz="2800" b="1" dirty="0">
                <a:solidFill>
                  <a:srgbClr val="FF0000"/>
                </a:solidFill>
              </a:rPr>
              <a:t>UAA, UAG, UGA</a:t>
            </a:r>
            <a:r>
              <a:rPr lang="en-US" altLang="zh-CN" sz="2800" dirty="0"/>
              <a:t>) for chain termination (called </a:t>
            </a:r>
            <a:r>
              <a:rPr lang="en-US" altLang="zh-CN" sz="2800" b="1" dirty="0">
                <a:solidFill>
                  <a:schemeClr val="accent2">
                    <a:lumMod val="75000"/>
                  </a:schemeClr>
                </a:solidFill>
                <a:effectLst>
                  <a:outerShdw blurRad="38100" dist="38100" dir="2700000" algn="tl">
                    <a:srgbClr val="000000"/>
                  </a:outerShdw>
                </a:effectLst>
              </a:rPr>
              <a:t>termination codons</a:t>
            </a:r>
            <a:r>
              <a:rPr lang="en-US" altLang="zh-CN" sz="2800" dirty="0"/>
              <a:t>, stop codons, or nonsense codons).</a:t>
            </a:r>
          </a:p>
          <a:p>
            <a:pPr eaLnBrk="1" hangingPunct="1">
              <a:lnSpc>
                <a:spcPct val="90000"/>
              </a:lnSpc>
              <a:defRPr/>
            </a:pPr>
            <a:r>
              <a:rPr lang="en-US" altLang="zh-CN" sz="2800" b="1" dirty="0">
                <a:solidFill>
                  <a:schemeClr val="accent2">
                    <a:lumMod val="75000"/>
                  </a:schemeClr>
                </a:solidFill>
                <a:effectLst>
                  <a:outerShdw blurRad="38100" dist="38100" dir="2700000" algn="tl">
                    <a:srgbClr val="000000"/>
                  </a:outerShdw>
                </a:effectLst>
              </a:rPr>
              <a:t>AUG</a:t>
            </a:r>
            <a:r>
              <a:rPr lang="en-US" altLang="zh-CN" sz="2800" dirty="0">
                <a:solidFill>
                  <a:schemeClr val="accent2">
                    <a:lumMod val="75000"/>
                  </a:schemeClr>
                </a:solidFill>
              </a:rPr>
              <a:t> </a:t>
            </a:r>
            <a:r>
              <a:rPr lang="en-US" altLang="zh-CN" sz="2800" dirty="0"/>
              <a:t>is a dual codon coding for initiation and Met.</a:t>
            </a:r>
          </a:p>
          <a:p>
            <a:pPr eaLnBrk="1" hangingPunct="1">
              <a:lnSpc>
                <a:spcPct val="90000"/>
              </a:lnSpc>
              <a:defRPr/>
            </a:pPr>
            <a:r>
              <a:rPr lang="en-US" altLang="zh-CN" sz="2800" b="1" dirty="0">
                <a:solidFill>
                  <a:srgbClr val="FF0000"/>
                </a:solidFill>
              </a:rPr>
              <a:t>18 of the amino acids are coded by more than one codon</a:t>
            </a:r>
            <a:r>
              <a:rPr lang="en-US" altLang="zh-CN" sz="2800" dirty="0"/>
              <a:t>: the genetic codes are </a:t>
            </a:r>
            <a:r>
              <a:rPr lang="en-US" altLang="zh-CN" sz="2800" b="1" dirty="0">
                <a:solidFill>
                  <a:schemeClr val="accent2">
                    <a:lumMod val="75000"/>
                  </a:schemeClr>
                </a:solidFill>
                <a:effectLst>
                  <a:outerShdw blurRad="38100" dist="38100" dir="2700000" algn="tl">
                    <a:srgbClr val="000000"/>
                  </a:outerShdw>
                </a:effectLst>
              </a:rPr>
              <a:t>degenerate </a:t>
            </a:r>
            <a:r>
              <a:rPr lang="en-US" altLang="zh-CN" sz="2000" b="1" dirty="0">
                <a:solidFill>
                  <a:schemeClr val="accent2">
                    <a:lumMod val="75000"/>
                  </a:schemeClr>
                </a:solidFill>
                <a:effectLst>
                  <a:outerShdw blurRad="38100" dist="38100" dir="2700000" algn="tl">
                    <a:srgbClr val="000000"/>
                  </a:outerShdw>
                </a:effectLst>
              </a:rPr>
              <a:t>(</a:t>
            </a:r>
            <a:r>
              <a:rPr lang="zh-CN" altLang="en-US" sz="2000" b="1" dirty="0">
                <a:solidFill>
                  <a:schemeClr val="accent2">
                    <a:lumMod val="75000"/>
                  </a:schemeClr>
                </a:solidFill>
                <a:effectLst>
                  <a:outerShdw blurRad="38100" dist="38100" dir="2700000" algn="tl">
                    <a:srgbClr val="000000"/>
                  </a:outerShdw>
                </a:effectLst>
              </a:rPr>
              <a:t>兼并性）</a:t>
            </a:r>
            <a:r>
              <a:rPr lang="en-US" altLang="zh-CN" sz="2800" dirty="0"/>
              <a:t>. (Having more than one codon specify the same amino acid.)</a:t>
            </a:r>
          </a:p>
          <a:p>
            <a:pPr eaLnBrk="1" hangingPunct="1">
              <a:lnSpc>
                <a:spcPct val="90000"/>
              </a:lnSpc>
              <a:defRPr/>
            </a:pPr>
            <a:r>
              <a:rPr lang="en-US" altLang="zh-CN" sz="2800" dirty="0" err="1"/>
              <a:t>Condons</a:t>
            </a:r>
            <a:r>
              <a:rPr lang="en-US" altLang="zh-CN" sz="2800" dirty="0"/>
              <a:t> that specify the same amino acid (</a:t>
            </a:r>
            <a:r>
              <a:rPr lang="en-US" altLang="zh-CN" sz="2800" b="1" dirty="0">
                <a:solidFill>
                  <a:schemeClr val="accent2">
                    <a:lumMod val="75000"/>
                  </a:schemeClr>
                </a:solidFill>
              </a:rPr>
              <a:t>synonyms</a:t>
            </a:r>
            <a:r>
              <a:rPr lang="en-US" altLang="zh-CN" sz="2800" dirty="0"/>
              <a:t>) </a:t>
            </a:r>
            <a:r>
              <a:rPr lang="en-US" altLang="zh-CN" sz="2800" b="1" dirty="0">
                <a:solidFill>
                  <a:srgbClr val="FF0000"/>
                </a:solidFill>
              </a:rPr>
              <a:t>often differ only in the third base</a:t>
            </a:r>
            <a:r>
              <a:rPr lang="en-US" altLang="zh-CN" sz="2800" dirty="0"/>
              <a:t>, the </a:t>
            </a:r>
            <a:r>
              <a:rPr lang="en-US" altLang="zh-CN" sz="2800" b="1" dirty="0">
                <a:solidFill>
                  <a:schemeClr val="accent2">
                    <a:lumMod val="75000"/>
                  </a:schemeClr>
                </a:solidFill>
              </a:rPr>
              <a:t>wobble</a:t>
            </a:r>
            <a:r>
              <a:rPr lang="zh-CN" altLang="en-US" sz="2000" dirty="0"/>
              <a:t>（变偶</a:t>
            </a:r>
            <a:r>
              <a:rPr lang="en-US" altLang="zh-CN" sz="2000" dirty="0"/>
              <a:t>or </a:t>
            </a:r>
            <a:r>
              <a:rPr lang="zh-CN" altLang="en-US" sz="2000" dirty="0"/>
              <a:t>摆动）</a:t>
            </a:r>
            <a:r>
              <a:rPr lang="en-US" altLang="zh-CN" sz="2800" dirty="0"/>
              <a:t>position, where base-pairing with the anticodon may be less stringent than for the first two positions of the </a:t>
            </a:r>
            <a:r>
              <a:rPr lang="en-US" altLang="zh-CN" sz="2800" dirty="0" err="1"/>
              <a:t>condon</a:t>
            </a:r>
            <a:r>
              <a:rPr lang="en-US" altLang="zh-CN" sz="2800" dirty="0"/>
              <a:t>.</a:t>
            </a:r>
          </a:p>
        </p:txBody>
      </p:sp>
    </p:spTree>
    <p:extLst>
      <p:ext uri="{BB962C8B-B14F-4D97-AF65-F5344CB8AC3E}">
        <p14:creationId xmlns:p14="http://schemas.microsoft.com/office/powerpoint/2010/main" val="993505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74D40E7-3D48-4031-A90D-EDEF1102343A}"/>
              </a:ext>
            </a:extLst>
          </p:cNvPr>
          <p:cNvSpPr>
            <a:spLocks noGrp="1" noChangeArrowheads="1"/>
          </p:cNvSpPr>
          <p:nvPr>
            <p:ph type="title" idx="4294967295"/>
          </p:nvPr>
        </p:nvSpPr>
        <p:spPr>
          <a:xfrm flipV="1">
            <a:off x="0" y="1752600"/>
            <a:ext cx="7772400" cy="152400"/>
          </a:xfrm>
        </p:spPr>
        <p:txBody>
          <a:bodyPr/>
          <a:lstStyle/>
          <a:p>
            <a:pPr eaLnBrk="1" hangingPunct="1"/>
            <a:r>
              <a:rPr lang="en-US" altLang="zh-CN"/>
              <a:t> </a:t>
            </a:r>
          </a:p>
        </p:txBody>
      </p:sp>
      <p:sp>
        <p:nvSpPr>
          <p:cNvPr id="26627" name="Rectangle 3">
            <a:extLst>
              <a:ext uri="{FF2B5EF4-FFF2-40B4-BE49-F238E27FC236}">
                <a16:creationId xmlns:a16="http://schemas.microsoft.com/office/drawing/2014/main" id="{60962BDB-627A-493A-B33E-1EF32F4FB1C7}"/>
              </a:ext>
            </a:extLst>
          </p:cNvPr>
          <p:cNvSpPr>
            <a:spLocks noGrp="1" noChangeArrowheads="1"/>
          </p:cNvSpPr>
          <p:nvPr>
            <p:ph type="body" idx="4294967295"/>
          </p:nvPr>
        </p:nvSpPr>
        <p:spPr>
          <a:xfrm>
            <a:off x="0" y="381000"/>
            <a:ext cx="8534400" cy="4800600"/>
          </a:xfrm>
        </p:spPr>
        <p:txBody>
          <a:bodyPr/>
          <a:lstStyle/>
          <a:p>
            <a:pPr eaLnBrk="1" hangingPunct="1">
              <a:defRPr/>
            </a:pPr>
            <a:r>
              <a:rPr lang="en-US" altLang="zh-CN" dirty="0"/>
              <a:t>The codes seem to have evolved in such a way to minimize the deleterious effects of mutations, especially at the third bases: </a:t>
            </a:r>
            <a:r>
              <a:rPr lang="en-US" altLang="zh-CN" b="1" dirty="0">
                <a:solidFill>
                  <a:srgbClr val="FF0000"/>
                </a:solidFill>
              </a:rPr>
              <a:t>XYU and XYC </a:t>
            </a:r>
            <a:r>
              <a:rPr lang="en-US" altLang="zh-CN" dirty="0"/>
              <a:t>always encode the same amino acid </a:t>
            </a:r>
            <a:r>
              <a:rPr lang="en-US" altLang="zh-CN" b="1" dirty="0">
                <a:solidFill>
                  <a:srgbClr val="FF0000"/>
                </a:solidFill>
              </a:rPr>
              <a:t>XYA and XYG</a:t>
            </a:r>
            <a:r>
              <a:rPr lang="en-US" altLang="zh-CN" dirty="0">
                <a:solidFill>
                  <a:srgbClr val="FF0000"/>
                </a:solidFill>
              </a:rPr>
              <a:t> </a:t>
            </a:r>
            <a:r>
              <a:rPr lang="en-US" altLang="zh-CN" dirty="0"/>
              <a:t>usually code for the </a:t>
            </a:r>
            <a:r>
              <a:rPr lang="en-US" altLang="zh-CN" b="1" dirty="0">
                <a:solidFill>
                  <a:srgbClr val="FF0000"/>
                </a:solidFill>
              </a:rPr>
              <a:t>same amino acid</a:t>
            </a:r>
            <a:r>
              <a:rPr lang="en-US" altLang="zh-CN" dirty="0"/>
              <a:t>. </a:t>
            </a:r>
          </a:p>
          <a:p>
            <a:pPr eaLnBrk="1" hangingPunct="1">
              <a:defRPr/>
            </a:pPr>
            <a:r>
              <a:rPr lang="en-US" altLang="zh-CN" dirty="0"/>
              <a:t>A reading frame codes for </a:t>
            </a:r>
            <a:r>
              <a:rPr lang="en-US" altLang="zh-CN" b="1" dirty="0">
                <a:solidFill>
                  <a:srgbClr val="FF0000"/>
                </a:solidFill>
              </a:rPr>
              <a:t>more than 50 </a:t>
            </a:r>
            <a:r>
              <a:rPr lang="en-US" altLang="zh-CN" dirty="0"/>
              <a:t>amino acids without a stop codon is called an </a:t>
            </a:r>
            <a:r>
              <a:rPr lang="en-US" altLang="zh-CN" b="1" dirty="0">
                <a:solidFill>
                  <a:srgbClr val="FF0000"/>
                </a:solidFill>
                <a:effectLst>
                  <a:outerShdw blurRad="38100" dist="38100" dir="2700000" algn="tl">
                    <a:srgbClr val="000000"/>
                  </a:outerShdw>
                </a:effectLst>
              </a:rPr>
              <a:t>open reading frame(ORF)</a:t>
            </a:r>
            <a:r>
              <a:rPr lang="en-US" altLang="zh-CN" dirty="0"/>
              <a:t>, which has the potential of encoding a protein.</a:t>
            </a:r>
          </a:p>
        </p:txBody>
      </p:sp>
    </p:spTree>
    <p:extLst>
      <p:ext uri="{BB962C8B-B14F-4D97-AF65-F5344CB8AC3E}">
        <p14:creationId xmlns:p14="http://schemas.microsoft.com/office/powerpoint/2010/main" val="1713063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026">
            <a:extLst>
              <a:ext uri="{FF2B5EF4-FFF2-40B4-BE49-F238E27FC236}">
                <a16:creationId xmlns:a16="http://schemas.microsoft.com/office/drawing/2014/main" id="{839E55E6-5800-4510-AA0D-07E3481C04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000" t="9000" r="9000" b="9000"/>
          <a:stretch>
            <a:fillRect/>
          </a:stretch>
        </p:blipFill>
        <p:spPr bwMode="auto">
          <a:xfrm>
            <a:off x="381000" y="304800"/>
            <a:ext cx="8458200" cy="63436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B71D14E7-A1C3-41A5-9622-03E8EBDE790A}"/>
              </a:ext>
            </a:extLst>
          </p:cNvPr>
          <p:cNvSpPr/>
          <p:nvPr/>
        </p:nvSpPr>
        <p:spPr>
          <a:xfrm>
            <a:off x="6732240" y="1980456"/>
            <a:ext cx="432048" cy="288032"/>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576FF6D1-6AE3-4E6D-BA3B-EDBA45B76E91}"/>
              </a:ext>
            </a:extLst>
          </p:cNvPr>
          <p:cNvSpPr/>
          <p:nvPr/>
        </p:nvSpPr>
        <p:spPr>
          <a:xfrm>
            <a:off x="2064160" y="4725144"/>
            <a:ext cx="382284" cy="27795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6" name="Rectangle 1027">
            <a:extLst>
              <a:ext uri="{FF2B5EF4-FFF2-40B4-BE49-F238E27FC236}">
                <a16:creationId xmlns:a16="http://schemas.microsoft.com/office/drawing/2014/main" id="{0384FB82-2BA5-4570-B417-82B394A1D6F5}"/>
              </a:ext>
            </a:extLst>
          </p:cNvPr>
          <p:cNvSpPr>
            <a:spLocks noChangeArrowheads="1"/>
          </p:cNvSpPr>
          <p:nvPr/>
        </p:nvSpPr>
        <p:spPr bwMode="auto">
          <a:xfrm>
            <a:off x="381000" y="228600"/>
            <a:ext cx="1444626" cy="1384995"/>
          </a:xfrm>
          <a:prstGeom prst="rect">
            <a:avLst/>
          </a:prstGeom>
          <a:noFill/>
          <a:ln w="9525">
            <a:noFill/>
            <a:miter lim="800000"/>
            <a:headEnd/>
            <a:tailEnd/>
          </a:ln>
        </p:spPr>
        <p:txBody>
          <a:bodyPr wrap="none">
            <a:spAutoFit/>
          </a:bodyPr>
          <a:lstStyle/>
          <a:p>
            <a:pPr>
              <a:defRPr/>
            </a:pPr>
            <a:r>
              <a:rPr lang="en-US" altLang="zh-CN" sz="2800" b="1" dirty="0">
                <a:solidFill>
                  <a:srgbClr val="333399"/>
                </a:solidFill>
                <a:effectLst>
                  <a:outerShdw blurRad="38100" dist="38100" dir="2700000" algn="tl">
                    <a:srgbClr val="000000"/>
                  </a:outerShdw>
                </a:effectLst>
              </a:rPr>
              <a:t>All 64 </a:t>
            </a:r>
          </a:p>
          <a:p>
            <a:pPr>
              <a:defRPr/>
            </a:pPr>
            <a:r>
              <a:rPr lang="en-US" altLang="zh-CN" sz="2800" b="1" dirty="0">
                <a:solidFill>
                  <a:srgbClr val="333399"/>
                </a:solidFill>
                <a:effectLst>
                  <a:outerShdw blurRad="38100" dist="38100" dir="2700000" algn="tl">
                    <a:srgbClr val="000000"/>
                  </a:outerShdw>
                </a:effectLst>
              </a:rPr>
              <a:t>genetic</a:t>
            </a:r>
          </a:p>
          <a:p>
            <a:pPr>
              <a:defRPr/>
            </a:pPr>
            <a:r>
              <a:rPr lang="en-US" altLang="zh-CN" sz="2800" b="1" dirty="0">
                <a:solidFill>
                  <a:srgbClr val="333399"/>
                </a:solidFill>
                <a:effectLst>
                  <a:outerShdw blurRad="38100" dist="38100" dir="2700000" algn="tl">
                    <a:srgbClr val="000000"/>
                  </a:outerShdw>
                </a:effectLst>
              </a:rPr>
              <a:t>codes</a:t>
            </a:r>
          </a:p>
        </p:txBody>
      </p:sp>
      <p:pic>
        <p:nvPicPr>
          <p:cNvPr id="2" name="图片 1">
            <a:hlinkClick r:id="rId4" action="ppaction://hlinksldjump"/>
            <a:extLst>
              <a:ext uri="{FF2B5EF4-FFF2-40B4-BE49-F238E27FC236}">
                <a16:creationId xmlns:a16="http://schemas.microsoft.com/office/drawing/2014/main" id="{F9EBE9C2-F8FA-4DB3-852F-63CC0DDBE268}"/>
              </a:ext>
            </a:extLst>
          </p:cNvPr>
          <p:cNvPicPr>
            <a:picLocks noChangeAspect="1"/>
          </p:cNvPicPr>
          <p:nvPr/>
        </p:nvPicPr>
        <p:blipFill>
          <a:blip r:embed="rId5" cstate="print"/>
          <a:stretch>
            <a:fillRect/>
          </a:stretch>
        </p:blipFill>
        <p:spPr>
          <a:xfrm>
            <a:off x="8759919" y="6573040"/>
            <a:ext cx="384081" cy="310923"/>
          </a:xfrm>
          <a:prstGeom prst="rect">
            <a:avLst/>
          </a:prstGeom>
        </p:spPr>
      </p:pic>
      <p:sp>
        <p:nvSpPr>
          <p:cNvPr id="9" name="矩形 8">
            <a:extLst>
              <a:ext uri="{FF2B5EF4-FFF2-40B4-BE49-F238E27FC236}">
                <a16:creationId xmlns:a16="http://schemas.microsoft.com/office/drawing/2014/main" id="{9FED1BC6-E4D2-459B-AB40-5EDB943874BE}"/>
              </a:ext>
            </a:extLst>
          </p:cNvPr>
          <p:cNvSpPr/>
          <p:nvPr/>
        </p:nvSpPr>
        <p:spPr>
          <a:xfrm>
            <a:off x="6762666" y="2808921"/>
            <a:ext cx="432048" cy="288032"/>
          </a:xfrm>
          <a:prstGeom prst="rect">
            <a:avLst/>
          </a:prstGeom>
          <a:noFill/>
          <a:ln>
            <a:solidFill>
              <a:srgbClr val="008000"/>
            </a:solidFill>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38BC88B5-AAF3-488F-856F-46D00060C970}"/>
              </a:ext>
            </a:extLst>
          </p:cNvPr>
          <p:cNvSpPr/>
          <p:nvPr/>
        </p:nvSpPr>
        <p:spPr>
          <a:xfrm>
            <a:off x="4196714" y="1441586"/>
            <a:ext cx="432048" cy="288032"/>
          </a:xfrm>
          <a:prstGeom prst="rect">
            <a:avLst/>
          </a:prstGeom>
          <a:noFill/>
          <a:ln>
            <a:solidFill>
              <a:srgbClr val="008000"/>
            </a:solidFill>
          </a:ln>
          <a:effectLst>
            <a:glow rad="101600">
              <a:schemeClr val="accent3">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300D7355-7FF8-4A59-ABC7-86E5468E8FC5}"/>
              </a:ext>
            </a:extLst>
          </p:cNvPr>
          <p:cNvSpPr/>
          <p:nvPr/>
        </p:nvSpPr>
        <p:spPr>
          <a:xfrm>
            <a:off x="2771800" y="1767372"/>
            <a:ext cx="432048" cy="288032"/>
          </a:xfrm>
          <a:prstGeom prst="rect">
            <a:avLst/>
          </a:prstGeom>
          <a:noFill/>
          <a:ln>
            <a:solidFill>
              <a:srgbClr val="008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45F3B409-CDC3-444D-8F8E-CDDEC40504A2}"/>
              </a:ext>
            </a:extLst>
          </p:cNvPr>
          <p:cNvSpPr/>
          <p:nvPr/>
        </p:nvSpPr>
        <p:spPr>
          <a:xfrm>
            <a:off x="2739549" y="2852936"/>
            <a:ext cx="432048" cy="288032"/>
          </a:xfrm>
          <a:prstGeom prst="rect">
            <a:avLst/>
          </a:prstGeom>
          <a:noFill/>
          <a:ln>
            <a:solidFill>
              <a:srgbClr val="008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D1B6DDA7-7E54-47D5-A2DC-1269DD7137BB}"/>
              </a:ext>
            </a:extLst>
          </p:cNvPr>
          <p:cNvSpPr/>
          <p:nvPr/>
        </p:nvSpPr>
        <p:spPr>
          <a:xfrm>
            <a:off x="6804248" y="4509120"/>
            <a:ext cx="432048" cy="288032"/>
          </a:xfrm>
          <a:prstGeom prst="rect">
            <a:avLst/>
          </a:prstGeom>
          <a:noFill/>
          <a:ln>
            <a:solidFill>
              <a:srgbClr val="008000"/>
            </a:solidFill>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BFB188EF-5BCF-4262-A3CF-E24E8E50CDCB}"/>
              </a:ext>
            </a:extLst>
          </p:cNvPr>
          <p:cNvSpPr/>
          <p:nvPr/>
        </p:nvSpPr>
        <p:spPr>
          <a:xfrm>
            <a:off x="6776255" y="3861048"/>
            <a:ext cx="432048" cy="288032"/>
          </a:xfrm>
          <a:prstGeom prst="rect">
            <a:avLst/>
          </a:prstGeom>
          <a:noFill/>
          <a:ln>
            <a:solidFill>
              <a:srgbClr val="008000"/>
            </a:solidFill>
          </a:ln>
          <a:effectLst>
            <a:glow rad="101600">
              <a:schemeClr val="accent3">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Tree>
    <p:extLst>
      <p:ext uri="{BB962C8B-B14F-4D97-AF65-F5344CB8AC3E}">
        <p14:creationId xmlns:p14="http://schemas.microsoft.com/office/powerpoint/2010/main" val="2191652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D:\holley.jpg">
            <a:extLst>
              <a:ext uri="{FF2B5EF4-FFF2-40B4-BE49-F238E27FC236}">
                <a16:creationId xmlns:a16="http://schemas.microsoft.com/office/drawing/2014/main" id="{BD017099-7000-42D8-BDD1-CDE69593F9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0"/>
            <a:ext cx="60674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a:extLst>
              <a:ext uri="{FF2B5EF4-FFF2-40B4-BE49-F238E27FC236}">
                <a16:creationId xmlns:a16="http://schemas.microsoft.com/office/drawing/2014/main" id="{17036788-F3B3-459E-9723-EC679473B03A}"/>
              </a:ext>
            </a:extLst>
          </p:cNvPr>
          <p:cNvSpPr>
            <a:spLocks noChangeArrowheads="1"/>
          </p:cNvSpPr>
          <p:nvPr/>
        </p:nvSpPr>
        <p:spPr bwMode="auto">
          <a:xfrm>
            <a:off x="5943600" y="1676400"/>
            <a:ext cx="14097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333399"/>
                </a:solidFill>
              </a:rPr>
              <a:t>Established </a:t>
            </a:r>
          </a:p>
          <a:p>
            <a:pPr eaLnBrk="1" hangingPunct="1"/>
            <a:r>
              <a:rPr lang="en-US" altLang="zh-CN" sz="1800" b="1">
                <a:solidFill>
                  <a:srgbClr val="333399"/>
                </a:solidFill>
              </a:rPr>
              <a:t>the chemical</a:t>
            </a:r>
          </a:p>
          <a:p>
            <a:pPr eaLnBrk="1" hangingPunct="1"/>
            <a:r>
              <a:rPr lang="en-US" altLang="zh-CN" sz="1800" b="1">
                <a:solidFill>
                  <a:srgbClr val="333399"/>
                </a:solidFill>
              </a:rPr>
              <a:t>structure of</a:t>
            </a:r>
          </a:p>
          <a:p>
            <a:pPr eaLnBrk="1" hangingPunct="1"/>
            <a:r>
              <a:rPr lang="en-US" altLang="zh-CN" sz="1800" b="1">
                <a:solidFill>
                  <a:srgbClr val="333399"/>
                </a:solidFill>
              </a:rPr>
              <a:t>tRNA</a:t>
            </a:r>
            <a:endParaRPr lang="en-US" altLang="zh-CN" sz="1800">
              <a:solidFill>
                <a:srgbClr val="333399"/>
              </a:solidFill>
            </a:endParaRPr>
          </a:p>
        </p:txBody>
      </p:sp>
      <p:sp>
        <p:nvSpPr>
          <p:cNvPr id="20484" name="Rectangle 4">
            <a:extLst>
              <a:ext uri="{FF2B5EF4-FFF2-40B4-BE49-F238E27FC236}">
                <a16:creationId xmlns:a16="http://schemas.microsoft.com/office/drawing/2014/main" id="{CFD45A75-68C2-400F-9CA1-36BA65621616}"/>
              </a:ext>
            </a:extLst>
          </p:cNvPr>
          <p:cNvSpPr>
            <a:spLocks noChangeArrowheads="1"/>
          </p:cNvSpPr>
          <p:nvPr/>
        </p:nvSpPr>
        <p:spPr bwMode="auto">
          <a:xfrm>
            <a:off x="6934200" y="4495800"/>
            <a:ext cx="2209800" cy="12954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485" name="Rectangle 5">
            <a:extLst>
              <a:ext uri="{FF2B5EF4-FFF2-40B4-BE49-F238E27FC236}">
                <a16:creationId xmlns:a16="http://schemas.microsoft.com/office/drawing/2014/main" id="{75B76124-079B-438C-92D5-4DBB5F7A8DE1}"/>
              </a:ext>
            </a:extLst>
          </p:cNvPr>
          <p:cNvSpPr>
            <a:spLocks noChangeArrowheads="1"/>
          </p:cNvSpPr>
          <p:nvPr/>
        </p:nvSpPr>
        <p:spPr bwMode="auto">
          <a:xfrm>
            <a:off x="7010400" y="4419600"/>
            <a:ext cx="2133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FF00"/>
                </a:solidFill>
              </a:rPr>
              <a:t>Established the </a:t>
            </a:r>
            <a:r>
              <a:rPr lang="en-US" altLang="zh-CN" sz="2000" b="1" i="1">
                <a:solidFill>
                  <a:srgbClr val="FFFF00"/>
                </a:solidFill>
              </a:rPr>
              <a:t>in </a:t>
            </a:r>
          </a:p>
          <a:p>
            <a:pPr eaLnBrk="1" hangingPunct="1"/>
            <a:r>
              <a:rPr lang="en-US" altLang="zh-CN" sz="2000" b="1" i="1">
                <a:solidFill>
                  <a:srgbClr val="FFFF00"/>
                </a:solidFill>
              </a:rPr>
              <a:t>vitro</a:t>
            </a:r>
            <a:r>
              <a:rPr lang="en-US" altLang="zh-CN" sz="2000" b="1">
                <a:solidFill>
                  <a:srgbClr val="FFFF00"/>
                </a:solidFill>
              </a:rPr>
              <a:t> system for </a:t>
            </a:r>
          </a:p>
          <a:p>
            <a:pPr eaLnBrk="1" hangingPunct="1"/>
            <a:r>
              <a:rPr lang="en-US" altLang="zh-CN" sz="2000" b="1">
                <a:solidFill>
                  <a:srgbClr val="FFFF00"/>
                </a:solidFill>
              </a:rPr>
              <a:t>revealing the </a:t>
            </a:r>
          </a:p>
          <a:p>
            <a:pPr eaLnBrk="1" hangingPunct="1"/>
            <a:r>
              <a:rPr lang="en-US" altLang="zh-CN" sz="2000" b="1">
                <a:solidFill>
                  <a:srgbClr val="FFFF00"/>
                </a:solidFill>
              </a:rPr>
              <a:t>genetic codes</a:t>
            </a:r>
          </a:p>
        </p:txBody>
      </p:sp>
      <p:sp>
        <p:nvSpPr>
          <p:cNvPr id="20486" name="Rectangle 6">
            <a:extLst>
              <a:ext uri="{FF2B5EF4-FFF2-40B4-BE49-F238E27FC236}">
                <a16:creationId xmlns:a16="http://schemas.microsoft.com/office/drawing/2014/main" id="{072F3C63-C8EF-4818-9ABE-AC21B5556CB8}"/>
              </a:ext>
            </a:extLst>
          </p:cNvPr>
          <p:cNvSpPr>
            <a:spLocks noChangeArrowheads="1"/>
          </p:cNvSpPr>
          <p:nvPr/>
        </p:nvSpPr>
        <p:spPr bwMode="auto">
          <a:xfrm>
            <a:off x="0" y="4572000"/>
            <a:ext cx="1981200" cy="12192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487" name="Rectangle 7">
            <a:extLst>
              <a:ext uri="{FF2B5EF4-FFF2-40B4-BE49-F238E27FC236}">
                <a16:creationId xmlns:a16="http://schemas.microsoft.com/office/drawing/2014/main" id="{518FA2BF-7B6F-4685-AC4C-6EB06E7F1884}"/>
              </a:ext>
            </a:extLst>
          </p:cNvPr>
          <p:cNvSpPr>
            <a:spLocks noChangeArrowheads="1"/>
          </p:cNvSpPr>
          <p:nvPr/>
        </p:nvSpPr>
        <p:spPr bwMode="auto">
          <a:xfrm>
            <a:off x="0" y="4645025"/>
            <a:ext cx="21209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FFFF"/>
                </a:solidFill>
              </a:rPr>
              <a:t>Devised methods </a:t>
            </a:r>
          </a:p>
          <a:p>
            <a:pPr eaLnBrk="1" hangingPunct="1"/>
            <a:r>
              <a:rPr lang="en-US" altLang="zh-CN" sz="1800" b="1">
                <a:solidFill>
                  <a:srgbClr val="00FFFF"/>
                </a:solidFill>
              </a:rPr>
              <a:t>to synthesize RNAs </a:t>
            </a:r>
          </a:p>
          <a:p>
            <a:pPr eaLnBrk="1" hangingPunct="1"/>
            <a:r>
              <a:rPr lang="en-US" altLang="zh-CN" sz="1800" b="1">
                <a:solidFill>
                  <a:srgbClr val="00FFFF"/>
                </a:solidFill>
              </a:rPr>
              <a:t>with defined</a:t>
            </a:r>
          </a:p>
          <a:p>
            <a:pPr eaLnBrk="1" hangingPunct="1"/>
            <a:r>
              <a:rPr lang="en-US" altLang="zh-CN" sz="1800" b="1">
                <a:solidFill>
                  <a:srgbClr val="00FFFF"/>
                </a:solidFill>
              </a:rPr>
              <a:t>sequences</a:t>
            </a:r>
          </a:p>
        </p:txBody>
      </p:sp>
    </p:spTree>
    <p:extLst>
      <p:ext uri="{BB962C8B-B14F-4D97-AF65-F5344CB8AC3E}">
        <p14:creationId xmlns:p14="http://schemas.microsoft.com/office/powerpoint/2010/main" val="2072701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BE35BA5-2996-4575-9ACF-4351F8FA1F0E}"/>
              </a:ext>
            </a:extLst>
          </p:cNvPr>
          <p:cNvSpPr>
            <a:spLocks noGrp="1" noChangeArrowheads="1"/>
          </p:cNvSpPr>
          <p:nvPr>
            <p:ph type="title" idx="4294967295"/>
          </p:nvPr>
        </p:nvSpPr>
        <p:spPr>
          <a:xfrm>
            <a:off x="0" y="304800"/>
            <a:ext cx="9144000" cy="1143000"/>
          </a:xfrm>
        </p:spPr>
        <p:txBody>
          <a:bodyPr/>
          <a:lstStyle/>
          <a:p>
            <a:pPr eaLnBrk="1" hangingPunct="1"/>
            <a:r>
              <a:rPr lang="en-US" altLang="zh-CN" sz="4000" b="1" dirty="0">
                <a:solidFill>
                  <a:schemeClr val="accent2">
                    <a:lumMod val="75000"/>
                  </a:schemeClr>
                </a:solidFill>
              </a:rPr>
              <a:t>3. The genetic code has been proved to be nearly(not absolutely) </a:t>
            </a:r>
            <a:r>
              <a:rPr lang="en-US" altLang="zh-CN" sz="4000" b="1" dirty="0">
                <a:solidFill>
                  <a:srgbClr val="FF0000"/>
                </a:solidFill>
              </a:rPr>
              <a:t>universal</a:t>
            </a:r>
          </a:p>
        </p:txBody>
      </p:sp>
      <p:sp>
        <p:nvSpPr>
          <p:cNvPr id="21507" name="Rectangle 3">
            <a:extLst>
              <a:ext uri="{FF2B5EF4-FFF2-40B4-BE49-F238E27FC236}">
                <a16:creationId xmlns:a16="http://schemas.microsoft.com/office/drawing/2014/main" id="{AB89F939-B4A9-42A5-A508-38D3BCEB039D}"/>
              </a:ext>
            </a:extLst>
          </p:cNvPr>
          <p:cNvSpPr>
            <a:spLocks noGrp="1" noChangeArrowheads="1"/>
          </p:cNvSpPr>
          <p:nvPr>
            <p:ph type="body" idx="4294967295"/>
          </p:nvPr>
        </p:nvSpPr>
        <p:spPr>
          <a:xfrm>
            <a:off x="0" y="1905000"/>
            <a:ext cx="9144000" cy="4114800"/>
          </a:xfrm>
        </p:spPr>
        <p:txBody>
          <a:bodyPr/>
          <a:lstStyle/>
          <a:p>
            <a:pPr eaLnBrk="1" hangingPunct="1"/>
            <a:r>
              <a:rPr lang="en-US" altLang="zh-CN" sz="2800" dirty="0"/>
              <a:t>Direct comparisons of the amino acid sequences of proteins with the corresponding base sequence of their genes or mRNAs, as well as recombinant DNA technologies, proved that the genetic codes deciphered from </a:t>
            </a:r>
            <a:r>
              <a:rPr lang="en-US" altLang="zh-CN" sz="2800" i="1" dirty="0"/>
              <a:t>in vitro</a:t>
            </a:r>
            <a:r>
              <a:rPr lang="en-US" altLang="zh-CN" sz="2800" dirty="0"/>
              <a:t> studies were correct and almost universally applicable.</a:t>
            </a:r>
          </a:p>
          <a:p>
            <a:pPr eaLnBrk="1" hangingPunct="1"/>
            <a:r>
              <a:rPr lang="en-US" altLang="zh-CN" sz="2800" dirty="0"/>
              <a:t>A small number of “</a:t>
            </a:r>
            <a:r>
              <a:rPr lang="en-US" altLang="zh-CN" sz="2800" b="1" dirty="0">
                <a:solidFill>
                  <a:srgbClr val="FF0000"/>
                </a:solidFill>
              </a:rPr>
              <a:t>unusual codes</a:t>
            </a:r>
            <a:r>
              <a:rPr lang="en-US" altLang="zh-CN" sz="2800" dirty="0"/>
              <a:t>” have been revealed in many mitochondria genomes and nuclear genome of a few organisms. </a:t>
            </a:r>
          </a:p>
        </p:txBody>
      </p:sp>
    </p:spTree>
    <p:extLst>
      <p:ext uri="{BB962C8B-B14F-4D97-AF65-F5344CB8AC3E}">
        <p14:creationId xmlns:p14="http://schemas.microsoft.com/office/powerpoint/2010/main" val="59701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code.jpg">
            <a:extLst>
              <a:ext uri="{FF2B5EF4-FFF2-40B4-BE49-F238E27FC236}">
                <a16:creationId xmlns:a16="http://schemas.microsoft.com/office/drawing/2014/main" id="{159361A1-3816-455A-AD3C-4F483300CD55}"/>
              </a:ext>
            </a:extLst>
          </p:cNvPr>
          <p:cNvPicPr>
            <a:picLocks noChangeAspect="1" noChangeArrowheads="1"/>
          </p:cNvPicPr>
          <p:nvPr/>
        </p:nvPicPr>
        <p:blipFill>
          <a:blip r:embed="rId3" cstate="print">
            <a:lum contrast="24000"/>
            <a:extLst>
              <a:ext uri="{28A0092B-C50C-407E-A947-70E740481C1C}">
                <a14:useLocalDpi xmlns:a14="http://schemas.microsoft.com/office/drawing/2010/main" val="0"/>
              </a:ext>
            </a:extLst>
          </a:blip>
          <a:srcRect/>
          <a:stretch>
            <a:fillRect/>
          </a:stretch>
        </p:blipFill>
        <p:spPr bwMode="auto">
          <a:xfrm>
            <a:off x="0" y="0"/>
            <a:ext cx="9144000" cy="690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287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074">
            <a:extLst>
              <a:ext uri="{FF2B5EF4-FFF2-40B4-BE49-F238E27FC236}">
                <a16:creationId xmlns:a16="http://schemas.microsoft.com/office/drawing/2014/main" id="{4081727A-1215-4B8A-B60A-2FCEDBE800CC}"/>
              </a:ext>
            </a:extLst>
          </p:cNvPr>
          <p:cNvSpPr txBox="1">
            <a:spLocks noChangeArrowheads="1"/>
          </p:cNvSpPr>
          <p:nvPr/>
        </p:nvSpPr>
        <p:spPr bwMode="auto">
          <a:xfrm>
            <a:off x="1043608" y="692696"/>
            <a:ext cx="7391400"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chemeClr val="accent2">
                    <a:lumMod val="75000"/>
                  </a:schemeClr>
                </a:solidFill>
              </a:rPr>
              <a:t>The features of genetic codon</a:t>
            </a:r>
            <a:r>
              <a:rPr lang="zh-CN" altLang="en-US" dirty="0">
                <a:solidFill>
                  <a:schemeClr val="accent2">
                    <a:lumMod val="75000"/>
                  </a:schemeClr>
                </a:solidFill>
              </a:rPr>
              <a:t>：</a:t>
            </a:r>
          </a:p>
          <a:p>
            <a:pPr marL="514350" indent="-514350" eaLnBrk="1" hangingPunct="1">
              <a:spcBef>
                <a:spcPct val="50000"/>
              </a:spcBef>
              <a:buFont typeface="+mj-ea"/>
              <a:buAutoNum type="circleNumDbPlain"/>
            </a:pPr>
            <a:r>
              <a:rPr lang="zh-CN" altLang="en-US" sz="2800" b="1" dirty="0"/>
              <a:t>方向性 </a:t>
            </a:r>
            <a:r>
              <a:rPr lang="en-US" altLang="zh-CN" sz="2800" b="1" dirty="0"/>
              <a:t>(5’-3’ direction)</a:t>
            </a:r>
          </a:p>
          <a:p>
            <a:pPr marL="514350" indent="-514350" eaLnBrk="1" hangingPunct="1">
              <a:spcBef>
                <a:spcPct val="50000"/>
              </a:spcBef>
              <a:buFont typeface="+mj-ea"/>
              <a:buAutoNum type="circleNumDbPlain"/>
            </a:pPr>
            <a:r>
              <a:rPr lang="zh-CN" altLang="en-US" sz="2800" b="1" dirty="0"/>
              <a:t>读码的连续性，非重叠</a:t>
            </a:r>
            <a:r>
              <a:rPr lang="en-US" altLang="zh-CN" sz="2800" b="1" dirty="0"/>
              <a:t>(successive triplets/ no overlap )</a:t>
            </a:r>
            <a:endParaRPr lang="zh-CN" altLang="en-US" sz="2800" b="1" dirty="0"/>
          </a:p>
          <a:p>
            <a:pPr marL="514350" indent="-514350" eaLnBrk="1" hangingPunct="1">
              <a:spcBef>
                <a:spcPct val="50000"/>
              </a:spcBef>
              <a:buFont typeface="+mj-ea"/>
              <a:buAutoNum type="circleNumDbPlain"/>
            </a:pPr>
            <a:r>
              <a:rPr lang="zh-CN" altLang="en-US" sz="2800" b="1" dirty="0"/>
              <a:t>兼并性</a:t>
            </a:r>
            <a:r>
              <a:rPr lang="en-US" altLang="zh-CN" sz="2800" b="1" dirty="0"/>
              <a:t>(degenerate</a:t>
            </a:r>
            <a:r>
              <a:rPr lang="en-US" altLang="zh-CN" sz="2800" b="1" dirty="0">
                <a:effectLst>
                  <a:outerShdw blurRad="38100" dist="38100" dir="2700000" algn="tl">
                    <a:srgbClr val="000000"/>
                  </a:outerShdw>
                </a:effectLst>
              </a:rPr>
              <a:t>)</a:t>
            </a:r>
            <a:endParaRPr lang="zh-CN" altLang="en-US" sz="2800" b="1" dirty="0"/>
          </a:p>
          <a:p>
            <a:pPr marL="514350" indent="-514350" eaLnBrk="1" hangingPunct="1">
              <a:spcBef>
                <a:spcPct val="50000"/>
              </a:spcBef>
              <a:buFont typeface="+mj-ea"/>
              <a:buAutoNum type="circleNumDbPlain"/>
            </a:pPr>
            <a:r>
              <a:rPr lang="zh-CN" altLang="en-US" sz="2800" b="1" dirty="0"/>
              <a:t>变偶性</a:t>
            </a:r>
            <a:r>
              <a:rPr lang="en-US" altLang="zh-CN" sz="2800" b="1" dirty="0"/>
              <a:t>(wobble)</a:t>
            </a:r>
            <a:endParaRPr lang="zh-CN" altLang="en-US" sz="2800" b="1" dirty="0"/>
          </a:p>
          <a:p>
            <a:pPr marL="514350" indent="-514350" eaLnBrk="1" hangingPunct="1">
              <a:spcBef>
                <a:spcPct val="50000"/>
              </a:spcBef>
              <a:buFont typeface="+mj-ea"/>
              <a:buAutoNum type="circleNumDbPlain"/>
            </a:pPr>
            <a:r>
              <a:rPr lang="zh-CN" altLang="en-US" sz="2800" b="1" dirty="0"/>
              <a:t>起始密码和终止密码</a:t>
            </a:r>
            <a:r>
              <a:rPr lang="en-US" altLang="zh-CN" sz="2800" b="1" dirty="0"/>
              <a:t>(start and stop codons)</a:t>
            </a:r>
          </a:p>
          <a:p>
            <a:pPr marL="514350" indent="-514350" eaLnBrk="1" hangingPunct="1">
              <a:spcBef>
                <a:spcPct val="50000"/>
              </a:spcBef>
              <a:buFont typeface="+mj-ea"/>
              <a:buAutoNum type="circleNumDbPlain"/>
            </a:pPr>
            <a:r>
              <a:rPr lang="zh-CN" altLang="en-US" sz="2800" b="1" dirty="0"/>
              <a:t>通用性与例外 </a:t>
            </a:r>
            <a:r>
              <a:rPr lang="en-US" altLang="zh-CN" sz="2800" b="1" dirty="0"/>
              <a:t>(universal /unusual codes)</a:t>
            </a:r>
            <a:endParaRPr lang="zh-CN" altLang="en-US" sz="2800" b="1" dirty="0"/>
          </a:p>
        </p:txBody>
      </p:sp>
      <p:pic>
        <p:nvPicPr>
          <p:cNvPr id="3" name="图片 2">
            <a:hlinkClick r:id="rId3" action="ppaction://hlinksldjump"/>
            <a:extLst>
              <a:ext uri="{FF2B5EF4-FFF2-40B4-BE49-F238E27FC236}">
                <a16:creationId xmlns:a16="http://schemas.microsoft.com/office/drawing/2014/main" id="{ABBB08D8-708D-4870-B77C-BD9CCF44BBF3}"/>
              </a:ext>
            </a:extLst>
          </p:cNvPr>
          <p:cNvPicPr>
            <a:picLocks noChangeAspect="1"/>
          </p:cNvPicPr>
          <p:nvPr/>
        </p:nvPicPr>
        <p:blipFill>
          <a:blip r:embed="rId4" cstate="print"/>
          <a:stretch>
            <a:fillRect/>
          </a:stretch>
        </p:blipFill>
        <p:spPr>
          <a:xfrm>
            <a:off x="8759919" y="6573040"/>
            <a:ext cx="384081" cy="310923"/>
          </a:xfrm>
          <a:prstGeom prst="rect">
            <a:avLst/>
          </a:prstGeom>
        </p:spPr>
      </p:pic>
    </p:spTree>
    <p:extLst>
      <p:ext uri="{BB962C8B-B14F-4D97-AF65-F5344CB8AC3E}">
        <p14:creationId xmlns:p14="http://schemas.microsoft.com/office/powerpoint/2010/main" val="170108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482BDD23-3830-4A59-9040-D5F7239AA9C2}"/>
              </a:ext>
            </a:extLst>
          </p:cNvPr>
          <p:cNvSpPr txBox="1">
            <a:spLocks noChangeArrowheads="1"/>
          </p:cNvSpPr>
          <p:nvPr/>
        </p:nvSpPr>
        <p:spPr bwMode="auto">
          <a:xfrm>
            <a:off x="228600" y="1143000"/>
            <a:ext cx="8915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5400" dirty="0">
                <a:solidFill>
                  <a:schemeClr val="accent2">
                    <a:lumMod val="75000"/>
                  </a:schemeClr>
                </a:solidFill>
              </a:rPr>
              <a:t>H2  Translation in prokaryotes</a:t>
            </a:r>
          </a:p>
        </p:txBody>
      </p:sp>
    </p:spTree>
    <p:extLst>
      <p:ext uri="{BB962C8B-B14F-4D97-AF65-F5344CB8AC3E}">
        <p14:creationId xmlns:p14="http://schemas.microsoft.com/office/powerpoint/2010/main" val="3528886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E6FD9FF-1C6B-4691-AD7A-728C06B7C4B9}"/>
              </a:ext>
            </a:extLst>
          </p:cNvPr>
          <p:cNvSpPr>
            <a:spLocks noGrp="1" noChangeArrowheads="1"/>
          </p:cNvSpPr>
          <p:nvPr>
            <p:ph type="title" idx="4294967295"/>
          </p:nvPr>
        </p:nvSpPr>
        <p:spPr>
          <a:xfrm>
            <a:off x="0" y="260648"/>
            <a:ext cx="9144000" cy="1143000"/>
          </a:xfrm>
        </p:spPr>
        <p:txBody>
          <a:bodyPr/>
          <a:lstStyle/>
          <a:p>
            <a:pPr eaLnBrk="1" hangingPunct="1"/>
            <a:r>
              <a:rPr lang="en-US" altLang="zh-CN" sz="4000" b="1" dirty="0">
                <a:solidFill>
                  <a:schemeClr val="accent2">
                    <a:lumMod val="75000"/>
                  </a:schemeClr>
                </a:solidFill>
              </a:rPr>
              <a:t>1. Three kinds of RNA molecules perform different but cooperative functions in protein synthesis</a:t>
            </a:r>
          </a:p>
        </p:txBody>
      </p:sp>
      <p:sp>
        <p:nvSpPr>
          <p:cNvPr id="33795" name="Rectangle 3">
            <a:extLst>
              <a:ext uri="{FF2B5EF4-FFF2-40B4-BE49-F238E27FC236}">
                <a16:creationId xmlns:a16="http://schemas.microsoft.com/office/drawing/2014/main" id="{6E5FD95F-004B-4936-A829-D7F4EB46BC41}"/>
              </a:ext>
            </a:extLst>
          </p:cNvPr>
          <p:cNvSpPr>
            <a:spLocks noGrp="1" noChangeArrowheads="1"/>
          </p:cNvSpPr>
          <p:nvPr>
            <p:ph type="body" idx="4294967295"/>
          </p:nvPr>
        </p:nvSpPr>
        <p:spPr>
          <a:xfrm>
            <a:off x="0" y="2133600"/>
            <a:ext cx="9144000" cy="4114800"/>
          </a:xfrm>
        </p:spPr>
        <p:txBody>
          <a:bodyPr/>
          <a:lstStyle/>
          <a:p>
            <a:pPr eaLnBrk="1" hangingPunct="1">
              <a:defRPr/>
            </a:pPr>
            <a:r>
              <a:rPr lang="en-US" altLang="zh-CN" sz="2800" b="1" dirty="0">
                <a:solidFill>
                  <a:schemeClr val="accent2">
                    <a:lumMod val="75000"/>
                  </a:schemeClr>
                </a:solidFill>
                <a:effectLst>
                  <a:outerShdw blurRad="38100" dist="38100" dir="2700000" algn="tl">
                    <a:srgbClr val="000000"/>
                  </a:outerShdw>
                </a:effectLst>
              </a:rPr>
              <a:t>mRNAs</a:t>
            </a:r>
            <a:r>
              <a:rPr lang="en-US" altLang="zh-CN" sz="2800" dirty="0">
                <a:solidFill>
                  <a:srgbClr val="FFFF00"/>
                </a:solidFill>
              </a:rPr>
              <a:t> </a:t>
            </a:r>
            <a:r>
              <a:rPr lang="en-US" altLang="zh-CN" sz="2800" dirty="0"/>
              <a:t>carry the genetic information copied from DNA in the form of </a:t>
            </a:r>
            <a:r>
              <a:rPr lang="en-US" altLang="zh-CN" sz="2800" b="1" dirty="0">
                <a:solidFill>
                  <a:srgbClr val="FF0000"/>
                </a:solidFill>
              </a:rPr>
              <a:t>genetic codons</a:t>
            </a:r>
            <a:r>
              <a:rPr lang="en-US" altLang="zh-CN" sz="2800" dirty="0"/>
              <a:t>.</a:t>
            </a:r>
          </a:p>
          <a:p>
            <a:pPr eaLnBrk="1" hangingPunct="1">
              <a:defRPr/>
            </a:pPr>
            <a:r>
              <a:rPr lang="en-US" altLang="zh-CN" sz="2800" b="1" dirty="0" err="1">
                <a:solidFill>
                  <a:schemeClr val="accent2">
                    <a:lumMod val="75000"/>
                  </a:schemeClr>
                </a:solidFill>
                <a:effectLst>
                  <a:outerShdw blurRad="38100" dist="38100" dir="2700000" algn="tl">
                    <a:srgbClr val="000000"/>
                  </a:outerShdw>
                </a:effectLst>
              </a:rPr>
              <a:t>tRNAs</a:t>
            </a:r>
            <a:r>
              <a:rPr lang="en-US" altLang="zh-CN" sz="2800" dirty="0"/>
              <a:t> mediate the incorporation of specific </a:t>
            </a:r>
            <a:r>
              <a:rPr lang="en-US" altLang="zh-CN" sz="2800" b="1" dirty="0">
                <a:solidFill>
                  <a:srgbClr val="FF0000"/>
                </a:solidFill>
              </a:rPr>
              <a:t>amino acids </a:t>
            </a:r>
            <a:r>
              <a:rPr lang="en-US" altLang="zh-CN" sz="2800" dirty="0"/>
              <a:t>according to genetic codons present on the mRNA molecules via their specific </a:t>
            </a:r>
            <a:r>
              <a:rPr lang="en-US" altLang="zh-CN" sz="2800" b="1" dirty="0">
                <a:solidFill>
                  <a:srgbClr val="FF0000"/>
                </a:solidFill>
              </a:rPr>
              <a:t>anticodon triplets</a:t>
            </a:r>
            <a:r>
              <a:rPr lang="en-US" altLang="zh-CN" sz="2800" dirty="0"/>
              <a:t>.</a:t>
            </a:r>
          </a:p>
          <a:p>
            <a:pPr eaLnBrk="1" hangingPunct="1">
              <a:defRPr/>
            </a:pPr>
            <a:r>
              <a:rPr lang="en-US" altLang="zh-CN" sz="2800" b="1" dirty="0" err="1">
                <a:solidFill>
                  <a:schemeClr val="accent2">
                    <a:lumMod val="75000"/>
                  </a:schemeClr>
                </a:solidFill>
                <a:effectLst>
                  <a:outerShdw blurRad="38100" dist="38100" dir="2700000" algn="tl">
                    <a:srgbClr val="000000"/>
                  </a:outerShdw>
                </a:effectLst>
              </a:rPr>
              <a:t>rRNAs</a:t>
            </a:r>
            <a:r>
              <a:rPr lang="en-US" altLang="zh-CN" sz="2800" dirty="0">
                <a:solidFill>
                  <a:schemeClr val="accent2">
                    <a:lumMod val="75000"/>
                  </a:schemeClr>
                </a:solidFill>
              </a:rPr>
              <a:t> </a:t>
            </a:r>
            <a:r>
              <a:rPr lang="en-US" altLang="zh-CN" sz="2800" dirty="0"/>
              <a:t>associate with a set of proteins to form the protein-synthesizing machines (</a:t>
            </a:r>
            <a:r>
              <a:rPr lang="en-US" altLang="zh-CN" sz="2800" b="1" dirty="0">
                <a:solidFill>
                  <a:srgbClr val="FF0000"/>
                </a:solidFill>
              </a:rPr>
              <a:t>ribosomes</a:t>
            </a:r>
            <a:r>
              <a:rPr lang="en-US" altLang="zh-CN" sz="2800" dirty="0"/>
              <a:t>) and probably </a:t>
            </a:r>
            <a:r>
              <a:rPr lang="en-US" altLang="zh-CN" sz="2800" b="1" dirty="0">
                <a:solidFill>
                  <a:srgbClr val="C00000"/>
                </a:solidFill>
              </a:rPr>
              <a:t>catalyze peptide bond formation</a:t>
            </a:r>
            <a:r>
              <a:rPr lang="en-US" altLang="zh-CN" sz="2800" dirty="0"/>
              <a:t> during protein synthesis.</a:t>
            </a:r>
          </a:p>
        </p:txBody>
      </p:sp>
    </p:spTree>
    <p:extLst>
      <p:ext uri="{BB962C8B-B14F-4D97-AF65-F5344CB8AC3E}">
        <p14:creationId xmlns:p14="http://schemas.microsoft.com/office/powerpoint/2010/main" val="547469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D:\rnas.jpg">
            <a:extLst>
              <a:ext uri="{FF2B5EF4-FFF2-40B4-BE49-F238E27FC236}">
                <a16:creationId xmlns:a16="http://schemas.microsoft.com/office/drawing/2014/main" id="{F2E6CDD8-ADF8-4B7D-A9C1-1509356CF8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82575"/>
            <a:ext cx="6934200"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812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B0E561E-0A9B-4780-935F-BC93CC0CD7F7}"/>
              </a:ext>
            </a:extLst>
          </p:cNvPr>
          <p:cNvSpPr>
            <a:spLocks noChangeArrowheads="1"/>
          </p:cNvSpPr>
          <p:nvPr/>
        </p:nvSpPr>
        <p:spPr bwMode="auto">
          <a:xfrm>
            <a:off x="228600" y="381000"/>
            <a:ext cx="91440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solidFill>
                  <a:schemeClr val="accent2">
                    <a:lumMod val="75000"/>
                  </a:schemeClr>
                </a:solidFill>
              </a:rPr>
              <a:t>2.  All </a:t>
            </a:r>
            <a:r>
              <a:rPr lang="en-US" altLang="zh-CN" sz="4000" b="1" dirty="0" err="1">
                <a:solidFill>
                  <a:schemeClr val="accent2">
                    <a:lumMod val="75000"/>
                  </a:schemeClr>
                </a:solidFill>
              </a:rPr>
              <a:t>tRNAs</a:t>
            </a:r>
            <a:r>
              <a:rPr lang="en-US" altLang="zh-CN" sz="4000" b="1" dirty="0">
                <a:solidFill>
                  <a:schemeClr val="accent2">
                    <a:lumMod val="75000"/>
                  </a:schemeClr>
                </a:solidFill>
              </a:rPr>
              <a:t> have common structural features: cloverleaf in secondary, “L” in 3-D structures.</a:t>
            </a:r>
          </a:p>
        </p:txBody>
      </p:sp>
    </p:spTree>
    <p:extLst>
      <p:ext uri="{BB962C8B-B14F-4D97-AF65-F5344CB8AC3E}">
        <p14:creationId xmlns:p14="http://schemas.microsoft.com/office/powerpoint/2010/main" val="1918408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D:\26-16.jpg">
            <a:extLst>
              <a:ext uri="{FF2B5EF4-FFF2-40B4-BE49-F238E27FC236}">
                <a16:creationId xmlns:a16="http://schemas.microsoft.com/office/drawing/2014/main" id="{D09162C8-E4F2-4A7D-82C7-EECBD976C0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09892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3" descr="D:\26-17a.jpg">
            <a:extLst>
              <a:ext uri="{FF2B5EF4-FFF2-40B4-BE49-F238E27FC236}">
                <a16:creationId xmlns:a16="http://schemas.microsoft.com/office/drawing/2014/main" id="{8CB4A71B-CDC1-49A0-9894-396B8EE809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0" y="0"/>
            <a:ext cx="515302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AutoShape 5">
            <a:extLst>
              <a:ext uri="{FF2B5EF4-FFF2-40B4-BE49-F238E27FC236}">
                <a16:creationId xmlns:a16="http://schemas.microsoft.com/office/drawing/2014/main" id="{1FF8B52F-4483-4F3E-929F-EBF1AFAADA51}"/>
              </a:ext>
            </a:extLst>
          </p:cNvPr>
          <p:cNvSpPr>
            <a:spLocks noChangeArrowheads="1"/>
          </p:cNvSpPr>
          <p:nvPr/>
        </p:nvSpPr>
        <p:spPr bwMode="auto">
          <a:xfrm>
            <a:off x="1371600" y="533400"/>
            <a:ext cx="762000" cy="304800"/>
          </a:xfrm>
          <a:prstGeom prst="rightArrow">
            <a:avLst>
              <a:gd name="adj1" fmla="val 50000"/>
              <a:gd name="adj2" fmla="val 6250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01" name="AutoShape 6">
            <a:extLst>
              <a:ext uri="{FF2B5EF4-FFF2-40B4-BE49-F238E27FC236}">
                <a16:creationId xmlns:a16="http://schemas.microsoft.com/office/drawing/2014/main" id="{325A554A-BAC9-47A1-BA70-0E143077563A}"/>
              </a:ext>
            </a:extLst>
          </p:cNvPr>
          <p:cNvSpPr>
            <a:spLocks noChangeArrowheads="1"/>
          </p:cNvSpPr>
          <p:nvPr/>
        </p:nvSpPr>
        <p:spPr bwMode="auto">
          <a:xfrm>
            <a:off x="8458200" y="1676400"/>
            <a:ext cx="381000" cy="762000"/>
          </a:xfrm>
          <a:prstGeom prst="up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02" name="Line 7">
            <a:extLst>
              <a:ext uri="{FF2B5EF4-FFF2-40B4-BE49-F238E27FC236}">
                <a16:creationId xmlns:a16="http://schemas.microsoft.com/office/drawing/2014/main" id="{6C2E488F-5207-4439-A284-E32516EBD28B}"/>
              </a:ext>
            </a:extLst>
          </p:cNvPr>
          <p:cNvSpPr>
            <a:spLocks noChangeShapeType="1"/>
          </p:cNvSpPr>
          <p:nvPr/>
        </p:nvSpPr>
        <p:spPr bwMode="auto">
          <a:xfrm flipH="1" flipV="1">
            <a:off x="2362200" y="4724400"/>
            <a:ext cx="609600" cy="30480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3" name="Line 8">
            <a:extLst>
              <a:ext uri="{FF2B5EF4-FFF2-40B4-BE49-F238E27FC236}">
                <a16:creationId xmlns:a16="http://schemas.microsoft.com/office/drawing/2014/main" id="{33658EDD-FA63-4C48-A690-CC465D36E5CF}"/>
              </a:ext>
            </a:extLst>
          </p:cNvPr>
          <p:cNvSpPr>
            <a:spLocks noChangeShapeType="1"/>
          </p:cNvSpPr>
          <p:nvPr/>
        </p:nvSpPr>
        <p:spPr bwMode="auto">
          <a:xfrm flipH="1" flipV="1">
            <a:off x="7239000" y="4800600"/>
            <a:ext cx="609600" cy="30480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8" name="图片 7">
            <a:hlinkClick r:id="rId4" action="ppaction://hlinksldjump"/>
            <a:extLst>
              <a:ext uri="{FF2B5EF4-FFF2-40B4-BE49-F238E27FC236}">
                <a16:creationId xmlns:a16="http://schemas.microsoft.com/office/drawing/2014/main" id="{5989FE24-C812-41E6-B692-89431456E9C5}"/>
              </a:ext>
            </a:extLst>
          </p:cNvPr>
          <p:cNvPicPr>
            <a:picLocks noChangeAspect="1"/>
          </p:cNvPicPr>
          <p:nvPr/>
        </p:nvPicPr>
        <p:blipFill>
          <a:blip r:embed="rId5" cstate="print"/>
          <a:stretch>
            <a:fillRect/>
          </a:stretch>
        </p:blipFill>
        <p:spPr>
          <a:xfrm>
            <a:off x="8759919" y="6573040"/>
            <a:ext cx="384081" cy="310923"/>
          </a:xfrm>
          <a:prstGeom prst="rect">
            <a:avLst/>
          </a:prstGeom>
        </p:spPr>
      </p:pic>
    </p:spTree>
    <p:extLst>
      <p:ext uri="{BB962C8B-B14F-4D97-AF65-F5344CB8AC3E}">
        <p14:creationId xmlns:p14="http://schemas.microsoft.com/office/powerpoint/2010/main" val="2374991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98C05AB-28E3-4A3B-A269-FD17364C9F1E}"/>
              </a:ext>
            </a:extLst>
          </p:cNvPr>
          <p:cNvSpPr>
            <a:spLocks noGrp="1" noChangeArrowheads="1"/>
          </p:cNvSpPr>
          <p:nvPr>
            <p:ph type="title" idx="4294967295"/>
          </p:nvPr>
        </p:nvSpPr>
        <p:spPr>
          <a:xfrm>
            <a:off x="0" y="228600"/>
            <a:ext cx="9144000" cy="1143000"/>
          </a:xfrm>
        </p:spPr>
        <p:txBody>
          <a:bodyPr/>
          <a:lstStyle/>
          <a:p>
            <a:pPr eaLnBrk="1" hangingPunct="1"/>
            <a:r>
              <a:rPr lang="en-US" altLang="zh-CN" sz="4000" b="1" dirty="0">
                <a:solidFill>
                  <a:schemeClr val="accent2">
                    <a:lumMod val="75000"/>
                  </a:schemeClr>
                </a:solidFill>
              </a:rPr>
              <a:t>3. Some </a:t>
            </a:r>
            <a:r>
              <a:rPr lang="en-US" altLang="zh-CN" sz="4000" b="1" dirty="0" err="1">
                <a:solidFill>
                  <a:schemeClr val="accent2">
                    <a:lumMod val="75000"/>
                  </a:schemeClr>
                </a:solidFill>
              </a:rPr>
              <a:t>tRNA</a:t>
            </a:r>
            <a:r>
              <a:rPr lang="en-US" altLang="zh-CN" sz="4000" b="1" dirty="0">
                <a:solidFill>
                  <a:schemeClr val="accent2">
                    <a:lumMod val="75000"/>
                  </a:schemeClr>
                </a:solidFill>
              </a:rPr>
              <a:t> molecules can recognize more than one codons via wobble pairing</a:t>
            </a:r>
          </a:p>
        </p:txBody>
      </p:sp>
      <p:sp>
        <p:nvSpPr>
          <p:cNvPr id="36867" name="Rectangle 3">
            <a:extLst>
              <a:ext uri="{FF2B5EF4-FFF2-40B4-BE49-F238E27FC236}">
                <a16:creationId xmlns:a16="http://schemas.microsoft.com/office/drawing/2014/main" id="{C571349E-5566-4765-9D52-00B67BF3523C}"/>
              </a:ext>
            </a:extLst>
          </p:cNvPr>
          <p:cNvSpPr>
            <a:spLocks noGrp="1" noChangeArrowheads="1"/>
          </p:cNvSpPr>
          <p:nvPr>
            <p:ph type="body" idx="4294967295"/>
          </p:nvPr>
        </p:nvSpPr>
        <p:spPr>
          <a:xfrm>
            <a:off x="0" y="1752600"/>
            <a:ext cx="8763000" cy="4724400"/>
          </a:xfrm>
        </p:spPr>
        <p:txBody>
          <a:bodyPr/>
          <a:lstStyle/>
          <a:p>
            <a:pPr eaLnBrk="1" hangingPunct="1">
              <a:lnSpc>
                <a:spcPct val="90000"/>
              </a:lnSpc>
              <a:defRPr/>
            </a:pPr>
            <a:r>
              <a:rPr lang="en-US" altLang="zh-CN" sz="2800" dirty="0"/>
              <a:t>The adapter </a:t>
            </a:r>
            <a:r>
              <a:rPr lang="en-US" altLang="zh-CN" sz="2800" dirty="0" err="1"/>
              <a:t>tRNAs</a:t>
            </a:r>
            <a:r>
              <a:rPr lang="en-US" altLang="zh-CN" sz="2800" dirty="0"/>
              <a:t> recognize the codons on a mRNA via a triplet called </a:t>
            </a:r>
            <a:r>
              <a:rPr lang="en-US" altLang="zh-CN" sz="2800" b="1" dirty="0">
                <a:solidFill>
                  <a:schemeClr val="accent2">
                    <a:lumMod val="75000"/>
                  </a:schemeClr>
                </a:solidFill>
                <a:effectLst>
                  <a:outerShdw blurRad="38100" dist="38100" dir="2700000" algn="tl">
                    <a:srgbClr val="000000"/>
                  </a:outerShdw>
                </a:effectLst>
              </a:rPr>
              <a:t>anticodons.</a:t>
            </a:r>
          </a:p>
          <a:p>
            <a:pPr eaLnBrk="1" hangingPunct="1">
              <a:lnSpc>
                <a:spcPct val="90000"/>
              </a:lnSpc>
              <a:defRPr/>
            </a:pPr>
            <a:r>
              <a:rPr lang="en-US" altLang="zh-CN" sz="2800" dirty="0"/>
              <a:t>It was first proposed that a specific </a:t>
            </a:r>
            <a:r>
              <a:rPr lang="en-US" altLang="zh-CN" sz="2800" dirty="0" err="1"/>
              <a:t>tRNA</a:t>
            </a:r>
            <a:r>
              <a:rPr lang="en-US" altLang="zh-CN" sz="2800" dirty="0"/>
              <a:t> anticodon would exist for every of the </a:t>
            </a:r>
            <a:r>
              <a:rPr lang="en-US" altLang="zh-CN" sz="2800" b="1" dirty="0">
                <a:solidFill>
                  <a:srgbClr val="FF0000"/>
                </a:solidFill>
              </a:rPr>
              <a:t>61 (or 64) codons</a:t>
            </a:r>
            <a:r>
              <a:rPr lang="en-US" altLang="zh-CN" sz="2800" b="1" dirty="0"/>
              <a:t>, </a:t>
            </a:r>
            <a:r>
              <a:rPr lang="en-US" altLang="zh-CN" sz="2800" b="1" dirty="0">
                <a:solidFill>
                  <a:srgbClr val="FF0000"/>
                </a:solidFill>
              </a:rPr>
              <a:t>but less </a:t>
            </a:r>
            <a:r>
              <a:rPr lang="en-US" altLang="zh-CN" sz="2800" b="1" dirty="0" err="1">
                <a:solidFill>
                  <a:srgbClr val="FF0000"/>
                </a:solidFill>
              </a:rPr>
              <a:t>tRNAs</a:t>
            </a:r>
            <a:r>
              <a:rPr lang="en-US" altLang="zh-CN" sz="2800" b="1" dirty="0">
                <a:solidFill>
                  <a:srgbClr val="FF0000"/>
                </a:solidFill>
              </a:rPr>
              <a:t> were revealed</a:t>
            </a:r>
            <a:r>
              <a:rPr lang="en-US" altLang="zh-CN" sz="2800" dirty="0">
                <a:solidFill>
                  <a:srgbClr val="FF0000"/>
                </a:solidFill>
              </a:rPr>
              <a:t>.</a:t>
            </a:r>
          </a:p>
          <a:p>
            <a:pPr eaLnBrk="1" hangingPunct="1">
              <a:lnSpc>
                <a:spcPct val="90000"/>
              </a:lnSpc>
              <a:defRPr/>
            </a:pPr>
            <a:r>
              <a:rPr lang="en-US" altLang="zh-CN" sz="2800" dirty="0"/>
              <a:t>It was revealed that highly purified </a:t>
            </a:r>
            <a:r>
              <a:rPr lang="en-US" altLang="zh-CN" sz="2800" dirty="0" err="1"/>
              <a:t>tRNA</a:t>
            </a:r>
            <a:r>
              <a:rPr lang="en-US" altLang="zh-CN" sz="2800" dirty="0"/>
              <a:t> molecules (e.g., alanyl-</a:t>
            </a:r>
            <a:r>
              <a:rPr lang="en-US" altLang="zh-CN" sz="2800" dirty="0" err="1"/>
              <a:t>tRNA</a:t>
            </a:r>
            <a:r>
              <a:rPr lang="en-US" altLang="zh-CN" sz="2800" baseline="30000" dirty="0" err="1"/>
              <a:t>Ala</a:t>
            </a:r>
            <a:r>
              <a:rPr lang="en-US" altLang="zh-CN" sz="2800" dirty="0"/>
              <a:t>) of known sequence could recognize several different codons.</a:t>
            </a:r>
          </a:p>
          <a:p>
            <a:pPr eaLnBrk="1" hangingPunct="1">
              <a:lnSpc>
                <a:spcPct val="90000"/>
              </a:lnSpc>
              <a:defRPr/>
            </a:pPr>
            <a:r>
              <a:rPr lang="en-US" altLang="zh-CN" sz="2800" b="1" dirty="0">
                <a:solidFill>
                  <a:schemeClr val="accent2">
                    <a:lumMod val="75000"/>
                  </a:schemeClr>
                </a:solidFill>
                <a:effectLst>
                  <a:outerShdw blurRad="38100" dist="38100" dir="2700000" algn="tl">
                    <a:srgbClr val="000000"/>
                  </a:outerShdw>
                </a:effectLst>
              </a:rPr>
              <a:t>Inosine </a:t>
            </a:r>
            <a:r>
              <a:rPr lang="zh-CN" altLang="en-US" sz="2800" b="1" dirty="0">
                <a:solidFill>
                  <a:schemeClr val="accent2">
                    <a:lumMod val="75000"/>
                  </a:schemeClr>
                </a:solidFill>
                <a:effectLst>
                  <a:outerShdw blurRad="38100" dist="38100" dir="2700000" algn="tl">
                    <a:srgbClr val="000000"/>
                  </a:outerShdw>
                </a:effectLst>
              </a:rPr>
              <a:t>（</a:t>
            </a:r>
            <a:r>
              <a:rPr lang="en-US" altLang="zh-CN" sz="2800" b="1" dirty="0">
                <a:solidFill>
                  <a:schemeClr val="accent2">
                    <a:lumMod val="75000"/>
                  </a:schemeClr>
                </a:solidFill>
                <a:effectLst>
                  <a:outerShdw blurRad="38100" dist="38100" dir="2700000" algn="tl">
                    <a:srgbClr val="000000"/>
                  </a:outerShdw>
                </a:effectLst>
              </a:rPr>
              <a:t>I, </a:t>
            </a:r>
            <a:r>
              <a:rPr lang="zh-CN" altLang="en-US" sz="2800" b="1" dirty="0">
                <a:solidFill>
                  <a:schemeClr val="accent2">
                    <a:lumMod val="75000"/>
                  </a:schemeClr>
                </a:solidFill>
                <a:effectLst>
                  <a:outerShdw blurRad="38100" dist="38100" dir="2700000" algn="tl">
                    <a:srgbClr val="000000"/>
                  </a:outerShdw>
                </a:effectLst>
              </a:rPr>
              <a:t>次黄嘌呤）</a:t>
            </a:r>
            <a:r>
              <a:rPr lang="en-US" altLang="zh-CN" sz="2800" dirty="0"/>
              <a:t>, which may form base pair with A, U, and C, was found to be present at the </a:t>
            </a:r>
            <a:r>
              <a:rPr lang="en-US" altLang="zh-CN" sz="2800" b="1" dirty="0">
                <a:solidFill>
                  <a:srgbClr val="FF0000"/>
                </a:solidFill>
              </a:rPr>
              <a:t>first position </a:t>
            </a:r>
            <a:r>
              <a:rPr lang="en-US" altLang="zh-CN" sz="2800" dirty="0"/>
              <a:t>of the anticodons in some </a:t>
            </a:r>
            <a:r>
              <a:rPr lang="en-US" altLang="zh-CN" sz="2800" dirty="0" err="1"/>
              <a:t>tRNAs</a:t>
            </a:r>
            <a:r>
              <a:rPr lang="en-US" altLang="zh-CN" sz="2800" dirty="0"/>
              <a:t>.</a:t>
            </a:r>
          </a:p>
        </p:txBody>
      </p:sp>
    </p:spTree>
    <p:extLst>
      <p:ext uri="{BB962C8B-B14F-4D97-AF65-F5344CB8AC3E}">
        <p14:creationId xmlns:p14="http://schemas.microsoft.com/office/powerpoint/2010/main" val="2132466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C4F718E-AF2F-4BA2-A360-BBFB66C5211B}"/>
              </a:ext>
            </a:extLst>
          </p:cNvPr>
          <p:cNvSpPr>
            <a:spLocks noGrp="1" noChangeArrowheads="1"/>
          </p:cNvSpPr>
          <p:nvPr>
            <p:ph type="title" idx="4294967295"/>
          </p:nvPr>
        </p:nvSpPr>
        <p:spPr>
          <a:xfrm>
            <a:off x="0" y="0"/>
            <a:ext cx="7772400" cy="76200"/>
          </a:xfrm>
        </p:spPr>
        <p:txBody>
          <a:bodyPr/>
          <a:lstStyle/>
          <a:p>
            <a:pPr eaLnBrk="1" hangingPunct="1"/>
            <a:r>
              <a:rPr lang="en-US" altLang="zh-CN"/>
              <a:t> </a:t>
            </a:r>
          </a:p>
        </p:txBody>
      </p:sp>
      <p:sp>
        <p:nvSpPr>
          <p:cNvPr id="37891" name="Rectangle 3">
            <a:extLst>
              <a:ext uri="{FF2B5EF4-FFF2-40B4-BE49-F238E27FC236}">
                <a16:creationId xmlns:a16="http://schemas.microsoft.com/office/drawing/2014/main" id="{7A03C868-DBB7-4C79-A7AA-1A25EFC42385}"/>
              </a:ext>
            </a:extLst>
          </p:cNvPr>
          <p:cNvSpPr>
            <a:spLocks noGrp="1" noChangeArrowheads="1"/>
          </p:cNvSpPr>
          <p:nvPr>
            <p:ph type="body" idx="4294967295"/>
          </p:nvPr>
        </p:nvSpPr>
        <p:spPr>
          <a:xfrm>
            <a:off x="0" y="609600"/>
            <a:ext cx="9144000" cy="5486400"/>
          </a:xfrm>
        </p:spPr>
        <p:txBody>
          <a:bodyPr/>
          <a:lstStyle/>
          <a:p>
            <a:pPr eaLnBrk="1" hangingPunct="1">
              <a:defRPr/>
            </a:pPr>
            <a:r>
              <a:rPr lang="en-US" altLang="zh-CN" sz="2800" dirty="0"/>
              <a:t>Crick proposed the “</a:t>
            </a:r>
            <a:r>
              <a:rPr lang="en-US" altLang="zh-CN" sz="2800" b="1" dirty="0">
                <a:solidFill>
                  <a:schemeClr val="accent5">
                    <a:lumMod val="75000"/>
                  </a:schemeClr>
                </a:solidFill>
                <a:effectLst>
                  <a:outerShdw blurRad="38100" dist="38100" dir="2700000" algn="tl">
                    <a:srgbClr val="000000"/>
                  </a:outerShdw>
                </a:effectLst>
              </a:rPr>
              <a:t>wobble hypothesis</a:t>
            </a:r>
            <a:r>
              <a:rPr lang="en-US" altLang="zh-CN" sz="2800" dirty="0"/>
              <a:t>” in 1966 to explain the pairing features between anticodons and codons:</a:t>
            </a:r>
          </a:p>
          <a:p>
            <a:pPr lvl="1" eaLnBrk="1" hangingPunct="1">
              <a:defRPr/>
            </a:pPr>
            <a:r>
              <a:rPr lang="en-US" altLang="zh-CN" dirty="0"/>
              <a:t>The first two bases of a codon in mRNA confer most of the coding specificity, the third base can be </a:t>
            </a:r>
            <a:r>
              <a:rPr lang="en-US" altLang="zh-CN" b="1" dirty="0">
                <a:solidFill>
                  <a:srgbClr val="FF0000"/>
                </a:solidFill>
              </a:rPr>
              <a:t>loosely </a:t>
            </a:r>
            <a:r>
              <a:rPr lang="en-US" altLang="zh-CN" dirty="0"/>
              <a:t>paired with the anticodons;</a:t>
            </a:r>
          </a:p>
          <a:p>
            <a:pPr lvl="1" eaLnBrk="1" hangingPunct="1">
              <a:defRPr/>
            </a:pPr>
            <a:r>
              <a:rPr lang="en-US" altLang="zh-CN" u="sng" dirty="0"/>
              <a:t>The </a:t>
            </a:r>
            <a:r>
              <a:rPr lang="en-US" altLang="zh-CN" b="1" u="sng" dirty="0">
                <a:solidFill>
                  <a:srgbClr val="FF0000"/>
                </a:solidFill>
                <a:effectLst>
                  <a:outerShdw blurRad="38100" dist="38100" dir="2700000" algn="tl">
                    <a:srgbClr val="000000"/>
                  </a:outerShdw>
                </a:effectLst>
              </a:rPr>
              <a:t>first</a:t>
            </a:r>
            <a:r>
              <a:rPr lang="en-US" altLang="zh-CN" u="sng" dirty="0">
                <a:solidFill>
                  <a:schemeClr val="accent2">
                    <a:lumMod val="75000"/>
                  </a:schemeClr>
                </a:solidFill>
                <a:effectLst>
                  <a:outerShdw blurRad="38100" dist="38100" dir="2700000" algn="tl">
                    <a:srgbClr val="000000"/>
                  </a:outerShdw>
                </a:effectLst>
              </a:rPr>
              <a:t> </a:t>
            </a:r>
            <a:r>
              <a:rPr lang="en-US" altLang="zh-CN" u="sng" dirty="0"/>
              <a:t>base of some </a:t>
            </a:r>
            <a:r>
              <a:rPr lang="en-US" altLang="zh-CN" b="1" u="sng" dirty="0">
                <a:solidFill>
                  <a:srgbClr val="FF0000"/>
                </a:solidFill>
                <a:effectLst>
                  <a:outerShdw blurRad="38100" dist="38100" dir="2700000" algn="tl">
                    <a:srgbClr val="000000"/>
                  </a:outerShdw>
                </a:effectLst>
              </a:rPr>
              <a:t>anticodons</a:t>
            </a:r>
            <a:r>
              <a:rPr lang="en-US" altLang="zh-CN" u="sng" dirty="0">
                <a:solidFill>
                  <a:schemeClr val="accent2">
                    <a:lumMod val="75000"/>
                  </a:schemeClr>
                </a:solidFill>
              </a:rPr>
              <a:t> </a:t>
            </a:r>
            <a:r>
              <a:rPr lang="en-US" altLang="zh-CN" u="sng" dirty="0"/>
              <a:t>can </a:t>
            </a:r>
            <a:r>
              <a:rPr lang="en-US" altLang="zh-CN" b="1" u="sng" dirty="0">
                <a:solidFill>
                  <a:srgbClr val="FF0000"/>
                </a:solidFill>
              </a:rPr>
              <a:t>wobble</a:t>
            </a:r>
            <a:r>
              <a:rPr lang="en-US" altLang="zh-CN" u="sng" dirty="0"/>
              <a:t> and determines the number of codons</a:t>
            </a:r>
            <a:r>
              <a:rPr lang="en-US" altLang="zh-CN" dirty="0"/>
              <a:t> a given tRNA can read (</a:t>
            </a:r>
            <a:r>
              <a:rPr lang="en-US" altLang="zh-CN" i="1" dirty="0"/>
              <a:t>A and C for one, U and G for two, I for three</a:t>
            </a:r>
            <a:r>
              <a:rPr lang="en-US" altLang="zh-CN" dirty="0"/>
              <a:t>);</a:t>
            </a:r>
          </a:p>
          <a:p>
            <a:pPr lvl="1" eaLnBrk="1" hangingPunct="1">
              <a:defRPr/>
            </a:pPr>
            <a:r>
              <a:rPr lang="en-US" altLang="zh-CN" dirty="0"/>
              <a:t>Codons that specify the same amino acid but differ in either of the first two bases need different </a:t>
            </a:r>
            <a:r>
              <a:rPr lang="en-US" altLang="zh-CN" dirty="0" err="1"/>
              <a:t>tRNAs</a:t>
            </a:r>
            <a:r>
              <a:rPr lang="en-US" altLang="zh-CN" dirty="0"/>
              <a:t>, i.e., a </a:t>
            </a:r>
            <a:r>
              <a:rPr lang="en-US" altLang="zh-CN" dirty="0" err="1"/>
              <a:t>mininum</a:t>
            </a:r>
            <a:r>
              <a:rPr lang="en-US" altLang="zh-CN" dirty="0"/>
              <a:t> of </a:t>
            </a:r>
            <a:r>
              <a:rPr lang="en-US" altLang="zh-CN" b="1" dirty="0">
                <a:solidFill>
                  <a:srgbClr val="FF0000"/>
                </a:solidFill>
                <a:effectLst>
                  <a:outerShdw blurRad="38100" dist="38100" dir="2700000" algn="tl">
                    <a:srgbClr val="000000"/>
                  </a:outerShdw>
                </a:effectLst>
              </a:rPr>
              <a:t>31</a:t>
            </a:r>
            <a:r>
              <a:rPr lang="en-US" altLang="zh-CN" dirty="0"/>
              <a:t> </a:t>
            </a:r>
            <a:r>
              <a:rPr lang="en-US" altLang="zh-CN" dirty="0" err="1"/>
              <a:t>tRNA</a:t>
            </a:r>
            <a:r>
              <a:rPr lang="en-US" altLang="zh-CN" dirty="0"/>
              <a:t> are needed to translate the </a:t>
            </a:r>
            <a:r>
              <a:rPr lang="en-US" altLang="zh-CN" dirty="0">
                <a:solidFill>
                  <a:srgbClr val="FF0000"/>
                </a:solidFill>
              </a:rPr>
              <a:t>61</a:t>
            </a:r>
            <a:r>
              <a:rPr lang="en-US" altLang="zh-CN" dirty="0"/>
              <a:t> codons;</a:t>
            </a:r>
            <a:endParaRPr lang="en-US" altLang="zh-CN" sz="2400" dirty="0"/>
          </a:p>
        </p:txBody>
      </p:sp>
    </p:spTree>
    <p:extLst>
      <p:ext uri="{BB962C8B-B14F-4D97-AF65-F5344CB8AC3E}">
        <p14:creationId xmlns:p14="http://schemas.microsoft.com/office/powerpoint/2010/main" val="18967893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5D9F6D6-BB66-421D-B7FB-73F8D8B18C8B}"/>
              </a:ext>
            </a:extLst>
          </p:cNvPr>
          <p:cNvSpPr>
            <a:spLocks noGrp="1" noChangeArrowheads="1"/>
          </p:cNvSpPr>
          <p:nvPr>
            <p:ph type="body" idx="4294967295"/>
          </p:nvPr>
        </p:nvSpPr>
        <p:spPr>
          <a:xfrm>
            <a:off x="0" y="685800"/>
            <a:ext cx="9144000" cy="4114800"/>
          </a:xfrm>
        </p:spPr>
        <p:txBody>
          <a:bodyPr/>
          <a:lstStyle/>
          <a:p>
            <a:pPr eaLnBrk="1" hangingPunct="1">
              <a:defRPr/>
            </a:pPr>
            <a:r>
              <a:rPr lang="en-US" altLang="zh-CN" dirty="0"/>
              <a:t>This hypothesis has been widely supported by all the evidence gathered (thus the “</a:t>
            </a:r>
            <a:r>
              <a:rPr lang="en-US" altLang="zh-CN" b="1" dirty="0">
                <a:solidFill>
                  <a:srgbClr val="FF0000"/>
                </a:solidFill>
                <a:effectLst>
                  <a:outerShdw blurRad="38100" dist="38100" dir="2700000" algn="tl">
                    <a:srgbClr val="000000"/>
                  </a:outerShdw>
                </a:effectLst>
              </a:rPr>
              <a:t>wobble rule</a:t>
            </a:r>
            <a:r>
              <a:rPr lang="en-US" altLang="zh-CN" dirty="0"/>
              <a:t>”).</a:t>
            </a:r>
          </a:p>
          <a:p>
            <a:pPr eaLnBrk="1" hangingPunct="1">
              <a:defRPr/>
            </a:pPr>
            <a:r>
              <a:rPr lang="en-US" altLang="zh-CN" dirty="0"/>
              <a:t>This moderate pairing strength may serve to optimize both the </a:t>
            </a:r>
            <a:r>
              <a:rPr lang="en-US" altLang="zh-CN" dirty="0">
                <a:solidFill>
                  <a:srgbClr val="FF0000"/>
                </a:solidFill>
                <a:effectLst>
                  <a:outerShdw blurRad="38100" dist="38100" dir="2700000" algn="tl">
                    <a:srgbClr val="000000"/>
                  </a:outerShdw>
                </a:effectLst>
              </a:rPr>
              <a:t>accuracy</a:t>
            </a:r>
            <a:r>
              <a:rPr lang="en-US" altLang="zh-CN" dirty="0"/>
              <a:t> and </a:t>
            </a:r>
            <a:r>
              <a:rPr lang="en-US" altLang="zh-CN" dirty="0">
                <a:solidFill>
                  <a:srgbClr val="FF0000"/>
                </a:solidFill>
                <a:effectLst>
                  <a:outerShdw blurRad="38100" dist="38100" dir="2700000" algn="tl">
                    <a:srgbClr val="000000"/>
                  </a:outerShdw>
                </a:effectLst>
              </a:rPr>
              <a:t>speed</a:t>
            </a:r>
            <a:r>
              <a:rPr lang="en-US" altLang="zh-CN" dirty="0">
                <a:effectLst>
                  <a:outerShdw blurRad="38100" dist="38100" dir="2700000" algn="tl">
                    <a:srgbClr val="000000"/>
                  </a:outerShdw>
                </a:effectLst>
              </a:rPr>
              <a:t> </a:t>
            </a:r>
            <a:r>
              <a:rPr lang="en-US" altLang="zh-CN" dirty="0"/>
              <a:t>of polypeptide synthesis.</a:t>
            </a:r>
          </a:p>
          <a:p>
            <a:pPr eaLnBrk="1" hangingPunct="1">
              <a:defRPr/>
            </a:pPr>
            <a:endParaRPr lang="en-US" altLang="zh-CN" dirty="0"/>
          </a:p>
        </p:txBody>
      </p:sp>
    </p:spTree>
    <p:extLst>
      <p:ext uri="{BB962C8B-B14F-4D97-AF65-F5344CB8AC3E}">
        <p14:creationId xmlns:p14="http://schemas.microsoft.com/office/powerpoint/2010/main" val="3210710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D:\anticodo.jpg">
            <a:extLst>
              <a:ext uri="{FF2B5EF4-FFF2-40B4-BE49-F238E27FC236}">
                <a16:creationId xmlns:a16="http://schemas.microsoft.com/office/drawing/2014/main" id="{C08EF931-AB59-4BCE-91C9-DD3200EC3B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05544"/>
            <a:ext cx="422275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4">
            <a:extLst>
              <a:ext uri="{FF2B5EF4-FFF2-40B4-BE49-F238E27FC236}">
                <a16:creationId xmlns:a16="http://schemas.microsoft.com/office/drawing/2014/main" id="{3B25EFDE-DEC3-4EE0-9F55-533CD9FF5D6F}"/>
              </a:ext>
            </a:extLst>
          </p:cNvPr>
          <p:cNvSpPr>
            <a:spLocks noChangeArrowheads="1"/>
          </p:cNvSpPr>
          <p:nvPr/>
        </p:nvSpPr>
        <p:spPr bwMode="auto">
          <a:xfrm>
            <a:off x="107504" y="4682460"/>
            <a:ext cx="981600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700" b="1" dirty="0"/>
              <a:t>The codon-anticodon pairing between the a mRNA and a</a:t>
            </a:r>
          </a:p>
          <a:p>
            <a:pPr eaLnBrk="1" hangingPunct="1"/>
            <a:r>
              <a:rPr lang="en-US" altLang="zh-CN" sz="2700" b="1" dirty="0" err="1"/>
              <a:t>tRNA</a:t>
            </a:r>
            <a:r>
              <a:rPr lang="en-US" altLang="zh-CN" sz="2700" b="1" dirty="0"/>
              <a:t>: </a:t>
            </a:r>
            <a:r>
              <a:rPr lang="en-US" altLang="zh-CN" sz="2700" b="1" dirty="0">
                <a:solidFill>
                  <a:schemeClr val="accent2">
                    <a:lumMod val="75000"/>
                  </a:schemeClr>
                </a:solidFill>
              </a:rPr>
              <a:t>the presence of an inosinate residue at position one</a:t>
            </a:r>
          </a:p>
          <a:p>
            <a:pPr eaLnBrk="1" hangingPunct="1"/>
            <a:r>
              <a:rPr lang="en-US" altLang="zh-CN" sz="2700" b="1" dirty="0">
                <a:solidFill>
                  <a:schemeClr val="accent2">
                    <a:lumMod val="75000"/>
                  </a:schemeClr>
                </a:solidFill>
              </a:rPr>
              <a:t>in the anticodon allows the </a:t>
            </a:r>
            <a:r>
              <a:rPr lang="en-US" altLang="zh-CN" sz="2700" b="1" dirty="0" err="1">
                <a:solidFill>
                  <a:schemeClr val="accent2">
                    <a:lumMod val="75000"/>
                  </a:schemeClr>
                </a:solidFill>
              </a:rPr>
              <a:t>tRNA</a:t>
            </a:r>
            <a:r>
              <a:rPr lang="en-US" altLang="zh-CN" sz="2700" b="1" dirty="0">
                <a:solidFill>
                  <a:schemeClr val="accent2">
                    <a:lumMod val="75000"/>
                  </a:schemeClr>
                </a:solidFill>
              </a:rPr>
              <a:t> to recognize a few codons.</a:t>
            </a:r>
          </a:p>
        </p:txBody>
      </p:sp>
      <p:pic>
        <p:nvPicPr>
          <p:cNvPr id="33796" name="Picture 5" descr="D:\Biofigures\f27-8b.jpg">
            <a:extLst>
              <a:ext uri="{FF2B5EF4-FFF2-40B4-BE49-F238E27FC236}">
                <a16:creationId xmlns:a16="http://schemas.microsoft.com/office/drawing/2014/main" id="{D2A33301-419E-4B25-B55A-AD7B051027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469" r="13580"/>
          <a:stretch>
            <a:fillRect/>
          </a:stretch>
        </p:blipFill>
        <p:spPr bwMode="auto">
          <a:xfrm>
            <a:off x="3962400" y="2057400"/>
            <a:ext cx="5181600"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F42918D7-F5D2-4BED-8201-4148CAE31456}"/>
              </a:ext>
            </a:extLst>
          </p:cNvPr>
          <p:cNvSpPr txBox="1"/>
          <p:nvPr/>
        </p:nvSpPr>
        <p:spPr>
          <a:xfrm rot="16049377">
            <a:off x="1601149" y="425396"/>
            <a:ext cx="725850" cy="369332"/>
          </a:xfrm>
          <a:prstGeom prst="rect">
            <a:avLst/>
          </a:prstGeom>
          <a:noFill/>
        </p:spPr>
        <p:txBody>
          <a:bodyPr wrap="square" rtlCol="0">
            <a:spAutoFit/>
          </a:bodyPr>
          <a:lstStyle/>
          <a:p>
            <a:r>
              <a:rPr lang="en-US" altLang="zh-CN" b="1" dirty="0"/>
              <a:t>AA</a:t>
            </a:r>
            <a:endParaRPr lang="zh-CN" altLang="en-US" b="1" dirty="0"/>
          </a:p>
        </p:txBody>
      </p:sp>
      <p:pic>
        <p:nvPicPr>
          <p:cNvPr id="7" name="图片 6">
            <a:hlinkClick r:id="rId5" action="ppaction://hlinksldjump"/>
            <a:extLst>
              <a:ext uri="{FF2B5EF4-FFF2-40B4-BE49-F238E27FC236}">
                <a16:creationId xmlns:a16="http://schemas.microsoft.com/office/drawing/2014/main" id="{B3F17BA9-4D6D-4A1A-9423-493EBADE7506}"/>
              </a:ext>
            </a:extLst>
          </p:cNvPr>
          <p:cNvPicPr>
            <a:picLocks noChangeAspect="1"/>
          </p:cNvPicPr>
          <p:nvPr/>
        </p:nvPicPr>
        <p:blipFill>
          <a:blip r:embed="rId6" cstate="print"/>
          <a:stretch>
            <a:fillRect/>
          </a:stretch>
        </p:blipFill>
        <p:spPr>
          <a:xfrm>
            <a:off x="8759919" y="6573040"/>
            <a:ext cx="384081" cy="310923"/>
          </a:xfrm>
          <a:prstGeom prst="rect">
            <a:avLst/>
          </a:prstGeom>
        </p:spPr>
      </p:pic>
      <p:pic>
        <p:nvPicPr>
          <p:cNvPr id="3" name="图片 2">
            <a:extLst>
              <a:ext uri="{FF2B5EF4-FFF2-40B4-BE49-F238E27FC236}">
                <a16:creationId xmlns:a16="http://schemas.microsoft.com/office/drawing/2014/main" id="{C115E5F9-E2FF-41FF-B2BB-313017082D1A}"/>
              </a:ext>
            </a:extLst>
          </p:cNvPr>
          <p:cNvPicPr>
            <a:picLocks noChangeAspect="1"/>
          </p:cNvPicPr>
          <p:nvPr/>
        </p:nvPicPr>
        <p:blipFill rotWithShape="1">
          <a:blip r:embed="rId7" cstate="print"/>
          <a:srcRect l="66979" t="32150" r="18469" b="46850"/>
          <a:stretch/>
        </p:blipFill>
        <p:spPr>
          <a:xfrm>
            <a:off x="5776987" y="471128"/>
            <a:ext cx="1296144" cy="1440160"/>
          </a:xfrm>
          <a:prstGeom prst="rect">
            <a:avLst/>
          </a:prstGeom>
        </p:spPr>
      </p:pic>
    </p:spTree>
    <p:extLst>
      <p:ext uri="{BB962C8B-B14F-4D97-AF65-F5344CB8AC3E}">
        <p14:creationId xmlns:p14="http://schemas.microsoft.com/office/powerpoint/2010/main" val="3648108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D:\ta26-5.jpg">
            <a:extLst>
              <a:ext uri="{FF2B5EF4-FFF2-40B4-BE49-F238E27FC236}">
                <a16:creationId xmlns:a16="http://schemas.microsoft.com/office/drawing/2014/main" id="{B39C5875-843C-4253-ABA6-EBAC676ADE32}"/>
              </a:ext>
            </a:extLst>
          </p:cNvPr>
          <p:cNvPicPr>
            <a:picLocks noChangeAspect="1" noChangeArrowheads="1"/>
          </p:cNvPicPr>
          <p:nvPr/>
        </p:nvPicPr>
        <p:blipFill>
          <a:blip r:embed="rId3" cstate="print">
            <a:lum contrast="24000"/>
            <a:extLst>
              <a:ext uri="{28A0092B-C50C-407E-A947-70E740481C1C}">
                <a14:useLocalDpi xmlns:a14="http://schemas.microsoft.com/office/drawing/2010/main" val="0"/>
              </a:ext>
            </a:extLst>
          </a:blip>
          <a:srcRect/>
          <a:stretch>
            <a:fillRect/>
          </a:stretch>
        </p:blipFill>
        <p:spPr bwMode="auto">
          <a:xfrm>
            <a:off x="0" y="0"/>
            <a:ext cx="9144000" cy="626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hlinkClick r:id="rId4" action="ppaction://hlinksldjump"/>
            <a:extLst>
              <a:ext uri="{FF2B5EF4-FFF2-40B4-BE49-F238E27FC236}">
                <a16:creationId xmlns:a16="http://schemas.microsoft.com/office/drawing/2014/main" id="{0CE2DA20-FD28-4431-ADCD-32733D409487}"/>
              </a:ext>
            </a:extLst>
          </p:cNvPr>
          <p:cNvPicPr>
            <a:picLocks noChangeAspect="1"/>
          </p:cNvPicPr>
          <p:nvPr/>
        </p:nvPicPr>
        <p:blipFill>
          <a:blip r:embed="rId5" cstate="print"/>
          <a:stretch>
            <a:fillRect/>
          </a:stretch>
        </p:blipFill>
        <p:spPr>
          <a:xfrm>
            <a:off x="8759919" y="6573040"/>
            <a:ext cx="384081" cy="310923"/>
          </a:xfrm>
          <a:prstGeom prst="rect">
            <a:avLst/>
          </a:prstGeom>
        </p:spPr>
      </p:pic>
    </p:spTree>
    <p:extLst>
      <p:ext uri="{BB962C8B-B14F-4D97-AF65-F5344CB8AC3E}">
        <p14:creationId xmlns:p14="http://schemas.microsoft.com/office/powerpoint/2010/main" val="4182487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wobblin.jpg">
            <a:extLst>
              <a:ext uri="{FF2B5EF4-FFF2-40B4-BE49-F238E27FC236}">
                <a16:creationId xmlns:a16="http://schemas.microsoft.com/office/drawing/2014/main" id="{30019A95-7C66-4578-B697-A103D960EC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22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3">
            <a:extLst>
              <a:ext uri="{FF2B5EF4-FFF2-40B4-BE49-F238E27FC236}">
                <a16:creationId xmlns:a16="http://schemas.microsoft.com/office/drawing/2014/main" id="{30C6E50D-952A-433B-AD0C-72E2E7434CA9}"/>
              </a:ext>
            </a:extLst>
          </p:cNvPr>
          <p:cNvSpPr>
            <a:spLocks noChangeArrowheads="1"/>
          </p:cNvSpPr>
          <p:nvPr/>
        </p:nvSpPr>
        <p:spPr bwMode="auto">
          <a:xfrm>
            <a:off x="1371600" y="1143000"/>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rgbClr val="800000"/>
                </a:solidFill>
              </a:rPr>
              <a:t>I</a:t>
            </a:r>
          </a:p>
        </p:txBody>
      </p:sp>
      <p:sp>
        <p:nvSpPr>
          <p:cNvPr id="35844" name="Rectangle 4">
            <a:extLst>
              <a:ext uri="{FF2B5EF4-FFF2-40B4-BE49-F238E27FC236}">
                <a16:creationId xmlns:a16="http://schemas.microsoft.com/office/drawing/2014/main" id="{00290047-76A6-4F1F-A34B-8105D7FF0A24}"/>
              </a:ext>
            </a:extLst>
          </p:cNvPr>
          <p:cNvSpPr>
            <a:spLocks noChangeArrowheads="1"/>
          </p:cNvSpPr>
          <p:nvPr/>
        </p:nvSpPr>
        <p:spPr bwMode="auto">
          <a:xfrm>
            <a:off x="1447800" y="4419600"/>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rgbClr val="800000"/>
                </a:solidFill>
              </a:rPr>
              <a:t>I</a:t>
            </a:r>
          </a:p>
        </p:txBody>
      </p:sp>
      <p:sp>
        <p:nvSpPr>
          <p:cNvPr id="35845" name="Rectangle 5">
            <a:extLst>
              <a:ext uri="{FF2B5EF4-FFF2-40B4-BE49-F238E27FC236}">
                <a16:creationId xmlns:a16="http://schemas.microsoft.com/office/drawing/2014/main" id="{16D58E84-C678-44D5-BFEA-7ED06686671A}"/>
              </a:ext>
            </a:extLst>
          </p:cNvPr>
          <p:cNvSpPr>
            <a:spLocks noChangeArrowheads="1"/>
          </p:cNvSpPr>
          <p:nvPr/>
        </p:nvSpPr>
        <p:spPr bwMode="auto">
          <a:xfrm>
            <a:off x="5867400" y="4419600"/>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rgbClr val="800000"/>
                </a:solidFill>
              </a:rPr>
              <a:t>I</a:t>
            </a:r>
          </a:p>
        </p:txBody>
      </p:sp>
      <p:sp>
        <p:nvSpPr>
          <p:cNvPr id="35846" name="Rectangle 6">
            <a:extLst>
              <a:ext uri="{FF2B5EF4-FFF2-40B4-BE49-F238E27FC236}">
                <a16:creationId xmlns:a16="http://schemas.microsoft.com/office/drawing/2014/main" id="{52EAB6E5-B7F1-44E1-9E16-46B2537279DE}"/>
              </a:ext>
            </a:extLst>
          </p:cNvPr>
          <p:cNvSpPr>
            <a:spLocks noChangeArrowheads="1"/>
          </p:cNvSpPr>
          <p:nvPr/>
        </p:nvSpPr>
        <p:spPr bwMode="auto">
          <a:xfrm>
            <a:off x="2819400" y="1143000"/>
            <a:ext cx="51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chemeClr val="folHlink"/>
                </a:solidFill>
              </a:rPr>
              <a:t>C</a:t>
            </a:r>
          </a:p>
        </p:txBody>
      </p:sp>
      <p:sp>
        <p:nvSpPr>
          <p:cNvPr id="35847" name="Rectangle 7">
            <a:extLst>
              <a:ext uri="{FF2B5EF4-FFF2-40B4-BE49-F238E27FC236}">
                <a16:creationId xmlns:a16="http://schemas.microsoft.com/office/drawing/2014/main" id="{A9F1CA0B-BC80-45AF-84A6-04F74C6D3154}"/>
              </a:ext>
            </a:extLst>
          </p:cNvPr>
          <p:cNvSpPr>
            <a:spLocks noChangeArrowheads="1"/>
          </p:cNvSpPr>
          <p:nvPr/>
        </p:nvSpPr>
        <p:spPr bwMode="auto">
          <a:xfrm>
            <a:off x="2895600" y="3810000"/>
            <a:ext cx="51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chemeClr val="accent2"/>
                </a:solidFill>
              </a:rPr>
              <a:t>U</a:t>
            </a:r>
            <a:endParaRPr lang="en-US" altLang="zh-CN" sz="3600" b="1">
              <a:solidFill>
                <a:srgbClr val="FFFF00"/>
              </a:solidFill>
            </a:endParaRPr>
          </a:p>
        </p:txBody>
      </p:sp>
      <p:sp>
        <p:nvSpPr>
          <p:cNvPr id="35848" name="Rectangle 8">
            <a:extLst>
              <a:ext uri="{FF2B5EF4-FFF2-40B4-BE49-F238E27FC236}">
                <a16:creationId xmlns:a16="http://schemas.microsoft.com/office/drawing/2014/main" id="{6B9C5522-5018-433F-9F1B-943916EC76DF}"/>
              </a:ext>
            </a:extLst>
          </p:cNvPr>
          <p:cNvSpPr>
            <a:spLocks noChangeArrowheads="1"/>
          </p:cNvSpPr>
          <p:nvPr/>
        </p:nvSpPr>
        <p:spPr bwMode="auto">
          <a:xfrm>
            <a:off x="7391400" y="4343400"/>
            <a:ext cx="51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rgbClr val="008000"/>
                </a:solidFill>
              </a:rPr>
              <a:t>A</a:t>
            </a:r>
            <a:endParaRPr lang="en-US" altLang="zh-CN" sz="3600" b="1">
              <a:solidFill>
                <a:srgbClr val="800000"/>
              </a:solidFill>
            </a:endParaRPr>
          </a:p>
        </p:txBody>
      </p:sp>
      <p:sp>
        <p:nvSpPr>
          <p:cNvPr id="35849" name="Rectangle 9">
            <a:extLst>
              <a:ext uri="{FF2B5EF4-FFF2-40B4-BE49-F238E27FC236}">
                <a16:creationId xmlns:a16="http://schemas.microsoft.com/office/drawing/2014/main" id="{814FB7B2-A4A4-4C46-840B-0DDEE7E69120}"/>
              </a:ext>
            </a:extLst>
          </p:cNvPr>
          <p:cNvSpPr>
            <a:spLocks noChangeArrowheads="1"/>
          </p:cNvSpPr>
          <p:nvPr/>
        </p:nvSpPr>
        <p:spPr bwMode="auto">
          <a:xfrm>
            <a:off x="5791200" y="838200"/>
            <a:ext cx="539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rgbClr val="800000"/>
                </a:solidFill>
              </a:rPr>
              <a:t>G</a:t>
            </a:r>
          </a:p>
        </p:txBody>
      </p:sp>
      <p:sp>
        <p:nvSpPr>
          <p:cNvPr id="35850" name="Rectangle 10">
            <a:extLst>
              <a:ext uri="{FF2B5EF4-FFF2-40B4-BE49-F238E27FC236}">
                <a16:creationId xmlns:a16="http://schemas.microsoft.com/office/drawing/2014/main" id="{960632C0-FEFE-4201-9435-BE2A4F25D640}"/>
              </a:ext>
            </a:extLst>
          </p:cNvPr>
          <p:cNvSpPr>
            <a:spLocks noChangeArrowheads="1"/>
          </p:cNvSpPr>
          <p:nvPr/>
        </p:nvSpPr>
        <p:spPr bwMode="auto">
          <a:xfrm>
            <a:off x="7315200" y="457200"/>
            <a:ext cx="51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a:solidFill>
                  <a:srgbClr val="800000"/>
                </a:solidFill>
              </a:rPr>
              <a:t>U</a:t>
            </a:r>
          </a:p>
        </p:txBody>
      </p:sp>
      <p:sp>
        <p:nvSpPr>
          <p:cNvPr id="35851" name="Rectangle 12">
            <a:extLst>
              <a:ext uri="{FF2B5EF4-FFF2-40B4-BE49-F238E27FC236}">
                <a16:creationId xmlns:a16="http://schemas.microsoft.com/office/drawing/2014/main" id="{C94B3F4A-A9E2-4139-8363-7575E6596DE5}"/>
              </a:ext>
            </a:extLst>
          </p:cNvPr>
          <p:cNvSpPr>
            <a:spLocks noChangeArrowheads="1"/>
          </p:cNvSpPr>
          <p:nvPr/>
        </p:nvSpPr>
        <p:spPr bwMode="auto">
          <a:xfrm>
            <a:off x="457200" y="2895600"/>
            <a:ext cx="8456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000066"/>
                </a:solidFill>
              </a:rPr>
              <a:t>Possible wobble pairing between anticodon and codon.</a:t>
            </a:r>
            <a:endParaRPr lang="en-US" altLang="zh-CN" sz="3600" b="1">
              <a:solidFill>
                <a:schemeClr val="bg2"/>
              </a:solidFill>
            </a:endParaRPr>
          </a:p>
        </p:txBody>
      </p:sp>
    </p:spTree>
    <p:extLst>
      <p:ext uri="{BB962C8B-B14F-4D97-AF65-F5344CB8AC3E}">
        <p14:creationId xmlns:p14="http://schemas.microsoft.com/office/powerpoint/2010/main" val="1331259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43CC686-13C5-1CEF-2817-63E213A6E4C2}"/>
              </a:ext>
            </a:extLst>
          </p:cNvPr>
          <p:cNvSpPr txBox="1"/>
          <p:nvPr/>
        </p:nvSpPr>
        <p:spPr>
          <a:xfrm>
            <a:off x="1441172" y="2607295"/>
            <a:ext cx="1024639" cy="461665"/>
          </a:xfrm>
          <a:prstGeom prst="rect">
            <a:avLst/>
          </a:prstGeom>
          <a:noFill/>
        </p:spPr>
        <p:txBody>
          <a:bodyPr wrap="none" rtlCol="0">
            <a:spAutoFit/>
          </a:bodyPr>
          <a:lstStyle/>
          <a:p>
            <a:r>
              <a:rPr lang="en-US" altLang="zh-CN" sz="2400" dirty="0"/>
              <a:t>codon</a:t>
            </a:r>
            <a:endParaRPr lang="zh-CN" altLang="en-US" sz="2400" dirty="0"/>
          </a:p>
        </p:txBody>
      </p:sp>
      <p:sp>
        <p:nvSpPr>
          <p:cNvPr id="3" name="文本框 2">
            <a:extLst>
              <a:ext uri="{FF2B5EF4-FFF2-40B4-BE49-F238E27FC236}">
                <a16:creationId xmlns:a16="http://schemas.microsoft.com/office/drawing/2014/main" id="{A7B31990-EF96-780E-0E60-C587371A69AE}"/>
              </a:ext>
            </a:extLst>
          </p:cNvPr>
          <p:cNvSpPr txBox="1"/>
          <p:nvPr/>
        </p:nvSpPr>
        <p:spPr>
          <a:xfrm>
            <a:off x="3419872" y="2607294"/>
            <a:ext cx="920445" cy="461665"/>
          </a:xfrm>
          <a:prstGeom prst="rect">
            <a:avLst/>
          </a:prstGeom>
          <a:noFill/>
        </p:spPr>
        <p:txBody>
          <a:bodyPr wrap="none" rtlCol="0">
            <a:spAutoFit/>
          </a:bodyPr>
          <a:lstStyle/>
          <a:p>
            <a:r>
              <a:rPr lang="en-US" altLang="zh-CN" sz="2400" dirty="0"/>
              <a:t>tRNA</a:t>
            </a:r>
            <a:endParaRPr lang="zh-CN" altLang="en-US" sz="2400" dirty="0"/>
          </a:p>
        </p:txBody>
      </p:sp>
      <p:sp>
        <p:nvSpPr>
          <p:cNvPr id="4" name="文本框 3">
            <a:extLst>
              <a:ext uri="{FF2B5EF4-FFF2-40B4-BE49-F238E27FC236}">
                <a16:creationId xmlns:a16="http://schemas.microsoft.com/office/drawing/2014/main" id="{66620718-DEA2-4A35-8ADB-933B70AEAE11}"/>
              </a:ext>
            </a:extLst>
          </p:cNvPr>
          <p:cNvSpPr txBox="1"/>
          <p:nvPr/>
        </p:nvSpPr>
        <p:spPr>
          <a:xfrm>
            <a:off x="5652120" y="2607293"/>
            <a:ext cx="595035" cy="461665"/>
          </a:xfrm>
          <a:prstGeom prst="rect">
            <a:avLst/>
          </a:prstGeom>
          <a:noFill/>
        </p:spPr>
        <p:txBody>
          <a:bodyPr wrap="none" rtlCol="0">
            <a:spAutoFit/>
          </a:bodyPr>
          <a:lstStyle/>
          <a:p>
            <a:r>
              <a:rPr lang="en-US" altLang="zh-CN" sz="2400" dirty="0"/>
              <a:t>AA</a:t>
            </a:r>
            <a:endParaRPr lang="zh-CN" altLang="en-US" sz="2400" dirty="0"/>
          </a:p>
        </p:txBody>
      </p:sp>
      <p:sp>
        <p:nvSpPr>
          <p:cNvPr id="5" name="文本框 4">
            <a:extLst>
              <a:ext uri="{FF2B5EF4-FFF2-40B4-BE49-F238E27FC236}">
                <a16:creationId xmlns:a16="http://schemas.microsoft.com/office/drawing/2014/main" id="{8998244F-F3F8-E916-7FCC-0BBF64BF1F2D}"/>
              </a:ext>
            </a:extLst>
          </p:cNvPr>
          <p:cNvSpPr txBox="1"/>
          <p:nvPr/>
        </p:nvSpPr>
        <p:spPr>
          <a:xfrm>
            <a:off x="1835696" y="692696"/>
            <a:ext cx="4304383" cy="584775"/>
          </a:xfrm>
          <a:prstGeom prst="rect">
            <a:avLst/>
          </a:prstGeom>
          <a:noFill/>
        </p:spPr>
        <p:txBody>
          <a:bodyPr wrap="none" rtlCol="0">
            <a:spAutoFit/>
          </a:bodyPr>
          <a:lstStyle/>
          <a:p>
            <a:r>
              <a:rPr lang="zh-CN" altLang="en-US" sz="3200" b="1" dirty="0"/>
              <a:t>它们之间的对应关系？</a:t>
            </a:r>
          </a:p>
        </p:txBody>
      </p:sp>
      <p:sp>
        <p:nvSpPr>
          <p:cNvPr id="6" name="文本框 5">
            <a:extLst>
              <a:ext uri="{FF2B5EF4-FFF2-40B4-BE49-F238E27FC236}">
                <a16:creationId xmlns:a16="http://schemas.microsoft.com/office/drawing/2014/main" id="{57A2F87B-C431-FBCD-3F73-15972021A29B}"/>
              </a:ext>
            </a:extLst>
          </p:cNvPr>
          <p:cNvSpPr txBox="1"/>
          <p:nvPr/>
        </p:nvSpPr>
        <p:spPr>
          <a:xfrm>
            <a:off x="4139952" y="2060848"/>
            <a:ext cx="1890261" cy="369332"/>
          </a:xfrm>
          <a:prstGeom prst="rect">
            <a:avLst/>
          </a:prstGeom>
          <a:noFill/>
        </p:spPr>
        <p:txBody>
          <a:bodyPr wrap="none" rtlCol="0">
            <a:spAutoFit/>
          </a:bodyPr>
          <a:lstStyle/>
          <a:p>
            <a:r>
              <a:rPr lang="zh-CN" altLang="en-US" dirty="0"/>
              <a:t>氨酰</a:t>
            </a:r>
            <a:r>
              <a:rPr lang="en-US" altLang="zh-CN" dirty="0"/>
              <a:t>tRNA</a:t>
            </a:r>
            <a:r>
              <a:rPr lang="zh-CN" altLang="en-US" dirty="0"/>
              <a:t>合成酶</a:t>
            </a:r>
          </a:p>
        </p:txBody>
      </p:sp>
    </p:spTree>
    <p:extLst>
      <p:ext uri="{BB962C8B-B14F-4D97-AF65-F5344CB8AC3E}">
        <p14:creationId xmlns:p14="http://schemas.microsoft.com/office/powerpoint/2010/main" val="758291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050">
            <a:extLst>
              <a:ext uri="{FF2B5EF4-FFF2-40B4-BE49-F238E27FC236}">
                <a16:creationId xmlns:a16="http://schemas.microsoft.com/office/drawing/2014/main" id="{B0166A14-ECDB-487E-8B19-F11C533FE0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000" t="8667" r="9000" b="8667"/>
          <a:stretch>
            <a:fillRect/>
          </a:stretch>
        </p:blipFill>
        <p:spPr bwMode="auto">
          <a:xfrm>
            <a:off x="609600" y="489545"/>
            <a:ext cx="7696200" cy="581977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994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075">
            <a:extLst>
              <a:ext uri="{FF2B5EF4-FFF2-40B4-BE49-F238E27FC236}">
                <a16:creationId xmlns:a16="http://schemas.microsoft.com/office/drawing/2014/main" id="{7FF1DC10-7D89-4DBA-BF5E-2D419AD752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000" t="9000" r="9000" b="9000"/>
          <a:stretch>
            <a:fillRect/>
          </a:stretch>
        </p:blipFill>
        <p:spPr bwMode="auto">
          <a:xfrm>
            <a:off x="755576" y="404664"/>
            <a:ext cx="7418784" cy="556408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AC6FF764-7E3E-4926-98F6-12970DCC789B}"/>
              </a:ext>
            </a:extLst>
          </p:cNvPr>
          <p:cNvSpPr txBox="1"/>
          <p:nvPr/>
        </p:nvSpPr>
        <p:spPr>
          <a:xfrm>
            <a:off x="5652120" y="3585790"/>
            <a:ext cx="2160240" cy="923330"/>
          </a:xfrm>
          <a:prstGeom prst="rect">
            <a:avLst/>
          </a:prstGeom>
          <a:noFill/>
        </p:spPr>
        <p:txBody>
          <a:bodyPr wrap="square" rtlCol="0">
            <a:spAutoFit/>
          </a:bodyPr>
          <a:lstStyle/>
          <a:p>
            <a:r>
              <a:rPr lang="en-US" altLang="zh-CN" b="1" dirty="0">
                <a:solidFill>
                  <a:srgbClr val="FF0000"/>
                </a:solidFill>
              </a:rPr>
              <a:t>Genetic code</a:t>
            </a:r>
          </a:p>
          <a:p>
            <a:endParaRPr lang="en-US" altLang="zh-CN" b="1" dirty="0">
              <a:solidFill>
                <a:srgbClr val="FF0000"/>
              </a:solidFill>
            </a:endParaRPr>
          </a:p>
          <a:p>
            <a:r>
              <a:rPr lang="en-US" altLang="zh-CN" b="1" dirty="0" err="1">
                <a:solidFill>
                  <a:srgbClr val="FF0000"/>
                </a:solidFill>
              </a:rPr>
              <a:t>tRNA</a:t>
            </a:r>
            <a:r>
              <a:rPr lang="en-US" altLang="zh-CN" b="1" dirty="0">
                <a:solidFill>
                  <a:srgbClr val="FF0000"/>
                </a:solidFill>
              </a:rPr>
              <a:t> / </a:t>
            </a:r>
            <a:r>
              <a:rPr lang="en-US" altLang="zh-CN" b="1" dirty="0" err="1">
                <a:solidFill>
                  <a:srgbClr val="FF0000"/>
                </a:solidFill>
              </a:rPr>
              <a:t>anticodon</a:t>
            </a:r>
            <a:r>
              <a:rPr lang="en-US" altLang="zh-CN" b="1" dirty="0">
                <a:solidFill>
                  <a:srgbClr val="FF0000"/>
                </a:solidFill>
              </a:rPr>
              <a:t> </a:t>
            </a:r>
            <a:endParaRPr lang="zh-CN" altLang="en-US" b="1" dirty="0">
              <a:solidFill>
                <a:srgbClr val="FF0000"/>
              </a:solidFill>
            </a:endParaRPr>
          </a:p>
        </p:txBody>
      </p:sp>
    </p:spTree>
    <p:extLst>
      <p:ext uri="{BB962C8B-B14F-4D97-AF65-F5344CB8AC3E}">
        <p14:creationId xmlns:p14="http://schemas.microsoft.com/office/powerpoint/2010/main" val="82945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227C9D1-9A39-4F00-9083-BC090BA75295}"/>
              </a:ext>
            </a:extLst>
          </p:cNvPr>
          <p:cNvSpPr txBox="1"/>
          <p:nvPr/>
        </p:nvSpPr>
        <p:spPr>
          <a:xfrm>
            <a:off x="683568" y="908720"/>
            <a:ext cx="7443063" cy="3798412"/>
          </a:xfrm>
          <a:prstGeom prst="rect">
            <a:avLst/>
          </a:prstGeom>
          <a:noFill/>
        </p:spPr>
        <p:txBody>
          <a:bodyPr wrap="none" rtlCol="0">
            <a:spAutoFit/>
          </a:bodyPr>
          <a:lstStyle/>
          <a:p>
            <a:r>
              <a:rPr lang="zh-CN" altLang="en-US" sz="3600" dirty="0">
                <a:solidFill>
                  <a:srgbClr val="C00000"/>
                </a:solidFill>
                <a:latin typeface="Arial" panose="020B0604020202020204" pitchFamily="34" charset="0"/>
                <a:cs typeface="Arial" panose="020B0604020202020204" pitchFamily="34" charset="0"/>
              </a:rPr>
              <a:t>小结：</a:t>
            </a:r>
            <a:endParaRPr lang="en-US" altLang="zh-CN" sz="3600" dirty="0">
              <a:solidFill>
                <a:srgbClr val="C00000"/>
              </a:solidFill>
              <a:latin typeface="Arial" panose="020B0604020202020204" pitchFamily="34" charset="0"/>
              <a:cs typeface="Arial" panose="020B0604020202020204" pitchFamily="34" charset="0"/>
            </a:endParaRPr>
          </a:p>
          <a:p>
            <a:pPr marL="742950" indent="-742950">
              <a:lnSpc>
                <a:spcPct val="200000"/>
              </a:lnSpc>
              <a:buAutoNum type="arabicPeriod"/>
            </a:pPr>
            <a:r>
              <a:rPr lang="zh-CN" altLang="en-US" sz="3600" dirty="0">
                <a:solidFill>
                  <a:srgbClr val="C00000"/>
                </a:solidFill>
                <a:latin typeface="Arial" panose="020B0604020202020204" pitchFamily="34" charset="0"/>
                <a:cs typeface="Arial" panose="020B0604020202020204" pitchFamily="34" charset="0"/>
              </a:rPr>
              <a:t>遗传密码的基本性质 </a:t>
            </a:r>
            <a:endParaRPr lang="en-US" altLang="zh-CN" sz="3600" dirty="0">
              <a:solidFill>
                <a:srgbClr val="C00000"/>
              </a:solidFill>
              <a:latin typeface="Arial" panose="020B0604020202020204" pitchFamily="34" charset="0"/>
              <a:cs typeface="Arial" panose="020B0604020202020204" pitchFamily="34" charset="0"/>
            </a:endParaRPr>
          </a:p>
          <a:p>
            <a:pPr>
              <a:lnSpc>
                <a:spcPct val="200000"/>
              </a:lnSpc>
            </a:pPr>
            <a:r>
              <a:rPr lang="en-US" altLang="zh-CN" sz="3600" dirty="0">
                <a:solidFill>
                  <a:srgbClr val="C00000"/>
                </a:solidFill>
                <a:latin typeface="Arial" panose="020B0604020202020204" pitchFamily="34" charset="0"/>
                <a:cs typeface="Arial" panose="020B0604020202020204" pitchFamily="34" charset="0"/>
              </a:rPr>
              <a:t>  </a:t>
            </a:r>
            <a:r>
              <a:rPr lang="zh-CN" altLang="en-US" sz="3600" dirty="0">
                <a:solidFill>
                  <a:srgbClr val="C00000"/>
                </a:solidFill>
                <a:latin typeface="Arial" panose="020B0604020202020204" pitchFamily="34" charset="0"/>
                <a:cs typeface="Arial" panose="020B0604020202020204" pitchFamily="34" charset="0"/>
              </a:rPr>
              <a:t>（</a:t>
            </a:r>
            <a:r>
              <a:rPr lang="en-US" altLang="zh-CN" sz="3600" dirty="0">
                <a:solidFill>
                  <a:srgbClr val="C00000"/>
                </a:solidFill>
                <a:latin typeface="Arial" panose="020B0604020202020204" pitchFamily="34" charset="0"/>
                <a:cs typeface="Arial" panose="020B0604020202020204" pitchFamily="34" charset="0"/>
              </a:rPr>
              <a:t>the features of genetic codon</a:t>
            </a:r>
            <a:r>
              <a:rPr lang="zh-CN" altLang="en-US" sz="3600" dirty="0">
                <a:solidFill>
                  <a:srgbClr val="C00000"/>
                </a:solidFill>
                <a:latin typeface="Arial" panose="020B0604020202020204" pitchFamily="34" charset="0"/>
                <a:cs typeface="Arial" panose="020B0604020202020204" pitchFamily="34" charset="0"/>
              </a:rPr>
              <a:t>）</a:t>
            </a:r>
            <a:r>
              <a:rPr lang="en-US" altLang="zh-CN" sz="3600" dirty="0">
                <a:solidFill>
                  <a:srgbClr val="C00000"/>
                </a:solidFill>
                <a:latin typeface="Arial" panose="020B0604020202020204" pitchFamily="34" charset="0"/>
                <a:cs typeface="Arial" panose="020B0604020202020204" pitchFamily="34" charset="0"/>
              </a:rPr>
              <a:t>;</a:t>
            </a:r>
          </a:p>
          <a:p>
            <a:pPr eaLnBrk="1" hangingPunct="1">
              <a:lnSpc>
                <a:spcPct val="200000"/>
              </a:lnSpc>
              <a:defRPr/>
            </a:pPr>
            <a:r>
              <a:rPr lang="en-US" altLang="zh-CN" sz="3600" dirty="0">
                <a:solidFill>
                  <a:srgbClr val="C00000"/>
                </a:solidFill>
                <a:latin typeface="Arial" panose="020B0604020202020204" pitchFamily="34" charset="0"/>
                <a:cs typeface="Arial" panose="020B0604020202020204" pitchFamily="34" charset="0"/>
              </a:rPr>
              <a:t>2. Anticodons wobble hypothesis</a:t>
            </a:r>
            <a:endParaRPr lang="zh-CN" altLang="en-US" sz="36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037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DAFE5FC-5737-407E-B7F7-6C7E75AA1B9D}"/>
              </a:ext>
            </a:extLst>
          </p:cNvPr>
          <p:cNvSpPr>
            <a:spLocks noGrp="1" noChangeArrowheads="1"/>
          </p:cNvSpPr>
          <p:nvPr>
            <p:ph type="title" idx="4294967295"/>
          </p:nvPr>
        </p:nvSpPr>
        <p:spPr>
          <a:xfrm>
            <a:off x="0" y="228600"/>
            <a:ext cx="9144000" cy="1143000"/>
          </a:xfrm>
        </p:spPr>
        <p:txBody>
          <a:bodyPr/>
          <a:lstStyle/>
          <a:p>
            <a:pPr eaLnBrk="1" hangingPunct="1"/>
            <a:r>
              <a:rPr lang="en-US" altLang="zh-CN" sz="4000" b="1" dirty="0">
                <a:solidFill>
                  <a:schemeClr val="accent2">
                    <a:lumMod val="75000"/>
                  </a:schemeClr>
                </a:solidFill>
              </a:rPr>
              <a:t>4. The synthesis of a protein can be divided into five stages</a:t>
            </a:r>
          </a:p>
        </p:txBody>
      </p:sp>
      <p:sp>
        <p:nvSpPr>
          <p:cNvPr id="37891" name="Rectangle 3">
            <a:extLst>
              <a:ext uri="{FF2B5EF4-FFF2-40B4-BE49-F238E27FC236}">
                <a16:creationId xmlns:a16="http://schemas.microsoft.com/office/drawing/2014/main" id="{C190A3F6-9054-4B28-8961-FF44A12F1868}"/>
              </a:ext>
            </a:extLst>
          </p:cNvPr>
          <p:cNvSpPr>
            <a:spLocks noGrp="1" noChangeArrowheads="1"/>
          </p:cNvSpPr>
          <p:nvPr>
            <p:ph type="body" idx="4294967295"/>
          </p:nvPr>
        </p:nvSpPr>
        <p:spPr>
          <a:xfrm>
            <a:off x="0" y="1700808"/>
            <a:ext cx="8915400" cy="4114800"/>
          </a:xfrm>
        </p:spPr>
        <p:txBody>
          <a:bodyPr/>
          <a:lstStyle/>
          <a:p>
            <a:pPr eaLnBrk="1" hangingPunct="1"/>
            <a:r>
              <a:rPr lang="en-US" altLang="zh-CN" dirty="0"/>
              <a:t>Each amino acid is first covalently attached to a specific </a:t>
            </a:r>
            <a:r>
              <a:rPr lang="en-US" altLang="zh-CN" dirty="0" err="1"/>
              <a:t>tRNA</a:t>
            </a:r>
            <a:r>
              <a:rPr lang="en-US" altLang="zh-CN" dirty="0"/>
              <a:t> molecule in a reaction catalyzed by a specific aminoacyl-</a:t>
            </a:r>
            <a:r>
              <a:rPr lang="en-US" altLang="zh-CN" dirty="0" err="1"/>
              <a:t>tRNA</a:t>
            </a:r>
            <a:r>
              <a:rPr lang="en-US" altLang="zh-CN" dirty="0"/>
              <a:t> synthetase (</a:t>
            </a:r>
            <a:r>
              <a:rPr lang="en-US" altLang="zh-CN" dirty="0">
                <a:solidFill>
                  <a:schemeClr val="accent2">
                    <a:lumMod val="75000"/>
                  </a:schemeClr>
                </a:solidFill>
              </a:rPr>
              <a:t>Stage 1</a:t>
            </a:r>
            <a:r>
              <a:rPr lang="zh-CN" altLang="en-US" dirty="0">
                <a:solidFill>
                  <a:schemeClr val="accent2">
                    <a:lumMod val="75000"/>
                  </a:schemeClr>
                </a:solidFill>
              </a:rPr>
              <a:t>氨基酸的活化 （</a:t>
            </a:r>
            <a:r>
              <a:rPr lang="en-US" altLang="zh-CN" dirty="0">
                <a:solidFill>
                  <a:schemeClr val="accent2">
                    <a:lumMod val="75000"/>
                  </a:schemeClr>
                </a:solidFill>
              </a:rPr>
              <a:t>Activation of Amino Acids</a:t>
            </a:r>
            <a:r>
              <a:rPr lang="zh-CN" altLang="en-US" dirty="0">
                <a:solidFill>
                  <a:schemeClr val="accent2">
                    <a:lumMod val="75000"/>
                  </a:schemeClr>
                </a:solidFill>
              </a:rPr>
              <a:t>）</a:t>
            </a:r>
            <a:r>
              <a:rPr lang="en-US" altLang="zh-CN" dirty="0"/>
              <a:t>).</a:t>
            </a:r>
          </a:p>
          <a:p>
            <a:pPr eaLnBrk="1" hangingPunct="1"/>
            <a:r>
              <a:rPr lang="en-US" altLang="zh-CN" dirty="0"/>
              <a:t>The mRNA then binds to the smaller subunit of the ribosome, after which the initiating aminoacyl-</a:t>
            </a:r>
            <a:r>
              <a:rPr lang="en-US" altLang="zh-CN" dirty="0" err="1"/>
              <a:t>tRNA</a:t>
            </a:r>
            <a:r>
              <a:rPr lang="en-US" altLang="zh-CN" dirty="0"/>
              <a:t> and the large subunits of the ribosome will bind in turn to form the initiating complex (</a:t>
            </a:r>
            <a:r>
              <a:rPr lang="en-US" altLang="zh-CN" dirty="0">
                <a:solidFill>
                  <a:schemeClr val="accent2">
                    <a:lumMod val="75000"/>
                  </a:schemeClr>
                </a:solidFill>
              </a:rPr>
              <a:t>Stage 2</a:t>
            </a:r>
            <a:r>
              <a:rPr lang="zh-CN" altLang="en-US" dirty="0">
                <a:solidFill>
                  <a:schemeClr val="accent2">
                    <a:lumMod val="75000"/>
                  </a:schemeClr>
                </a:solidFill>
              </a:rPr>
              <a:t>合成的起始（</a:t>
            </a:r>
            <a:r>
              <a:rPr lang="en-US" altLang="zh-CN" dirty="0">
                <a:solidFill>
                  <a:schemeClr val="accent2">
                    <a:lumMod val="75000"/>
                  </a:schemeClr>
                </a:solidFill>
              </a:rPr>
              <a:t>initiation</a:t>
            </a:r>
            <a:r>
              <a:rPr lang="zh-CN" altLang="en-US" dirty="0">
                <a:solidFill>
                  <a:schemeClr val="accent2">
                    <a:lumMod val="75000"/>
                  </a:schemeClr>
                </a:solidFill>
              </a:rPr>
              <a:t>）</a:t>
            </a:r>
            <a:r>
              <a:rPr lang="en-US" altLang="zh-CN" dirty="0"/>
              <a:t>)</a:t>
            </a:r>
          </a:p>
        </p:txBody>
      </p:sp>
    </p:spTree>
    <p:extLst>
      <p:ext uri="{BB962C8B-B14F-4D97-AF65-F5344CB8AC3E}">
        <p14:creationId xmlns:p14="http://schemas.microsoft.com/office/powerpoint/2010/main" val="2604191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5B824EE-778E-43A9-828B-D37EDD5FBC52}"/>
              </a:ext>
            </a:extLst>
          </p:cNvPr>
          <p:cNvSpPr>
            <a:spLocks noGrp="1" noChangeArrowheads="1"/>
          </p:cNvSpPr>
          <p:nvPr>
            <p:ph type="body" idx="4294967295"/>
          </p:nvPr>
        </p:nvSpPr>
        <p:spPr>
          <a:xfrm>
            <a:off x="0" y="260648"/>
            <a:ext cx="9144000" cy="5029200"/>
          </a:xfrm>
        </p:spPr>
        <p:txBody>
          <a:bodyPr/>
          <a:lstStyle/>
          <a:p>
            <a:pPr eaLnBrk="1" hangingPunct="1">
              <a:lnSpc>
                <a:spcPct val="90000"/>
              </a:lnSpc>
            </a:pPr>
            <a:r>
              <a:rPr lang="en-US" altLang="zh-CN" dirty="0"/>
              <a:t>The first peptide bond is then formed after the second aminoacyl-</a:t>
            </a:r>
            <a:r>
              <a:rPr lang="en-US" altLang="zh-CN" dirty="0" err="1"/>
              <a:t>tRNA</a:t>
            </a:r>
            <a:r>
              <a:rPr lang="en-US" altLang="zh-CN" dirty="0"/>
              <a:t> is recruited with help of the elongation factors, and the chain is then further elongated (</a:t>
            </a:r>
            <a:r>
              <a:rPr lang="en-US" altLang="zh-CN" dirty="0">
                <a:solidFill>
                  <a:schemeClr val="accent2">
                    <a:lumMod val="75000"/>
                  </a:schemeClr>
                </a:solidFill>
              </a:rPr>
              <a:t>stage 3 </a:t>
            </a:r>
            <a:r>
              <a:rPr lang="zh-CN" altLang="en-US" dirty="0">
                <a:solidFill>
                  <a:schemeClr val="accent2">
                    <a:lumMod val="75000"/>
                  </a:schemeClr>
                </a:solidFill>
              </a:rPr>
              <a:t>合成的延伸（</a:t>
            </a:r>
            <a:r>
              <a:rPr lang="en-US" altLang="zh-CN" dirty="0">
                <a:solidFill>
                  <a:schemeClr val="accent2">
                    <a:lumMod val="75000"/>
                  </a:schemeClr>
                </a:solidFill>
              </a:rPr>
              <a:t>elongation</a:t>
            </a:r>
            <a:r>
              <a:rPr lang="zh-CN" altLang="en-US" dirty="0">
                <a:solidFill>
                  <a:schemeClr val="accent2">
                    <a:lumMod val="75000"/>
                  </a:schemeClr>
                </a:solidFill>
              </a:rPr>
              <a:t>）</a:t>
            </a:r>
            <a:r>
              <a:rPr lang="en-US" altLang="zh-CN" dirty="0"/>
              <a:t>).</a:t>
            </a:r>
          </a:p>
          <a:p>
            <a:pPr eaLnBrk="1" hangingPunct="1">
              <a:lnSpc>
                <a:spcPct val="90000"/>
              </a:lnSpc>
            </a:pPr>
            <a:r>
              <a:rPr lang="en-US" altLang="zh-CN" dirty="0"/>
              <a:t>When a stop codon (UAA, UAG, and UGA) is met, the extension of the polypeptide chain will come to a stop and is released from the ribosome with help from release factors (</a:t>
            </a:r>
            <a:r>
              <a:rPr lang="en-US" altLang="zh-CN" dirty="0">
                <a:solidFill>
                  <a:schemeClr val="accent2">
                    <a:lumMod val="75000"/>
                  </a:schemeClr>
                </a:solidFill>
              </a:rPr>
              <a:t>Stage 4</a:t>
            </a:r>
            <a:r>
              <a:rPr lang="zh-CN" altLang="en-US" dirty="0">
                <a:solidFill>
                  <a:schemeClr val="accent2">
                    <a:lumMod val="75000"/>
                  </a:schemeClr>
                </a:solidFill>
              </a:rPr>
              <a:t>合成的终止（</a:t>
            </a:r>
            <a:r>
              <a:rPr lang="en-US" altLang="zh-CN" dirty="0">
                <a:solidFill>
                  <a:schemeClr val="accent2">
                    <a:lumMod val="75000"/>
                  </a:schemeClr>
                </a:solidFill>
              </a:rPr>
              <a:t>termination and release</a:t>
            </a:r>
            <a:r>
              <a:rPr lang="zh-CN" altLang="en-US" dirty="0">
                <a:solidFill>
                  <a:schemeClr val="accent2">
                    <a:lumMod val="75000"/>
                  </a:schemeClr>
                </a:solidFill>
              </a:rPr>
              <a:t>）</a:t>
            </a:r>
            <a:r>
              <a:rPr lang="en-US" altLang="zh-CN" dirty="0"/>
              <a:t>).</a:t>
            </a:r>
          </a:p>
          <a:p>
            <a:pPr eaLnBrk="1" hangingPunct="1">
              <a:lnSpc>
                <a:spcPct val="90000"/>
              </a:lnSpc>
            </a:pPr>
            <a:r>
              <a:rPr lang="en-US" altLang="zh-CN" dirty="0"/>
              <a:t>The newly synthesized polypeptide chain has to be folded and modified (in many cases) before becoming a functional protein (</a:t>
            </a:r>
            <a:r>
              <a:rPr lang="en-US" altLang="zh-CN" dirty="0">
                <a:solidFill>
                  <a:schemeClr val="accent2">
                    <a:lumMod val="75000"/>
                  </a:schemeClr>
                </a:solidFill>
              </a:rPr>
              <a:t>Stage 5 </a:t>
            </a:r>
            <a:r>
              <a:rPr lang="zh-CN" altLang="en-US" dirty="0">
                <a:solidFill>
                  <a:schemeClr val="accent2">
                    <a:lumMod val="75000"/>
                  </a:schemeClr>
                </a:solidFill>
              </a:rPr>
              <a:t>翻译后修饰（</a:t>
            </a:r>
            <a:r>
              <a:rPr lang="en-US" altLang="zh-CN" dirty="0">
                <a:solidFill>
                  <a:schemeClr val="accent2">
                    <a:lumMod val="75000"/>
                  </a:schemeClr>
                </a:solidFill>
              </a:rPr>
              <a:t>Folding and Posttranslational Processing</a:t>
            </a:r>
            <a:r>
              <a:rPr lang="zh-CN" altLang="en-US" dirty="0">
                <a:solidFill>
                  <a:schemeClr val="accent2">
                    <a:lumMod val="75000"/>
                  </a:schemeClr>
                </a:solidFill>
              </a:rPr>
              <a:t>）</a:t>
            </a:r>
            <a:r>
              <a:rPr lang="en-US" altLang="zh-CN" dirty="0"/>
              <a:t>).</a:t>
            </a:r>
          </a:p>
        </p:txBody>
      </p:sp>
    </p:spTree>
    <p:extLst>
      <p:ext uri="{BB962C8B-B14F-4D97-AF65-F5344CB8AC3E}">
        <p14:creationId xmlns:p14="http://schemas.microsoft.com/office/powerpoint/2010/main" val="18482252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CB0CD89-4039-40D0-BE0C-6A128FCCCB55}"/>
              </a:ext>
            </a:extLst>
          </p:cNvPr>
          <p:cNvSpPr>
            <a:spLocks noGrp="1" noChangeArrowheads="1"/>
          </p:cNvSpPr>
          <p:nvPr>
            <p:ph type="title" idx="4294967295"/>
          </p:nvPr>
        </p:nvSpPr>
        <p:spPr>
          <a:xfrm>
            <a:off x="0" y="228600"/>
            <a:ext cx="9144000" cy="1905000"/>
          </a:xfrm>
        </p:spPr>
        <p:txBody>
          <a:bodyPr/>
          <a:lstStyle/>
          <a:p>
            <a:pPr eaLnBrk="1" hangingPunct="1">
              <a:defRPr/>
            </a:pPr>
            <a:r>
              <a:rPr lang="en-US" altLang="zh-CN" sz="4000" b="1" dirty="0">
                <a:solidFill>
                  <a:schemeClr val="accent2">
                    <a:lumMod val="75000"/>
                  </a:schemeClr>
                </a:solidFill>
              </a:rPr>
              <a:t>5. The 20 </a:t>
            </a:r>
            <a:r>
              <a:rPr lang="en-US" altLang="zh-CN" sz="4000" b="1" dirty="0">
                <a:solidFill>
                  <a:schemeClr val="accent2">
                    <a:lumMod val="75000"/>
                  </a:schemeClr>
                </a:solidFill>
                <a:effectLst>
                  <a:outerShdw blurRad="38100" dist="38100" dir="2700000" algn="tl">
                    <a:srgbClr val="000000"/>
                  </a:outerShdw>
                </a:effectLst>
              </a:rPr>
              <a:t>aminoacyl-</a:t>
            </a:r>
            <a:r>
              <a:rPr lang="en-US" altLang="zh-CN" sz="4000" b="1" dirty="0" err="1">
                <a:solidFill>
                  <a:schemeClr val="accent2">
                    <a:lumMod val="75000"/>
                  </a:schemeClr>
                </a:solidFill>
                <a:effectLst>
                  <a:outerShdw blurRad="38100" dist="38100" dir="2700000" algn="tl">
                    <a:srgbClr val="000000"/>
                  </a:outerShdw>
                </a:effectLst>
              </a:rPr>
              <a:t>tRNA</a:t>
            </a:r>
            <a:r>
              <a:rPr lang="en-US" altLang="zh-CN" sz="4000" b="1" dirty="0">
                <a:solidFill>
                  <a:schemeClr val="accent2">
                    <a:lumMod val="75000"/>
                  </a:schemeClr>
                </a:solidFill>
                <a:effectLst>
                  <a:outerShdw blurRad="38100" dist="38100" dir="2700000" algn="tl">
                    <a:srgbClr val="000000"/>
                  </a:outerShdw>
                </a:effectLst>
              </a:rPr>
              <a:t> synthetases</a:t>
            </a:r>
            <a:r>
              <a:rPr lang="en-US" altLang="zh-CN" sz="4000" b="1" dirty="0">
                <a:solidFill>
                  <a:schemeClr val="accent2">
                    <a:lumMod val="75000"/>
                  </a:schemeClr>
                </a:solidFill>
              </a:rPr>
              <a:t> attach the 20 amino acids to one or more specific </a:t>
            </a:r>
            <a:r>
              <a:rPr lang="en-US" altLang="zh-CN" sz="4000" b="1" dirty="0" err="1">
                <a:solidFill>
                  <a:schemeClr val="accent2">
                    <a:lumMod val="75000"/>
                  </a:schemeClr>
                </a:solidFill>
              </a:rPr>
              <a:t>tRNAs</a:t>
            </a:r>
            <a:r>
              <a:rPr lang="en-US" altLang="zh-CN" sz="4000" b="1" dirty="0">
                <a:solidFill>
                  <a:schemeClr val="accent2">
                    <a:lumMod val="75000"/>
                  </a:schemeClr>
                </a:solidFill>
              </a:rPr>
              <a:t> (stage 1)</a:t>
            </a:r>
          </a:p>
        </p:txBody>
      </p:sp>
      <p:sp>
        <p:nvSpPr>
          <p:cNvPr id="129027" name="Rectangle 3">
            <a:extLst>
              <a:ext uri="{FF2B5EF4-FFF2-40B4-BE49-F238E27FC236}">
                <a16:creationId xmlns:a16="http://schemas.microsoft.com/office/drawing/2014/main" id="{9C5E37EE-D870-4397-A07E-83D34362E514}"/>
              </a:ext>
            </a:extLst>
          </p:cNvPr>
          <p:cNvSpPr>
            <a:spLocks noGrp="1" noChangeArrowheads="1"/>
          </p:cNvSpPr>
          <p:nvPr>
            <p:ph type="body" idx="4294967295"/>
          </p:nvPr>
        </p:nvSpPr>
        <p:spPr>
          <a:xfrm>
            <a:off x="0" y="2971800"/>
            <a:ext cx="9144000" cy="2514600"/>
          </a:xfrm>
        </p:spPr>
        <p:txBody>
          <a:bodyPr/>
          <a:lstStyle/>
          <a:p>
            <a:pPr eaLnBrk="1" hangingPunct="1">
              <a:defRPr/>
            </a:pPr>
            <a:r>
              <a:rPr lang="en-US" altLang="zh-CN" dirty="0"/>
              <a:t>An amino acid is first activated to form an </a:t>
            </a:r>
            <a:r>
              <a:rPr lang="en-US" altLang="zh-CN" b="1" dirty="0">
                <a:solidFill>
                  <a:schemeClr val="accent2">
                    <a:lumMod val="75000"/>
                  </a:schemeClr>
                </a:solidFill>
                <a:effectLst>
                  <a:outerShdw blurRad="38100" dist="38100" dir="2700000" algn="tl">
                    <a:srgbClr val="000000"/>
                  </a:outerShdw>
                </a:effectLst>
              </a:rPr>
              <a:t>aminoacyl-AMP</a:t>
            </a:r>
            <a:r>
              <a:rPr lang="en-US" altLang="zh-CN" dirty="0"/>
              <a:t> intermediate, and is then charged to one or more specific </a:t>
            </a:r>
            <a:r>
              <a:rPr lang="en-US" altLang="zh-CN" dirty="0" err="1"/>
              <a:t>tRNAs</a:t>
            </a:r>
            <a:r>
              <a:rPr lang="en-US" altLang="zh-CN" dirty="0"/>
              <a:t> all catalyzed by one such specific aminoacyl-</a:t>
            </a:r>
            <a:r>
              <a:rPr lang="en-US" altLang="zh-CN" dirty="0" err="1"/>
              <a:t>tRNA</a:t>
            </a:r>
            <a:r>
              <a:rPr lang="en-US" altLang="zh-CN" dirty="0"/>
              <a:t> synthetase.</a:t>
            </a:r>
          </a:p>
          <a:p>
            <a:pPr eaLnBrk="1" hangingPunct="1">
              <a:defRPr/>
            </a:pPr>
            <a:endParaRPr lang="en-US" altLang="zh-CN" dirty="0"/>
          </a:p>
        </p:txBody>
      </p:sp>
    </p:spTree>
    <p:extLst>
      <p:ext uri="{BB962C8B-B14F-4D97-AF65-F5344CB8AC3E}">
        <p14:creationId xmlns:p14="http://schemas.microsoft.com/office/powerpoint/2010/main" val="1847186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a:extLst>
              <a:ext uri="{FF2B5EF4-FFF2-40B4-BE49-F238E27FC236}">
                <a16:creationId xmlns:a16="http://schemas.microsoft.com/office/drawing/2014/main" id="{0D33A47F-FB44-4A18-B3A4-F5BB5C557D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6714" r="29158" b="64983"/>
          <a:stretch>
            <a:fillRect/>
          </a:stretch>
        </p:blipFill>
        <p:spPr bwMode="auto">
          <a:xfrm>
            <a:off x="914400" y="685800"/>
            <a:ext cx="784860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723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a:extLst>
              <a:ext uri="{FF2B5EF4-FFF2-40B4-BE49-F238E27FC236}">
                <a16:creationId xmlns:a16="http://schemas.microsoft.com/office/drawing/2014/main" id="{7F89E3E9-995D-4363-AB4A-F4B63B48ED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50000" t="44063"/>
          <a:stretch>
            <a:fillRect/>
          </a:stretch>
        </p:blipFill>
        <p:spPr bwMode="auto">
          <a:xfrm>
            <a:off x="2133600" y="304800"/>
            <a:ext cx="4460875"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6038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a:extLst>
              <a:ext uri="{FF2B5EF4-FFF2-40B4-BE49-F238E27FC236}">
                <a16:creationId xmlns:a16="http://schemas.microsoft.com/office/drawing/2014/main" id="{B71E0CD6-6355-405E-8E8D-49B780C60A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41940" r="48698"/>
          <a:stretch>
            <a:fillRect/>
          </a:stretch>
        </p:blipFill>
        <p:spPr bwMode="auto">
          <a:xfrm>
            <a:off x="2133600" y="228600"/>
            <a:ext cx="4513263"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Rectangle 3">
            <a:extLst>
              <a:ext uri="{FF2B5EF4-FFF2-40B4-BE49-F238E27FC236}">
                <a16:creationId xmlns:a16="http://schemas.microsoft.com/office/drawing/2014/main" id="{3DBA1494-E1AF-4157-BB29-1C4797DFF288}"/>
              </a:ext>
            </a:extLst>
          </p:cNvPr>
          <p:cNvSpPr>
            <a:spLocks noChangeArrowheads="1"/>
          </p:cNvSpPr>
          <p:nvPr/>
        </p:nvSpPr>
        <p:spPr bwMode="auto">
          <a:xfrm>
            <a:off x="4800600" y="5029200"/>
            <a:ext cx="1676400" cy="533400"/>
          </a:xfrm>
          <a:prstGeom prst="rect">
            <a:avLst/>
          </a:prstGeom>
          <a:solidFill>
            <a:srgbClr val="FFFFFF"/>
          </a:solidFill>
          <a:ln w="9525">
            <a:solidFill>
              <a:srgbClr val="FFFF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Tree>
    <p:extLst>
      <p:ext uri="{BB962C8B-B14F-4D97-AF65-F5344CB8AC3E}">
        <p14:creationId xmlns:p14="http://schemas.microsoft.com/office/powerpoint/2010/main" val="31493418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D:\Biofigures\f27-16a.jpg">
            <a:extLst>
              <a:ext uri="{FF2B5EF4-FFF2-40B4-BE49-F238E27FC236}">
                <a16:creationId xmlns:a16="http://schemas.microsoft.com/office/drawing/2014/main" id="{3E35F467-2698-4B19-8329-CFAD457D86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0"/>
            <a:ext cx="4191000"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3" descr="D:\Biofigures\f27-16b.jpg">
            <a:extLst>
              <a:ext uri="{FF2B5EF4-FFF2-40B4-BE49-F238E27FC236}">
                <a16:creationId xmlns:a16="http://schemas.microsoft.com/office/drawing/2014/main" id="{3ECDD4E8-A56B-4BC6-A088-85AB2D0C866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4114800"/>
            <a:ext cx="77724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4" descr="D:\Biofigures\f27-16c.jpg">
            <a:extLst>
              <a:ext uri="{FF2B5EF4-FFF2-40B4-BE49-F238E27FC236}">
                <a16:creationId xmlns:a16="http://schemas.microsoft.com/office/drawing/2014/main" id="{44C72DE4-2427-42BA-8D76-5A355B0A22B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0" y="71437"/>
            <a:ext cx="4495800"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4" name="Rectangle 6">
            <a:extLst>
              <a:ext uri="{FF2B5EF4-FFF2-40B4-BE49-F238E27FC236}">
                <a16:creationId xmlns:a16="http://schemas.microsoft.com/office/drawing/2014/main" id="{78DAEE56-1B30-4463-91B1-4033273E8469}"/>
              </a:ext>
            </a:extLst>
          </p:cNvPr>
          <p:cNvSpPr>
            <a:spLocks noChangeArrowheads="1"/>
          </p:cNvSpPr>
          <p:nvPr/>
        </p:nvSpPr>
        <p:spPr bwMode="auto">
          <a:xfrm>
            <a:off x="4648200" y="2743200"/>
            <a:ext cx="6461291" cy="1077218"/>
          </a:xfrm>
          <a:prstGeom prst="rect">
            <a:avLst/>
          </a:prstGeom>
          <a:noFill/>
          <a:ln w="9525">
            <a:noFill/>
            <a:miter lim="800000"/>
            <a:headEnd/>
            <a:tailEnd/>
          </a:ln>
          <a:effectLst/>
        </p:spPr>
        <p:txBody>
          <a:bodyPr wrap="square">
            <a:spAutoFit/>
          </a:bodyPr>
          <a:lstStyle/>
          <a:p>
            <a:pPr>
              <a:lnSpc>
                <a:spcPct val="80000"/>
              </a:lnSpc>
              <a:defRPr/>
            </a:pPr>
            <a:r>
              <a:rPr lang="en-US" altLang="zh-CN" sz="2000" b="1" dirty="0">
                <a:solidFill>
                  <a:schemeClr val="accent5">
                    <a:lumMod val="75000"/>
                  </a:schemeClr>
                </a:solidFill>
              </a:rPr>
              <a:t>Aminoacyl-</a:t>
            </a:r>
            <a:r>
              <a:rPr lang="en-US" altLang="zh-CN" sz="2000" b="1" dirty="0" err="1">
                <a:solidFill>
                  <a:schemeClr val="accent5">
                    <a:lumMod val="75000"/>
                  </a:schemeClr>
                </a:solidFill>
              </a:rPr>
              <a:t>tRNA</a:t>
            </a:r>
            <a:r>
              <a:rPr lang="en-US" altLang="zh-CN" sz="2000" b="1" dirty="0">
                <a:solidFill>
                  <a:schemeClr val="accent5">
                    <a:lumMod val="75000"/>
                  </a:schemeClr>
                </a:solidFill>
              </a:rPr>
              <a:t> synthetases</a:t>
            </a:r>
          </a:p>
          <a:p>
            <a:pPr>
              <a:lnSpc>
                <a:spcPct val="80000"/>
              </a:lnSpc>
              <a:defRPr/>
            </a:pPr>
            <a:r>
              <a:rPr lang="en-US" altLang="zh-CN" sz="2000" b="1" dirty="0">
                <a:solidFill>
                  <a:schemeClr val="accent5">
                    <a:lumMod val="75000"/>
                  </a:schemeClr>
                </a:solidFill>
              </a:rPr>
              <a:t>can be divided into two classes</a:t>
            </a:r>
          </a:p>
          <a:p>
            <a:pPr>
              <a:lnSpc>
                <a:spcPct val="80000"/>
              </a:lnSpc>
              <a:defRPr/>
            </a:pPr>
            <a:r>
              <a:rPr lang="en-US" altLang="zh-CN" sz="2000" b="1" dirty="0">
                <a:solidFill>
                  <a:schemeClr val="accent5">
                    <a:lumMod val="75000"/>
                  </a:schemeClr>
                </a:solidFill>
              </a:rPr>
              <a:t>based on differences in structure</a:t>
            </a:r>
          </a:p>
          <a:p>
            <a:pPr>
              <a:lnSpc>
                <a:spcPct val="80000"/>
              </a:lnSpc>
              <a:defRPr/>
            </a:pPr>
            <a:r>
              <a:rPr lang="en-US" altLang="zh-CN" sz="2000" b="1" dirty="0">
                <a:solidFill>
                  <a:schemeClr val="accent5">
                    <a:lumMod val="75000"/>
                  </a:schemeClr>
                </a:solidFill>
              </a:rPr>
              <a:t>and reaction mechanisms.</a:t>
            </a:r>
          </a:p>
        </p:txBody>
      </p:sp>
    </p:spTree>
    <p:extLst>
      <p:ext uri="{BB962C8B-B14F-4D97-AF65-F5344CB8AC3E}">
        <p14:creationId xmlns:p14="http://schemas.microsoft.com/office/powerpoint/2010/main" val="981216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50694EE0-BE01-4CF8-808E-8747AF1DABFB}"/>
              </a:ext>
            </a:extLst>
          </p:cNvPr>
          <p:cNvSpPr txBox="1">
            <a:spLocks noChangeArrowheads="1"/>
          </p:cNvSpPr>
          <p:nvPr/>
        </p:nvSpPr>
        <p:spPr bwMode="auto">
          <a:xfrm>
            <a:off x="0" y="1143000"/>
            <a:ext cx="91440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t>(1)Amino acid + ATP          aminoacyl-AMP +</a:t>
            </a:r>
            <a:r>
              <a:rPr lang="en-US" altLang="zh-CN" sz="2800" dirty="0" err="1"/>
              <a:t>PPi</a:t>
            </a:r>
            <a:endParaRPr lang="en-US" altLang="zh-CN" sz="2800" dirty="0"/>
          </a:p>
          <a:p>
            <a:pPr eaLnBrk="1" hangingPunct="1">
              <a:spcBef>
                <a:spcPct val="50000"/>
              </a:spcBef>
            </a:pPr>
            <a:r>
              <a:rPr lang="en-US" altLang="zh-CN" sz="2800" dirty="0"/>
              <a:t>(2)Aminoacyl-AMP + tRNA          aminoacyl-tRNA + AMP</a:t>
            </a:r>
          </a:p>
          <a:p>
            <a:pPr eaLnBrk="1" hangingPunct="1">
              <a:spcBef>
                <a:spcPct val="50000"/>
              </a:spcBef>
            </a:pPr>
            <a:endParaRPr lang="en-US" altLang="zh-CN" sz="2800" dirty="0"/>
          </a:p>
          <a:p>
            <a:pPr eaLnBrk="1" hangingPunct="1">
              <a:spcBef>
                <a:spcPct val="50000"/>
              </a:spcBef>
            </a:pPr>
            <a:r>
              <a:rPr lang="en-US" altLang="zh-CN" sz="2800" dirty="0"/>
              <a:t>The overall reaction is </a:t>
            </a:r>
          </a:p>
          <a:p>
            <a:pPr eaLnBrk="1" hangingPunct="1">
              <a:spcBef>
                <a:spcPct val="50000"/>
              </a:spcBef>
            </a:pPr>
            <a:r>
              <a:rPr lang="en-US" altLang="zh-CN" sz="2800" dirty="0"/>
              <a:t>Amino acid + ATP + tRNA     aminoacyl-tRNA + AMP +</a:t>
            </a:r>
            <a:r>
              <a:rPr lang="en-US" altLang="zh-CN" sz="2800" dirty="0" err="1"/>
              <a:t>PPi</a:t>
            </a:r>
            <a:endParaRPr lang="en-US" altLang="zh-CN" sz="2800" dirty="0"/>
          </a:p>
        </p:txBody>
      </p:sp>
      <p:sp>
        <p:nvSpPr>
          <p:cNvPr id="45059" name="Line 3">
            <a:extLst>
              <a:ext uri="{FF2B5EF4-FFF2-40B4-BE49-F238E27FC236}">
                <a16:creationId xmlns:a16="http://schemas.microsoft.com/office/drawing/2014/main" id="{97768A6F-304F-40C0-B04B-DBDB73911181}"/>
              </a:ext>
            </a:extLst>
          </p:cNvPr>
          <p:cNvSpPr>
            <a:spLocks noChangeShapeType="1"/>
          </p:cNvSpPr>
          <p:nvPr/>
        </p:nvSpPr>
        <p:spPr bwMode="auto">
          <a:xfrm>
            <a:off x="3352800" y="1447800"/>
            <a:ext cx="685800" cy="0"/>
          </a:xfrm>
          <a:prstGeom prst="line">
            <a:avLst/>
          </a:prstGeom>
          <a:noFill/>
          <a:ln w="571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60" name="Line 4">
            <a:extLst>
              <a:ext uri="{FF2B5EF4-FFF2-40B4-BE49-F238E27FC236}">
                <a16:creationId xmlns:a16="http://schemas.microsoft.com/office/drawing/2014/main" id="{4CEC1363-0BFE-48F4-8567-B7954882B921}"/>
              </a:ext>
            </a:extLst>
          </p:cNvPr>
          <p:cNvSpPr>
            <a:spLocks noChangeShapeType="1"/>
          </p:cNvSpPr>
          <p:nvPr/>
        </p:nvSpPr>
        <p:spPr bwMode="auto">
          <a:xfrm>
            <a:off x="4267200" y="2057400"/>
            <a:ext cx="685800" cy="0"/>
          </a:xfrm>
          <a:prstGeom prst="line">
            <a:avLst/>
          </a:prstGeom>
          <a:noFill/>
          <a:ln w="571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61" name="Line 5">
            <a:extLst>
              <a:ext uri="{FF2B5EF4-FFF2-40B4-BE49-F238E27FC236}">
                <a16:creationId xmlns:a16="http://schemas.microsoft.com/office/drawing/2014/main" id="{0C4100D0-420D-4C75-AC97-B3C4B87E9F62}"/>
              </a:ext>
            </a:extLst>
          </p:cNvPr>
          <p:cNvSpPr>
            <a:spLocks noChangeShapeType="1"/>
          </p:cNvSpPr>
          <p:nvPr/>
        </p:nvSpPr>
        <p:spPr bwMode="auto">
          <a:xfrm>
            <a:off x="3994150" y="4038600"/>
            <a:ext cx="457200" cy="0"/>
          </a:xfrm>
          <a:prstGeom prst="line">
            <a:avLst/>
          </a:prstGeom>
          <a:noFill/>
          <a:ln w="571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extLst>
      <p:ext uri="{BB962C8B-B14F-4D97-AF65-F5344CB8AC3E}">
        <p14:creationId xmlns:p14="http://schemas.microsoft.com/office/powerpoint/2010/main" val="23924453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D:\aminoas1.jpg">
            <a:extLst>
              <a:ext uri="{FF2B5EF4-FFF2-40B4-BE49-F238E27FC236}">
                <a16:creationId xmlns:a16="http://schemas.microsoft.com/office/drawing/2014/main" id="{5585C4EA-38AD-4E0C-8184-C3E149EFF9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7088" y="0"/>
            <a:ext cx="40655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3" name="Picture 3" descr="D:\aminoas2.jpg">
            <a:extLst>
              <a:ext uri="{FF2B5EF4-FFF2-40B4-BE49-F238E27FC236}">
                <a16:creationId xmlns:a16="http://schemas.microsoft.com/office/drawing/2014/main" id="{CE6AF5C9-CF78-4DC4-93E2-775FCFBC28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800" y="0"/>
            <a:ext cx="37131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4">
            <a:extLst>
              <a:ext uri="{FF2B5EF4-FFF2-40B4-BE49-F238E27FC236}">
                <a16:creationId xmlns:a16="http://schemas.microsoft.com/office/drawing/2014/main" id="{26C6D46E-4B6D-4EB0-AEC9-0BFE895A3D68}"/>
              </a:ext>
            </a:extLst>
          </p:cNvPr>
          <p:cNvSpPr>
            <a:spLocks noChangeArrowheads="1"/>
          </p:cNvSpPr>
          <p:nvPr/>
        </p:nvSpPr>
        <p:spPr bwMode="auto">
          <a:xfrm>
            <a:off x="1295400" y="0"/>
            <a:ext cx="21383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FFFF"/>
                </a:solidFill>
              </a:rPr>
              <a:t>Aminoacyl-tRNA </a:t>
            </a:r>
          </a:p>
          <a:p>
            <a:pPr eaLnBrk="1" hangingPunct="1"/>
            <a:r>
              <a:rPr lang="en-US" altLang="zh-CN" sz="2000" b="1" dirty="0">
                <a:solidFill>
                  <a:srgbClr val="00FFFF"/>
                </a:solidFill>
              </a:rPr>
              <a:t>synthetase</a:t>
            </a:r>
            <a:endParaRPr lang="en-US" altLang="zh-CN" sz="2000" b="1" dirty="0">
              <a:solidFill>
                <a:srgbClr val="CC0000"/>
              </a:solidFill>
            </a:endParaRPr>
          </a:p>
        </p:txBody>
      </p:sp>
      <p:sp>
        <p:nvSpPr>
          <p:cNvPr id="46085" name="Rectangle 5">
            <a:extLst>
              <a:ext uri="{FF2B5EF4-FFF2-40B4-BE49-F238E27FC236}">
                <a16:creationId xmlns:a16="http://schemas.microsoft.com/office/drawing/2014/main" id="{34D81F0B-CB3E-4873-9D2A-95BA464F8E89}"/>
              </a:ext>
            </a:extLst>
          </p:cNvPr>
          <p:cNvSpPr>
            <a:spLocks noChangeArrowheads="1"/>
          </p:cNvSpPr>
          <p:nvPr/>
        </p:nvSpPr>
        <p:spPr bwMode="auto">
          <a:xfrm>
            <a:off x="1219200" y="1524000"/>
            <a:ext cx="19224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chemeClr val="accent2"/>
                </a:solidFill>
              </a:rPr>
              <a:t>3 binding sites</a:t>
            </a:r>
          </a:p>
          <a:p>
            <a:pPr eaLnBrk="1" hangingPunct="1"/>
            <a:r>
              <a:rPr lang="en-US" altLang="zh-CN" sz="2000" b="1" dirty="0">
                <a:solidFill>
                  <a:schemeClr val="accent2"/>
                </a:solidFill>
              </a:rPr>
              <a:t>in the active site</a:t>
            </a:r>
          </a:p>
        </p:txBody>
      </p:sp>
      <p:sp>
        <p:nvSpPr>
          <p:cNvPr id="46086" name="Rectangle 7">
            <a:extLst>
              <a:ext uri="{FF2B5EF4-FFF2-40B4-BE49-F238E27FC236}">
                <a16:creationId xmlns:a16="http://schemas.microsoft.com/office/drawing/2014/main" id="{BFDF500D-7FF7-4595-A043-BD022545561A}"/>
              </a:ext>
            </a:extLst>
          </p:cNvPr>
          <p:cNvSpPr>
            <a:spLocks noChangeArrowheads="1"/>
          </p:cNvSpPr>
          <p:nvPr/>
        </p:nvSpPr>
        <p:spPr bwMode="auto">
          <a:xfrm>
            <a:off x="4724400" y="4419600"/>
            <a:ext cx="1314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CC0000"/>
                </a:solidFill>
              </a:rPr>
              <a:t>Aminoacyl-</a:t>
            </a:r>
          </a:p>
          <a:p>
            <a:pPr eaLnBrk="1" hangingPunct="1"/>
            <a:r>
              <a:rPr lang="en-US" altLang="zh-CN" sz="1800" b="1">
                <a:solidFill>
                  <a:srgbClr val="CC0000"/>
                </a:solidFill>
              </a:rPr>
              <a:t>tRNA</a:t>
            </a:r>
          </a:p>
        </p:txBody>
      </p:sp>
    </p:spTree>
    <p:extLst>
      <p:ext uri="{BB962C8B-B14F-4D97-AF65-F5344CB8AC3E}">
        <p14:creationId xmlns:p14="http://schemas.microsoft.com/office/powerpoint/2010/main" val="3595423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D:\Biofigures\f27-17.jpg">
            <a:extLst>
              <a:ext uri="{FF2B5EF4-FFF2-40B4-BE49-F238E27FC236}">
                <a16:creationId xmlns:a16="http://schemas.microsoft.com/office/drawing/2014/main" id="{005D8308-5943-4DC2-948A-0CBE4E0DEE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6629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4">
            <a:extLst>
              <a:ext uri="{FF2B5EF4-FFF2-40B4-BE49-F238E27FC236}">
                <a16:creationId xmlns:a16="http://schemas.microsoft.com/office/drawing/2014/main" id="{0524B34B-6691-488F-A302-DE4FA5BC1CDB}"/>
              </a:ext>
            </a:extLst>
          </p:cNvPr>
          <p:cNvSpPr>
            <a:spLocks noChangeArrowheads="1"/>
          </p:cNvSpPr>
          <p:nvPr/>
        </p:nvSpPr>
        <p:spPr bwMode="auto">
          <a:xfrm>
            <a:off x="4568825" y="3717925"/>
            <a:ext cx="4575175" cy="3140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solidFill>
                  <a:schemeClr val="accent5">
                    <a:lumMod val="75000"/>
                  </a:schemeClr>
                </a:solidFill>
              </a:rPr>
              <a:t>Each amino acid is </a:t>
            </a:r>
          </a:p>
          <a:p>
            <a:pPr eaLnBrk="1" hangingPunct="1"/>
            <a:r>
              <a:rPr lang="en-US" altLang="zh-CN" sz="4000" b="1" dirty="0">
                <a:solidFill>
                  <a:schemeClr val="accent5">
                    <a:lumMod val="75000"/>
                  </a:schemeClr>
                </a:solidFill>
              </a:rPr>
              <a:t>specifically attached</a:t>
            </a:r>
          </a:p>
          <a:p>
            <a:pPr eaLnBrk="1" hangingPunct="1"/>
            <a:r>
              <a:rPr lang="en-US" altLang="zh-CN" sz="4000" b="1" dirty="0">
                <a:solidFill>
                  <a:schemeClr val="accent5">
                    <a:lumMod val="75000"/>
                  </a:schemeClr>
                </a:solidFill>
              </a:rPr>
              <a:t>to a specific </a:t>
            </a:r>
            <a:r>
              <a:rPr lang="en-US" altLang="zh-CN" sz="4000" b="1" dirty="0" err="1">
                <a:solidFill>
                  <a:schemeClr val="accent5">
                    <a:lumMod val="75000"/>
                  </a:schemeClr>
                </a:solidFill>
              </a:rPr>
              <a:t>tRNA</a:t>
            </a:r>
            <a:endParaRPr lang="en-US" altLang="zh-CN" sz="4000" b="1" dirty="0">
              <a:solidFill>
                <a:schemeClr val="accent5">
                  <a:lumMod val="75000"/>
                </a:schemeClr>
              </a:solidFill>
            </a:endParaRPr>
          </a:p>
          <a:p>
            <a:pPr eaLnBrk="1" hangingPunct="1"/>
            <a:r>
              <a:rPr lang="en-US" altLang="zh-CN" sz="4000" b="1" dirty="0">
                <a:solidFill>
                  <a:schemeClr val="accent5">
                    <a:lumMod val="75000"/>
                  </a:schemeClr>
                </a:solidFill>
              </a:rPr>
              <a:t>before used for </a:t>
            </a:r>
          </a:p>
          <a:p>
            <a:pPr eaLnBrk="1" hangingPunct="1"/>
            <a:r>
              <a:rPr lang="en-US" altLang="zh-CN" sz="4000" b="1" dirty="0">
                <a:solidFill>
                  <a:schemeClr val="accent5">
                    <a:lumMod val="75000"/>
                  </a:schemeClr>
                </a:solidFill>
              </a:rPr>
              <a:t>protein synthesis</a:t>
            </a:r>
          </a:p>
        </p:txBody>
      </p:sp>
      <p:sp>
        <p:nvSpPr>
          <p:cNvPr id="47108" name="Rectangle 5">
            <a:extLst>
              <a:ext uri="{FF2B5EF4-FFF2-40B4-BE49-F238E27FC236}">
                <a16:creationId xmlns:a16="http://schemas.microsoft.com/office/drawing/2014/main" id="{910C4AF1-03D1-4ACD-92E2-1B729D9E309E}"/>
              </a:ext>
            </a:extLst>
          </p:cNvPr>
          <p:cNvSpPr>
            <a:spLocks noChangeArrowheads="1"/>
          </p:cNvSpPr>
          <p:nvPr/>
        </p:nvSpPr>
        <p:spPr bwMode="auto">
          <a:xfrm>
            <a:off x="7237413" y="685800"/>
            <a:ext cx="19065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b="1" dirty="0">
                <a:solidFill>
                  <a:schemeClr val="accent2">
                    <a:lumMod val="75000"/>
                  </a:schemeClr>
                </a:solidFill>
              </a:rPr>
              <a:t>Stage 1</a:t>
            </a:r>
          </a:p>
        </p:txBody>
      </p:sp>
    </p:spTree>
    <p:extLst>
      <p:ext uri="{BB962C8B-B14F-4D97-AF65-F5344CB8AC3E}">
        <p14:creationId xmlns:p14="http://schemas.microsoft.com/office/powerpoint/2010/main" val="24747588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79AB3BF8-FC97-4AEB-B8E0-DB832D6C5455}"/>
              </a:ext>
            </a:extLst>
          </p:cNvPr>
          <p:cNvSpPr txBox="1">
            <a:spLocks noChangeArrowheads="1"/>
          </p:cNvSpPr>
          <p:nvPr/>
        </p:nvSpPr>
        <p:spPr bwMode="auto">
          <a:xfrm>
            <a:off x="304800" y="304800"/>
            <a:ext cx="8839200" cy="21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chemeClr val="accent2">
                    <a:lumMod val="75000"/>
                  </a:schemeClr>
                </a:solidFill>
              </a:rPr>
              <a:t>6. Translation in prokaryotes begins by the formation of a complex. </a:t>
            </a:r>
          </a:p>
          <a:p>
            <a:pPr eaLnBrk="1" hangingPunct="1">
              <a:spcBef>
                <a:spcPct val="50000"/>
              </a:spcBef>
            </a:pPr>
            <a:r>
              <a:rPr lang="en-US" altLang="zh-CN" sz="3600" b="1" dirty="0">
                <a:solidFill>
                  <a:schemeClr val="accent5">
                    <a:lumMod val="75000"/>
                  </a:schemeClr>
                </a:solidFill>
              </a:rPr>
              <a:t>(Stage 2  Initiation of protein synthesis)</a:t>
            </a:r>
          </a:p>
        </p:txBody>
      </p:sp>
      <p:sp>
        <p:nvSpPr>
          <p:cNvPr id="133124" name="Rectangle 4">
            <a:extLst>
              <a:ext uri="{FF2B5EF4-FFF2-40B4-BE49-F238E27FC236}">
                <a16:creationId xmlns:a16="http://schemas.microsoft.com/office/drawing/2014/main" id="{60C72799-3631-470A-8118-441A28269815}"/>
              </a:ext>
            </a:extLst>
          </p:cNvPr>
          <p:cNvSpPr>
            <a:spLocks noChangeArrowheads="1"/>
          </p:cNvSpPr>
          <p:nvPr/>
        </p:nvSpPr>
        <p:spPr bwMode="auto">
          <a:xfrm>
            <a:off x="457200" y="3048000"/>
            <a:ext cx="7772400" cy="2209800"/>
          </a:xfrm>
          <a:prstGeom prst="rect">
            <a:avLst/>
          </a:prstGeom>
          <a:noFill/>
          <a:ln w="9525">
            <a:noFill/>
            <a:miter lim="800000"/>
            <a:headEnd/>
            <a:tailEnd/>
          </a:ln>
        </p:spPr>
        <p:txBody>
          <a:bodyPr anchor="ctr"/>
          <a:lstStyle/>
          <a:p>
            <a:pPr>
              <a:defRPr/>
            </a:pPr>
            <a:r>
              <a:rPr lang="en-US" altLang="zh-CN" sz="3200" b="1" dirty="0">
                <a:solidFill>
                  <a:schemeClr val="accent5">
                    <a:lumMod val="75000"/>
                  </a:schemeClr>
                </a:solidFill>
              </a:rPr>
              <a:t>The </a:t>
            </a:r>
            <a:r>
              <a:rPr lang="en-US" altLang="zh-CN" sz="3200" b="1" dirty="0">
                <a:solidFill>
                  <a:schemeClr val="accent5">
                    <a:lumMod val="75000"/>
                  </a:schemeClr>
                </a:solidFill>
                <a:effectLst>
                  <a:outerShdw blurRad="38100" dist="38100" dir="2700000" algn="tl">
                    <a:srgbClr val="000000"/>
                  </a:outerShdw>
                </a:effectLst>
              </a:rPr>
              <a:t>Shine-Dalgarno sequence</a:t>
            </a:r>
            <a:r>
              <a:rPr lang="en-US" altLang="zh-CN" sz="3200" b="1" dirty="0">
                <a:solidFill>
                  <a:schemeClr val="accent5">
                    <a:lumMod val="75000"/>
                  </a:schemeClr>
                </a:solidFill>
              </a:rPr>
              <a:t> and a nearby AUG marks the start site of translation on a bacterial mRNA.</a:t>
            </a:r>
            <a:endParaRPr lang="en-US" altLang="zh-CN" sz="3200" dirty="0">
              <a:solidFill>
                <a:schemeClr val="accent5">
                  <a:lumMod val="75000"/>
                </a:schemeClr>
              </a:solidFill>
            </a:endParaRPr>
          </a:p>
        </p:txBody>
      </p:sp>
    </p:spTree>
    <p:extLst>
      <p:ext uri="{BB962C8B-B14F-4D97-AF65-F5344CB8AC3E}">
        <p14:creationId xmlns:p14="http://schemas.microsoft.com/office/powerpoint/2010/main" val="25593133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3" descr="&#10;F27-23.GIF046                                                  00006E11Sumanas' Hard Drive            B4EBCDA7:">
            <a:extLst>
              <a:ext uri="{FF2B5EF4-FFF2-40B4-BE49-F238E27FC236}">
                <a16:creationId xmlns:a16="http://schemas.microsoft.com/office/drawing/2014/main" id="{E0824361-AD84-4C71-86FC-EED0BB893B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57200"/>
            <a:ext cx="8915400"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8" name="Rectangle 4">
            <a:extLst>
              <a:ext uri="{FF2B5EF4-FFF2-40B4-BE49-F238E27FC236}">
                <a16:creationId xmlns:a16="http://schemas.microsoft.com/office/drawing/2014/main" id="{D021862F-6353-4E22-8D11-BAFDC8B047EE}"/>
              </a:ext>
            </a:extLst>
          </p:cNvPr>
          <p:cNvSpPr>
            <a:spLocks noChangeArrowheads="1"/>
          </p:cNvSpPr>
          <p:nvPr/>
        </p:nvSpPr>
        <p:spPr bwMode="auto">
          <a:xfrm>
            <a:off x="0" y="4437112"/>
            <a:ext cx="9078126" cy="1384995"/>
          </a:xfrm>
          <a:prstGeom prst="rect">
            <a:avLst/>
          </a:prstGeom>
          <a:noFill/>
          <a:ln w="9525">
            <a:noFill/>
            <a:miter lim="800000"/>
            <a:headEnd/>
            <a:tailEnd/>
          </a:ln>
        </p:spPr>
        <p:txBody>
          <a:bodyPr wrap="none">
            <a:spAutoFit/>
          </a:bodyPr>
          <a:lstStyle/>
          <a:p>
            <a:pPr>
              <a:defRPr/>
            </a:pPr>
            <a:r>
              <a:rPr lang="en-US" altLang="zh-CN" sz="2800" b="1" dirty="0">
                <a:solidFill>
                  <a:schemeClr val="accent5">
                    <a:lumMod val="75000"/>
                  </a:schemeClr>
                </a:solidFill>
              </a:rPr>
              <a:t>A purine-rich </a:t>
            </a:r>
            <a:r>
              <a:rPr lang="en-US" altLang="zh-CN" sz="2800" b="1" dirty="0">
                <a:solidFill>
                  <a:schemeClr val="accent5">
                    <a:lumMod val="75000"/>
                  </a:schemeClr>
                </a:solidFill>
                <a:effectLst>
                  <a:outerShdw blurRad="38100" dist="38100" dir="2700000" algn="tl">
                    <a:srgbClr val="000000"/>
                  </a:outerShdw>
                </a:effectLst>
              </a:rPr>
              <a:t>Shine-</a:t>
            </a:r>
            <a:r>
              <a:rPr lang="en-US" altLang="zh-CN" sz="2800" b="1" dirty="0" err="1">
                <a:solidFill>
                  <a:schemeClr val="accent5">
                    <a:lumMod val="75000"/>
                  </a:schemeClr>
                </a:solidFill>
                <a:effectLst>
                  <a:outerShdw blurRad="38100" dist="38100" dir="2700000" algn="tl">
                    <a:srgbClr val="000000"/>
                  </a:outerShdw>
                </a:effectLst>
              </a:rPr>
              <a:t>Dalgarno</a:t>
            </a:r>
            <a:r>
              <a:rPr lang="en-US" altLang="zh-CN" sz="2800" b="1" dirty="0">
                <a:solidFill>
                  <a:schemeClr val="accent5">
                    <a:lumMod val="75000"/>
                  </a:schemeClr>
                </a:solidFill>
                <a:effectLst>
                  <a:outerShdw blurRad="38100" dist="38100" dir="2700000" algn="tl">
                    <a:srgbClr val="000000"/>
                  </a:outerShdw>
                </a:effectLst>
              </a:rPr>
              <a:t> sequence</a:t>
            </a:r>
            <a:r>
              <a:rPr lang="en-US" altLang="zh-CN" sz="2800" b="1" dirty="0">
                <a:solidFill>
                  <a:schemeClr val="accent5">
                    <a:lumMod val="75000"/>
                  </a:schemeClr>
                </a:solidFill>
              </a:rPr>
              <a:t> and a </a:t>
            </a:r>
            <a:r>
              <a:rPr lang="en-US" altLang="zh-CN" sz="2800" b="1" dirty="0">
                <a:solidFill>
                  <a:schemeClr val="accent5">
                    <a:lumMod val="75000"/>
                  </a:schemeClr>
                </a:solidFill>
                <a:effectLst>
                  <a:outerShdw blurRad="38100" dist="38100" dir="2700000" algn="tl">
                    <a:srgbClr val="000000"/>
                  </a:outerShdw>
                </a:effectLst>
              </a:rPr>
              <a:t>AUG</a:t>
            </a:r>
            <a:endParaRPr lang="en-US" altLang="zh-CN" sz="2800" b="1" dirty="0">
              <a:solidFill>
                <a:schemeClr val="accent5">
                  <a:lumMod val="75000"/>
                </a:schemeClr>
              </a:solidFill>
            </a:endParaRPr>
          </a:p>
          <a:p>
            <a:pPr>
              <a:defRPr/>
            </a:pPr>
            <a:r>
              <a:rPr lang="en-US" altLang="zh-CN" sz="2800" b="1" dirty="0">
                <a:solidFill>
                  <a:schemeClr val="accent5">
                    <a:lumMod val="75000"/>
                  </a:schemeClr>
                </a:solidFill>
              </a:rPr>
              <a:t>codon marks the start site of polypeptide synthesis </a:t>
            </a:r>
          </a:p>
          <a:p>
            <a:pPr>
              <a:defRPr/>
            </a:pPr>
            <a:r>
              <a:rPr lang="en-US" altLang="zh-CN" sz="2800" b="1" dirty="0">
                <a:solidFill>
                  <a:schemeClr val="accent5">
                    <a:lumMod val="75000"/>
                  </a:schemeClr>
                </a:solidFill>
              </a:rPr>
              <a:t>on bacterial mRNA molecules. </a:t>
            </a:r>
          </a:p>
        </p:txBody>
      </p:sp>
    </p:spTree>
    <p:extLst>
      <p:ext uri="{BB962C8B-B14F-4D97-AF65-F5344CB8AC3E}">
        <p14:creationId xmlns:p14="http://schemas.microsoft.com/office/powerpoint/2010/main" val="2634963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D1707850-EB7F-4A7D-A6AD-06FD6BCDEB06}"/>
              </a:ext>
            </a:extLst>
          </p:cNvPr>
          <p:cNvSpPr>
            <a:spLocks noChangeArrowheads="1"/>
          </p:cNvSpPr>
          <p:nvPr/>
        </p:nvSpPr>
        <p:spPr bwMode="auto">
          <a:xfrm>
            <a:off x="0" y="1295400"/>
            <a:ext cx="9144000" cy="4800600"/>
          </a:xfrm>
          <a:prstGeom prst="rect">
            <a:avLst/>
          </a:prstGeom>
          <a:noFill/>
          <a:ln w="9525">
            <a:noFill/>
            <a:miter lim="800000"/>
            <a:headEnd/>
            <a:tailEnd/>
          </a:ln>
          <a:effectLst/>
        </p:spPr>
        <p:txBody>
          <a:bodyPr/>
          <a:lstStyle/>
          <a:p>
            <a:pPr marL="342900" indent="-342900">
              <a:spcBef>
                <a:spcPct val="20000"/>
              </a:spcBef>
              <a:buFontTx/>
              <a:buChar char="•"/>
              <a:defRPr/>
            </a:pPr>
            <a:r>
              <a:rPr lang="en-US" altLang="zh-CN" sz="3200" dirty="0"/>
              <a:t>This purine-rich sequence was found to be complementary to a </a:t>
            </a:r>
            <a:r>
              <a:rPr lang="en-US" altLang="zh-CN" sz="3200" dirty="0">
                <a:effectLst>
                  <a:outerShdw blurRad="38100" dist="38100" dir="2700000" algn="tl">
                    <a:srgbClr val="000000"/>
                  </a:outerShdw>
                </a:effectLst>
              </a:rPr>
              <a:t>pyrimidine-rich</a:t>
            </a:r>
            <a:r>
              <a:rPr lang="en-US" altLang="zh-CN" sz="3200" dirty="0"/>
              <a:t> sequence at the 3`end of the </a:t>
            </a:r>
            <a:r>
              <a:rPr lang="en-US" altLang="zh-CN" sz="3200" dirty="0">
                <a:effectLst>
                  <a:outerShdw blurRad="38100" dist="38100" dir="2700000" algn="tl">
                    <a:srgbClr val="000000"/>
                  </a:outerShdw>
                </a:effectLst>
              </a:rPr>
              <a:t>16S </a:t>
            </a:r>
            <a:r>
              <a:rPr lang="en-US" altLang="zh-CN" sz="3200" dirty="0" err="1">
                <a:effectLst>
                  <a:outerShdw blurRad="38100" dist="38100" dir="2700000" algn="tl">
                    <a:srgbClr val="000000"/>
                  </a:outerShdw>
                </a:effectLst>
              </a:rPr>
              <a:t>rRNA</a:t>
            </a:r>
            <a:r>
              <a:rPr lang="en-US" altLang="zh-CN" sz="3200" dirty="0"/>
              <a:t> present in the 30S subunit of the ribosomes.</a:t>
            </a:r>
          </a:p>
          <a:p>
            <a:pPr marL="342900" indent="-342900">
              <a:spcBef>
                <a:spcPct val="20000"/>
              </a:spcBef>
              <a:buFontTx/>
              <a:buChar char="•"/>
              <a:defRPr/>
            </a:pPr>
            <a:r>
              <a:rPr lang="en-US" altLang="zh-CN" sz="3200" dirty="0"/>
              <a:t>The Shine-</a:t>
            </a:r>
            <a:r>
              <a:rPr lang="en-US" altLang="zh-CN" sz="3200" dirty="0" err="1"/>
              <a:t>Dalgarno</a:t>
            </a:r>
            <a:r>
              <a:rPr lang="en-US" altLang="zh-CN" sz="3200" dirty="0"/>
              <a:t> sequence may thus serve as the </a:t>
            </a:r>
            <a:r>
              <a:rPr lang="en-US" altLang="zh-CN" sz="3200" b="1" dirty="0">
                <a:solidFill>
                  <a:schemeClr val="accent2">
                    <a:lumMod val="75000"/>
                  </a:schemeClr>
                </a:solidFill>
                <a:effectLst>
                  <a:outerShdw blurRad="38100" dist="38100" dir="2700000" algn="tl">
                    <a:srgbClr val="000000"/>
                  </a:outerShdw>
                </a:effectLst>
              </a:rPr>
              <a:t>ribosome binding site</a:t>
            </a:r>
            <a:r>
              <a:rPr lang="en-US" altLang="zh-CN" sz="3200" dirty="0">
                <a:solidFill>
                  <a:schemeClr val="accent2">
                    <a:lumMod val="75000"/>
                  </a:schemeClr>
                </a:solidFill>
              </a:rPr>
              <a:t> </a:t>
            </a:r>
            <a:r>
              <a:rPr lang="en-US" altLang="zh-CN" sz="3200" dirty="0"/>
              <a:t>on bacterial mRNAs</a:t>
            </a:r>
            <a:r>
              <a:rPr lang="en-US" altLang="zh-CN" sz="2800" dirty="0"/>
              <a:t>.</a:t>
            </a:r>
          </a:p>
        </p:txBody>
      </p:sp>
    </p:spTree>
    <p:extLst>
      <p:ext uri="{BB962C8B-B14F-4D97-AF65-F5344CB8AC3E}">
        <p14:creationId xmlns:p14="http://schemas.microsoft.com/office/powerpoint/2010/main" val="4080918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7" name="Picture 3">
            <a:extLst>
              <a:ext uri="{FF2B5EF4-FFF2-40B4-BE49-F238E27FC236}">
                <a16:creationId xmlns:a16="http://schemas.microsoft.com/office/drawing/2014/main" id="{E93EBCE9-C58B-44E5-A776-A8D2C8F91A9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63689"/>
          <a:stretch>
            <a:fillRect/>
          </a:stretch>
        </p:blipFill>
        <p:spPr bwMode="auto">
          <a:xfrm>
            <a:off x="2051720" y="188640"/>
            <a:ext cx="4648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FBE8D1DD-5F37-4F29-B92E-1B3D206C8BF3}"/>
              </a:ext>
            </a:extLst>
          </p:cNvPr>
          <p:cNvPicPr>
            <a:picLocks noChangeAspect="1"/>
          </p:cNvPicPr>
          <p:nvPr/>
        </p:nvPicPr>
        <p:blipFill rotWithShape="1">
          <a:blip r:embed="rId4" cstate="print"/>
          <a:srcRect l="22960" t="35760" r="49213" b="27600"/>
          <a:stretch/>
        </p:blipFill>
        <p:spPr>
          <a:xfrm>
            <a:off x="5617880" y="1628800"/>
            <a:ext cx="1944548" cy="1440159"/>
          </a:xfrm>
          <a:prstGeom prst="rect">
            <a:avLst/>
          </a:prstGeom>
        </p:spPr>
      </p:pic>
      <p:sp>
        <p:nvSpPr>
          <p:cNvPr id="3" name="箭头: 右 2">
            <a:extLst>
              <a:ext uri="{FF2B5EF4-FFF2-40B4-BE49-F238E27FC236}">
                <a16:creationId xmlns:a16="http://schemas.microsoft.com/office/drawing/2014/main" id="{F1EF86C0-8AEF-43C0-9452-38BB40E11E16}"/>
              </a:ext>
            </a:extLst>
          </p:cNvPr>
          <p:cNvSpPr/>
          <p:nvPr/>
        </p:nvSpPr>
        <p:spPr>
          <a:xfrm rot="19635177">
            <a:off x="4990216" y="2888939"/>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CB9E97F-A79E-40CE-9DA2-4B7192FAE424}"/>
              </a:ext>
            </a:extLst>
          </p:cNvPr>
          <p:cNvSpPr/>
          <p:nvPr/>
        </p:nvSpPr>
        <p:spPr>
          <a:xfrm>
            <a:off x="2137656" y="4753516"/>
            <a:ext cx="4572000" cy="1477328"/>
          </a:xfrm>
          <a:prstGeom prst="rect">
            <a:avLst/>
          </a:prstGeom>
        </p:spPr>
        <p:txBody>
          <a:bodyPr>
            <a:spAutoFit/>
          </a:bodyPr>
          <a:lstStyle/>
          <a:p>
            <a:pPr eaLnBrk="1" hangingPunct="1"/>
            <a:r>
              <a:rPr lang="en-US" altLang="zh-CN" dirty="0"/>
              <a:t>Factor IF-3 prevents the 30S and 50S subunits from combining prematurely;</a:t>
            </a:r>
          </a:p>
          <a:p>
            <a:pPr eaLnBrk="1" hangingPunct="1"/>
            <a:endParaRPr lang="en-US" altLang="zh-CN" dirty="0"/>
          </a:p>
          <a:p>
            <a:pPr eaLnBrk="1" hangingPunct="1"/>
            <a:r>
              <a:rPr lang="en-US" altLang="zh-CN" dirty="0"/>
              <a:t>Factor IF-1 binds at the A site and prevents </a:t>
            </a:r>
            <a:r>
              <a:rPr lang="en-US" altLang="zh-CN" dirty="0" err="1"/>
              <a:t>tRNA</a:t>
            </a:r>
            <a:r>
              <a:rPr lang="en-US" altLang="zh-CN" dirty="0"/>
              <a:t> binding at this site during initiation. </a:t>
            </a:r>
          </a:p>
        </p:txBody>
      </p:sp>
    </p:spTree>
    <p:extLst>
      <p:ext uri="{BB962C8B-B14F-4D97-AF65-F5344CB8AC3E}">
        <p14:creationId xmlns:p14="http://schemas.microsoft.com/office/powerpoint/2010/main" val="112623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a:extLst>
              <a:ext uri="{FF2B5EF4-FFF2-40B4-BE49-F238E27FC236}">
                <a16:creationId xmlns:a16="http://schemas.microsoft.com/office/drawing/2014/main" id="{E7E54645-7CBF-42B3-AF60-645BB3025C5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5928" b="35600"/>
          <a:stretch/>
        </p:blipFill>
        <p:spPr bwMode="auto">
          <a:xfrm>
            <a:off x="1763688" y="1340768"/>
            <a:ext cx="5286375" cy="4009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77236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a:extLst>
              <a:ext uri="{FF2B5EF4-FFF2-40B4-BE49-F238E27FC236}">
                <a16:creationId xmlns:a16="http://schemas.microsoft.com/office/drawing/2014/main" id="{E85773D5-CFD7-44E6-BDC4-CB6F6A5CE13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9000" t="9003" r="9000" b="9003"/>
          <a:stretch>
            <a:fillRect/>
          </a:stretch>
        </p:blipFill>
        <p:spPr bwMode="auto">
          <a:xfrm>
            <a:off x="228600" y="332656"/>
            <a:ext cx="8763000" cy="600233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65FCFF21-2B3B-4E1C-85A8-3DF6B07113F7}"/>
              </a:ext>
            </a:extLst>
          </p:cNvPr>
          <p:cNvSpPr txBox="1"/>
          <p:nvPr/>
        </p:nvSpPr>
        <p:spPr>
          <a:xfrm rot="431172">
            <a:off x="3679911" y="1919472"/>
            <a:ext cx="360040" cy="369332"/>
          </a:xfrm>
          <a:prstGeom prst="rect">
            <a:avLst/>
          </a:prstGeom>
          <a:noFill/>
        </p:spPr>
        <p:txBody>
          <a:bodyPr wrap="square" rtlCol="0">
            <a:spAutoFit/>
          </a:bodyPr>
          <a:lstStyle/>
          <a:p>
            <a:r>
              <a:rPr lang="en-US" altLang="zh-CN" dirty="0">
                <a:solidFill>
                  <a:schemeClr val="bg1"/>
                </a:solidFill>
              </a:rPr>
              <a:t>f</a:t>
            </a:r>
            <a:endParaRPr lang="zh-CN" altLang="en-US" dirty="0">
              <a:solidFill>
                <a:schemeClr val="bg1"/>
              </a:solidFill>
            </a:endParaRPr>
          </a:p>
        </p:txBody>
      </p:sp>
    </p:spTree>
    <p:extLst>
      <p:ext uri="{BB962C8B-B14F-4D97-AF65-F5344CB8AC3E}">
        <p14:creationId xmlns:p14="http://schemas.microsoft.com/office/powerpoint/2010/main" val="31870912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a:extLst>
              <a:ext uri="{FF2B5EF4-FFF2-40B4-BE49-F238E27FC236}">
                <a16:creationId xmlns:a16="http://schemas.microsoft.com/office/drawing/2014/main" id="{B7CF71A5-882B-408A-9DBD-8B5E95F4FF0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64897" b="1"/>
          <a:stretch/>
        </p:blipFill>
        <p:spPr bwMode="auto">
          <a:xfrm>
            <a:off x="1763688" y="332656"/>
            <a:ext cx="5688632" cy="5319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63F1D1E-3E3B-42A2-8F9E-0273A7F8E87F}"/>
              </a:ext>
            </a:extLst>
          </p:cNvPr>
          <p:cNvSpPr/>
          <p:nvPr/>
        </p:nvSpPr>
        <p:spPr>
          <a:xfrm>
            <a:off x="1759429" y="5589240"/>
            <a:ext cx="6264696" cy="923330"/>
          </a:xfrm>
          <a:prstGeom prst="rect">
            <a:avLst/>
          </a:prstGeom>
        </p:spPr>
        <p:txBody>
          <a:bodyPr wrap="square">
            <a:spAutoFit/>
          </a:bodyPr>
          <a:lstStyle/>
          <a:p>
            <a:r>
              <a:rPr lang="en-US" altLang="zh-CN" dirty="0"/>
              <a:t>GTP bound to IF-2 is hydrolyzed to GDP and Pi, which are released from the complex. All three initiation factors depart</a:t>
            </a:r>
            <a:br>
              <a:rPr lang="en-US" altLang="zh-CN" dirty="0"/>
            </a:br>
            <a:r>
              <a:rPr lang="en-US" altLang="zh-CN" dirty="0"/>
              <a:t>from the ribosome at this point.</a:t>
            </a:r>
            <a:endParaRPr lang="zh-CN" altLang="en-US" dirty="0"/>
          </a:p>
        </p:txBody>
      </p:sp>
    </p:spTree>
    <p:extLst>
      <p:ext uri="{BB962C8B-B14F-4D97-AF65-F5344CB8AC3E}">
        <p14:creationId xmlns:p14="http://schemas.microsoft.com/office/powerpoint/2010/main" val="37326947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9AC6EAE-395C-48AD-869C-42B87E89FC5C}"/>
              </a:ext>
            </a:extLst>
          </p:cNvPr>
          <p:cNvPicPr>
            <a:picLocks noChangeAspect="1"/>
          </p:cNvPicPr>
          <p:nvPr/>
        </p:nvPicPr>
        <p:blipFill>
          <a:blip r:embed="rId2" cstate="print"/>
          <a:stretch>
            <a:fillRect/>
          </a:stretch>
        </p:blipFill>
        <p:spPr>
          <a:xfrm>
            <a:off x="3428901" y="380736"/>
            <a:ext cx="2286198" cy="6096528"/>
          </a:xfrm>
          <a:prstGeom prst="rect">
            <a:avLst/>
          </a:prstGeom>
        </p:spPr>
      </p:pic>
      <p:sp>
        <p:nvSpPr>
          <p:cNvPr id="3" name="文本框 2">
            <a:extLst>
              <a:ext uri="{FF2B5EF4-FFF2-40B4-BE49-F238E27FC236}">
                <a16:creationId xmlns:a16="http://schemas.microsoft.com/office/drawing/2014/main" id="{17E32F59-671C-4022-A6DE-6048E3CAD43D}"/>
              </a:ext>
            </a:extLst>
          </p:cNvPr>
          <p:cNvSpPr txBox="1"/>
          <p:nvPr/>
        </p:nvSpPr>
        <p:spPr>
          <a:xfrm>
            <a:off x="5940152" y="1988840"/>
            <a:ext cx="1512168" cy="369332"/>
          </a:xfrm>
          <a:prstGeom prst="rect">
            <a:avLst/>
          </a:prstGeom>
          <a:noFill/>
        </p:spPr>
        <p:txBody>
          <a:bodyPr wrap="square" rtlCol="0">
            <a:spAutoFit/>
          </a:bodyPr>
          <a:lstStyle/>
          <a:p>
            <a:r>
              <a:rPr lang="en-US" altLang="zh-CN" dirty="0"/>
              <a:t>30S complex</a:t>
            </a:r>
            <a:endParaRPr lang="zh-CN" altLang="en-US" dirty="0"/>
          </a:p>
        </p:txBody>
      </p:sp>
      <p:sp>
        <p:nvSpPr>
          <p:cNvPr id="4" name="文本框 3">
            <a:extLst>
              <a:ext uri="{FF2B5EF4-FFF2-40B4-BE49-F238E27FC236}">
                <a16:creationId xmlns:a16="http://schemas.microsoft.com/office/drawing/2014/main" id="{B22538D3-0C4D-412A-B078-EF3309D51C22}"/>
              </a:ext>
            </a:extLst>
          </p:cNvPr>
          <p:cNvSpPr txBox="1"/>
          <p:nvPr/>
        </p:nvSpPr>
        <p:spPr>
          <a:xfrm>
            <a:off x="5933982" y="5157192"/>
            <a:ext cx="2880320" cy="369332"/>
          </a:xfrm>
          <a:prstGeom prst="rect">
            <a:avLst/>
          </a:prstGeom>
          <a:noFill/>
        </p:spPr>
        <p:txBody>
          <a:bodyPr wrap="square" rtlCol="0">
            <a:spAutoFit/>
          </a:bodyPr>
          <a:lstStyle/>
          <a:p>
            <a:r>
              <a:rPr lang="en-US" altLang="zh-CN" dirty="0"/>
              <a:t>initiation </a:t>
            </a:r>
            <a:r>
              <a:rPr lang="zh-CN" altLang="en-US" dirty="0"/>
              <a:t>（</a:t>
            </a:r>
            <a:r>
              <a:rPr lang="en-US" altLang="zh-CN" dirty="0"/>
              <a:t>70S</a:t>
            </a:r>
            <a:r>
              <a:rPr lang="zh-CN" altLang="en-US" dirty="0"/>
              <a:t>）</a:t>
            </a:r>
            <a:r>
              <a:rPr lang="en-US" altLang="zh-CN" dirty="0"/>
              <a:t>complex</a:t>
            </a:r>
            <a:endParaRPr lang="zh-CN" altLang="en-US" dirty="0"/>
          </a:p>
        </p:txBody>
      </p:sp>
    </p:spTree>
    <p:extLst>
      <p:ext uri="{BB962C8B-B14F-4D97-AF65-F5344CB8AC3E}">
        <p14:creationId xmlns:p14="http://schemas.microsoft.com/office/powerpoint/2010/main" val="7235088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1026">
            <a:extLst>
              <a:ext uri="{FF2B5EF4-FFF2-40B4-BE49-F238E27FC236}">
                <a16:creationId xmlns:a16="http://schemas.microsoft.com/office/drawing/2014/main" id="{4010B839-170F-4C23-8CAC-B63A6DF45F46}"/>
              </a:ext>
            </a:extLst>
          </p:cNvPr>
          <p:cNvSpPr txBox="1">
            <a:spLocks noChangeArrowheads="1"/>
          </p:cNvSpPr>
          <p:nvPr/>
        </p:nvSpPr>
        <p:spPr bwMode="auto">
          <a:xfrm>
            <a:off x="304800" y="116632"/>
            <a:ext cx="8610600"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en-US" altLang="zh-CN" sz="3200" dirty="0"/>
              <a:t>Each prokaryotic ribosome has three binding sites for </a:t>
            </a:r>
            <a:r>
              <a:rPr lang="en-US" altLang="zh-CN" sz="3200" dirty="0" err="1"/>
              <a:t>tRNA</a:t>
            </a:r>
            <a:r>
              <a:rPr lang="en-US" altLang="zh-CN" sz="3200" dirty="0"/>
              <a:t>. </a:t>
            </a:r>
          </a:p>
          <a:p>
            <a:pPr eaLnBrk="1" hangingPunct="1">
              <a:spcBef>
                <a:spcPct val="50000"/>
              </a:spcBef>
            </a:pPr>
            <a:r>
              <a:rPr lang="en-US" altLang="zh-CN" sz="3200" dirty="0"/>
              <a:t>aminoacyl-</a:t>
            </a:r>
            <a:r>
              <a:rPr lang="en-US" altLang="zh-CN" sz="3200" dirty="0" err="1"/>
              <a:t>tRNA</a:t>
            </a:r>
            <a:r>
              <a:rPr lang="en-US" altLang="zh-CN" sz="3200" dirty="0"/>
              <a:t> binding site	</a:t>
            </a:r>
            <a:r>
              <a:rPr lang="en-US" altLang="zh-CN" sz="3200" b="1" dirty="0">
                <a:solidFill>
                  <a:schemeClr val="accent2">
                    <a:lumMod val="75000"/>
                  </a:schemeClr>
                </a:solidFill>
              </a:rPr>
              <a:t>A site</a:t>
            </a:r>
          </a:p>
          <a:p>
            <a:pPr eaLnBrk="1" hangingPunct="1">
              <a:spcBef>
                <a:spcPct val="50000"/>
              </a:spcBef>
            </a:pPr>
            <a:r>
              <a:rPr lang="en-US" altLang="zh-CN" sz="3200" dirty="0"/>
              <a:t> peptidyl-</a:t>
            </a:r>
            <a:r>
              <a:rPr lang="en-US" altLang="zh-CN" sz="3200" dirty="0" err="1"/>
              <a:t>tRNA</a:t>
            </a:r>
            <a:r>
              <a:rPr lang="en-US" altLang="zh-CN" sz="3200" dirty="0"/>
              <a:t> binding site		</a:t>
            </a:r>
            <a:r>
              <a:rPr lang="en-US" altLang="zh-CN" sz="3200" b="1" dirty="0">
                <a:solidFill>
                  <a:schemeClr val="accent2">
                    <a:lumMod val="75000"/>
                  </a:schemeClr>
                </a:solidFill>
              </a:rPr>
              <a:t>P site</a:t>
            </a:r>
          </a:p>
          <a:p>
            <a:pPr eaLnBrk="1" hangingPunct="1">
              <a:spcBef>
                <a:spcPct val="50000"/>
              </a:spcBef>
            </a:pPr>
            <a:r>
              <a:rPr lang="en-US" altLang="zh-CN" sz="3200" dirty="0"/>
              <a:t> exit site					</a:t>
            </a:r>
            <a:r>
              <a:rPr lang="en-US" altLang="zh-CN" sz="3200" b="1" dirty="0">
                <a:solidFill>
                  <a:schemeClr val="accent2">
                    <a:lumMod val="75000"/>
                  </a:schemeClr>
                </a:solidFill>
              </a:rPr>
              <a:t>E site</a:t>
            </a:r>
          </a:p>
          <a:p>
            <a:pPr eaLnBrk="1" hangingPunct="1">
              <a:spcBef>
                <a:spcPct val="50000"/>
              </a:spcBef>
            </a:pPr>
            <a:endParaRPr lang="en-US" altLang="zh-CN" sz="3200" b="1" dirty="0">
              <a:solidFill>
                <a:srgbClr val="FFFF00"/>
              </a:solidFill>
            </a:endParaRPr>
          </a:p>
          <a:p>
            <a:pPr eaLnBrk="1" hangingPunct="1">
              <a:spcBef>
                <a:spcPct val="50000"/>
              </a:spcBef>
            </a:pPr>
            <a:r>
              <a:rPr lang="en-US" altLang="zh-CN" sz="3200" b="1" dirty="0">
                <a:solidFill>
                  <a:srgbClr val="FFFF00"/>
                </a:solidFill>
              </a:rPr>
              <a:t> </a:t>
            </a:r>
            <a:r>
              <a:rPr lang="en-US" altLang="zh-CN" sz="3200" b="1" dirty="0">
                <a:solidFill>
                  <a:schemeClr val="accent2">
                    <a:lumMod val="75000"/>
                  </a:schemeClr>
                </a:solidFill>
              </a:rPr>
              <a:t>initiation factors			IFs</a:t>
            </a:r>
          </a:p>
          <a:p>
            <a:pPr eaLnBrk="1" hangingPunct="1">
              <a:spcBef>
                <a:spcPct val="50000"/>
              </a:spcBef>
            </a:pPr>
            <a:r>
              <a:rPr lang="en-US" altLang="zh-CN" sz="3200" b="1" dirty="0">
                <a:solidFill>
                  <a:schemeClr val="accent2">
                    <a:lumMod val="75000"/>
                  </a:schemeClr>
                </a:solidFill>
              </a:rPr>
              <a:t>N-formylmethionine			</a:t>
            </a:r>
            <a:r>
              <a:rPr lang="en-US" altLang="zh-CN" sz="3200" b="1" dirty="0" err="1">
                <a:solidFill>
                  <a:schemeClr val="accent2">
                    <a:lumMod val="75000"/>
                  </a:schemeClr>
                </a:solidFill>
              </a:rPr>
              <a:t>fMet</a:t>
            </a:r>
            <a:endParaRPr lang="en-US" altLang="zh-CN" sz="3200" b="1" baseline="-25000" dirty="0">
              <a:solidFill>
                <a:schemeClr val="accent2">
                  <a:lumMod val="75000"/>
                </a:schemeClr>
              </a:solidFill>
            </a:endParaRPr>
          </a:p>
        </p:txBody>
      </p:sp>
    </p:spTree>
    <p:extLst>
      <p:ext uri="{BB962C8B-B14F-4D97-AF65-F5344CB8AC3E}">
        <p14:creationId xmlns:p14="http://schemas.microsoft.com/office/powerpoint/2010/main" val="8536064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a:extLst>
              <a:ext uri="{FF2B5EF4-FFF2-40B4-BE49-F238E27FC236}">
                <a16:creationId xmlns:a16="http://schemas.microsoft.com/office/drawing/2014/main" id="{FE30EAA9-EA6A-46A4-99A1-9C20303B80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8228" y="2065245"/>
            <a:ext cx="2307621" cy="3086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Text Box 3">
            <a:extLst>
              <a:ext uri="{FF2B5EF4-FFF2-40B4-BE49-F238E27FC236}">
                <a16:creationId xmlns:a16="http://schemas.microsoft.com/office/drawing/2014/main" id="{B23D8276-E1C9-499A-A294-E2BC34EE64B8}"/>
              </a:ext>
            </a:extLst>
          </p:cNvPr>
          <p:cNvSpPr txBox="1">
            <a:spLocks noChangeArrowheads="1"/>
          </p:cNvSpPr>
          <p:nvPr/>
        </p:nvSpPr>
        <p:spPr bwMode="auto">
          <a:xfrm>
            <a:off x="755576" y="2444472"/>
            <a:ext cx="2286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b="1" dirty="0">
                <a:latin typeface="Arial" panose="020B0604020202020204" pitchFamily="34" charset="0"/>
              </a:rPr>
              <a:t>起始氨基酸</a:t>
            </a:r>
            <a:endParaRPr kumimoji="0" lang="en-US" altLang="zh-CN" b="1" dirty="0">
              <a:latin typeface="Arial" panose="020B0604020202020204" pitchFamily="34" charset="0"/>
            </a:endParaRPr>
          </a:p>
          <a:p>
            <a:pPr eaLnBrk="1" hangingPunct="1">
              <a:spcBef>
                <a:spcPct val="50000"/>
              </a:spcBef>
            </a:pPr>
            <a:r>
              <a:rPr kumimoji="0" lang="zh-CN" altLang="en-US" b="1" dirty="0">
                <a:solidFill>
                  <a:srgbClr val="FF3399"/>
                </a:solidFill>
                <a:latin typeface="Arial" panose="020B0604020202020204" pitchFamily="34" charset="0"/>
              </a:rPr>
              <a:t>甲酰蛋氨酸</a:t>
            </a:r>
          </a:p>
        </p:txBody>
      </p:sp>
      <p:sp>
        <p:nvSpPr>
          <p:cNvPr id="3" name="矩形 2">
            <a:extLst>
              <a:ext uri="{FF2B5EF4-FFF2-40B4-BE49-F238E27FC236}">
                <a16:creationId xmlns:a16="http://schemas.microsoft.com/office/drawing/2014/main" id="{27E6124E-C390-4BB4-B6B0-9D55A4E8A097}"/>
              </a:ext>
            </a:extLst>
          </p:cNvPr>
          <p:cNvSpPr/>
          <p:nvPr/>
        </p:nvSpPr>
        <p:spPr>
          <a:xfrm>
            <a:off x="35496" y="506538"/>
            <a:ext cx="2502608" cy="461665"/>
          </a:xfrm>
          <a:prstGeom prst="rect">
            <a:avLst/>
          </a:prstGeom>
        </p:spPr>
        <p:txBody>
          <a:bodyPr wrap="none">
            <a:spAutoFit/>
          </a:bodyPr>
          <a:lstStyle/>
          <a:p>
            <a:pPr eaLnBrk="1" hangingPunct="1">
              <a:spcBef>
                <a:spcPct val="50000"/>
              </a:spcBef>
            </a:pPr>
            <a:r>
              <a:rPr lang="zh-CN" altLang="en-US" sz="2400" b="1" dirty="0">
                <a:latin typeface="Arial" panose="020B0604020202020204" pitchFamily="34" charset="0"/>
              </a:rPr>
              <a:t>起始氨酰</a:t>
            </a:r>
            <a:r>
              <a:rPr lang="en-US" altLang="zh-CN" sz="2400" b="1" dirty="0" err="1">
                <a:latin typeface="Arial" panose="020B0604020202020204" pitchFamily="34" charset="0"/>
              </a:rPr>
              <a:t>tRNA</a:t>
            </a:r>
            <a:r>
              <a:rPr lang="zh-CN" altLang="en-US" sz="2400" b="1" dirty="0">
                <a:latin typeface="Arial" panose="020B0604020202020204" pitchFamily="34" charset="0"/>
              </a:rPr>
              <a:t>：</a:t>
            </a:r>
            <a:endParaRPr lang="en-US" altLang="zh-CN" sz="2400" b="1" dirty="0">
              <a:latin typeface="Arial" panose="020B0604020202020204" pitchFamily="34" charset="0"/>
            </a:endParaRPr>
          </a:p>
        </p:txBody>
      </p:sp>
      <p:pic>
        <p:nvPicPr>
          <p:cNvPr id="6" name="图片 5">
            <a:extLst>
              <a:ext uri="{FF2B5EF4-FFF2-40B4-BE49-F238E27FC236}">
                <a16:creationId xmlns:a16="http://schemas.microsoft.com/office/drawing/2014/main" id="{3D173FEF-EF61-4BB1-BBE8-E71367CF0916}"/>
              </a:ext>
            </a:extLst>
          </p:cNvPr>
          <p:cNvPicPr>
            <a:picLocks noChangeAspect="1"/>
          </p:cNvPicPr>
          <p:nvPr/>
        </p:nvPicPr>
        <p:blipFill rotWithShape="1">
          <a:blip r:embed="rId4" cstate="print"/>
          <a:srcRect l="74698" t="52154"/>
          <a:stretch/>
        </p:blipFill>
        <p:spPr>
          <a:xfrm>
            <a:off x="2538104" y="371072"/>
            <a:ext cx="3316590" cy="597131"/>
          </a:xfrm>
          <a:prstGeom prst="rect">
            <a:avLst/>
          </a:prstGeom>
        </p:spPr>
      </p:pic>
      <p:sp>
        <p:nvSpPr>
          <p:cNvPr id="4" name="文本框 3">
            <a:extLst>
              <a:ext uri="{FF2B5EF4-FFF2-40B4-BE49-F238E27FC236}">
                <a16:creationId xmlns:a16="http://schemas.microsoft.com/office/drawing/2014/main" id="{B2A5E274-1BE6-44F2-B388-CE22A55433A0}"/>
              </a:ext>
            </a:extLst>
          </p:cNvPr>
          <p:cNvSpPr txBox="1"/>
          <p:nvPr/>
        </p:nvSpPr>
        <p:spPr>
          <a:xfrm>
            <a:off x="5015094" y="755544"/>
            <a:ext cx="284667" cy="369332"/>
          </a:xfrm>
          <a:prstGeom prst="rect">
            <a:avLst/>
          </a:prstGeom>
          <a:noFill/>
        </p:spPr>
        <p:txBody>
          <a:bodyPr wrap="square" rtlCol="0">
            <a:spAutoFit/>
          </a:bodyPr>
          <a:lstStyle/>
          <a:p>
            <a:r>
              <a:rPr lang="en-US" altLang="zh-CN" dirty="0"/>
              <a:t>f</a:t>
            </a:r>
            <a:endParaRPr lang="zh-CN" altLang="en-US" dirty="0"/>
          </a:p>
        </p:txBody>
      </p:sp>
      <p:grpSp>
        <p:nvGrpSpPr>
          <p:cNvPr id="7" name="组合 6">
            <a:extLst>
              <a:ext uri="{FF2B5EF4-FFF2-40B4-BE49-F238E27FC236}">
                <a16:creationId xmlns:a16="http://schemas.microsoft.com/office/drawing/2014/main" id="{8BD87961-84F1-4E2A-A3E6-D40DD0F5C60C}"/>
              </a:ext>
            </a:extLst>
          </p:cNvPr>
          <p:cNvGrpSpPr/>
          <p:nvPr/>
        </p:nvGrpSpPr>
        <p:grpSpPr>
          <a:xfrm>
            <a:off x="2826136" y="1175685"/>
            <a:ext cx="3028558" cy="597131"/>
            <a:chOff x="3707904" y="1209277"/>
            <a:chExt cx="3028558" cy="597131"/>
          </a:xfrm>
        </p:grpSpPr>
        <p:pic>
          <p:nvPicPr>
            <p:cNvPr id="8" name="图片 7">
              <a:extLst>
                <a:ext uri="{FF2B5EF4-FFF2-40B4-BE49-F238E27FC236}">
                  <a16:creationId xmlns:a16="http://schemas.microsoft.com/office/drawing/2014/main" id="{9F13C3DF-87ED-48B2-A95A-95B4DEB349CA}"/>
                </a:ext>
              </a:extLst>
            </p:cNvPr>
            <p:cNvPicPr>
              <a:picLocks noChangeAspect="1"/>
            </p:cNvPicPr>
            <p:nvPr/>
          </p:nvPicPr>
          <p:blipFill rotWithShape="1">
            <a:blip r:embed="rId4" cstate="print"/>
            <a:srcRect l="76895" t="52154"/>
            <a:stretch/>
          </p:blipFill>
          <p:spPr>
            <a:xfrm>
              <a:off x="3707904" y="1209277"/>
              <a:ext cx="3028558" cy="597131"/>
            </a:xfrm>
            <a:prstGeom prst="rect">
              <a:avLst/>
            </a:prstGeom>
          </p:spPr>
        </p:pic>
        <p:sp>
          <p:nvSpPr>
            <p:cNvPr id="5" name="矩形: 圆角 4">
              <a:extLst>
                <a:ext uri="{FF2B5EF4-FFF2-40B4-BE49-F238E27FC236}">
                  <a16:creationId xmlns:a16="http://schemas.microsoft.com/office/drawing/2014/main" id="{7383BF19-0F72-4B08-80E8-CFDCB035477A}"/>
                </a:ext>
              </a:extLst>
            </p:cNvPr>
            <p:cNvSpPr/>
            <p:nvPr/>
          </p:nvSpPr>
          <p:spPr>
            <a:xfrm>
              <a:off x="5924855" y="1302484"/>
              <a:ext cx="166004" cy="3013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1" name="矩形 10">
            <a:extLst>
              <a:ext uri="{FF2B5EF4-FFF2-40B4-BE49-F238E27FC236}">
                <a16:creationId xmlns:a16="http://schemas.microsoft.com/office/drawing/2014/main" id="{734E19C9-15EE-4AB3-89E1-8DCC759E068B}"/>
              </a:ext>
            </a:extLst>
          </p:cNvPr>
          <p:cNvSpPr/>
          <p:nvPr/>
        </p:nvSpPr>
        <p:spPr>
          <a:xfrm>
            <a:off x="654255" y="1271483"/>
            <a:ext cx="1883849" cy="461665"/>
          </a:xfrm>
          <a:prstGeom prst="rect">
            <a:avLst/>
          </a:prstGeom>
        </p:spPr>
        <p:txBody>
          <a:bodyPr wrap="none">
            <a:spAutoFit/>
          </a:bodyPr>
          <a:lstStyle/>
          <a:p>
            <a:pPr eaLnBrk="1" hangingPunct="1">
              <a:spcBef>
                <a:spcPct val="50000"/>
              </a:spcBef>
            </a:pPr>
            <a:r>
              <a:rPr lang="zh-CN" altLang="en-US" sz="2400" b="1" dirty="0">
                <a:latin typeface="Arial" panose="020B0604020202020204" pitchFamily="34" charset="0"/>
              </a:rPr>
              <a:t>蛋酰</a:t>
            </a:r>
            <a:r>
              <a:rPr lang="en-US" altLang="zh-CN" sz="2400" b="1" dirty="0" err="1">
                <a:latin typeface="Arial" panose="020B0604020202020204" pitchFamily="34" charset="0"/>
              </a:rPr>
              <a:t>tRNA</a:t>
            </a:r>
            <a:r>
              <a:rPr lang="zh-CN" altLang="en-US" sz="2400" b="1" dirty="0">
                <a:latin typeface="Arial" panose="020B0604020202020204" pitchFamily="34" charset="0"/>
              </a:rPr>
              <a:t>：</a:t>
            </a:r>
            <a:endParaRPr lang="en-US" altLang="zh-CN" sz="2400" b="1" dirty="0">
              <a:latin typeface="Arial" panose="020B0604020202020204" pitchFamily="34" charset="0"/>
            </a:endParaRPr>
          </a:p>
        </p:txBody>
      </p:sp>
      <p:grpSp>
        <p:nvGrpSpPr>
          <p:cNvPr id="16" name="组合 15">
            <a:extLst>
              <a:ext uri="{FF2B5EF4-FFF2-40B4-BE49-F238E27FC236}">
                <a16:creationId xmlns:a16="http://schemas.microsoft.com/office/drawing/2014/main" id="{7A329D47-DBDC-4C8C-ACFD-B4DCE605829B}"/>
              </a:ext>
            </a:extLst>
          </p:cNvPr>
          <p:cNvGrpSpPr/>
          <p:nvPr/>
        </p:nvGrpSpPr>
        <p:grpSpPr>
          <a:xfrm>
            <a:off x="6366695" y="535498"/>
            <a:ext cx="2300034" cy="902724"/>
            <a:chOff x="6366695" y="535498"/>
            <a:chExt cx="2300034" cy="902724"/>
          </a:xfrm>
        </p:grpSpPr>
        <p:grpSp>
          <p:nvGrpSpPr>
            <p:cNvPr id="9" name="组合 8">
              <a:extLst>
                <a:ext uri="{FF2B5EF4-FFF2-40B4-BE49-F238E27FC236}">
                  <a16:creationId xmlns:a16="http://schemas.microsoft.com/office/drawing/2014/main" id="{D5CA7654-52AA-4BA7-99AE-4D5D540B5C6C}"/>
                </a:ext>
              </a:extLst>
            </p:cNvPr>
            <p:cNvGrpSpPr/>
            <p:nvPr/>
          </p:nvGrpSpPr>
          <p:grpSpPr>
            <a:xfrm>
              <a:off x="6366695" y="535498"/>
              <a:ext cx="2300034" cy="589378"/>
              <a:chOff x="6664454" y="595224"/>
              <a:chExt cx="2300034" cy="589378"/>
            </a:xfrm>
          </p:grpSpPr>
          <p:grpSp>
            <p:nvGrpSpPr>
              <p:cNvPr id="12" name="组合 11">
                <a:extLst>
                  <a:ext uri="{FF2B5EF4-FFF2-40B4-BE49-F238E27FC236}">
                    <a16:creationId xmlns:a16="http://schemas.microsoft.com/office/drawing/2014/main" id="{362AE03A-F645-441F-B10F-4CDBCF612746}"/>
                  </a:ext>
                </a:extLst>
              </p:cNvPr>
              <p:cNvGrpSpPr/>
              <p:nvPr/>
            </p:nvGrpSpPr>
            <p:grpSpPr>
              <a:xfrm>
                <a:off x="6664454" y="595224"/>
                <a:ext cx="2300034" cy="404712"/>
                <a:chOff x="3707904" y="1209277"/>
                <a:chExt cx="3028558" cy="597131"/>
              </a:xfrm>
            </p:grpSpPr>
            <p:pic>
              <p:nvPicPr>
                <p:cNvPr id="13" name="图片 12">
                  <a:extLst>
                    <a:ext uri="{FF2B5EF4-FFF2-40B4-BE49-F238E27FC236}">
                      <a16:creationId xmlns:a16="http://schemas.microsoft.com/office/drawing/2014/main" id="{F61F81F3-691B-433B-8FCF-287167DE0B29}"/>
                    </a:ext>
                  </a:extLst>
                </p:cNvPr>
                <p:cNvPicPr>
                  <a:picLocks noChangeAspect="1"/>
                </p:cNvPicPr>
                <p:nvPr/>
              </p:nvPicPr>
              <p:blipFill rotWithShape="1">
                <a:blip r:embed="rId4" cstate="print"/>
                <a:srcRect l="76895" t="52154"/>
                <a:stretch/>
              </p:blipFill>
              <p:spPr>
                <a:xfrm>
                  <a:off x="3707904" y="1209277"/>
                  <a:ext cx="3028558" cy="597131"/>
                </a:xfrm>
                <a:prstGeom prst="rect">
                  <a:avLst/>
                </a:prstGeom>
              </p:spPr>
            </p:pic>
            <p:sp>
              <p:nvSpPr>
                <p:cNvPr id="14" name="矩形: 圆角 13">
                  <a:extLst>
                    <a:ext uri="{FF2B5EF4-FFF2-40B4-BE49-F238E27FC236}">
                      <a16:creationId xmlns:a16="http://schemas.microsoft.com/office/drawing/2014/main" id="{CF2C130A-E311-442B-9257-3ECA0144696B}"/>
                    </a:ext>
                  </a:extLst>
                </p:cNvPr>
                <p:cNvSpPr/>
                <p:nvPr/>
              </p:nvSpPr>
              <p:spPr>
                <a:xfrm>
                  <a:off x="5924855" y="1302484"/>
                  <a:ext cx="166004" cy="3013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5" name="文本框 14">
                <a:extLst>
                  <a:ext uri="{FF2B5EF4-FFF2-40B4-BE49-F238E27FC236}">
                    <a16:creationId xmlns:a16="http://schemas.microsoft.com/office/drawing/2014/main" id="{9F39FA3F-5A27-483D-B679-6CF1E562E671}"/>
                  </a:ext>
                </a:extLst>
              </p:cNvPr>
              <p:cNvSpPr txBox="1"/>
              <p:nvPr/>
            </p:nvSpPr>
            <p:spPr>
              <a:xfrm>
                <a:off x="8371798" y="815270"/>
                <a:ext cx="283258" cy="369332"/>
              </a:xfrm>
              <a:prstGeom prst="rect">
                <a:avLst/>
              </a:prstGeom>
              <a:noFill/>
            </p:spPr>
            <p:txBody>
              <a:bodyPr wrap="square" rtlCol="0">
                <a:spAutoFit/>
              </a:bodyPr>
              <a:lstStyle/>
              <a:p>
                <a:r>
                  <a:rPr lang="en-US" altLang="zh-CN" dirty="0" err="1"/>
                  <a:t>i</a:t>
                </a:r>
                <a:endParaRPr lang="zh-CN" altLang="en-US" dirty="0"/>
              </a:p>
            </p:txBody>
          </p:sp>
        </p:grpSp>
        <p:sp>
          <p:nvSpPr>
            <p:cNvPr id="10" name="文本框 9">
              <a:extLst>
                <a:ext uri="{FF2B5EF4-FFF2-40B4-BE49-F238E27FC236}">
                  <a16:creationId xmlns:a16="http://schemas.microsoft.com/office/drawing/2014/main" id="{D1B7E82C-08B3-4C81-90E4-6D8A2466DEF8}"/>
                </a:ext>
              </a:extLst>
            </p:cNvPr>
            <p:cNvSpPr txBox="1"/>
            <p:nvPr/>
          </p:nvSpPr>
          <p:spPr>
            <a:xfrm>
              <a:off x="6588224" y="1068890"/>
              <a:ext cx="1743460" cy="369332"/>
            </a:xfrm>
            <a:prstGeom prst="rect">
              <a:avLst/>
            </a:prstGeom>
            <a:noFill/>
          </p:spPr>
          <p:txBody>
            <a:bodyPr wrap="square" rtlCol="0">
              <a:spAutoFit/>
            </a:bodyPr>
            <a:lstStyle/>
            <a:p>
              <a:r>
                <a:rPr lang="zh-CN" altLang="en-US" dirty="0"/>
                <a:t>（真核生物）</a:t>
              </a:r>
            </a:p>
          </p:txBody>
        </p:sp>
      </p:grpSp>
      <p:grpSp>
        <p:nvGrpSpPr>
          <p:cNvPr id="18" name="组合 17">
            <a:extLst>
              <a:ext uri="{FF2B5EF4-FFF2-40B4-BE49-F238E27FC236}">
                <a16:creationId xmlns:a16="http://schemas.microsoft.com/office/drawing/2014/main" id="{DE492CE1-B193-4731-895A-609D20B0E406}"/>
              </a:ext>
            </a:extLst>
          </p:cNvPr>
          <p:cNvGrpSpPr/>
          <p:nvPr/>
        </p:nvGrpSpPr>
        <p:grpSpPr>
          <a:xfrm>
            <a:off x="571398" y="5152878"/>
            <a:ext cx="7422705" cy="868410"/>
            <a:chOff x="571398" y="5152878"/>
            <a:chExt cx="7422705" cy="868410"/>
          </a:xfrm>
        </p:grpSpPr>
        <p:pic>
          <p:nvPicPr>
            <p:cNvPr id="2" name="图片 1">
              <a:extLst>
                <a:ext uri="{FF2B5EF4-FFF2-40B4-BE49-F238E27FC236}">
                  <a16:creationId xmlns:a16="http://schemas.microsoft.com/office/drawing/2014/main" id="{FCFD9830-A146-47AF-B6A8-0D3D0848C576}"/>
                </a:ext>
              </a:extLst>
            </p:cNvPr>
            <p:cNvPicPr>
              <a:picLocks noChangeAspect="1"/>
            </p:cNvPicPr>
            <p:nvPr/>
          </p:nvPicPr>
          <p:blipFill>
            <a:blip r:embed="rId4" cstate="print"/>
            <a:stretch>
              <a:fillRect/>
            </a:stretch>
          </p:blipFill>
          <p:spPr>
            <a:xfrm>
              <a:off x="571398" y="5314560"/>
              <a:ext cx="7422705" cy="706728"/>
            </a:xfrm>
            <a:prstGeom prst="rect">
              <a:avLst/>
            </a:prstGeom>
          </p:spPr>
        </p:pic>
        <p:sp>
          <p:nvSpPr>
            <p:cNvPr id="17" name="矩形 16">
              <a:extLst>
                <a:ext uri="{FF2B5EF4-FFF2-40B4-BE49-F238E27FC236}">
                  <a16:creationId xmlns:a16="http://schemas.microsoft.com/office/drawing/2014/main" id="{043894EC-F3B7-4F3C-BB82-879434F98B4F}"/>
                </a:ext>
              </a:extLst>
            </p:cNvPr>
            <p:cNvSpPr/>
            <p:nvPr/>
          </p:nvSpPr>
          <p:spPr>
            <a:xfrm>
              <a:off x="5935849" y="5152878"/>
              <a:ext cx="1948519" cy="369332"/>
            </a:xfrm>
            <a:prstGeom prst="rect">
              <a:avLst/>
            </a:prstGeom>
          </p:spPr>
          <p:txBody>
            <a:bodyPr wrap="square">
              <a:spAutoFit/>
            </a:bodyPr>
            <a:lstStyle/>
            <a:p>
              <a:r>
                <a:rPr lang="en-US" altLang="zh-CN" b="1" dirty="0" err="1">
                  <a:solidFill>
                    <a:schemeClr val="tx2"/>
                  </a:solidFill>
                  <a:effectLst>
                    <a:outerShdw blurRad="38100" dist="38100" dir="2700000" algn="tl">
                      <a:srgbClr val="000000"/>
                    </a:outerShdw>
                  </a:effectLst>
                </a:rPr>
                <a:t>transformylase</a:t>
              </a:r>
              <a:endParaRPr lang="zh-CN" altLang="en-US" dirty="0"/>
            </a:p>
          </p:txBody>
        </p:sp>
      </p:grpSp>
    </p:spTree>
    <p:extLst>
      <p:ext uri="{BB962C8B-B14F-4D97-AF65-F5344CB8AC3E}">
        <p14:creationId xmlns:p14="http://schemas.microsoft.com/office/powerpoint/2010/main" val="131586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29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a:extLst>
              <a:ext uri="{FF2B5EF4-FFF2-40B4-BE49-F238E27FC236}">
                <a16:creationId xmlns:a16="http://schemas.microsoft.com/office/drawing/2014/main" id="{2FA83B12-C576-4F09-9B5B-31D1DFCD0AD2}"/>
              </a:ext>
            </a:extLst>
          </p:cNvPr>
          <p:cNvSpPr>
            <a:spLocks noGrp="1" noChangeArrowheads="1"/>
          </p:cNvSpPr>
          <p:nvPr>
            <p:ph type="body" idx="4294967295"/>
          </p:nvPr>
        </p:nvSpPr>
        <p:spPr>
          <a:xfrm>
            <a:off x="0" y="1752600"/>
            <a:ext cx="9144000" cy="4114800"/>
          </a:xfrm>
        </p:spPr>
        <p:txBody>
          <a:bodyPr/>
          <a:lstStyle/>
          <a:p>
            <a:pPr eaLnBrk="1" hangingPunct="1">
              <a:defRPr/>
            </a:pPr>
            <a:r>
              <a:rPr lang="en-US" altLang="zh-CN" sz="3300" dirty="0"/>
              <a:t>The Met charged on </a:t>
            </a:r>
            <a:r>
              <a:rPr lang="en-US" altLang="zh-CN" sz="3300" dirty="0" err="1"/>
              <a:t>tRNA</a:t>
            </a:r>
            <a:r>
              <a:rPr lang="en-US" altLang="zh-CN" sz="3300" baseline="30000" dirty="0" err="1"/>
              <a:t>Met</a:t>
            </a:r>
            <a:r>
              <a:rPr lang="en-US" altLang="zh-CN" sz="3300" dirty="0"/>
              <a:t> (by Met-</a:t>
            </a:r>
            <a:r>
              <a:rPr lang="en-US" altLang="zh-CN" sz="3300" dirty="0" err="1"/>
              <a:t>tRNA</a:t>
            </a:r>
            <a:r>
              <a:rPr lang="en-US" altLang="zh-CN" sz="3300" dirty="0"/>
              <a:t> synthetase) is specifically formylated by</a:t>
            </a:r>
            <a:r>
              <a:rPr lang="en-US" altLang="zh-CN" sz="3300" b="1" dirty="0">
                <a:effectLst>
                  <a:outerShdw blurRad="38100" dist="38100" dir="2700000" algn="tl">
                    <a:srgbClr val="000000"/>
                  </a:outerShdw>
                </a:effectLst>
              </a:rPr>
              <a:t> a </a:t>
            </a:r>
            <a:r>
              <a:rPr lang="en-US" altLang="zh-CN" sz="3300" b="1" dirty="0" err="1">
                <a:solidFill>
                  <a:schemeClr val="tx2"/>
                </a:solidFill>
                <a:effectLst>
                  <a:outerShdw blurRad="38100" dist="38100" dir="2700000" algn="tl">
                    <a:srgbClr val="000000"/>
                  </a:outerShdw>
                </a:effectLst>
              </a:rPr>
              <a:t>transformylase</a:t>
            </a:r>
            <a:r>
              <a:rPr lang="en-US" altLang="zh-CN" sz="3300" dirty="0"/>
              <a:t> to form </a:t>
            </a:r>
            <a:r>
              <a:rPr lang="en-US" altLang="zh-CN" sz="3300" dirty="0" err="1"/>
              <a:t>fMet-tRNA</a:t>
            </a:r>
            <a:r>
              <a:rPr lang="en-US" altLang="zh-CN" sz="3300" baseline="30000" dirty="0" err="1"/>
              <a:t>fMet</a:t>
            </a:r>
            <a:r>
              <a:rPr lang="en-US" altLang="zh-CN" sz="3300" dirty="0"/>
              <a:t> in bacteria (</a:t>
            </a:r>
            <a:r>
              <a:rPr lang="en-US" altLang="zh-CN" sz="3300" b="1" dirty="0">
                <a:solidFill>
                  <a:srgbClr val="FF0000"/>
                </a:solidFill>
              </a:rPr>
              <a:t>Met-</a:t>
            </a:r>
            <a:r>
              <a:rPr lang="en-US" altLang="zh-CN" sz="3300" b="1" dirty="0" err="1">
                <a:solidFill>
                  <a:srgbClr val="FF0000"/>
                </a:solidFill>
              </a:rPr>
              <a:t>tRNA</a:t>
            </a:r>
            <a:r>
              <a:rPr lang="en-US" altLang="zh-CN" sz="3300" b="1" baseline="30000" dirty="0" err="1">
                <a:solidFill>
                  <a:srgbClr val="FF0000"/>
                </a:solidFill>
              </a:rPr>
              <a:t>Met</a:t>
            </a:r>
            <a:r>
              <a:rPr lang="en-US" altLang="zh-CN" sz="3300" b="1" dirty="0">
                <a:solidFill>
                  <a:srgbClr val="FF0000"/>
                </a:solidFill>
              </a:rPr>
              <a:t> can not be formylated</a:t>
            </a:r>
            <a:r>
              <a:rPr lang="en-US" altLang="zh-CN" sz="3300" dirty="0"/>
              <a:t>).</a:t>
            </a:r>
          </a:p>
          <a:p>
            <a:pPr eaLnBrk="1" hangingPunct="1">
              <a:defRPr/>
            </a:pPr>
            <a:r>
              <a:rPr lang="en-US" altLang="zh-CN" sz="3300" dirty="0"/>
              <a:t>only </a:t>
            </a:r>
            <a:r>
              <a:rPr lang="en-US" altLang="zh-CN" sz="3300" dirty="0" err="1"/>
              <a:t>fMet-tRNA</a:t>
            </a:r>
            <a:r>
              <a:rPr lang="en-US" altLang="zh-CN" sz="3300" baseline="30000" dirty="0" err="1"/>
              <a:t>fMet</a:t>
            </a:r>
            <a:r>
              <a:rPr lang="en-US" altLang="zh-CN" sz="3300" dirty="0"/>
              <a:t> can enter the initiation site (</a:t>
            </a:r>
            <a:r>
              <a:rPr lang="en-US" altLang="zh-CN" sz="3300" b="1" dirty="0">
                <a:solidFill>
                  <a:schemeClr val="tx2"/>
                </a:solidFill>
                <a:effectLst>
                  <a:outerShdw blurRad="38100" dist="38100" dir="2700000" algn="tl">
                    <a:srgbClr val="000000"/>
                  </a:outerShdw>
                </a:effectLst>
              </a:rPr>
              <a:t>site P</a:t>
            </a:r>
            <a:r>
              <a:rPr lang="en-US" altLang="zh-CN" sz="3300" dirty="0"/>
              <a:t>) on the ribosome in </a:t>
            </a:r>
            <a:r>
              <a:rPr lang="en-US" altLang="zh-CN" sz="3300" i="1" dirty="0"/>
              <a:t>E.coli</a:t>
            </a:r>
            <a:r>
              <a:rPr lang="en-US" altLang="zh-CN" sz="3300" dirty="0"/>
              <a:t>.</a:t>
            </a:r>
          </a:p>
        </p:txBody>
      </p:sp>
    </p:spTree>
    <p:extLst>
      <p:ext uri="{BB962C8B-B14F-4D97-AF65-F5344CB8AC3E}">
        <p14:creationId xmlns:p14="http://schemas.microsoft.com/office/powerpoint/2010/main" val="17928076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D:\Biofigures\f27-22a.jpg">
            <a:extLst>
              <a:ext uri="{FF2B5EF4-FFF2-40B4-BE49-F238E27FC236}">
                <a16:creationId xmlns:a16="http://schemas.microsoft.com/office/drawing/2014/main" id="{6F06893A-A449-482D-8027-E04A0E640A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38296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3" name="Picture 3" descr="D:\Biofigures\f27-22b.jpg">
            <a:extLst>
              <a:ext uri="{FF2B5EF4-FFF2-40B4-BE49-F238E27FC236}">
                <a16:creationId xmlns:a16="http://schemas.microsoft.com/office/drawing/2014/main" id="{B8221DAE-6D80-4854-A0D0-DCC3B4C142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276600"/>
            <a:ext cx="34321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4" name="Picture 4" descr="D:\Biofigures\f27-22c.jpg">
            <a:extLst>
              <a:ext uri="{FF2B5EF4-FFF2-40B4-BE49-F238E27FC236}">
                <a16:creationId xmlns:a16="http://schemas.microsoft.com/office/drawing/2014/main" id="{2E7EFF2A-B32D-4EF9-81A7-8D830CDAC7C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800" y="0"/>
            <a:ext cx="5791200"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Rectangle 6">
            <a:extLst>
              <a:ext uri="{FF2B5EF4-FFF2-40B4-BE49-F238E27FC236}">
                <a16:creationId xmlns:a16="http://schemas.microsoft.com/office/drawing/2014/main" id="{6F3F0715-2E17-457C-A499-C8EA6CAB3B67}"/>
              </a:ext>
            </a:extLst>
          </p:cNvPr>
          <p:cNvSpPr>
            <a:spLocks noChangeArrowheads="1"/>
          </p:cNvSpPr>
          <p:nvPr/>
        </p:nvSpPr>
        <p:spPr bwMode="auto">
          <a:xfrm>
            <a:off x="3422650" y="4114800"/>
            <a:ext cx="5721350" cy="2654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66FFFF"/>
                </a:solidFill>
              </a:rPr>
              <a:t>The initiating complex is assembled</a:t>
            </a:r>
          </a:p>
          <a:p>
            <a:pPr eaLnBrk="1" hangingPunct="1"/>
            <a:r>
              <a:rPr lang="en-US" altLang="zh-CN" sz="2800" b="1" dirty="0">
                <a:solidFill>
                  <a:srgbClr val="66FFFF"/>
                </a:solidFill>
              </a:rPr>
              <a:t>from the small subunit of the </a:t>
            </a:r>
          </a:p>
          <a:p>
            <a:pPr eaLnBrk="1" hangingPunct="1"/>
            <a:r>
              <a:rPr lang="en-US" altLang="zh-CN" sz="2800" b="1" dirty="0">
                <a:solidFill>
                  <a:srgbClr val="66FFFF"/>
                </a:solidFill>
              </a:rPr>
              <a:t>ribosome, the mRNA, the initiating </a:t>
            </a:r>
          </a:p>
          <a:p>
            <a:pPr eaLnBrk="1" hangingPunct="1"/>
            <a:r>
              <a:rPr lang="en-US" altLang="zh-CN" sz="2800" b="1" dirty="0">
                <a:solidFill>
                  <a:srgbClr val="66FFFF"/>
                </a:solidFill>
              </a:rPr>
              <a:t>aminoacyl-</a:t>
            </a:r>
            <a:r>
              <a:rPr lang="en-US" altLang="zh-CN" sz="2800" b="1" dirty="0" err="1">
                <a:solidFill>
                  <a:srgbClr val="66FFFF"/>
                </a:solidFill>
              </a:rPr>
              <a:t>tRNA</a:t>
            </a:r>
            <a:r>
              <a:rPr lang="en-US" altLang="zh-CN" sz="2800" b="1" dirty="0">
                <a:solidFill>
                  <a:srgbClr val="66FFFF"/>
                </a:solidFill>
              </a:rPr>
              <a:t> (being </a:t>
            </a:r>
          </a:p>
          <a:p>
            <a:pPr eaLnBrk="1" hangingPunct="1"/>
            <a:r>
              <a:rPr lang="en-US" altLang="zh-CN" sz="2800" b="1" dirty="0" err="1">
                <a:solidFill>
                  <a:srgbClr val="66FFFF"/>
                </a:solidFill>
              </a:rPr>
              <a:t>fMet-tRNA</a:t>
            </a:r>
            <a:r>
              <a:rPr lang="en-US" altLang="zh-CN" sz="2800" b="1" baseline="30000" dirty="0" err="1">
                <a:solidFill>
                  <a:srgbClr val="66FFFF"/>
                </a:solidFill>
              </a:rPr>
              <a:t>fMet</a:t>
            </a:r>
            <a:r>
              <a:rPr lang="en-US" altLang="zh-CN" sz="2800" b="1" baseline="30000" dirty="0">
                <a:solidFill>
                  <a:srgbClr val="66FFFF"/>
                </a:solidFill>
              </a:rPr>
              <a:t> </a:t>
            </a:r>
            <a:r>
              <a:rPr lang="en-US" altLang="zh-CN" sz="2800" b="1" dirty="0">
                <a:solidFill>
                  <a:srgbClr val="66FFFF"/>
                </a:solidFill>
              </a:rPr>
              <a:t>in bacteria),  and the </a:t>
            </a:r>
          </a:p>
          <a:p>
            <a:pPr eaLnBrk="1" hangingPunct="1"/>
            <a:r>
              <a:rPr lang="en-US" altLang="zh-CN" sz="2800" b="1" dirty="0">
                <a:solidFill>
                  <a:srgbClr val="66FFFF"/>
                </a:solidFill>
              </a:rPr>
              <a:t>large subunit of the ribosome.</a:t>
            </a:r>
          </a:p>
        </p:txBody>
      </p:sp>
      <p:sp>
        <p:nvSpPr>
          <p:cNvPr id="56326" name="Rectangle 7">
            <a:extLst>
              <a:ext uri="{FF2B5EF4-FFF2-40B4-BE49-F238E27FC236}">
                <a16:creationId xmlns:a16="http://schemas.microsoft.com/office/drawing/2014/main" id="{C49F04E2-A1FC-4AD6-8D98-6609E990CE89}"/>
              </a:ext>
            </a:extLst>
          </p:cNvPr>
          <p:cNvSpPr>
            <a:spLocks noChangeArrowheads="1"/>
          </p:cNvSpPr>
          <p:nvPr/>
        </p:nvSpPr>
        <p:spPr bwMode="auto">
          <a:xfrm>
            <a:off x="7237413" y="0"/>
            <a:ext cx="19065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b="1">
                <a:solidFill>
                  <a:schemeClr val="hlink"/>
                </a:solidFill>
              </a:rPr>
              <a:t>Stage 2</a:t>
            </a:r>
          </a:p>
        </p:txBody>
      </p:sp>
    </p:spTree>
    <p:extLst>
      <p:ext uri="{BB962C8B-B14F-4D97-AF65-F5344CB8AC3E}">
        <p14:creationId xmlns:p14="http://schemas.microsoft.com/office/powerpoint/2010/main" val="15522740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60A8FD0-BC5E-45C4-8093-EB60F677A710}"/>
              </a:ext>
            </a:extLst>
          </p:cNvPr>
          <p:cNvSpPr>
            <a:spLocks noGrp="1" noChangeArrowheads="1"/>
          </p:cNvSpPr>
          <p:nvPr>
            <p:ph type="title" idx="4294967295"/>
          </p:nvPr>
        </p:nvSpPr>
        <p:spPr>
          <a:xfrm>
            <a:off x="0" y="228600"/>
            <a:ext cx="9144000" cy="1143000"/>
          </a:xfrm>
        </p:spPr>
        <p:txBody>
          <a:bodyPr/>
          <a:lstStyle/>
          <a:p>
            <a:pPr eaLnBrk="1" hangingPunct="1"/>
            <a:r>
              <a:rPr lang="en-US" altLang="zh-CN" sz="4000" b="1" dirty="0">
                <a:solidFill>
                  <a:schemeClr val="accent2">
                    <a:lumMod val="75000"/>
                  </a:schemeClr>
                </a:solidFill>
              </a:rPr>
              <a:t>7. The polypeptide chain is elongated via a repeating three-step reactions</a:t>
            </a:r>
            <a:r>
              <a:rPr lang="en-US" altLang="zh-CN" dirty="0">
                <a:solidFill>
                  <a:schemeClr val="accent2">
                    <a:lumMod val="75000"/>
                  </a:schemeClr>
                </a:solidFill>
              </a:rPr>
              <a:t> (stage3)</a:t>
            </a:r>
          </a:p>
        </p:txBody>
      </p:sp>
      <p:sp>
        <p:nvSpPr>
          <p:cNvPr id="61443" name="Rectangle 4">
            <a:extLst>
              <a:ext uri="{FF2B5EF4-FFF2-40B4-BE49-F238E27FC236}">
                <a16:creationId xmlns:a16="http://schemas.microsoft.com/office/drawing/2014/main" id="{C19C1FA8-3B89-40BE-92CA-86169713834C}"/>
              </a:ext>
            </a:extLst>
          </p:cNvPr>
          <p:cNvSpPr>
            <a:spLocks noGrp="1" noChangeArrowheads="1"/>
          </p:cNvSpPr>
          <p:nvPr>
            <p:ph type="body" idx="4294967295"/>
          </p:nvPr>
        </p:nvSpPr>
        <p:spPr>
          <a:xfrm>
            <a:off x="544016" y="2362200"/>
            <a:ext cx="7772400" cy="4114800"/>
          </a:xfrm>
        </p:spPr>
        <p:txBody>
          <a:bodyPr/>
          <a:lstStyle/>
          <a:p>
            <a:pPr eaLnBrk="1" hangingPunct="1">
              <a:buFontTx/>
              <a:buNone/>
            </a:pPr>
            <a:r>
              <a:rPr lang="en-US" altLang="zh-CN" b="1" dirty="0"/>
              <a:t>The elongation cycle consists of three steps</a:t>
            </a:r>
          </a:p>
          <a:p>
            <a:pPr eaLnBrk="1" hangingPunct="1">
              <a:spcBef>
                <a:spcPct val="50000"/>
              </a:spcBef>
              <a:buFontTx/>
              <a:buNone/>
            </a:pPr>
            <a:r>
              <a:rPr lang="en-US" altLang="zh-CN" b="1" dirty="0">
                <a:solidFill>
                  <a:schemeClr val="accent5">
                    <a:lumMod val="75000"/>
                  </a:schemeClr>
                </a:solidFill>
              </a:rPr>
              <a:t>aminoacyl-</a:t>
            </a:r>
            <a:r>
              <a:rPr lang="en-US" altLang="zh-CN" b="1" dirty="0" err="1">
                <a:solidFill>
                  <a:schemeClr val="accent5">
                    <a:lumMod val="75000"/>
                  </a:schemeClr>
                </a:solidFill>
              </a:rPr>
              <a:t>tRNA</a:t>
            </a:r>
            <a:r>
              <a:rPr lang="en-US" altLang="zh-CN" b="1" dirty="0">
                <a:solidFill>
                  <a:schemeClr val="accent5">
                    <a:lumMod val="75000"/>
                  </a:schemeClr>
                </a:solidFill>
              </a:rPr>
              <a:t> binding </a:t>
            </a:r>
            <a:r>
              <a:rPr lang="zh-CN" altLang="en-US" b="1" dirty="0">
                <a:solidFill>
                  <a:schemeClr val="accent5">
                    <a:lumMod val="75000"/>
                  </a:schemeClr>
                </a:solidFill>
              </a:rPr>
              <a:t>（进位）</a:t>
            </a:r>
            <a:endParaRPr lang="en-US" altLang="zh-CN" b="1" dirty="0">
              <a:solidFill>
                <a:schemeClr val="accent5">
                  <a:lumMod val="75000"/>
                </a:schemeClr>
              </a:solidFill>
            </a:endParaRPr>
          </a:p>
          <a:p>
            <a:pPr eaLnBrk="1" hangingPunct="1">
              <a:spcBef>
                <a:spcPct val="50000"/>
              </a:spcBef>
              <a:buFontTx/>
              <a:buNone/>
            </a:pPr>
            <a:r>
              <a:rPr lang="en-US" altLang="zh-CN" b="1" dirty="0">
                <a:solidFill>
                  <a:schemeClr val="accent5">
                    <a:lumMod val="75000"/>
                  </a:schemeClr>
                </a:solidFill>
              </a:rPr>
              <a:t>peptide bond formation </a:t>
            </a:r>
            <a:r>
              <a:rPr lang="zh-CN" altLang="en-US" b="1" dirty="0">
                <a:solidFill>
                  <a:schemeClr val="accent5">
                    <a:lumMod val="75000"/>
                  </a:schemeClr>
                </a:solidFill>
              </a:rPr>
              <a:t>（转肽）</a:t>
            </a:r>
            <a:endParaRPr lang="en-US" altLang="zh-CN" b="1" dirty="0">
              <a:solidFill>
                <a:schemeClr val="accent5">
                  <a:lumMod val="75000"/>
                </a:schemeClr>
              </a:solidFill>
            </a:endParaRPr>
          </a:p>
          <a:p>
            <a:pPr eaLnBrk="1" hangingPunct="1">
              <a:spcBef>
                <a:spcPct val="50000"/>
              </a:spcBef>
              <a:buFontTx/>
              <a:buNone/>
            </a:pPr>
            <a:r>
              <a:rPr lang="en-US" altLang="zh-CN" b="1" dirty="0">
                <a:solidFill>
                  <a:schemeClr val="accent5">
                    <a:lumMod val="75000"/>
                  </a:schemeClr>
                </a:solidFill>
              </a:rPr>
              <a:t>Translocation</a:t>
            </a:r>
            <a:r>
              <a:rPr lang="zh-CN" altLang="en-US" b="1" dirty="0">
                <a:solidFill>
                  <a:schemeClr val="accent5">
                    <a:lumMod val="75000"/>
                  </a:schemeClr>
                </a:solidFill>
              </a:rPr>
              <a:t>（移位）</a:t>
            </a:r>
            <a:endParaRPr lang="en-US" altLang="zh-CN" b="1" dirty="0">
              <a:solidFill>
                <a:schemeClr val="accent5">
                  <a:lumMod val="75000"/>
                </a:schemeClr>
              </a:solidFill>
            </a:endParaRPr>
          </a:p>
        </p:txBody>
      </p:sp>
    </p:spTree>
    <p:extLst>
      <p:ext uri="{BB962C8B-B14F-4D97-AF65-F5344CB8AC3E}">
        <p14:creationId xmlns:p14="http://schemas.microsoft.com/office/powerpoint/2010/main" val="1983025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a:extLst>
              <a:ext uri="{FF2B5EF4-FFF2-40B4-BE49-F238E27FC236}">
                <a16:creationId xmlns:a16="http://schemas.microsoft.com/office/drawing/2014/main" id="{8C9199A2-5E07-48F7-B631-7D12720528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52400"/>
            <a:ext cx="2855913"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3">
            <a:extLst>
              <a:ext uri="{FF2B5EF4-FFF2-40B4-BE49-F238E27FC236}">
                <a16:creationId xmlns:a16="http://schemas.microsoft.com/office/drawing/2014/main" id="{AC5D22D4-53DA-4764-88F7-3B22273359C9}"/>
              </a:ext>
            </a:extLst>
          </p:cNvPr>
          <p:cNvSpPr>
            <a:spLocks noChangeArrowheads="1"/>
          </p:cNvSpPr>
          <p:nvPr/>
        </p:nvSpPr>
        <p:spPr bwMode="auto">
          <a:xfrm>
            <a:off x="0" y="2438400"/>
            <a:ext cx="1367682"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600" b="1" dirty="0">
                <a:latin typeface="Arial" panose="020B0604020202020204" pitchFamily="34" charset="0"/>
              </a:rPr>
              <a:t>I </a:t>
            </a:r>
            <a:r>
              <a:rPr kumimoji="0" lang="zh-CN" altLang="en-US" sz="3600" b="1" dirty="0">
                <a:latin typeface="Arial" panose="020B0604020202020204" pitchFamily="34" charset="0"/>
              </a:rPr>
              <a:t>进位</a:t>
            </a:r>
          </a:p>
        </p:txBody>
      </p:sp>
      <p:pic>
        <p:nvPicPr>
          <p:cNvPr id="62468" name="Picture 4">
            <a:extLst>
              <a:ext uri="{FF2B5EF4-FFF2-40B4-BE49-F238E27FC236}">
                <a16:creationId xmlns:a16="http://schemas.microsoft.com/office/drawing/2014/main" id="{592F9759-F97D-473E-BBCA-17F40A8CB01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19540" b="20689"/>
          <a:stretch>
            <a:fillRect/>
          </a:stretch>
        </p:blipFill>
        <p:spPr bwMode="auto">
          <a:xfrm>
            <a:off x="3886200" y="0"/>
            <a:ext cx="4833938"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4294EBB8-9F95-4029-98DB-99E6CDF9C5DA}"/>
              </a:ext>
            </a:extLst>
          </p:cNvPr>
          <p:cNvCxnSpPr>
            <a:cxnSpLocks/>
          </p:cNvCxnSpPr>
          <p:nvPr/>
        </p:nvCxnSpPr>
        <p:spPr>
          <a:xfrm flipV="1">
            <a:off x="2267744" y="404664"/>
            <a:ext cx="3240360" cy="11521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8DA481A-4236-48B4-8E33-06FD5B0F7C37}"/>
              </a:ext>
            </a:extLst>
          </p:cNvPr>
          <p:cNvCxnSpPr>
            <a:cxnSpLocks/>
          </p:cNvCxnSpPr>
          <p:nvPr/>
        </p:nvCxnSpPr>
        <p:spPr>
          <a:xfrm>
            <a:off x="2123728" y="5157192"/>
            <a:ext cx="2952328" cy="10081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9" name="Picture 2">
            <a:extLst>
              <a:ext uri="{FF2B5EF4-FFF2-40B4-BE49-F238E27FC236}">
                <a16:creationId xmlns:a16="http://schemas.microsoft.com/office/drawing/2014/main" id="{F7A27FA3-0088-4870-BCA9-969F1A7FDE9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83425" t="20265" r="8651" b="76201"/>
          <a:stretch/>
        </p:blipFill>
        <p:spPr bwMode="auto">
          <a:xfrm>
            <a:off x="2590461" y="5485410"/>
            <a:ext cx="216000" cy="22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078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a:extLst>
              <a:ext uri="{FF2B5EF4-FFF2-40B4-BE49-F238E27FC236}">
                <a16:creationId xmlns:a16="http://schemas.microsoft.com/office/drawing/2014/main" id="{A03B6DEC-A64E-4885-93FE-419AA1A40E7E}"/>
              </a:ext>
            </a:extLst>
          </p:cNvPr>
          <p:cNvSpPr>
            <a:spLocks noChangeArrowheads="1"/>
          </p:cNvSpPr>
          <p:nvPr/>
        </p:nvSpPr>
        <p:spPr bwMode="auto">
          <a:xfrm>
            <a:off x="6934200" y="381000"/>
            <a:ext cx="14959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600" b="1" dirty="0">
                <a:latin typeface="Arial" panose="020B0604020202020204" pitchFamily="34" charset="0"/>
              </a:rPr>
              <a:t>II </a:t>
            </a:r>
            <a:r>
              <a:rPr kumimoji="0" lang="zh-CN" altLang="en-US" sz="3600" b="1" dirty="0">
                <a:latin typeface="Arial" panose="020B0604020202020204" pitchFamily="34" charset="0"/>
              </a:rPr>
              <a:t>转肽</a:t>
            </a:r>
          </a:p>
        </p:txBody>
      </p:sp>
      <p:sp>
        <p:nvSpPr>
          <p:cNvPr id="2" name="文本框 1">
            <a:extLst>
              <a:ext uri="{FF2B5EF4-FFF2-40B4-BE49-F238E27FC236}">
                <a16:creationId xmlns:a16="http://schemas.microsoft.com/office/drawing/2014/main" id="{32DC2A1C-5C40-4115-AED3-0D98E96A52B9}"/>
              </a:ext>
            </a:extLst>
          </p:cNvPr>
          <p:cNvSpPr txBox="1"/>
          <p:nvPr/>
        </p:nvSpPr>
        <p:spPr>
          <a:xfrm>
            <a:off x="5906277" y="1695271"/>
            <a:ext cx="2628123" cy="1200329"/>
          </a:xfrm>
          <a:prstGeom prst="rect">
            <a:avLst/>
          </a:prstGeom>
          <a:noFill/>
        </p:spPr>
        <p:txBody>
          <a:bodyPr wrap="square" rtlCol="0">
            <a:spAutoFit/>
          </a:bodyPr>
          <a:lstStyle/>
          <a:p>
            <a:r>
              <a:rPr lang="en-US" altLang="zh-CN" b="1" dirty="0">
                <a:solidFill>
                  <a:srgbClr val="C00000"/>
                </a:solidFill>
              </a:rPr>
              <a:t>50S</a:t>
            </a:r>
            <a:r>
              <a:rPr lang="zh-CN" altLang="en-US" b="1" dirty="0">
                <a:solidFill>
                  <a:srgbClr val="C00000"/>
                </a:solidFill>
              </a:rPr>
              <a:t>大亚基中的</a:t>
            </a:r>
            <a:r>
              <a:rPr lang="en-US" altLang="zh-CN" b="1" dirty="0">
                <a:solidFill>
                  <a:srgbClr val="C00000"/>
                </a:solidFill>
              </a:rPr>
              <a:t>23S </a:t>
            </a:r>
            <a:r>
              <a:rPr lang="en-US" altLang="zh-CN" b="1" dirty="0" err="1">
                <a:solidFill>
                  <a:srgbClr val="C00000"/>
                </a:solidFill>
              </a:rPr>
              <a:t>rRNA</a:t>
            </a:r>
            <a:r>
              <a:rPr lang="en-US" altLang="zh-CN" b="1" dirty="0">
                <a:solidFill>
                  <a:srgbClr val="C00000"/>
                </a:solidFill>
              </a:rPr>
              <a:t> </a:t>
            </a:r>
            <a:r>
              <a:rPr lang="zh-CN" altLang="en-US" b="1" dirty="0">
                <a:solidFill>
                  <a:srgbClr val="C00000"/>
                </a:solidFill>
              </a:rPr>
              <a:t>（核酶）</a:t>
            </a:r>
          </a:p>
          <a:p>
            <a:r>
              <a:rPr lang="en-US" altLang="zh-CN" b="1" dirty="0">
                <a:solidFill>
                  <a:srgbClr val="0070C0"/>
                </a:solidFill>
              </a:rPr>
              <a:t>Peptidyl transferase</a:t>
            </a:r>
          </a:p>
          <a:p>
            <a:r>
              <a:rPr lang="zh-CN" altLang="en-US" b="1" dirty="0">
                <a:solidFill>
                  <a:srgbClr val="0070C0"/>
                </a:solidFill>
              </a:rPr>
              <a:t>肽酰基转移酶</a:t>
            </a:r>
            <a:endParaRPr lang="en-US" altLang="zh-CN" b="1" dirty="0">
              <a:solidFill>
                <a:srgbClr val="0070C0"/>
              </a:solidFill>
            </a:endParaRPr>
          </a:p>
        </p:txBody>
      </p:sp>
      <p:pic>
        <p:nvPicPr>
          <p:cNvPr id="3" name="图片 2">
            <a:extLst>
              <a:ext uri="{FF2B5EF4-FFF2-40B4-BE49-F238E27FC236}">
                <a16:creationId xmlns:a16="http://schemas.microsoft.com/office/drawing/2014/main" id="{4530BCDC-CDC3-467B-AECC-BFF30C21A769}"/>
              </a:ext>
            </a:extLst>
          </p:cNvPr>
          <p:cNvPicPr>
            <a:picLocks noChangeAspect="1"/>
          </p:cNvPicPr>
          <p:nvPr/>
        </p:nvPicPr>
        <p:blipFill>
          <a:blip r:embed="rId3" cstate="print"/>
          <a:stretch>
            <a:fillRect/>
          </a:stretch>
        </p:blipFill>
        <p:spPr>
          <a:xfrm>
            <a:off x="251520" y="188639"/>
            <a:ext cx="4015680" cy="3559133"/>
          </a:xfrm>
          <a:prstGeom prst="rect">
            <a:avLst/>
          </a:prstGeom>
        </p:spPr>
      </p:pic>
      <p:pic>
        <p:nvPicPr>
          <p:cNvPr id="4" name="图片 3">
            <a:extLst>
              <a:ext uri="{FF2B5EF4-FFF2-40B4-BE49-F238E27FC236}">
                <a16:creationId xmlns:a16="http://schemas.microsoft.com/office/drawing/2014/main" id="{D7079C7D-5D2E-4ADC-8259-81657927C412}"/>
              </a:ext>
            </a:extLst>
          </p:cNvPr>
          <p:cNvPicPr>
            <a:picLocks noChangeAspect="1"/>
          </p:cNvPicPr>
          <p:nvPr/>
        </p:nvPicPr>
        <p:blipFill>
          <a:blip r:embed="rId4" cstate="print"/>
          <a:stretch>
            <a:fillRect/>
          </a:stretch>
        </p:blipFill>
        <p:spPr>
          <a:xfrm>
            <a:off x="4258681" y="2925924"/>
            <a:ext cx="4345767" cy="3738503"/>
          </a:xfrm>
          <a:prstGeom prst="rect">
            <a:avLst/>
          </a:prstGeom>
        </p:spPr>
      </p:pic>
    </p:spTree>
    <p:extLst>
      <p:ext uri="{BB962C8B-B14F-4D97-AF65-F5344CB8AC3E}">
        <p14:creationId xmlns:p14="http://schemas.microsoft.com/office/powerpoint/2010/main" val="295397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026">
            <a:extLst>
              <a:ext uri="{FF2B5EF4-FFF2-40B4-BE49-F238E27FC236}">
                <a16:creationId xmlns:a16="http://schemas.microsoft.com/office/drawing/2014/main" id="{DBB19750-38B8-4B13-848E-B5B191971F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304800" y="381000"/>
            <a:ext cx="8382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414ED4D2-5745-4CBB-A9C6-F86F07A9C1B5}"/>
              </a:ext>
            </a:extLst>
          </p:cNvPr>
          <p:cNvSpPr txBox="1"/>
          <p:nvPr/>
        </p:nvSpPr>
        <p:spPr>
          <a:xfrm>
            <a:off x="2583769" y="1243407"/>
            <a:ext cx="360040" cy="369332"/>
          </a:xfrm>
          <a:prstGeom prst="rect">
            <a:avLst/>
          </a:prstGeom>
          <a:noFill/>
        </p:spPr>
        <p:txBody>
          <a:bodyPr wrap="square" rtlCol="0">
            <a:spAutoFit/>
          </a:bodyPr>
          <a:lstStyle/>
          <a:p>
            <a:r>
              <a:rPr lang="en-US" altLang="zh-CN" dirty="0">
                <a:solidFill>
                  <a:schemeClr val="bg1"/>
                </a:solidFill>
              </a:rPr>
              <a:t>f</a:t>
            </a:r>
            <a:endParaRPr lang="zh-CN" altLang="en-US" dirty="0">
              <a:solidFill>
                <a:schemeClr val="bg1"/>
              </a:solidFill>
            </a:endParaRPr>
          </a:p>
        </p:txBody>
      </p:sp>
      <p:grpSp>
        <p:nvGrpSpPr>
          <p:cNvPr id="6" name="组合 5">
            <a:extLst>
              <a:ext uri="{FF2B5EF4-FFF2-40B4-BE49-F238E27FC236}">
                <a16:creationId xmlns:a16="http://schemas.microsoft.com/office/drawing/2014/main" id="{916ACB35-0AB7-4C85-91A8-68B42E42F20B}"/>
              </a:ext>
            </a:extLst>
          </p:cNvPr>
          <p:cNvGrpSpPr/>
          <p:nvPr/>
        </p:nvGrpSpPr>
        <p:grpSpPr>
          <a:xfrm>
            <a:off x="2483768" y="627538"/>
            <a:ext cx="2376264" cy="369332"/>
            <a:chOff x="2483768" y="836712"/>
            <a:chExt cx="2376264" cy="369332"/>
          </a:xfrm>
        </p:grpSpPr>
        <p:sp>
          <p:nvSpPr>
            <p:cNvPr id="3" name="文本框 2">
              <a:extLst>
                <a:ext uri="{FF2B5EF4-FFF2-40B4-BE49-F238E27FC236}">
                  <a16:creationId xmlns:a16="http://schemas.microsoft.com/office/drawing/2014/main" id="{083A1C7A-AB9D-42CA-8DD3-8BE7A069A834}"/>
                </a:ext>
              </a:extLst>
            </p:cNvPr>
            <p:cNvSpPr txBox="1"/>
            <p:nvPr/>
          </p:nvSpPr>
          <p:spPr>
            <a:xfrm>
              <a:off x="2483768" y="836712"/>
              <a:ext cx="2376264" cy="369332"/>
            </a:xfrm>
            <a:prstGeom prst="rect">
              <a:avLst/>
            </a:prstGeom>
            <a:noFill/>
          </p:spPr>
          <p:txBody>
            <a:bodyPr wrap="square" rtlCol="0">
              <a:spAutoFit/>
            </a:bodyPr>
            <a:lstStyle/>
            <a:p>
              <a:r>
                <a:rPr lang="en-US" altLang="zh-CN" dirty="0"/>
                <a:t>N                       C</a:t>
              </a:r>
              <a:endParaRPr lang="zh-CN" altLang="en-US" dirty="0"/>
            </a:p>
          </p:txBody>
        </p:sp>
        <p:cxnSp>
          <p:nvCxnSpPr>
            <p:cNvPr id="5" name="直接箭头连接符 4">
              <a:extLst>
                <a:ext uri="{FF2B5EF4-FFF2-40B4-BE49-F238E27FC236}">
                  <a16:creationId xmlns:a16="http://schemas.microsoft.com/office/drawing/2014/main" id="{71D998A3-08E0-48C8-B5A0-D2080F5CD1C2}"/>
                </a:ext>
              </a:extLst>
            </p:cNvPr>
            <p:cNvCxnSpPr/>
            <p:nvPr/>
          </p:nvCxnSpPr>
          <p:spPr>
            <a:xfrm>
              <a:off x="2943809" y="1052736"/>
              <a:ext cx="11241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358812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407F0195-EAE5-46E4-8087-FA960D4D1ED0}"/>
              </a:ext>
            </a:extLst>
          </p:cNvPr>
          <p:cNvSpPr>
            <a:spLocks noChangeArrowheads="1"/>
          </p:cNvSpPr>
          <p:nvPr/>
        </p:nvSpPr>
        <p:spPr bwMode="auto">
          <a:xfrm>
            <a:off x="533400" y="2736850"/>
            <a:ext cx="1624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600" b="1" dirty="0">
                <a:latin typeface="Arial" panose="020B0604020202020204" pitchFamily="34" charset="0"/>
              </a:rPr>
              <a:t>III </a:t>
            </a:r>
            <a:r>
              <a:rPr kumimoji="0" lang="zh-CN" altLang="en-US" sz="3600" b="1" dirty="0">
                <a:latin typeface="Arial" panose="020B0604020202020204" pitchFamily="34" charset="0"/>
              </a:rPr>
              <a:t>移位</a:t>
            </a:r>
          </a:p>
        </p:txBody>
      </p:sp>
      <p:pic>
        <p:nvPicPr>
          <p:cNvPr id="2" name="图片 1">
            <a:extLst>
              <a:ext uri="{FF2B5EF4-FFF2-40B4-BE49-F238E27FC236}">
                <a16:creationId xmlns:a16="http://schemas.microsoft.com/office/drawing/2014/main" id="{28334757-0FA6-447F-AFC2-1FA954C5E14A}"/>
              </a:ext>
            </a:extLst>
          </p:cNvPr>
          <p:cNvPicPr>
            <a:picLocks noChangeAspect="1"/>
          </p:cNvPicPr>
          <p:nvPr/>
        </p:nvPicPr>
        <p:blipFill>
          <a:blip r:embed="rId3" cstate="print"/>
          <a:stretch>
            <a:fillRect/>
          </a:stretch>
        </p:blipFill>
        <p:spPr>
          <a:xfrm>
            <a:off x="2771800" y="195633"/>
            <a:ext cx="4032447" cy="6375095"/>
          </a:xfrm>
          <a:prstGeom prst="rect">
            <a:avLst/>
          </a:prstGeom>
        </p:spPr>
      </p:pic>
      <p:sp>
        <p:nvSpPr>
          <p:cNvPr id="3" name="矩形 2">
            <a:extLst>
              <a:ext uri="{FF2B5EF4-FFF2-40B4-BE49-F238E27FC236}">
                <a16:creationId xmlns:a16="http://schemas.microsoft.com/office/drawing/2014/main" id="{4A2C38B4-4FFA-4F0A-A45F-92A31A7B97EE}"/>
              </a:ext>
            </a:extLst>
          </p:cNvPr>
          <p:cNvSpPr/>
          <p:nvPr/>
        </p:nvSpPr>
        <p:spPr>
          <a:xfrm>
            <a:off x="6736246" y="2996952"/>
            <a:ext cx="1364476" cy="646331"/>
          </a:xfrm>
          <a:prstGeom prst="rect">
            <a:avLst/>
          </a:prstGeom>
        </p:spPr>
        <p:txBody>
          <a:bodyPr wrap="none">
            <a:spAutoFit/>
          </a:bodyPr>
          <a:lstStyle/>
          <a:p>
            <a:r>
              <a:rPr lang="en-US" altLang="zh-CN" dirty="0"/>
              <a:t>EF-G </a:t>
            </a:r>
          </a:p>
          <a:p>
            <a:r>
              <a:rPr lang="en-US" altLang="zh-CN" dirty="0"/>
              <a:t>translocase</a:t>
            </a:r>
            <a:endParaRPr lang="zh-CN" altLang="en-US" dirty="0"/>
          </a:p>
        </p:txBody>
      </p:sp>
    </p:spTree>
    <p:extLst>
      <p:ext uri="{BB962C8B-B14F-4D97-AF65-F5344CB8AC3E}">
        <p14:creationId xmlns:p14="http://schemas.microsoft.com/office/powerpoint/2010/main" val="18761123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6DD1769-EE13-4ADC-815B-51159A1BA6BB}"/>
              </a:ext>
            </a:extLst>
          </p:cNvPr>
          <p:cNvPicPr>
            <a:picLocks noChangeAspect="1"/>
          </p:cNvPicPr>
          <p:nvPr/>
        </p:nvPicPr>
        <p:blipFill rotWithShape="1">
          <a:blip r:embed="rId3" cstate="print"/>
          <a:srcRect l="56427" t="6666" b="2751"/>
          <a:stretch/>
        </p:blipFill>
        <p:spPr>
          <a:xfrm>
            <a:off x="6156176" y="1857737"/>
            <a:ext cx="2880320" cy="4976936"/>
          </a:xfrm>
          <a:prstGeom prst="rect">
            <a:avLst/>
          </a:prstGeom>
        </p:spPr>
      </p:pic>
      <p:pic>
        <p:nvPicPr>
          <p:cNvPr id="70658" name="Picture 2" descr="D:\Biofigures\ef-tu.jpg">
            <a:extLst>
              <a:ext uri="{FF2B5EF4-FFF2-40B4-BE49-F238E27FC236}">
                <a16:creationId xmlns:a16="http://schemas.microsoft.com/office/drawing/2014/main" id="{D536AE8B-0E9B-483B-8422-733A324834A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6313" b="2750"/>
          <a:stretch/>
        </p:blipFill>
        <p:spPr bwMode="auto">
          <a:xfrm>
            <a:off x="1" y="0"/>
            <a:ext cx="3917504" cy="666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19" name="Rectangle 3">
            <a:extLst>
              <a:ext uri="{FF2B5EF4-FFF2-40B4-BE49-F238E27FC236}">
                <a16:creationId xmlns:a16="http://schemas.microsoft.com/office/drawing/2014/main" id="{1274F2C0-E421-4C3F-BAFC-9D7F5DAEC3EB}"/>
              </a:ext>
            </a:extLst>
          </p:cNvPr>
          <p:cNvSpPr>
            <a:spLocks noChangeArrowheads="1"/>
          </p:cNvSpPr>
          <p:nvPr/>
        </p:nvSpPr>
        <p:spPr bwMode="auto">
          <a:xfrm>
            <a:off x="4267200" y="115888"/>
            <a:ext cx="2962671" cy="1126462"/>
          </a:xfrm>
          <a:prstGeom prst="rect">
            <a:avLst/>
          </a:prstGeom>
          <a:noFill/>
          <a:ln w="9525">
            <a:noFill/>
            <a:miter lim="800000"/>
            <a:headEnd/>
            <a:tailEnd/>
          </a:ln>
          <a:effectLst/>
        </p:spPr>
        <p:txBody>
          <a:bodyPr wrap="none">
            <a:spAutoFit/>
          </a:bodyPr>
          <a:lstStyle/>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The EF-Tu-GTP-</a:t>
            </a:r>
          </a:p>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aminoacyl-</a:t>
            </a:r>
            <a:r>
              <a:rPr lang="en-US" altLang="zh-CN" sz="2800" b="1" dirty="0" err="1">
                <a:solidFill>
                  <a:schemeClr val="accent5">
                    <a:lumMod val="75000"/>
                  </a:schemeClr>
                </a:solidFill>
                <a:effectLst>
                  <a:outerShdw blurRad="38100" dist="38100" dir="2700000" algn="tl">
                    <a:srgbClr val="000000"/>
                  </a:outerShdw>
                </a:effectLst>
              </a:rPr>
              <a:t>tRNA</a:t>
            </a:r>
            <a:endParaRPr lang="en-US" altLang="zh-CN" sz="2800" b="1" dirty="0">
              <a:solidFill>
                <a:schemeClr val="accent5">
                  <a:lumMod val="75000"/>
                </a:schemeClr>
              </a:solidFill>
              <a:effectLst>
                <a:outerShdw blurRad="38100" dist="38100" dir="2700000" algn="tl">
                  <a:srgbClr val="000000"/>
                </a:outerShdw>
              </a:effectLst>
            </a:endParaRPr>
          </a:p>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complex</a:t>
            </a:r>
          </a:p>
        </p:txBody>
      </p:sp>
      <p:sp>
        <p:nvSpPr>
          <p:cNvPr id="86020" name="Rectangle 4">
            <a:extLst>
              <a:ext uri="{FF2B5EF4-FFF2-40B4-BE49-F238E27FC236}">
                <a16:creationId xmlns:a16="http://schemas.microsoft.com/office/drawing/2014/main" id="{4F48344A-8124-4669-A742-801F5DF948B8}"/>
              </a:ext>
            </a:extLst>
          </p:cNvPr>
          <p:cNvSpPr>
            <a:spLocks noChangeArrowheads="1"/>
          </p:cNvSpPr>
          <p:nvPr/>
        </p:nvSpPr>
        <p:spPr bwMode="auto">
          <a:xfrm>
            <a:off x="1752600" y="609600"/>
            <a:ext cx="1335088" cy="579438"/>
          </a:xfrm>
          <a:prstGeom prst="rect">
            <a:avLst/>
          </a:prstGeom>
          <a:noFill/>
          <a:ln w="9525">
            <a:noFill/>
            <a:miter lim="800000"/>
            <a:headEnd/>
            <a:tailEnd/>
          </a:ln>
          <a:effectLst/>
        </p:spPr>
        <p:txBody>
          <a:bodyPr wrap="none">
            <a:spAutoFit/>
          </a:bodyPr>
          <a:lstStyle/>
          <a:p>
            <a:pPr>
              <a:defRPr/>
            </a:pPr>
            <a:r>
              <a:rPr lang="en-US" altLang="zh-CN" sz="3200" b="1">
                <a:solidFill>
                  <a:schemeClr val="accent1"/>
                </a:solidFill>
                <a:effectLst>
                  <a:outerShdw blurRad="38100" dist="38100" dir="2700000" algn="tl">
                    <a:srgbClr val="000000"/>
                  </a:outerShdw>
                </a:effectLst>
              </a:rPr>
              <a:t>EF-Tu</a:t>
            </a:r>
          </a:p>
        </p:txBody>
      </p:sp>
      <p:sp>
        <p:nvSpPr>
          <p:cNvPr id="86021" name="Rectangle 5">
            <a:extLst>
              <a:ext uri="{FF2B5EF4-FFF2-40B4-BE49-F238E27FC236}">
                <a16:creationId xmlns:a16="http://schemas.microsoft.com/office/drawing/2014/main" id="{E20976D9-607C-4843-96D1-FEFECA73B8E4}"/>
              </a:ext>
            </a:extLst>
          </p:cNvPr>
          <p:cNvSpPr>
            <a:spLocks noChangeArrowheads="1"/>
          </p:cNvSpPr>
          <p:nvPr/>
        </p:nvSpPr>
        <p:spPr bwMode="auto">
          <a:xfrm>
            <a:off x="533400" y="3962400"/>
            <a:ext cx="3419526" cy="584775"/>
          </a:xfrm>
          <a:prstGeom prst="rect">
            <a:avLst/>
          </a:prstGeom>
          <a:noFill/>
          <a:ln w="9525">
            <a:noFill/>
            <a:miter lim="800000"/>
            <a:headEnd/>
            <a:tailEnd/>
          </a:ln>
          <a:effectLst/>
        </p:spPr>
        <p:txBody>
          <a:bodyPr wrap="none">
            <a:spAutoFit/>
          </a:bodyPr>
          <a:lstStyle/>
          <a:p>
            <a:pPr>
              <a:defRPr/>
            </a:pPr>
            <a:r>
              <a:rPr lang="en-US" altLang="zh-CN" sz="3200" b="1" dirty="0">
                <a:solidFill>
                  <a:srgbClr val="FFFF00"/>
                </a:solidFill>
                <a:effectLst>
                  <a:outerShdw blurRad="38100" dist="38100" dir="2700000" algn="tl">
                    <a:srgbClr val="000000"/>
                  </a:outerShdw>
                </a:effectLst>
              </a:rPr>
              <a:t>Aminoacyl-</a:t>
            </a:r>
            <a:r>
              <a:rPr lang="en-US" altLang="zh-CN" sz="3200" b="1" dirty="0" err="1">
                <a:solidFill>
                  <a:srgbClr val="FFFF00"/>
                </a:solidFill>
                <a:effectLst>
                  <a:outerShdw blurRad="38100" dist="38100" dir="2700000" algn="tl">
                    <a:srgbClr val="000000"/>
                  </a:outerShdw>
                </a:effectLst>
              </a:rPr>
              <a:t>tRNA</a:t>
            </a:r>
            <a:endParaRPr lang="en-US" altLang="zh-CN" sz="3200" b="1" dirty="0">
              <a:solidFill>
                <a:srgbClr val="FFFF00"/>
              </a:solidFill>
              <a:effectLst>
                <a:outerShdw blurRad="38100" dist="38100" dir="2700000" algn="tl">
                  <a:srgbClr val="000000"/>
                </a:outerShdw>
              </a:effectLst>
            </a:endParaRPr>
          </a:p>
        </p:txBody>
      </p:sp>
      <p:sp>
        <p:nvSpPr>
          <p:cNvPr id="70663" name="AutoShape 7">
            <a:extLst>
              <a:ext uri="{FF2B5EF4-FFF2-40B4-BE49-F238E27FC236}">
                <a16:creationId xmlns:a16="http://schemas.microsoft.com/office/drawing/2014/main" id="{42301B46-93AA-46AB-AF2E-781AAFBBE742}"/>
              </a:ext>
            </a:extLst>
          </p:cNvPr>
          <p:cNvSpPr>
            <a:spLocks noChangeArrowheads="1"/>
          </p:cNvSpPr>
          <p:nvPr/>
        </p:nvSpPr>
        <p:spPr bwMode="auto">
          <a:xfrm>
            <a:off x="3276600" y="457200"/>
            <a:ext cx="990600" cy="457200"/>
          </a:xfrm>
          <a:prstGeom prst="leftArrow">
            <a:avLst>
              <a:gd name="adj1" fmla="val 50000"/>
              <a:gd name="adj2" fmla="val 54167"/>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4" name="Rectangle 8">
            <a:extLst>
              <a:ext uri="{FF2B5EF4-FFF2-40B4-BE49-F238E27FC236}">
                <a16:creationId xmlns:a16="http://schemas.microsoft.com/office/drawing/2014/main" id="{9605A433-DB62-4704-9886-4E7217DA06BB}"/>
              </a:ext>
            </a:extLst>
          </p:cNvPr>
          <p:cNvSpPr>
            <a:spLocks noChangeArrowheads="1"/>
          </p:cNvSpPr>
          <p:nvPr/>
        </p:nvSpPr>
        <p:spPr bwMode="auto">
          <a:xfrm>
            <a:off x="4114800" y="3886200"/>
            <a:ext cx="2653227" cy="1471172"/>
          </a:xfrm>
          <a:prstGeom prst="rect">
            <a:avLst/>
          </a:prstGeom>
          <a:noFill/>
          <a:ln w="9525">
            <a:noFill/>
            <a:miter lim="800000"/>
            <a:headEnd/>
            <a:tailEnd/>
          </a:ln>
          <a:effectLst/>
        </p:spPr>
        <p:txBody>
          <a:bodyPr wrap="none">
            <a:spAutoFit/>
          </a:bodyPr>
          <a:lstStyle/>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EF-G-GDP has</a:t>
            </a:r>
          </a:p>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a structure</a:t>
            </a:r>
          </a:p>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similar to</a:t>
            </a:r>
          </a:p>
          <a:p>
            <a:pPr>
              <a:lnSpc>
                <a:spcPct val="80000"/>
              </a:lnSpc>
              <a:defRPr/>
            </a:pPr>
            <a:r>
              <a:rPr lang="en-US" altLang="zh-CN" sz="2800" b="1" dirty="0">
                <a:solidFill>
                  <a:schemeClr val="accent5">
                    <a:lumMod val="75000"/>
                  </a:schemeClr>
                </a:solidFill>
                <a:effectLst>
                  <a:outerShdw blurRad="38100" dist="38100" dir="2700000" algn="tl">
                    <a:srgbClr val="000000"/>
                  </a:outerShdw>
                </a:effectLst>
              </a:rPr>
              <a:t>EF-Tu-</a:t>
            </a:r>
            <a:r>
              <a:rPr lang="en-US" altLang="zh-CN" sz="2800" b="1" dirty="0" err="1">
                <a:solidFill>
                  <a:schemeClr val="accent5">
                    <a:lumMod val="75000"/>
                  </a:schemeClr>
                </a:solidFill>
                <a:effectLst>
                  <a:outerShdw blurRad="38100" dist="38100" dir="2700000" algn="tl">
                    <a:srgbClr val="000000"/>
                  </a:outerShdw>
                </a:effectLst>
              </a:rPr>
              <a:t>tRNA</a:t>
            </a:r>
            <a:endParaRPr lang="en-US" altLang="zh-CN" sz="2800" b="1" dirty="0">
              <a:solidFill>
                <a:schemeClr val="accent5">
                  <a:lumMod val="75000"/>
                </a:schemeClr>
              </a:solidFill>
              <a:effectLst>
                <a:outerShdw blurRad="38100" dist="38100" dir="2700000" algn="tl">
                  <a:srgbClr val="000000"/>
                </a:outerShdw>
              </a:effectLst>
            </a:endParaRPr>
          </a:p>
        </p:txBody>
      </p:sp>
      <p:sp>
        <p:nvSpPr>
          <p:cNvPr id="70665" name="AutoShape 9">
            <a:extLst>
              <a:ext uri="{FF2B5EF4-FFF2-40B4-BE49-F238E27FC236}">
                <a16:creationId xmlns:a16="http://schemas.microsoft.com/office/drawing/2014/main" id="{448F60CE-521F-45C8-BB3E-65EFB29E642C}"/>
              </a:ext>
            </a:extLst>
          </p:cNvPr>
          <p:cNvSpPr>
            <a:spLocks noChangeArrowheads="1"/>
          </p:cNvSpPr>
          <p:nvPr/>
        </p:nvSpPr>
        <p:spPr bwMode="auto">
          <a:xfrm>
            <a:off x="6019800" y="4572000"/>
            <a:ext cx="914400" cy="381000"/>
          </a:xfrm>
          <a:prstGeom prst="rightArrow">
            <a:avLst>
              <a:gd name="adj1" fmla="val 50000"/>
              <a:gd name="adj2" fmla="val 6000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 name="文本框 3">
            <a:extLst>
              <a:ext uri="{FF2B5EF4-FFF2-40B4-BE49-F238E27FC236}">
                <a16:creationId xmlns:a16="http://schemas.microsoft.com/office/drawing/2014/main" id="{51CFBA22-6A45-454A-83CB-A7D1E9D71825}"/>
              </a:ext>
            </a:extLst>
          </p:cNvPr>
          <p:cNvSpPr txBox="1"/>
          <p:nvPr/>
        </p:nvSpPr>
        <p:spPr>
          <a:xfrm>
            <a:off x="8100392" y="3150014"/>
            <a:ext cx="834298" cy="369332"/>
          </a:xfrm>
          <a:prstGeom prst="rect">
            <a:avLst/>
          </a:prstGeom>
          <a:noFill/>
        </p:spPr>
        <p:txBody>
          <a:bodyPr wrap="square" rtlCol="0">
            <a:spAutoFit/>
          </a:bodyPr>
          <a:lstStyle/>
          <a:p>
            <a:r>
              <a:rPr lang="en-US" altLang="zh-CN" dirty="0">
                <a:solidFill>
                  <a:srgbClr val="C00000"/>
                </a:solidFill>
              </a:rPr>
              <a:t>GDP</a:t>
            </a:r>
            <a:endParaRPr lang="zh-CN" altLang="en-US" dirty="0">
              <a:solidFill>
                <a:srgbClr val="C00000"/>
              </a:solidFill>
            </a:endParaRPr>
          </a:p>
        </p:txBody>
      </p:sp>
      <p:sp>
        <p:nvSpPr>
          <p:cNvPr id="13" name="文本框 12">
            <a:extLst>
              <a:ext uri="{FF2B5EF4-FFF2-40B4-BE49-F238E27FC236}">
                <a16:creationId xmlns:a16="http://schemas.microsoft.com/office/drawing/2014/main" id="{05649D46-D305-4CC9-B6CA-A53D372D76C1}"/>
              </a:ext>
            </a:extLst>
          </p:cNvPr>
          <p:cNvSpPr txBox="1"/>
          <p:nvPr/>
        </p:nvSpPr>
        <p:spPr>
          <a:xfrm>
            <a:off x="7688536" y="6165304"/>
            <a:ext cx="1347959" cy="646331"/>
          </a:xfrm>
          <a:prstGeom prst="rect">
            <a:avLst/>
          </a:prstGeom>
          <a:noFill/>
        </p:spPr>
        <p:txBody>
          <a:bodyPr wrap="square" rtlCol="0">
            <a:spAutoFit/>
          </a:bodyPr>
          <a:lstStyle/>
          <a:p>
            <a:r>
              <a:rPr lang="en-US" altLang="zh-CN" dirty="0">
                <a:solidFill>
                  <a:schemeClr val="tx1">
                    <a:lumMod val="65000"/>
                    <a:lumOff val="35000"/>
                  </a:schemeClr>
                </a:solidFill>
              </a:rPr>
              <a:t>C terminal</a:t>
            </a:r>
          </a:p>
          <a:p>
            <a:r>
              <a:rPr lang="en-US" altLang="zh-CN" dirty="0">
                <a:solidFill>
                  <a:schemeClr val="tx1">
                    <a:lumMod val="65000"/>
                    <a:lumOff val="35000"/>
                  </a:schemeClr>
                </a:solidFill>
              </a:rPr>
              <a:t>of EF-G</a:t>
            </a:r>
            <a:endParaRPr lang="zh-CN" altLang="en-US" dirty="0">
              <a:solidFill>
                <a:schemeClr val="tx1">
                  <a:lumMod val="65000"/>
                  <a:lumOff val="35000"/>
                </a:schemeClr>
              </a:solidFill>
            </a:endParaRPr>
          </a:p>
        </p:txBody>
      </p:sp>
    </p:spTree>
    <p:extLst>
      <p:ext uri="{BB962C8B-B14F-4D97-AF65-F5344CB8AC3E}">
        <p14:creationId xmlns:p14="http://schemas.microsoft.com/office/powerpoint/2010/main" val="8986917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7D97A370-4F18-43E1-BAF1-2439306EB3B6}"/>
              </a:ext>
            </a:extLst>
          </p:cNvPr>
          <p:cNvSpPr>
            <a:spLocks noChangeArrowheads="1"/>
          </p:cNvSpPr>
          <p:nvPr/>
        </p:nvSpPr>
        <p:spPr bwMode="auto">
          <a:xfrm>
            <a:off x="0" y="332656"/>
            <a:ext cx="8839200" cy="4800600"/>
          </a:xfrm>
          <a:prstGeom prst="rect">
            <a:avLst/>
          </a:prstGeom>
          <a:noFill/>
          <a:ln w="9525">
            <a:noFill/>
            <a:miter lim="800000"/>
            <a:headEnd/>
            <a:tailEnd/>
          </a:ln>
          <a:effectLst/>
        </p:spPr>
        <p:txBody>
          <a:bodyPr/>
          <a:lstStyle/>
          <a:p>
            <a:pPr marL="342900" indent="-342900">
              <a:spcBef>
                <a:spcPct val="20000"/>
              </a:spcBef>
              <a:buFontTx/>
              <a:buChar char="•"/>
              <a:defRPr/>
            </a:pPr>
            <a:r>
              <a:rPr lang="en-US" altLang="zh-CN" sz="3400" dirty="0"/>
              <a:t>The next </a:t>
            </a:r>
            <a:r>
              <a:rPr lang="en-US" altLang="zh-CN" sz="3400" b="1" dirty="0">
                <a:solidFill>
                  <a:schemeClr val="accent2">
                    <a:lumMod val="75000"/>
                  </a:schemeClr>
                </a:solidFill>
                <a:effectLst>
                  <a:outerShdw blurRad="38100" dist="38100" dir="2700000" algn="tl">
                    <a:srgbClr val="000000"/>
                  </a:outerShdw>
                </a:effectLst>
              </a:rPr>
              <a:t>aminoacyl-</a:t>
            </a:r>
            <a:r>
              <a:rPr lang="en-US" altLang="zh-CN" sz="3400" b="1" dirty="0" err="1">
                <a:solidFill>
                  <a:schemeClr val="accent2">
                    <a:lumMod val="75000"/>
                  </a:schemeClr>
                </a:solidFill>
                <a:effectLst>
                  <a:outerShdw blurRad="38100" dist="38100" dir="2700000" algn="tl">
                    <a:srgbClr val="000000"/>
                  </a:outerShdw>
                </a:effectLst>
              </a:rPr>
              <a:t>tRNA</a:t>
            </a:r>
            <a:r>
              <a:rPr lang="en-US" altLang="zh-CN" sz="3400" dirty="0"/>
              <a:t> is delivered to the </a:t>
            </a:r>
            <a:r>
              <a:rPr lang="en-US" altLang="zh-CN" sz="3400" b="1" dirty="0">
                <a:solidFill>
                  <a:srgbClr val="FF0000"/>
                </a:solidFill>
                <a:effectLst>
                  <a:outerShdw blurRad="38100" dist="38100" dir="2700000" algn="tl">
                    <a:srgbClr val="000000"/>
                  </a:outerShdw>
                </a:effectLst>
              </a:rPr>
              <a:t>A (aminoacyl) site</a:t>
            </a:r>
            <a:r>
              <a:rPr lang="en-US" altLang="zh-CN" sz="3400" b="1" dirty="0">
                <a:solidFill>
                  <a:srgbClr val="FF0000"/>
                </a:solidFill>
              </a:rPr>
              <a:t> </a:t>
            </a:r>
            <a:r>
              <a:rPr lang="en-US" altLang="zh-CN" sz="3400" dirty="0"/>
              <a:t>of the ribosome by </a:t>
            </a:r>
            <a:r>
              <a:rPr lang="en-US" altLang="zh-CN" sz="3400" b="1" dirty="0">
                <a:solidFill>
                  <a:srgbClr val="FF0000"/>
                </a:solidFill>
                <a:effectLst>
                  <a:outerShdw blurRad="38100" dist="38100" dir="2700000" algn="tl">
                    <a:srgbClr val="000000"/>
                  </a:outerShdw>
                </a:effectLst>
              </a:rPr>
              <a:t>EF-Tu-GTP</a:t>
            </a:r>
            <a:r>
              <a:rPr lang="en-US" altLang="zh-CN" sz="3400" dirty="0">
                <a:solidFill>
                  <a:schemeClr val="accent5">
                    <a:lumMod val="75000"/>
                  </a:schemeClr>
                </a:solidFill>
              </a:rPr>
              <a:t> </a:t>
            </a:r>
            <a:r>
              <a:rPr lang="en-US" altLang="zh-CN" sz="3400" dirty="0">
                <a:solidFill>
                  <a:srgbClr val="FF0000"/>
                </a:solidFill>
              </a:rPr>
              <a:t>(</a:t>
            </a:r>
            <a:r>
              <a:rPr lang="en-US" altLang="zh-CN" sz="3400" dirty="0">
                <a:solidFill>
                  <a:srgbClr val="FF0000"/>
                </a:solidFill>
                <a:effectLst>
                  <a:outerShdw blurRad="38100" dist="38100" dir="2700000" algn="tl">
                    <a:srgbClr val="000000"/>
                  </a:outerShdw>
                </a:effectLst>
              </a:rPr>
              <a:t>step 1</a:t>
            </a:r>
            <a:r>
              <a:rPr lang="en-US" altLang="zh-CN" sz="3400" dirty="0">
                <a:solidFill>
                  <a:srgbClr val="FF0000"/>
                </a:solidFill>
              </a:rPr>
              <a:t>).</a:t>
            </a:r>
          </a:p>
          <a:p>
            <a:pPr marL="342900" indent="-342900">
              <a:spcBef>
                <a:spcPct val="20000"/>
              </a:spcBef>
              <a:buFontTx/>
              <a:buChar char="•"/>
              <a:defRPr/>
            </a:pPr>
            <a:r>
              <a:rPr lang="en-US" altLang="zh-CN" sz="3400" dirty="0"/>
              <a:t>The </a:t>
            </a:r>
            <a:r>
              <a:rPr lang="en-US" altLang="zh-CN" sz="3400" dirty="0" err="1"/>
              <a:t>fMet</a:t>
            </a:r>
            <a:r>
              <a:rPr lang="en-US" altLang="zh-CN" sz="3400" dirty="0"/>
              <a:t> group is transferred to the second aminoacyl-</a:t>
            </a:r>
            <a:r>
              <a:rPr lang="en-US" altLang="zh-CN" sz="3400" dirty="0" err="1"/>
              <a:t>tRNA</a:t>
            </a:r>
            <a:r>
              <a:rPr lang="en-US" altLang="zh-CN" sz="3400" dirty="0"/>
              <a:t> in the </a:t>
            </a:r>
            <a:r>
              <a:rPr lang="en-US" altLang="zh-CN" sz="3400" b="1" dirty="0"/>
              <a:t>A</a:t>
            </a:r>
            <a:r>
              <a:rPr lang="en-US" altLang="zh-CN" sz="3400" dirty="0"/>
              <a:t> site to form a peptide bond, generating a dipeptidyl-</a:t>
            </a:r>
            <a:r>
              <a:rPr lang="en-US" altLang="zh-CN" sz="3400" dirty="0" err="1"/>
              <a:t>tRNA</a:t>
            </a:r>
            <a:r>
              <a:rPr lang="en-US" altLang="zh-CN" sz="3400" dirty="0"/>
              <a:t> </a:t>
            </a:r>
            <a:r>
              <a:rPr lang="en-US" altLang="zh-CN" sz="3400" dirty="0">
                <a:solidFill>
                  <a:srgbClr val="FF0000"/>
                </a:solidFill>
              </a:rPr>
              <a:t>(</a:t>
            </a:r>
            <a:r>
              <a:rPr lang="en-US" altLang="zh-CN" sz="3400" dirty="0">
                <a:solidFill>
                  <a:srgbClr val="FF0000"/>
                </a:solidFill>
                <a:effectLst>
                  <a:outerShdw blurRad="38100" dist="38100" dir="2700000" algn="tl">
                    <a:srgbClr val="000000"/>
                  </a:outerShdw>
                </a:effectLst>
              </a:rPr>
              <a:t>step 2</a:t>
            </a:r>
            <a:r>
              <a:rPr lang="en-US" altLang="zh-CN" sz="3400" dirty="0">
                <a:solidFill>
                  <a:srgbClr val="FF0000"/>
                </a:solidFill>
              </a:rPr>
              <a:t>).</a:t>
            </a:r>
            <a:r>
              <a:rPr lang="en-US" altLang="zh-CN" sz="3200" dirty="0"/>
              <a:t>The </a:t>
            </a:r>
            <a:r>
              <a:rPr lang="en-US" altLang="zh-CN" sz="3200" b="1" dirty="0">
                <a:solidFill>
                  <a:srgbClr val="FF0000"/>
                </a:solidFill>
                <a:effectLst>
                  <a:outerShdw blurRad="38100" dist="38100" dir="2700000" algn="tl">
                    <a:srgbClr val="000000"/>
                  </a:outerShdw>
                </a:effectLst>
              </a:rPr>
              <a:t>23S </a:t>
            </a:r>
            <a:r>
              <a:rPr lang="en-US" altLang="zh-CN" sz="3200" b="1" dirty="0" err="1">
                <a:solidFill>
                  <a:srgbClr val="FF0000"/>
                </a:solidFill>
                <a:effectLst>
                  <a:outerShdw blurRad="38100" dist="38100" dir="2700000" algn="tl">
                    <a:srgbClr val="000000"/>
                  </a:outerShdw>
                </a:effectLst>
              </a:rPr>
              <a:t>rRNA</a:t>
            </a:r>
            <a:r>
              <a:rPr lang="en-US" altLang="zh-CN" sz="3200" dirty="0">
                <a:solidFill>
                  <a:srgbClr val="FF0000"/>
                </a:solidFill>
              </a:rPr>
              <a:t> </a:t>
            </a:r>
            <a:r>
              <a:rPr lang="en-US" altLang="zh-CN" sz="3200" dirty="0"/>
              <a:t>of the large subunit of the ribosome seems to have the </a:t>
            </a:r>
            <a:r>
              <a:rPr lang="en-US" altLang="zh-CN" sz="3200" b="1" dirty="0">
                <a:solidFill>
                  <a:srgbClr val="FF0000"/>
                </a:solidFill>
                <a:effectLst>
                  <a:outerShdw blurRad="38100" dist="38100" dir="2700000" algn="tl">
                    <a:srgbClr val="000000"/>
                  </a:outerShdw>
                </a:effectLst>
              </a:rPr>
              <a:t>peptidyl transferase</a:t>
            </a:r>
            <a:r>
              <a:rPr lang="en-US" altLang="zh-CN" sz="3200" dirty="0">
                <a:solidFill>
                  <a:schemeClr val="accent5">
                    <a:lumMod val="75000"/>
                  </a:schemeClr>
                </a:solidFill>
              </a:rPr>
              <a:t> </a:t>
            </a:r>
            <a:r>
              <a:rPr lang="en-US" altLang="zh-CN" sz="3200" dirty="0"/>
              <a:t>activity, thus being a ribozyme (Noller, 1992).</a:t>
            </a:r>
            <a:endParaRPr lang="en-US" altLang="zh-CN" sz="3400" dirty="0"/>
          </a:p>
        </p:txBody>
      </p:sp>
    </p:spTree>
    <p:extLst>
      <p:ext uri="{BB962C8B-B14F-4D97-AF65-F5344CB8AC3E}">
        <p14:creationId xmlns:p14="http://schemas.microsoft.com/office/powerpoint/2010/main" val="7094070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2CAAE028-9999-46FB-949C-AD64518E2714}"/>
              </a:ext>
            </a:extLst>
          </p:cNvPr>
          <p:cNvSpPr>
            <a:spLocks noGrp="1" noChangeArrowheads="1"/>
          </p:cNvSpPr>
          <p:nvPr>
            <p:ph type="title" idx="4294967295"/>
          </p:nvPr>
        </p:nvSpPr>
        <p:spPr>
          <a:xfrm>
            <a:off x="0" y="0"/>
            <a:ext cx="7772400" cy="76200"/>
          </a:xfrm>
        </p:spPr>
        <p:txBody>
          <a:bodyPr/>
          <a:lstStyle/>
          <a:p>
            <a:pPr eaLnBrk="1" hangingPunct="1"/>
            <a:r>
              <a:rPr lang="en-US" altLang="zh-CN" dirty="0"/>
              <a:t> </a:t>
            </a:r>
          </a:p>
        </p:txBody>
      </p:sp>
      <p:sp>
        <p:nvSpPr>
          <p:cNvPr id="83971" name="Rectangle 3">
            <a:extLst>
              <a:ext uri="{FF2B5EF4-FFF2-40B4-BE49-F238E27FC236}">
                <a16:creationId xmlns:a16="http://schemas.microsoft.com/office/drawing/2014/main" id="{7A4BB838-99F7-487E-A40D-A7BCFA97C368}"/>
              </a:ext>
            </a:extLst>
          </p:cNvPr>
          <p:cNvSpPr>
            <a:spLocks noGrp="1" noChangeArrowheads="1"/>
          </p:cNvSpPr>
          <p:nvPr>
            <p:ph type="body" idx="4294967295"/>
          </p:nvPr>
        </p:nvSpPr>
        <p:spPr>
          <a:xfrm>
            <a:off x="0" y="762000"/>
            <a:ext cx="9144000" cy="5181600"/>
          </a:xfrm>
        </p:spPr>
        <p:txBody>
          <a:bodyPr/>
          <a:lstStyle/>
          <a:p>
            <a:pPr eaLnBrk="1" hangingPunct="1">
              <a:defRPr/>
            </a:pPr>
            <a:r>
              <a:rPr lang="en-US" altLang="zh-CN" b="1" dirty="0">
                <a:solidFill>
                  <a:srgbClr val="FF0000"/>
                </a:solidFill>
              </a:rPr>
              <a:t>EF-G -GTP</a:t>
            </a:r>
            <a:r>
              <a:rPr lang="en-US" altLang="zh-CN" dirty="0">
                <a:solidFill>
                  <a:srgbClr val="FF0000"/>
                </a:solidFill>
              </a:rPr>
              <a:t>(the </a:t>
            </a:r>
            <a:r>
              <a:rPr lang="en-US" altLang="zh-CN" b="1" dirty="0">
                <a:solidFill>
                  <a:srgbClr val="FF0000"/>
                </a:solidFill>
              </a:rPr>
              <a:t>translocase</a:t>
            </a:r>
            <a:r>
              <a:rPr lang="en-US" altLang="zh-CN" dirty="0">
                <a:solidFill>
                  <a:srgbClr val="FF0000"/>
                </a:solidFill>
              </a:rPr>
              <a:t>) </a:t>
            </a:r>
            <a:r>
              <a:rPr lang="en-US" altLang="zh-CN" dirty="0"/>
              <a:t>then promotes the translocation of the ribosome along the mRNA by the distance of one codon: the </a:t>
            </a:r>
            <a:r>
              <a:rPr lang="en-US" altLang="zh-CN" b="1" dirty="0">
                <a:solidFill>
                  <a:srgbClr val="FF0000"/>
                </a:solidFill>
              </a:rPr>
              <a:t>deacylated </a:t>
            </a:r>
            <a:r>
              <a:rPr lang="en-US" altLang="zh-CN" b="1" dirty="0" err="1">
                <a:solidFill>
                  <a:srgbClr val="FF0000"/>
                </a:solidFill>
              </a:rPr>
              <a:t>tRNA</a:t>
            </a:r>
            <a:r>
              <a:rPr lang="en-US" altLang="zh-CN" b="1" baseline="30000" dirty="0" err="1">
                <a:solidFill>
                  <a:srgbClr val="FF0000"/>
                </a:solidFill>
              </a:rPr>
              <a:t>fMet</a:t>
            </a:r>
            <a:r>
              <a:rPr lang="en-US" altLang="zh-CN" b="1" dirty="0">
                <a:solidFill>
                  <a:srgbClr val="FF0000"/>
                </a:solidFill>
              </a:rPr>
              <a:t> </a:t>
            </a:r>
            <a:r>
              <a:rPr lang="en-US" altLang="zh-CN" dirty="0"/>
              <a:t>is released from the </a:t>
            </a:r>
            <a:r>
              <a:rPr lang="en-US" altLang="zh-CN" b="1" dirty="0">
                <a:solidFill>
                  <a:srgbClr val="FF0000"/>
                </a:solidFill>
              </a:rPr>
              <a:t>E</a:t>
            </a:r>
            <a:r>
              <a:rPr lang="en-US" altLang="zh-CN" dirty="0">
                <a:solidFill>
                  <a:srgbClr val="FF0000"/>
                </a:solidFill>
              </a:rPr>
              <a:t> </a:t>
            </a:r>
            <a:r>
              <a:rPr lang="en-US" altLang="zh-CN" dirty="0"/>
              <a:t>(exit) site of the ribosome, the </a:t>
            </a:r>
            <a:r>
              <a:rPr lang="en-US" altLang="zh-CN" b="1" dirty="0">
                <a:solidFill>
                  <a:srgbClr val="FF0000"/>
                </a:solidFill>
              </a:rPr>
              <a:t>dipeptidyl-</a:t>
            </a:r>
            <a:r>
              <a:rPr lang="en-US" altLang="zh-CN" b="1" dirty="0" err="1">
                <a:solidFill>
                  <a:srgbClr val="FF0000"/>
                </a:solidFill>
              </a:rPr>
              <a:t>tRNA</a:t>
            </a:r>
            <a:r>
              <a:rPr lang="en-US" altLang="zh-CN" b="1" dirty="0"/>
              <a:t> </a:t>
            </a:r>
            <a:r>
              <a:rPr lang="en-US" altLang="zh-CN" dirty="0"/>
              <a:t>is relocated to the </a:t>
            </a:r>
            <a:r>
              <a:rPr lang="en-US" altLang="zh-CN" b="1" dirty="0">
                <a:solidFill>
                  <a:srgbClr val="FF0000"/>
                </a:solidFill>
              </a:rPr>
              <a:t>P</a:t>
            </a:r>
            <a:r>
              <a:rPr lang="en-US" altLang="zh-CN" dirty="0"/>
              <a:t> site, and the </a:t>
            </a:r>
            <a:r>
              <a:rPr lang="en-US" altLang="zh-CN" b="1" dirty="0">
                <a:solidFill>
                  <a:srgbClr val="FF0000"/>
                </a:solidFill>
              </a:rPr>
              <a:t>A</a:t>
            </a:r>
            <a:r>
              <a:rPr lang="en-US" altLang="zh-CN" dirty="0"/>
              <a:t> site is open for the </a:t>
            </a:r>
            <a:r>
              <a:rPr lang="en-US" altLang="zh-CN" b="1" dirty="0">
                <a:solidFill>
                  <a:srgbClr val="FF0000"/>
                </a:solidFill>
              </a:rPr>
              <a:t>incoming</a:t>
            </a:r>
            <a:r>
              <a:rPr lang="en-US" altLang="zh-CN" dirty="0"/>
              <a:t> (the third) aminoacyl-</a:t>
            </a:r>
            <a:r>
              <a:rPr lang="en-US" altLang="zh-CN" dirty="0" err="1"/>
              <a:t>tRNA</a:t>
            </a:r>
            <a:r>
              <a:rPr lang="en-US" altLang="zh-CN" dirty="0"/>
              <a:t> </a:t>
            </a:r>
            <a:r>
              <a:rPr lang="en-US" altLang="zh-CN" dirty="0">
                <a:solidFill>
                  <a:srgbClr val="FF0000"/>
                </a:solidFill>
              </a:rPr>
              <a:t>(</a:t>
            </a:r>
            <a:r>
              <a:rPr lang="en-US" altLang="zh-CN" dirty="0">
                <a:solidFill>
                  <a:srgbClr val="FF0000"/>
                </a:solidFill>
                <a:effectLst>
                  <a:outerShdw blurRad="38100" dist="38100" dir="2700000" algn="tl">
                    <a:srgbClr val="000000"/>
                  </a:outerShdw>
                </a:effectLst>
              </a:rPr>
              <a:t>step 3</a:t>
            </a:r>
            <a:r>
              <a:rPr lang="en-US" altLang="zh-CN" dirty="0">
                <a:solidFill>
                  <a:srgbClr val="FF0000"/>
                </a:solidFill>
              </a:rPr>
              <a:t>).</a:t>
            </a:r>
          </a:p>
        </p:txBody>
      </p:sp>
    </p:spTree>
    <p:extLst>
      <p:ext uri="{BB962C8B-B14F-4D97-AF65-F5344CB8AC3E}">
        <p14:creationId xmlns:p14="http://schemas.microsoft.com/office/powerpoint/2010/main" val="24733258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D:\Biofigures\f27-25a.jpg">
            <a:extLst>
              <a:ext uri="{FF2B5EF4-FFF2-40B4-BE49-F238E27FC236}">
                <a16:creationId xmlns:a16="http://schemas.microsoft.com/office/drawing/2014/main" id="{41B20CAE-A80A-4EB3-8A86-D0342B1761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6625" y="0"/>
            <a:ext cx="27971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7" name="Picture 3" descr="D:\Biofigures\f27-25b.jpg">
            <a:extLst>
              <a:ext uri="{FF2B5EF4-FFF2-40B4-BE49-F238E27FC236}">
                <a16:creationId xmlns:a16="http://schemas.microsoft.com/office/drawing/2014/main" id="{0C50C811-6F9A-4E67-AC81-33C9B95ECE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625" y="3581400"/>
            <a:ext cx="2743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4" descr="D:\Biofigures\f27-26b.jpg">
            <a:extLst>
              <a:ext uri="{FF2B5EF4-FFF2-40B4-BE49-F238E27FC236}">
                <a16:creationId xmlns:a16="http://schemas.microsoft.com/office/drawing/2014/main" id="{6EA5600E-A08F-491B-B1BC-874F510B217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0000" y="0"/>
            <a:ext cx="403860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5" descr="D:\Biofigures\f27-27b.jpg">
            <a:extLst>
              <a:ext uri="{FF2B5EF4-FFF2-40B4-BE49-F238E27FC236}">
                <a16:creationId xmlns:a16="http://schemas.microsoft.com/office/drawing/2014/main" id="{86A0BEA7-C3B2-4E52-B46D-AD457775E9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0" y="3436938"/>
            <a:ext cx="4191000" cy="342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Rectangle 9">
            <a:extLst>
              <a:ext uri="{FF2B5EF4-FFF2-40B4-BE49-F238E27FC236}">
                <a16:creationId xmlns:a16="http://schemas.microsoft.com/office/drawing/2014/main" id="{029A386B-D6FE-412D-84F5-CCF1104EEC92}"/>
              </a:ext>
            </a:extLst>
          </p:cNvPr>
          <p:cNvSpPr>
            <a:spLocks noChangeArrowheads="1"/>
          </p:cNvSpPr>
          <p:nvPr/>
        </p:nvSpPr>
        <p:spPr bwMode="auto">
          <a:xfrm>
            <a:off x="53975" y="3657600"/>
            <a:ext cx="1671163" cy="163121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FF3300"/>
                </a:solidFill>
              </a:rPr>
              <a:t>Step 1:</a:t>
            </a:r>
          </a:p>
          <a:p>
            <a:pPr eaLnBrk="1" hangingPunct="1"/>
            <a:r>
              <a:rPr lang="en-US" altLang="zh-CN" sz="2000" b="1" dirty="0">
                <a:solidFill>
                  <a:srgbClr val="FF3300"/>
                </a:solidFill>
              </a:rPr>
              <a:t>Aminoacyl-</a:t>
            </a:r>
          </a:p>
          <a:p>
            <a:pPr eaLnBrk="1" hangingPunct="1"/>
            <a:r>
              <a:rPr lang="en-US" altLang="zh-CN" sz="2000" b="1" dirty="0" err="1">
                <a:solidFill>
                  <a:srgbClr val="FF3300"/>
                </a:solidFill>
              </a:rPr>
              <a:t>tRNA</a:t>
            </a:r>
            <a:r>
              <a:rPr lang="en-US" altLang="zh-CN" sz="2000" b="1" dirty="0">
                <a:solidFill>
                  <a:srgbClr val="FF3300"/>
                </a:solidFill>
              </a:rPr>
              <a:t> enters</a:t>
            </a:r>
          </a:p>
          <a:p>
            <a:pPr eaLnBrk="1" hangingPunct="1"/>
            <a:r>
              <a:rPr lang="en-US" altLang="zh-CN" sz="2000" b="1" dirty="0">
                <a:solidFill>
                  <a:srgbClr val="FF3300"/>
                </a:solidFill>
              </a:rPr>
              <a:t>the A site</a:t>
            </a:r>
          </a:p>
          <a:p>
            <a:pPr eaLnBrk="1" hangingPunct="1"/>
            <a:r>
              <a:rPr lang="en-US" altLang="zh-CN" sz="2000" b="1" dirty="0">
                <a:solidFill>
                  <a:srgbClr val="FF3300"/>
                </a:solidFill>
              </a:rPr>
              <a:t>(</a:t>
            </a:r>
            <a:r>
              <a:rPr lang="en-US" altLang="zh-CN" sz="2000" b="1" dirty="0">
                <a:solidFill>
                  <a:schemeClr val="bg1"/>
                </a:solidFill>
              </a:rPr>
              <a:t>EF-Tu-GTP</a:t>
            </a:r>
            <a:r>
              <a:rPr lang="en-US" altLang="zh-CN" sz="2000" b="1" dirty="0">
                <a:solidFill>
                  <a:srgbClr val="FF3300"/>
                </a:solidFill>
              </a:rPr>
              <a:t>)</a:t>
            </a:r>
          </a:p>
        </p:txBody>
      </p:sp>
      <p:sp>
        <p:nvSpPr>
          <p:cNvPr id="67591" name="Rectangle 10">
            <a:extLst>
              <a:ext uri="{FF2B5EF4-FFF2-40B4-BE49-F238E27FC236}">
                <a16:creationId xmlns:a16="http://schemas.microsoft.com/office/drawing/2014/main" id="{56CC0522-88AF-4172-901D-30167F04D0B9}"/>
              </a:ext>
            </a:extLst>
          </p:cNvPr>
          <p:cNvSpPr>
            <a:spLocks noChangeArrowheads="1"/>
          </p:cNvSpPr>
          <p:nvPr/>
        </p:nvSpPr>
        <p:spPr bwMode="auto">
          <a:xfrm>
            <a:off x="6553200" y="0"/>
            <a:ext cx="17145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a:solidFill>
                  <a:srgbClr val="FF3300"/>
                </a:solidFill>
              </a:rPr>
              <a:t>Step 2: peptide</a:t>
            </a:r>
          </a:p>
          <a:p>
            <a:pPr eaLnBrk="1" hangingPunct="1"/>
            <a:r>
              <a:rPr lang="en-US" altLang="zh-CN" sz="1800" b="1" dirty="0">
                <a:solidFill>
                  <a:srgbClr val="FF3300"/>
                </a:solidFill>
              </a:rPr>
              <a:t>bond formation</a:t>
            </a:r>
          </a:p>
          <a:p>
            <a:pPr eaLnBrk="1" hangingPunct="1"/>
            <a:r>
              <a:rPr lang="en-US" altLang="zh-CN" sz="1800" b="1" dirty="0">
                <a:solidFill>
                  <a:srgbClr val="FF3300"/>
                </a:solidFill>
              </a:rPr>
              <a:t>(</a:t>
            </a:r>
            <a:r>
              <a:rPr lang="en-US" altLang="zh-CN" sz="1800" b="1" dirty="0">
                <a:solidFill>
                  <a:srgbClr val="333399"/>
                </a:solidFill>
              </a:rPr>
              <a:t>23S </a:t>
            </a:r>
            <a:r>
              <a:rPr lang="en-US" altLang="zh-CN" sz="1800" b="1" dirty="0" err="1">
                <a:solidFill>
                  <a:srgbClr val="333399"/>
                </a:solidFill>
              </a:rPr>
              <a:t>rRNA</a:t>
            </a:r>
            <a:r>
              <a:rPr lang="en-US" altLang="zh-CN" sz="1800" b="1" dirty="0">
                <a:solidFill>
                  <a:srgbClr val="FF3300"/>
                </a:solidFill>
              </a:rPr>
              <a:t>)</a:t>
            </a:r>
          </a:p>
        </p:txBody>
      </p:sp>
      <p:sp>
        <p:nvSpPr>
          <p:cNvPr id="67592" name="Rectangle 11">
            <a:extLst>
              <a:ext uri="{FF2B5EF4-FFF2-40B4-BE49-F238E27FC236}">
                <a16:creationId xmlns:a16="http://schemas.microsoft.com/office/drawing/2014/main" id="{6C02722D-865C-4524-BB8E-7B4AD5B2E146}"/>
              </a:ext>
            </a:extLst>
          </p:cNvPr>
          <p:cNvSpPr>
            <a:spLocks noChangeArrowheads="1"/>
          </p:cNvSpPr>
          <p:nvPr/>
        </p:nvSpPr>
        <p:spPr bwMode="auto">
          <a:xfrm>
            <a:off x="6934200" y="3276600"/>
            <a:ext cx="1539717"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1800" b="1" dirty="0">
                <a:solidFill>
                  <a:srgbClr val="FF3300"/>
                </a:solidFill>
              </a:rPr>
              <a:t>Step 3:</a:t>
            </a:r>
          </a:p>
          <a:p>
            <a:pPr eaLnBrk="1" hangingPunct="1">
              <a:lnSpc>
                <a:spcPct val="80000"/>
              </a:lnSpc>
            </a:pPr>
            <a:r>
              <a:rPr lang="en-US" altLang="zh-CN" sz="1800" b="1" dirty="0">
                <a:solidFill>
                  <a:srgbClr val="FF3300"/>
                </a:solidFill>
              </a:rPr>
              <a:t>Translocation</a:t>
            </a:r>
          </a:p>
          <a:p>
            <a:pPr eaLnBrk="1" hangingPunct="1">
              <a:lnSpc>
                <a:spcPct val="80000"/>
              </a:lnSpc>
            </a:pPr>
            <a:r>
              <a:rPr lang="en-US" altLang="zh-CN" sz="1800" b="1" dirty="0">
                <a:solidFill>
                  <a:srgbClr val="FF3300"/>
                </a:solidFill>
              </a:rPr>
              <a:t>(</a:t>
            </a:r>
            <a:r>
              <a:rPr lang="en-US" altLang="zh-CN" sz="1800" b="1" dirty="0">
                <a:solidFill>
                  <a:srgbClr val="333399"/>
                </a:solidFill>
              </a:rPr>
              <a:t>EF-G-GTP</a:t>
            </a:r>
            <a:r>
              <a:rPr lang="en-US" altLang="zh-CN" sz="1800" b="1" dirty="0">
                <a:solidFill>
                  <a:srgbClr val="FF3300"/>
                </a:solidFill>
              </a:rPr>
              <a:t>)</a:t>
            </a:r>
          </a:p>
        </p:txBody>
      </p:sp>
      <p:sp>
        <p:nvSpPr>
          <p:cNvPr id="67593" name="Oval 12">
            <a:extLst>
              <a:ext uri="{FF2B5EF4-FFF2-40B4-BE49-F238E27FC236}">
                <a16:creationId xmlns:a16="http://schemas.microsoft.com/office/drawing/2014/main" id="{1C49EE60-A15F-42F1-A4C4-5986F3F0A9D8}"/>
              </a:ext>
            </a:extLst>
          </p:cNvPr>
          <p:cNvSpPr>
            <a:spLocks noChangeArrowheads="1"/>
          </p:cNvSpPr>
          <p:nvPr/>
        </p:nvSpPr>
        <p:spPr bwMode="auto">
          <a:xfrm>
            <a:off x="2619375" y="5213350"/>
            <a:ext cx="228600" cy="228600"/>
          </a:xfrm>
          <a:prstGeom prst="ellipse">
            <a:avLst/>
          </a:prstGeom>
          <a:solidFill>
            <a:srgbClr val="0066FF"/>
          </a:solidFill>
          <a:ln w="9525">
            <a:solidFill>
              <a:srgbClr val="0066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594" name="Rectangle 7">
            <a:extLst>
              <a:ext uri="{FF2B5EF4-FFF2-40B4-BE49-F238E27FC236}">
                <a16:creationId xmlns:a16="http://schemas.microsoft.com/office/drawing/2014/main" id="{9712F31D-6A80-4CBF-811C-D917D7BE2E2B}"/>
              </a:ext>
            </a:extLst>
          </p:cNvPr>
          <p:cNvSpPr>
            <a:spLocks noChangeArrowheads="1"/>
          </p:cNvSpPr>
          <p:nvPr/>
        </p:nvSpPr>
        <p:spPr bwMode="auto">
          <a:xfrm>
            <a:off x="2524513" y="5199874"/>
            <a:ext cx="533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900" b="1" dirty="0">
                <a:solidFill>
                  <a:schemeClr val="bg2"/>
                </a:solidFill>
              </a:rPr>
              <a:t>AA2</a:t>
            </a:r>
            <a:endParaRPr lang="en-US" altLang="zh-CN" sz="900" b="1" baseline="-25000" dirty="0">
              <a:solidFill>
                <a:srgbClr val="FFFFFF"/>
              </a:solidFill>
            </a:endParaRPr>
          </a:p>
        </p:txBody>
      </p:sp>
      <p:sp>
        <p:nvSpPr>
          <p:cNvPr id="67595" name="Rectangle 14">
            <a:extLst>
              <a:ext uri="{FF2B5EF4-FFF2-40B4-BE49-F238E27FC236}">
                <a16:creationId xmlns:a16="http://schemas.microsoft.com/office/drawing/2014/main" id="{C038144F-6DD9-48EC-90B2-8D215682B539}"/>
              </a:ext>
            </a:extLst>
          </p:cNvPr>
          <p:cNvSpPr>
            <a:spLocks noChangeArrowheads="1"/>
          </p:cNvSpPr>
          <p:nvPr/>
        </p:nvSpPr>
        <p:spPr bwMode="auto">
          <a:xfrm>
            <a:off x="7862888" y="1066800"/>
            <a:ext cx="12811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chemeClr val="accent5">
                    <a:lumMod val="75000"/>
                  </a:schemeClr>
                </a:solidFill>
              </a:rPr>
              <a:t>Stage 3</a:t>
            </a:r>
          </a:p>
        </p:txBody>
      </p:sp>
    </p:spTree>
    <p:extLst>
      <p:ext uri="{BB962C8B-B14F-4D97-AF65-F5344CB8AC3E}">
        <p14:creationId xmlns:p14="http://schemas.microsoft.com/office/powerpoint/2010/main" val="20159964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3" descr="F:\biochemistry\素材庫\0285D2.jpe">
            <a:extLst>
              <a:ext uri="{FF2B5EF4-FFF2-40B4-BE49-F238E27FC236}">
                <a16:creationId xmlns:a16="http://schemas.microsoft.com/office/drawing/2014/main" id="{FB92706D-D780-4C37-BF2F-A6C5D5DDD5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6858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82590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E5FD4DB-FC1E-404D-8DAA-913B398DABB2}"/>
              </a:ext>
            </a:extLst>
          </p:cNvPr>
          <p:cNvSpPr>
            <a:spLocks noGrp="1" noChangeArrowheads="1"/>
          </p:cNvSpPr>
          <p:nvPr>
            <p:ph type="title" idx="4294967295"/>
          </p:nvPr>
        </p:nvSpPr>
        <p:spPr>
          <a:xfrm>
            <a:off x="0" y="304800"/>
            <a:ext cx="9144000" cy="1143000"/>
          </a:xfrm>
        </p:spPr>
        <p:txBody>
          <a:bodyPr/>
          <a:lstStyle/>
          <a:p>
            <a:pPr eaLnBrk="1" hangingPunct="1"/>
            <a:r>
              <a:rPr lang="en-US" altLang="zh-CN" sz="4000" b="1" dirty="0">
                <a:solidFill>
                  <a:schemeClr val="accent2">
                    <a:lumMod val="75000"/>
                  </a:schemeClr>
                </a:solidFill>
              </a:rPr>
              <a:t>8. Polypeptide synthesis is terminated by release factors that read the stop codons</a:t>
            </a:r>
          </a:p>
        </p:txBody>
      </p:sp>
      <p:sp>
        <p:nvSpPr>
          <p:cNvPr id="71683" name="Rectangle 3">
            <a:extLst>
              <a:ext uri="{FF2B5EF4-FFF2-40B4-BE49-F238E27FC236}">
                <a16:creationId xmlns:a16="http://schemas.microsoft.com/office/drawing/2014/main" id="{A0B91B22-4965-4653-872A-A9C41F18F9E7}"/>
              </a:ext>
            </a:extLst>
          </p:cNvPr>
          <p:cNvSpPr>
            <a:spLocks noGrp="1" noChangeArrowheads="1"/>
          </p:cNvSpPr>
          <p:nvPr>
            <p:ph type="body" idx="4294967295"/>
          </p:nvPr>
        </p:nvSpPr>
        <p:spPr>
          <a:xfrm>
            <a:off x="0" y="1828800"/>
            <a:ext cx="9144000" cy="4114800"/>
          </a:xfrm>
        </p:spPr>
        <p:txBody>
          <a:bodyPr/>
          <a:lstStyle/>
          <a:p>
            <a:pPr eaLnBrk="1" hangingPunct="1">
              <a:lnSpc>
                <a:spcPct val="90000"/>
              </a:lnSpc>
            </a:pPr>
            <a:r>
              <a:rPr lang="en-US" altLang="zh-CN" sz="3000" dirty="0"/>
              <a:t>Two bacterial protein factors called </a:t>
            </a:r>
            <a:r>
              <a:rPr lang="en-US" altLang="zh-CN" sz="3000" b="1" dirty="0">
                <a:solidFill>
                  <a:schemeClr val="accent2">
                    <a:lumMod val="75000"/>
                  </a:schemeClr>
                </a:solidFill>
              </a:rPr>
              <a:t>RF1</a:t>
            </a:r>
            <a:r>
              <a:rPr lang="en-US" altLang="zh-CN" sz="3000" dirty="0">
                <a:solidFill>
                  <a:schemeClr val="accent2">
                    <a:lumMod val="75000"/>
                  </a:schemeClr>
                </a:solidFill>
              </a:rPr>
              <a:t> </a:t>
            </a:r>
            <a:r>
              <a:rPr lang="en-US" altLang="zh-CN" sz="3000" dirty="0"/>
              <a:t>and </a:t>
            </a:r>
            <a:r>
              <a:rPr lang="en-US" altLang="zh-CN" sz="3000" b="1" dirty="0">
                <a:solidFill>
                  <a:schemeClr val="accent2">
                    <a:lumMod val="75000"/>
                  </a:schemeClr>
                </a:solidFill>
              </a:rPr>
              <a:t>RF2</a:t>
            </a:r>
            <a:r>
              <a:rPr lang="en-US" altLang="zh-CN" sz="3000" dirty="0"/>
              <a:t> recognize the stop codons (</a:t>
            </a:r>
            <a:r>
              <a:rPr lang="en-US" altLang="zh-CN" sz="3000" b="1" dirty="0">
                <a:solidFill>
                  <a:srgbClr val="FF0000"/>
                </a:solidFill>
              </a:rPr>
              <a:t>RF1 for UAA and UAG; RF2 for UAA and UGA</a:t>
            </a:r>
            <a:r>
              <a:rPr lang="en-US" altLang="zh-CN" sz="3000" dirty="0"/>
              <a:t>). </a:t>
            </a:r>
          </a:p>
          <a:p>
            <a:pPr eaLnBrk="1" hangingPunct="1">
              <a:lnSpc>
                <a:spcPct val="90000"/>
              </a:lnSpc>
            </a:pPr>
            <a:r>
              <a:rPr lang="en-US" altLang="zh-CN" sz="3000" dirty="0"/>
              <a:t>A third releasing factor </a:t>
            </a:r>
            <a:r>
              <a:rPr lang="en-US" altLang="zh-CN" sz="3000" b="1" dirty="0">
                <a:solidFill>
                  <a:srgbClr val="FF0000"/>
                </a:solidFill>
              </a:rPr>
              <a:t>RF3</a:t>
            </a:r>
            <a:r>
              <a:rPr lang="en-US" altLang="zh-CN" sz="3000" dirty="0">
                <a:solidFill>
                  <a:srgbClr val="FF0000"/>
                </a:solidFill>
              </a:rPr>
              <a:t> </a:t>
            </a:r>
            <a:r>
              <a:rPr lang="en-US" altLang="zh-CN" sz="3000" dirty="0"/>
              <a:t>is a GTP-binding protein and seems to act in concert to promote the </a:t>
            </a:r>
            <a:r>
              <a:rPr lang="en-US" altLang="zh-CN" sz="3000" dirty="0">
                <a:solidFill>
                  <a:srgbClr val="FF0000"/>
                </a:solidFill>
              </a:rPr>
              <a:t>cleavage of the peptide from peptidyl-</a:t>
            </a:r>
            <a:r>
              <a:rPr lang="en-US" altLang="zh-CN" sz="3000" dirty="0" err="1">
                <a:solidFill>
                  <a:srgbClr val="FF0000"/>
                </a:solidFill>
              </a:rPr>
              <a:t>tRNA</a:t>
            </a:r>
            <a:r>
              <a:rPr lang="en-US" altLang="zh-CN" sz="3000" dirty="0"/>
              <a:t>.</a:t>
            </a:r>
          </a:p>
          <a:p>
            <a:pPr eaLnBrk="1" hangingPunct="1">
              <a:lnSpc>
                <a:spcPct val="90000"/>
              </a:lnSpc>
            </a:pPr>
            <a:r>
              <a:rPr lang="en-US" altLang="zh-CN" sz="3000" dirty="0"/>
              <a:t>The specificity of the peptidyl transferase (23S </a:t>
            </a:r>
            <a:r>
              <a:rPr lang="en-US" altLang="zh-CN" sz="3000" dirty="0" err="1"/>
              <a:t>rRNA</a:t>
            </a:r>
            <a:r>
              <a:rPr lang="en-US" altLang="zh-CN" sz="3000" dirty="0"/>
              <a:t>) is altered by the release factor: water become the acceptor of the activated peptidyl moiety.</a:t>
            </a:r>
          </a:p>
        </p:txBody>
      </p:sp>
    </p:spTree>
    <p:extLst>
      <p:ext uri="{BB962C8B-B14F-4D97-AF65-F5344CB8AC3E}">
        <p14:creationId xmlns:p14="http://schemas.microsoft.com/office/powerpoint/2010/main" val="24980143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D:\Biofigures\f27-28a.jpg">
            <a:extLst>
              <a:ext uri="{FF2B5EF4-FFF2-40B4-BE49-F238E27FC236}">
                <a16:creationId xmlns:a16="http://schemas.microsoft.com/office/drawing/2014/main" id="{B0971457-2685-4268-B345-4733CDB27A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711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Picture 3" descr="D:\Biofigures\f27-28b.jpg">
            <a:extLst>
              <a:ext uri="{FF2B5EF4-FFF2-40B4-BE49-F238E27FC236}">
                <a16:creationId xmlns:a16="http://schemas.microsoft.com/office/drawing/2014/main" id="{7CECF848-51C9-4ECA-AE32-4CB7720F4E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2825" y="3821113"/>
            <a:ext cx="4321175" cy="3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Rectangle 5">
            <a:extLst>
              <a:ext uri="{FF2B5EF4-FFF2-40B4-BE49-F238E27FC236}">
                <a16:creationId xmlns:a16="http://schemas.microsoft.com/office/drawing/2014/main" id="{4EC0AEE6-5A81-49E5-9C5E-763AB6B8E977}"/>
              </a:ext>
            </a:extLst>
          </p:cNvPr>
          <p:cNvSpPr>
            <a:spLocks noChangeArrowheads="1"/>
          </p:cNvSpPr>
          <p:nvPr/>
        </p:nvSpPr>
        <p:spPr bwMode="auto">
          <a:xfrm>
            <a:off x="4824413" y="228600"/>
            <a:ext cx="431958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chemeClr val="accent5">
                    <a:lumMod val="75000"/>
                  </a:schemeClr>
                </a:solidFill>
              </a:rPr>
              <a:t>The polypeptide chain is</a:t>
            </a:r>
          </a:p>
          <a:p>
            <a:pPr eaLnBrk="1" hangingPunct="1"/>
            <a:r>
              <a:rPr lang="en-US" altLang="zh-CN" sz="2800" b="1" dirty="0">
                <a:solidFill>
                  <a:schemeClr val="accent5">
                    <a:lumMod val="75000"/>
                  </a:schemeClr>
                </a:solidFill>
              </a:rPr>
              <a:t>released from the ribosome</a:t>
            </a:r>
          </a:p>
          <a:p>
            <a:pPr eaLnBrk="1" hangingPunct="1"/>
            <a:r>
              <a:rPr lang="en-US" altLang="zh-CN" sz="2800" b="1" dirty="0">
                <a:solidFill>
                  <a:schemeClr val="accent5">
                    <a:lumMod val="75000"/>
                  </a:schemeClr>
                </a:solidFill>
              </a:rPr>
              <a:t>when meeting a stop</a:t>
            </a:r>
          </a:p>
          <a:p>
            <a:pPr eaLnBrk="1" hangingPunct="1"/>
            <a:r>
              <a:rPr lang="en-US" altLang="zh-CN" sz="2800" b="1" dirty="0">
                <a:solidFill>
                  <a:schemeClr val="accent5">
                    <a:lumMod val="75000"/>
                  </a:schemeClr>
                </a:solidFill>
              </a:rPr>
              <a:t>codon (UAA, UGA, or </a:t>
            </a:r>
          </a:p>
          <a:p>
            <a:pPr eaLnBrk="1" hangingPunct="1"/>
            <a:r>
              <a:rPr lang="en-US" altLang="zh-CN" sz="2800" b="1" dirty="0">
                <a:solidFill>
                  <a:schemeClr val="accent5">
                    <a:lumMod val="75000"/>
                  </a:schemeClr>
                </a:solidFill>
              </a:rPr>
              <a:t>UGA)</a:t>
            </a:r>
          </a:p>
        </p:txBody>
      </p:sp>
      <p:sp>
        <p:nvSpPr>
          <p:cNvPr id="72709" name="Rectangle 6">
            <a:extLst>
              <a:ext uri="{FF2B5EF4-FFF2-40B4-BE49-F238E27FC236}">
                <a16:creationId xmlns:a16="http://schemas.microsoft.com/office/drawing/2014/main" id="{7686006F-5DD9-4092-BBA2-FE09B8427C46}"/>
              </a:ext>
            </a:extLst>
          </p:cNvPr>
          <p:cNvSpPr>
            <a:spLocks noChangeArrowheads="1"/>
          </p:cNvSpPr>
          <p:nvPr/>
        </p:nvSpPr>
        <p:spPr bwMode="auto">
          <a:xfrm>
            <a:off x="6629400" y="2514600"/>
            <a:ext cx="19065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b="1" dirty="0">
                <a:solidFill>
                  <a:schemeClr val="accent2">
                    <a:lumMod val="75000"/>
                  </a:schemeClr>
                </a:solidFill>
              </a:rPr>
              <a:t>Stage 4</a:t>
            </a:r>
          </a:p>
        </p:txBody>
      </p:sp>
    </p:spTree>
    <p:extLst>
      <p:ext uri="{BB962C8B-B14F-4D97-AF65-F5344CB8AC3E}">
        <p14:creationId xmlns:p14="http://schemas.microsoft.com/office/powerpoint/2010/main" val="22485429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E0070FF-D261-4E6D-B149-2C322BB7E2A2}"/>
              </a:ext>
            </a:extLst>
          </p:cNvPr>
          <p:cNvSpPr>
            <a:spLocks noGrp="1" noChangeArrowheads="1"/>
          </p:cNvSpPr>
          <p:nvPr>
            <p:ph type="title" idx="4294967295"/>
          </p:nvPr>
        </p:nvSpPr>
        <p:spPr>
          <a:xfrm>
            <a:off x="0" y="304800"/>
            <a:ext cx="9144000" cy="1447800"/>
          </a:xfrm>
        </p:spPr>
        <p:txBody>
          <a:bodyPr/>
          <a:lstStyle/>
          <a:p>
            <a:pPr eaLnBrk="1" hangingPunct="1"/>
            <a:r>
              <a:rPr lang="en-US" altLang="zh-CN" sz="4000" b="1" dirty="0">
                <a:solidFill>
                  <a:schemeClr val="accent2">
                    <a:lumMod val="75000"/>
                  </a:schemeClr>
                </a:solidFill>
              </a:rPr>
              <a:t>9. At least four high-energy bonds are ultimately consumed for the formation of each specific peptide bond</a:t>
            </a:r>
          </a:p>
        </p:txBody>
      </p:sp>
      <p:sp>
        <p:nvSpPr>
          <p:cNvPr id="73731" name="Rectangle 3">
            <a:extLst>
              <a:ext uri="{FF2B5EF4-FFF2-40B4-BE49-F238E27FC236}">
                <a16:creationId xmlns:a16="http://schemas.microsoft.com/office/drawing/2014/main" id="{016408D4-5EC9-4AAF-9C5B-C186EFAF79D2}"/>
              </a:ext>
            </a:extLst>
          </p:cNvPr>
          <p:cNvSpPr>
            <a:spLocks noGrp="1" noChangeArrowheads="1"/>
          </p:cNvSpPr>
          <p:nvPr>
            <p:ph type="body" idx="4294967295"/>
          </p:nvPr>
        </p:nvSpPr>
        <p:spPr>
          <a:xfrm>
            <a:off x="0" y="2133600"/>
            <a:ext cx="9144000" cy="4114800"/>
          </a:xfrm>
        </p:spPr>
        <p:txBody>
          <a:bodyPr/>
          <a:lstStyle/>
          <a:p>
            <a:pPr eaLnBrk="1" hangingPunct="1"/>
            <a:r>
              <a:rPr lang="en-US" altLang="zh-CN" sz="3400"/>
              <a:t>Two for activating each amino acid (ATP      AMP + 2P</a:t>
            </a:r>
            <a:r>
              <a:rPr lang="en-US" altLang="zh-CN" sz="3400" baseline="-25000"/>
              <a:t>i</a:t>
            </a:r>
            <a:r>
              <a:rPr lang="en-US" altLang="zh-CN" sz="3400"/>
              <a:t>).</a:t>
            </a:r>
          </a:p>
          <a:p>
            <a:pPr eaLnBrk="1" hangingPunct="1"/>
            <a:r>
              <a:rPr lang="en-US" altLang="zh-CN" sz="3400"/>
              <a:t>One for  EF-Tu to deliver the aminoacyl-tRNA to the </a:t>
            </a:r>
            <a:r>
              <a:rPr lang="en-US" altLang="zh-CN" sz="3400" b="1"/>
              <a:t>A</a:t>
            </a:r>
            <a:r>
              <a:rPr lang="en-US" altLang="zh-CN" sz="3400"/>
              <a:t> site of the ribosome (GTP     GDP + P</a:t>
            </a:r>
            <a:r>
              <a:rPr lang="en-US" altLang="zh-CN" sz="3400" baseline="-25000"/>
              <a:t>i</a:t>
            </a:r>
            <a:r>
              <a:rPr lang="en-US" altLang="zh-CN" sz="3400"/>
              <a:t>).</a:t>
            </a:r>
          </a:p>
          <a:p>
            <a:pPr eaLnBrk="1" hangingPunct="1"/>
            <a:r>
              <a:rPr lang="en-US" altLang="zh-CN" sz="3400"/>
              <a:t>One for EF-G to translocate the ribosome after each peptide bond is formed (GTP     GDP + P</a:t>
            </a:r>
            <a:r>
              <a:rPr lang="en-US" altLang="zh-CN" sz="3400" baseline="-25000"/>
              <a:t>i</a:t>
            </a:r>
            <a:r>
              <a:rPr lang="en-US" altLang="zh-CN" sz="3400"/>
              <a:t>).</a:t>
            </a:r>
          </a:p>
        </p:txBody>
      </p:sp>
      <p:sp>
        <p:nvSpPr>
          <p:cNvPr id="73732" name="Line 4">
            <a:extLst>
              <a:ext uri="{FF2B5EF4-FFF2-40B4-BE49-F238E27FC236}">
                <a16:creationId xmlns:a16="http://schemas.microsoft.com/office/drawing/2014/main" id="{D3D708BA-85EF-4D15-ACD7-33BACD0CB277}"/>
              </a:ext>
            </a:extLst>
          </p:cNvPr>
          <p:cNvSpPr>
            <a:spLocks noChangeShapeType="1"/>
          </p:cNvSpPr>
          <p:nvPr/>
        </p:nvSpPr>
        <p:spPr bwMode="auto">
          <a:xfrm>
            <a:off x="7380312" y="2420888"/>
            <a:ext cx="533400" cy="0"/>
          </a:xfrm>
          <a:prstGeom prst="line">
            <a:avLst/>
          </a:prstGeom>
          <a:noFill/>
          <a:ln w="7620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3" name="Line 5">
            <a:extLst>
              <a:ext uri="{FF2B5EF4-FFF2-40B4-BE49-F238E27FC236}">
                <a16:creationId xmlns:a16="http://schemas.microsoft.com/office/drawing/2014/main" id="{6F5FA052-7AAA-4782-8CA2-7B71343092D8}"/>
              </a:ext>
            </a:extLst>
          </p:cNvPr>
          <p:cNvSpPr>
            <a:spLocks noChangeShapeType="1"/>
          </p:cNvSpPr>
          <p:nvPr/>
        </p:nvSpPr>
        <p:spPr bwMode="auto">
          <a:xfrm>
            <a:off x="5977476" y="4095734"/>
            <a:ext cx="381000" cy="0"/>
          </a:xfrm>
          <a:prstGeom prst="line">
            <a:avLst/>
          </a:prstGeom>
          <a:noFill/>
          <a:ln w="7620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4" name="Line 6">
            <a:extLst>
              <a:ext uri="{FF2B5EF4-FFF2-40B4-BE49-F238E27FC236}">
                <a16:creationId xmlns:a16="http://schemas.microsoft.com/office/drawing/2014/main" id="{6333BCF2-8DF6-43AF-84A4-3D7E5C83CBFF}"/>
              </a:ext>
            </a:extLst>
          </p:cNvPr>
          <p:cNvSpPr>
            <a:spLocks noChangeShapeType="1"/>
          </p:cNvSpPr>
          <p:nvPr/>
        </p:nvSpPr>
        <p:spPr bwMode="auto">
          <a:xfrm>
            <a:off x="6477000" y="5257800"/>
            <a:ext cx="381000" cy="0"/>
          </a:xfrm>
          <a:prstGeom prst="line">
            <a:avLst/>
          </a:prstGeom>
          <a:noFill/>
          <a:ln w="76200">
            <a:solidFill>
              <a:schemeClr val="accent5">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42459154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023A7FA7-5228-414F-9679-14A58E4D6806}"/>
              </a:ext>
            </a:extLst>
          </p:cNvPr>
          <p:cNvSpPr>
            <a:spLocks noGrp="1" noChangeArrowheads="1"/>
          </p:cNvSpPr>
          <p:nvPr>
            <p:ph type="title" idx="4294967295"/>
          </p:nvPr>
        </p:nvSpPr>
        <p:spPr>
          <a:xfrm>
            <a:off x="228600" y="0"/>
            <a:ext cx="8915400" cy="1981200"/>
          </a:xfrm>
        </p:spPr>
        <p:txBody>
          <a:bodyPr/>
          <a:lstStyle/>
          <a:p>
            <a:pPr eaLnBrk="1" hangingPunct="1"/>
            <a:r>
              <a:rPr lang="en-US" altLang="zh-CN" sz="4000" b="1" dirty="0">
                <a:solidFill>
                  <a:schemeClr val="accent2">
                    <a:lumMod val="75000"/>
                  </a:schemeClr>
                </a:solidFill>
              </a:rPr>
              <a:t>10. Each mRNA is usually  translated simultaneously by many ribosomes (as </a:t>
            </a:r>
            <a:r>
              <a:rPr lang="en-US" altLang="zh-CN" sz="4000" b="1" dirty="0" err="1">
                <a:solidFill>
                  <a:schemeClr val="accent2">
                    <a:lumMod val="75000"/>
                  </a:schemeClr>
                </a:solidFill>
              </a:rPr>
              <a:t>polysomes</a:t>
            </a:r>
            <a:r>
              <a:rPr lang="en-US" altLang="zh-CN" sz="4000" b="1" dirty="0">
                <a:solidFill>
                  <a:schemeClr val="accent2">
                    <a:lumMod val="75000"/>
                  </a:schemeClr>
                </a:solidFill>
              </a:rPr>
              <a:t>)</a:t>
            </a:r>
          </a:p>
        </p:txBody>
      </p:sp>
      <p:sp>
        <p:nvSpPr>
          <p:cNvPr id="74755" name="Rectangle 3">
            <a:extLst>
              <a:ext uri="{FF2B5EF4-FFF2-40B4-BE49-F238E27FC236}">
                <a16:creationId xmlns:a16="http://schemas.microsoft.com/office/drawing/2014/main" id="{7567EA6B-4163-460C-822F-FA29042D06E4}"/>
              </a:ext>
            </a:extLst>
          </p:cNvPr>
          <p:cNvSpPr>
            <a:spLocks noGrp="1" noChangeArrowheads="1"/>
          </p:cNvSpPr>
          <p:nvPr>
            <p:ph type="body" idx="4294967295"/>
          </p:nvPr>
        </p:nvSpPr>
        <p:spPr>
          <a:xfrm>
            <a:off x="228600" y="2209800"/>
            <a:ext cx="8915400" cy="4114800"/>
          </a:xfrm>
        </p:spPr>
        <p:txBody>
          <a:bodyPr/>
          <a:lstStyle/>
          <a:p>
            <a:pPr eaLnBrk="1" hangingPunct="1"/>
            <a:r>
              <a:rPr lang="en-US" altLang="zh-CN" dirty="0"/>
              <a:t>This is observed in </a:t>
            </a:r>
            <a:r>
              <a:rPr lang="en-US" altLang="zh-CN" b="1" dirty="0">
                <a:solidFill>
                  <a:srgbClr val="FF0000"/>
                </a:solidFill>
              </a:rPr>
              <a:t>both prokaryotic and eukaryotic </a:t>
            </a:r>
            <a:r>
              <a:rPr lang="en-US" altLang="zh-CN" dirty="0"/>
              <a:t>cells.</a:t>
            </a:r>
          </a:p>
          <a:p>
            <a:pPr eaLnBrk="1" hangingPunct="1"/>
            <a:r>
              <a:rPr lang="en-US" altLang="zh-CN" dirty="0"/>
              <a:t>The guiding effectiveness of the </a:t>
            </a:r>
            <a:r>
              <a:rPr lang="en-US" altLang="zh-CN" dirty="0">
                <a:solidFill>
                  <a:srgbClr val="FF0000"/>
                </a:solidFill>
              </a:rPr>
              <a:t>short-lived mRNA </a:t>
            </a:r>
            <a:r>
              <a:rPr lang="en-US" altLang="zh-CN" dirty="0"/>
              <a:t>molecules  is thus dramatically increased.</a:t>
            </a:r>
          </a:p>
          <a:p>
            <a:pPr eaLnBrk="1" hangingPunct="1"/>
            <a:r>
              <a:rPr lang="en-US" altLang="zh-CN" dirty="0"/>
              <a:t>In bacteria, the translation and transcription processes are tightly coupled!</a:t>
            </a:r>
          </a:p>
        </p:txBody>
      </p:sp>
    </p:spTree>
    <p:extLst>
      <p:ext uri="{BB962C8B-B14F-4D97-AF65-F5344CB8AC3E}">
        <p14:creationId xmlns:p14="http://schemas.microsoft.com/office/powerpoint/2010/main" val="21168700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descr="F27-29a.GIF054                                                 00006E11Sumanas' Hard Drive            B4EBCDA7:">
            <a:extLst>
              <a:ext uri="{FF2B5EF4-FFF2-40B4-BE49-F238E27FC236}">
                <a16:creationId xmlns:a16="http://schemas.microsoft.com/office/drawing/2014/main" id="{DAFD32B8-3825-46BB-B7BC-8794E1E900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76200"/>
            <a:ext cx="3167063"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80474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a:extLst>
              <a:ext uri="{FF2B5EF4-FFF2-40B4-BE49-F238E27FC236}">
                <a16:creationId xmlns:a16="http://schemas.microsoft.com/office/drawing/2014/main" id="{3C3D023A-AF87-4BBF-981F-EBCF0B71C4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13" y="476250"/>
            <a:ext cx="9144000" cy="623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51335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D:\Biofigures\f27-29b.jpg">
            <a:extLst>
              <a:ext uri="{FF2B5EF4-FFF2-40B4-BE49-F238E27FC236}">
                <a16:creationId xmlns:a16="http://schemas.microsoft.com/office/drawing/2014/main" id="{FB33D12D-64AE-473A-92C5-E050E427AD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346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Rectangle 3">
            <a:extLst>
              <a:ext uri="{FF2B5EF4-FFF2-40B4-BE49-F238E27FC236}">
                <a16:creationId xmlns:a16="http://schemas.microsoft.com/office/drawing/2014/main" id="{9FC5A200-D286-4FC6-90FE-F804253909BF}"/>
              </a:ext>
            </a:extLst>
          </p:cNvPr>
          <p:cNvSpPr>
            <a:spLocks noChangeArrowheads="1"/>
          </p:cNvSpPr>
          <p:nvPr/>
        </p:nvSpPr>
        <p:spPr bwMode="auto">
          <a:xfrm>
            <a:off x="5562600" y="228600"/>
            <a:ext cx="327501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err="1">
                <a:solidFill>
                  <a:schemeClr val="accent2">
                    <a:lumMod val="75000"/>
                  </a:schemeClr>
                </a:solidFill>
              </a:rPr>
              <a:t>Polysomes</a:t>
            </a:r>
            <a:r>
              <a:rPr lang="en-US" altLang="zh-CN" sz="4000" b="1" dirty="0">
                <a:solidFill>
                  <a:schemeClr val="accent2">
                    <a:lumMod val="75000"/>
                  </a:schemeClr>
                </a:solidFill>
              </a:rPr>
              <a:t> are</a:t>
            </a:r>
          </a:p>
          <a:p>
            <a:pPr eaLnBrk="1" hangingPunct="1"/>
            <a:r>
              <a:rPr lang="en-US" altLang="zh-CN" sz="4000" b="1" dirty="0">
                <a:solidFill>
                  <a:schemeClr val="accent2">
                    <a:lumMod val="75000"/>
                  </a:schemeClr>
                </a:solidFill>
              </a:rPr>
              <a:t>regularly seen</a:t>
            </a:r>
          </a:p>
          <a:p>
            <a:pPr eaLnBrk="1" hangingPunct="1"/>
            <a:r>
              <a:rPr lang="en-US" altLang="zh-CN" sz="4000" b="1" dirty="0">
                <a:solidFill>
                  <a:schemeClr val="accent2">
                    <a:lumMod val="75000"/>
                  </a:schemeClr>
                </a:solidFill>
              </a:rPr>
              <a:t>in cells</a:t>
            </a:r>
          </a:p>
        </p:txBody>
      </p:sp>
    </p:spTree>
    <p:extLst>
      <p:ext uri="{BB962C8B-B14F-4D97-AF65-F5344CB8AC3E}">
        <p14:creationId xmlns:p14="http://schemas.microsoft.com/office/powerpoint/2010/main" val="28222412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22A7507C-63F8-420A-B5BF-795CEBB5ABE3}"/>
              </a:ext>
            </a:extLst>
          </p:cNvPr>
          <p:cNvSpPr txBox="1">
            <a:spLocks noChangeArrowheads="1"/>
          </p:cNvSpPr>
          <p:nvPr/>
        </p:nvSpPr>
        <p:spPr bwMode="auto">
          <a:xfrm>
            <a:off x="381000" y="457200"/>
            <a:ext cx="7924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chemeClr val="accent2">
                    <a:lumMod val="75000"/>
                  </a:schemeClr>
                </a:solidFill>
              </a:rPr>
              <a:t>11.  Translation in eukaryotes  (H3)</a:t>
            </a:r>
          </a:p>
        </p:txBody>
      </p:sp>
      <p:sp>
        <p:nvSpPr>
          <p:cNvPr id="78851" name="Text Box 3">
            <a:extLst>
              <a:ext uri="{FF2B5EF4-FFF2-40B4-BE49-F238E27FC236}">
                <a16:creationId xmlns:a16="http://schemas.microsoft.com/office/drawing/2014/main" id="{AAA9C766-1BAF-4506-AD96-59287D4A15CA}"/>
              </a:ext>
            </a:extLst>
          </p:cNvPr>
          <p:cNvSpPr txBox="1">
            <a:spLocks noChangeArrowheads="1"/>
          </p:cNvSpPr>
          <p:nvPr/>
        </p:nvSpPr>
        <p:spPr bwMode="auto">
          <a:xfrm>
            <a:off x="179512" y="1340768"/>
            <a:ext cx="8915400" cy="436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dirty="0"/>
              <a:t>Eukaryotic ribosomes are larger than prokaryotic ribosomes.</a:t>
            </a:r>
          </a:p>
          <a:p>
            <a:pPr eaLnBrk="1" hangingPunct="1">
              <a:spcBef>
                <a:spcPct val="50000"/>
              </a:spcBef>
              <a:buFontTx/>
              <a:buChar char="•"/>
            </a:pPr>
            <a:r>
              <a:rPr lang="en-US" altLang="zh-CN" sz="2800" dirty="0"/>
              <a:t>At least 9 initiation factors are involved.</a:t>
            </a:r>
          </a:p>
          <a:p>
            <a:pPr eaLnBrk="1" hangingPunct="1">
              <a:spcBef>
                <a:spcPct val="50000"/>
              </a:spcBef>
              <a:buFontTx/>
              <a:buChar char="•"/>
            </a:pPr>
            <a:r>
              <a:rPr lang="en-US" altLang="zh-CN" sz="2800" dirty="0"/>
              <a:t>The initiating amino acid is Met, not </a:t>
            </a:r>
            <a:r>
              <a:rPr lang="en-US" altLang="zh-CN" sz="2800" dirty="0" err="1"/>
              <a:t>fMet</a:t>
            </a:r>
            <a:r>
              <a:rPr lang="en-US" altLang="zh-CN" sz="2800" dirty="0"/>
              <a:t>.</a:t>
            </a:r>
          </a:p>
          <a:p>
            <a:pPr eaLnBrk="1" hangingPunct="1">
              <a:spcBef>
                <a:spcPct val="50000"/>
              </a:spcBef>
              <a:buFontTx/>
              <a:buChar char="•"/>
            </a:pPr>
            <a:r>
              <a:rPr lang="en-US" altLang="zh-CN" sz="2800" dirty="0"/>
              <a:t> Eukaryotic mRNA do not contain SD sequences.</a:t>
            </a:r>
          </a:p>
          <a:p>
            <a:pPr eaLnBrk="1" hangingPunct="1">
              <a:spcBef>
                <a:spcPct val="50000"/>
              </a:spcBef>
              <a:buFontTx/>
              <a:buChar char="•"/>
            </a:pPr>
            <a:r>
              <a:rPr lang="en-US" altLang="zh-CN" sz="2800" dirty="0"/>
              <a:t> Eukaryotic mRNA is </a:t>
            </a:r>
            <a:r>
              <a:rPr lang="en-US" altLang="zh-CN" sz="2800" dirty="0" err="1"/>
              <a:t>monocistronic</a:t>
            </a:r>
            <a:r>
              <a:rPr lang="en-US" altLang="zh-CN" sz="2800" dirty="0"/>
              <a:t> (not polycistronic).</a:t>
            </a:r>
          </a:p>
          <a:p>
            <a:pPr eaLnBrk="1" hangingPunct="1">
              <a:spcBef>
                <a:spcPct val="50000"/>
              </a:spcBef>
              <a:buFontTx/>
              <a:buChar char="•"/>
            </a:pPr>
            <a:r>
              <a:rPr lang="en-US" altLang="zh-CN" sz="2800" dirty="0"/>
              <a:t>Elongation factors</a:t>
            </a:r>
          </a:p>
          <a:p>
            <a:pPr eaLnBrk="1" hangingPunct="1">
              <a:spcBef>
                <a:spcPct val="50000"/>
              </a:spcBef>
              <a:buFontTx/>
              <a:buChar char="•"/>
            </a:pPr>
            <a:r>
              <a:rPr lang="en-US" altLang="zh-CN" sz="2800" dirty="0"/>
              <a:t>Termination factors</a:t>
            </a:r>
          </a:p>
        </p:txBody>
      </p:sp>
    </p:spTree>
    <p:extLst>
      <p:ext uri="{BB962C8B-B14F-4D97-AF65-F5344CB8AC3E}">
        <p14:creationId xmlns:p14="http://schemas.microsoft.com/office/powerpoint/2010/main" val="6287841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riboso">
            <a:extLst>
              <a:ext uri="{FF2B5EF4-FFF2-40B4-BE49-F238E27FC236}">
                <a16:creationId xmlns:a16="http://schemas.microsoft.com/office/drawing/2014/main" id="{6D72E9B3-EBD0-490D-A918-AA8C15CACA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Rectangle 3">
            <a:extLst>
              <a:ext uri="{FF2B5EF4-FFF2-40B4-BE49-F238E27FC236}">
                <a16:creationId xmlns:a16="http://schemas.microsoft.com/office/drawing/2014/main" id="{7936A45E-DD40-432F-A0CE-1920A2919077}"/>
              </a:ext>
            </a:extLst>
          </p:cNvPr>
          <p:cNvSpPr>
            <a:spLocks noChangeArrowheads="1"/>
          </p:cNvSpPr>
          <p:nvPr/>
        </p:nvSpPr>
        <p:spPr bwMode="auto">
          <a:xfrm>
            <a:off x="7004050" y="3356992"/>
            <a:ext cx="21399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solidFill>
                  <a:srgbClr val="3366FF"/>
                </a:solidFill>
              </a:rPr>
              <a:t>An eukaryotic</a:t>
            </a:r>
          </a:p>
          <a:p>
            <a:pPr algn="ctr" eaLnBrk="1" hangingPunct="1"/>
            <a:r>
              <a:rPr lang="en-US" altLang="zh-CN" b="1" dirty="0">
                <a:solidFill>
                  <a:srgbClr val="3366FF"/>
                </a:solidFill>
              </a:rPr>
              <a:t>ribosome (80S)</a:t>
            </a:r>
          </a:p>
        </p:txBody>
      </p:sp>
      <p:sp>
        <p:nvSpPr>
          <p:cNvPr id="79876" name="Rectangle 4">
            <a:extLst>
              <a:ext uri="{FF2B5EF4-FFF2-40B4-BE49-F238E27FC236}">
                <a16:creationId xmlns:a16="http://schemas.microsoft.com/office/drawing/2014/main" id="{916DB589-E791-4E21-91C2-97C4388ED042}"/>
              </a:ext>
            </a:extLst>
          </p:cNvPr>
          <p:cNvSpPr>
            <a:spLocks noChangeArrowheads="1"/>
          </p:cNvSpPr>
          <p:nvPr/>
        </p:nvSpPr>
        <p:spPr bwMode="auto">
          <a:xfrm>
            <a:off x="1547813" y="404813"/>
            <a:ext cx="14318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chemeClr val="hlink"/>
                </a:solidFill>
                <a:latin typeface="Tahoma" panose="020B0604030504040204" pitchFamily="34" charset="0"/>
              </a:rPr>
              <a:t>2 rRNAs</a:t>
            </a:r>
          </a:p>
        </p:txBody>
      </p:sp>
      <p:sp>
        <p:nvSpPr>
          <p:cNvPr id="79877" name="Rectangle 5">
            <a:extLst>
              <a:ext uri="{FF2B5EF4-FFF2-40B4-BE49-F238E27FC236}">
                <a16:creationId xmlns:a16="http://schemas.microsoft.com/office/drawing/2014/main" id="{5A866D6F-FCB3-4C7E-99E9-F8F7770DD6A3}"/>
              </a:ext>
            </a:extLst>
          </p:cNvPr>
          <p:cNvSpPr>
            <a:spLocks noChangeArrowheads="1"/>
          </p:cNvSpPr>
          <p:nvPr/>
        </p:nvSpPr>
        <p:spPr bwMode="auto">
          <a:xfrm>
            <a:off x="4140200" y="260350"/>
            <a:ext cx="1925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hlink"/>
                </a:solidFill>
                <a:latin typeface="Tahoma" panose="020B0604030504040204" pitchFamily="34" charset="0"/>
              </a:rPr>
              <a:t>31 proteins</a:t>
            </a:r>
          </a:p>
        </p:txBody>
      </p:sp>
      <p:sp>
        <p:nvSpPr>
          <p:cNvPr id="79878" name="Rectangle 6">
            <a:extLst>
              <a:ext uri="{FF2B5EF4-FFF2-40B4-BE49-F238E27FC236}">
                <a16:creationId xmlns:a16="http://schemas.microsoft.com/office/drawing/2014/main" id="{80D90D33-E3BF-41D4-AE12-EF1AC1A1B022}"/>
              </a:ext>
            </a:extLst>
          </p:cNvPr>
          <p:cNvSpPr>
            <a:spLocks noChangeArrowheads="1"/>
          </p:cNvSpPr>
          <p:nvPr/>
        </p:nvSpPr>
        <p:spPr bwMode="auto">
          <a:xfrm>
            <a:off x="1476375" y="2060575"/>
            <a:ext cx="1262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hlink"/>
                </a:solidFill>
                <a:latin typeface="Tahoma" panose="020B0604030504040204" pitchFamily="34" charset="0"/>
              </a:rPr>
              <a:t>1 rRNA</a:t>
            </a:r>
          </a:p>
        </p:txBody>
      </p:sp>
      <p:sp>
        <p:nvSpPr>
          <p:cNvPr id="79879" name="Rectangle 7">
            <a:extLst>
              <a:ext uri="{FF2B5EF4-FFF2-40B4-BE49-F238E27FC236}">
                <a16:creationId xmlns:a16="http://schemas.microsoft.com/office/drawing/2014/main" id="{B98D2DFD-7117-43AF-9254-828ABAB9640B}"/>
              </a:ext>
            </a:extLst>
          </p:cNvPr>
          <p:cNvSpPr>
            <a:spLocks noChangeArrowheads="1"/>
          </p:cNvSpPr>
          <p:nvPr/>
        </p:nvSpPr>
        <p:spPr bwMode="auto">
          <a:xfrm>
            <a:off x="4427538" y="1916113"/>
            <a:ext cx="192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hlink"/>
                </a:solidFill>
                <a:latin typeface="Tahoma" panose="020B0604030504040204" pitchFamily="34" charset="0"/>
              </a:rPr>
              <a:t>21 proteins</a:t>
            </a:r>
          </a:p>
        </p:txBody>
      </p:sp>
      <p:sp>
        <p:nvSpPr>
          <p:cNvPr id="79880" name="Rectangle 8">
            <a:extLst>
              <a:ext uri="{FF2B5EF4-FFF2-40B4-BE49-F238E27FC236}">
                <a16:creationId xmlns:a16="http://schemas.microsoft.com/office/drawing/2014/main" id="{E63267A0-BC9E-4150-BBCB-9C6D6B85C9F5}"/>
              </a:ext>
            </a:extLst>
          </p:cNvPr>
          <p:cNvSpPr>
            <a:spLocks noChangeArrowheads="1"/>
          </p:cNvSpPr>
          <p:nvPr/>
        </p:nvSpPr>
        <p:spPr bwMode="auto">
          <a:xfrm>
            <a:off x="6908800" y="2573338"/>
            <a:ext cx="21399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solidFill>
                  <a:srgbClr val="3366FF"/>
                </a:solidFill>
              </a:rPr>
              <a:t>A prokaryotic</a:t>
            </a:r>
          </a:p>
          <a:p>
            <a:pPr algn="ctr" eaLnBrk="1" hangingPunct="1"/>
            <a:r>
              <a:rPr lang="en-US" altLang="zh-CN" b="1">
                <a:solidFill>
                  <a:srgbClr val="3366FF"/>
                </a:solidFill>
              </a:rPr>
              <a:t>ribosome (70S)</a:t>
            </a:r>
          </a:p>
        </p:txBody>
      </p:sp>
      <p:sp>
        <p:nvSpPr>
          <p:cNvPr id="79881" name="Rectangle 9">
            <a:extLst>
              <a:ext uri="{FF2B5EF4-FFF2-40B4-BE49-F238E27FC236}">
                <a16:creationId xmlns:a16="http://schemas.microsoft.com/office/drawing/2014/main" id="{1F4C97C7-74AF-4722-9A40-202CDA41F4B5}"/>
              </a:ext>
            </a:extLst>
          </p:cNvPr>
          <p:cNvSpPr>
            <a:spLocks noChangeArrowheads="1"/>
          </p:cNvSpPr>
          <p:nvPr/>
        </p:nvSpPr>
        <p:spPr bwMode="auto">
          <a:xfrm>
            <a:off x="1692275" y="3644900"/>
            <a:ext cx="14318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chemeClr val="hlink"/>
                </a:solidFill>
                <a:latin typeface="Tahoma" panose="020B0604030504040204" pitchFamily="34" charset="0"/>
              </a:rPr>
              <a:t>3 rRNAs</a:t>
            </a:r>
          </a:p>
        </p:txBody>
      </p:sp>
      <p:sp>
        <p:nvSpPr>
          <p:cNvPr id="79882" name="Rectangle 10">
            <a:extLst>
              <a:ext uri="{FF2B5EF4-FFF2-40B4-BE49-F238E27FC236}">
                <a16:creationId xmlns:a16="http://schemas.microsoft.com/office/drawing/2014/main" id="{0CF1D18A-9806-4D82-810D-41ED6A95EA9E}"/>
              </a:ext>
            </a:extLst>
          </p:cNvPr>
          <p:cNvSpPr>
            <a:spLocks noChangeArrowheads="1"/>
          </p:cNvSpPr>
          <p:nvPr/>
        </p:nvSpPr>
        <p:spPr bwMode="auto">
          <a:xfrm>
            <a:off x="4356100" y="3500438"/>
            <a:ext cx="1925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hlink"/>
                </a:solidFill>
                <a:latin typeface="Tahoma" panose="020B0604030504040204" pitchFamily="34" charset="0"/>
              </a:rPr>
              <a:t>50 proteins</a:t>
            </a:r>
          </a:p>
        </p:txBody>
      </p:sp>
      <p:sp>
        <p:nvSpPr>
          <p:cNvPr id="79883" name="Rectangle 11">
            <a:extLst>
              <a:ext uri="{FF2B5EF4-FFF2-40B4-BE49-F238E27FC236}">
                <a16:creationId xmlns:a16="http://schemas.microsoft.com/office/drawing/2014/main" id="{0B3D2499-F005-4B59-B863-E48F59281FC5}"/>
              </a:ext>
            </a:extLst>
          </p:cNvPr>
          <p:cNvSpPr>
            <a:spLocks noChangeArrowheads="1"/>
          </p:cNvSpPr>
          <p:nvPr/>
        </p:nvSpPr>
        <p:spPr bwMode="auto">
          <a:xfrm>
            <a:off x="1692275" y="5300663"/>
            <a:ext cx="1130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hlink"/>
                </a:solidFill>
                <a:latin typeface="Tahoma" panose="020B0604030504040204" pitchFamily="34" charset="0"/>
              </a:rPr>
              <a:t>1 RNA</a:t>
            </a:r>
          </a:p>
        </p:txBody>
      </p:sp>
      <p:sp>
        <p:nvSpPr>
          <p:cNvPr id="79884" name="Rectangle 12">
            <a:extLst>
              <a:ext uri="{FF2B5EF4-FFF2-40B4-BE49-F238E27FC236}">
                <a16:creationId xmlns:a16="http://schemas.microsoft.com/office/drawing/2014/main" id="{7F3714D9-D823-481D-A841-4E590E9A5B41}"/>
              </a:ext>
            </a:extLst>
          </p:cNvPr>
          <p:cNvSpPr>
            <a:spLocks noChangeArrowheads="1"/>
          </p:cNvSpPr>
          <p:nvPr/>
        </p:nvSpPr>
        <p:spPr bwMode="auto">
          <a:xfrm>
            <a:off x="4284663" y="5157788"/>
            <a:ext cx="192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hlink"/>
                </a:solidFill>
                <a:latin typeface="Tahoma" panose="020B0604030504040204" pitchFamily="34" charset="0"/>
              </a:rPr>
              <a:t>33 proteins</a:t>
            </a:r>
          </a:p>
        </p:txBody>
      </p:sp>
    </p:spTree>
    <p:extLst>
      <p:ext uri="{BB962C8B-B14F-4D97-AF65-F5344CB8AC3E}">
        <p14:creationId xmlns:p14="http://schemas.microsoft.com/office/powerpoint/2010/main" val="2144522626"/>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ribosome">
            <a:extLst>
              <a:ext uri="{FF2B5EF4-FFF2-40B4-BE49-F238E27FC236}">
                <a16:creationId xmlns:a16="http://schemas.microsoft.com/office/drawing/2014/main" id="{EB830600-B845-40E4-8C65-6EBF92659E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49120"/>
          <a:stretch>
            <a:fillRect/>
          </a:stretch>
        </p:blipFill>
        <p:spPr bwMode="auto">
          <a:xfrm>
            <a:off x="-28575" y="-76200"/>
            <a:ext cx="9172575" cy="725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a:extLst>
              <a:ext uri="{FF2B5EF4-FFF2-40B4-BE49-F238E27FC236}">
                <a16:creationId xmlns:a16="http://schemas.microsoft.com/office/drawing/2014/main" id="{8646F51B-C668-42BF-B320-ECFA1A6F803D}"/>
              </a:ext>
            </a:extLst>
          </p:cNvPr>
          <p:cNvSpPr>
            <a:spLocks noChangeArrowheads="1"/>
          </p:cNvSpPr>
          <p:nvPr/>
        </p:nvSpPr>
        <p:spPr bwMode="auto">
          <a:xfrm>
            <a:off x="849313" y="3213100"/>
            <a:ext cx="820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solidFill>
                  <a:srgbClr val="FFFF00"/>
                </a:solidFill>
              </a:rPr>
              <a:t>Structure of the 70S ribosome have been determined at 5.5 A!</a:t>
            </a:r>
          </a:p>
        </p:txBody>
      </p:sp>
      <p:sp>
        <p:nvSpPr>
          <p:cNvPr id="80900" name="Rectangle 4">
            <a:extLst>
              <a:ext uri="{FF2B5EF4-FFF2-40B4-BE49-F238E27FC236}">
                <a16:creationId xmlns:a16="http://schemas.microsoft.com/office/drawing/2014/main" id="{9E4D639C-272A-43A1-AE21-02F6944D367D}"/>
              </a:ext>
            </a:extLst>
          </p:cNvPr>
          <p:cNvSpPr>
            <a:spLocks noChangeArrowheads="1"/>
          </p:cNvSpPr>
          <p:nvPr/>
        </p:nvSpPr>
        <p:spPr bwMode="auto">
          <a:xfrm>
            <a:off x="5257800" y="5791200"/>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FF00"/>
                </a:solidFill>
              </a:rPr>
              <a:t>50S</a:t>
            </a:r>
          </a:p>
        </p:txBody>
      </p:sp>
      <p:sp>
        <p:nvSpPr>
          <p:cNvPr id="80901" name="Rectangle 5">
            <a:extLst>
              <a:ext uri="{FF2B5EF4-FFF2-40B4-BE49-F238E27FC236}">
                <a16:creationId xmlns:a16="http://schemas.microsoft.com/office/drawing/2014/main" id="{7761184F-1A36-4675-B549-3043B9844126}"/>
              </a:ext>
            </a:extLst>
          </p:cNvPr>
          <p:cNvSpPr>
            <a:spLocks noChangeArrowheads="1"/>
          </p:cNvSpPr>
          <p:nvPr/>
        </p:nvSpPr>
        <p:spPr bwMode="auto">
          <a:xfrm>
            <a:off x="8077200" y="5562600"/>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FF00"/>
                </a:solidFill>
              </a:rPr>
              <a:t>30S</a:t>
            </a:r>
          </a:p>
        </p:txBody>
      </p:sp>
      <p:sp>
        <p:nvSpPr>
          <p:cNvPr id="80902" name="Rectangle 6">
            <a:extLst>
              <a:ext uri="{FF2B5EF4-FFF2-40B4-BE49-F238E27FC236}">
                <a16:creationId xmlns:a16="http://schemas.microsoft.com/office/drawing/2014/main" id="{CF8AC57F-A7F9-4A8C-BA02-0094EEB82451}"/>
              </a:ext>
            </a:extLst>
          </p:cNvPr>
          <p:cNvSpPr>
            <a:spLocks noChangeArrowheads="1"/>
          </p:cNvSpPr>
          <p:nvPr/>
        </p:nvSpPr>
        <p:spPr bwMode="auto">
          <a:xfrm>
            <a:off x="3048000" y="0"/>
            <a:ext cx="2260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FF00"/>
                </a:solidFill>
              </a:rPr>
              <a:t>The rRNAs occupy</a:t>
            </a:r>
          </a:p>
          <a:p>
            <a:pPr eaLnBrk="1" hangingPunct="1"/>
            <a:r>
              <a:rPr lang="en-US" altLang="zh-CN" sz="2000" b="1">
                <a:solidFill>
                  <a:srgbClr val="00FF00"/>
                </a:solidFill>
              </a:rPr>
              <a:t>A large volume!</a:t>
            </a:r>
          </a:p>
        </p:txBody>
      </p:sp>
    </p:spTree>
    <p:extLst>
      <p:ext uri="{BB962C8B-B14F-4D97-AF65-F5344CB8AC3E}">
        <p14:creationId xmlns:p14="http://schemas.microsoft.com/office/powerpoint/2010/main" val="7160582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A3E3A8A-1554-4BAC-89BF-9C139133CDF2}"/>
              </a:ext>
            </a:extLst>
          </p:cNvPr>
          <p:cNvSpPr>
            <a:spLocks noGrp="1" noChangeArrowheads="1"/>
          </p:cNvSpPr>
          <p:nvPr>
            <p:ph type="title" idx="4294967295"/>
          </p:nvPr>
        </p:nvSpPr>
        <p:spPr>
          <a:xfrm>
            <a:off x="0" y="304800"/>
            <a:ext cx="9144000" cy="2133600"/>
          </a:xfrm>
        </p:spPr>
        <p:txBody>
          <a:bodyPr/>
          <a:lstStyle/>
          <a:p>
            <a:pPr eaLnBrk="1" hangingPunct="1"/>
            <a:r>
              <a:rPr lang="en-US" altLang="zh-CN" sz="4000" b="1" dirty="0">
                <a:solidFill>
                  <a:schemeClr val="accent2">
                    <a:lumMod val="75000"/>
                  </a:schemeClr>
                </a:solidFill>
              </a:rPr>
              <a:t>12. The newly synthesized polypeptide chains need to be folded, assembled, and processed to make a functional protein (stage 5)</a:t>
            </a:r>
          </a:p>
        </p:txBody>
      </p:sp>
      <p:sp>
        <p:nvSpPr>
          <p:cNvPr id="93187" name="Rectangle 3">
            <a:extLst>
              <a:ext uri="{FF2B5EF4-FFF2-40B4-BE49-F238E27FC236}">
                <a16:creationId xmlns:a16="http://schemas.microsoft.com/office/drawing/2014/main" id="{DE0E6288-668A-4AC5-82C6-1EC79E35A87D}"/>
              </a:ext>
            </a:extLst>
          </p:cNvPr>
          <p:cNvSpPr>
            <a:spLocks noGrp="1" noChangeArrowheads="1"/>
          </p:cNvSpPr>
          <p:nvPr>
            <p:ph type="body" idx="4294967295"/>
          </p:nvPr>
        </p:nvSpPr>
        <p:spPr>
          <a:xfrm>
            <a:off x="0" y="2743200"/>
            <a:ext cx="9144000" cy="3733800"/>
          </a:xfrm>
        </p:spPr>
        <p:txBody>
          <a:bodyPr/>
          <a:lstStyle/>
          <a:p>
            <a:pPr eaLnBrk="1" hangingPunct="1">
              <a:defRPr/>
            </a:pPr>
            <a:r>
              <a:rPr lang="en-US" altLang="zh-CN" sz="2800" dirty="0"/>
              <a:t>Newly synthesized polypeptide chains will assume their native conformation spontaneously or with help from other proteins (called </a:t>
            </a:r>
            <a:r>
              <a:rPr lang="en-US" altLang="zh-CN" sz="2800" b="1" dirty="0">
                <a:solidFill>
                  <a:schemeClr val="accent5">
                    <a:lumMod val="75000"/>
                  </a:schemeClr>
                </a:solidFill>
                <a:effectLst>
                  <a:outerShdw blurRad="38100" dist="38100" dir="2700000" algn="tl">
                    <a:srgbClr val="000000"/>
                  </a:outerShdw>
                </a:effectLst>
              </a:rPr>
              <a:t>molecular chaperones</a:t>
            </a:r>
            <a:r>
              <a:rPr lang="en-US" altLang="zh-CN" sz="2800" dirty="0"/>
              <a:t>), with or without further </a:t>
            </a:r>
            <a:r>
              <a:rPr lang="en-US" altLang="zh-CN" sz="2800" b="1" dirty="0">
                <a:solidFill>
                  <a:schemeClr val="accent5">
                    <a:lumMod val="75000"/>
                  </a:schemeClr>
                </a:solidFill>
                <a:effectLst>
                  <a:outerShdw blurRad="38100" dist="38100" dir="2700000" algn="tl">
                    <a:srgbClr val="000000"/>
                  </a:outerShdw>
                </a:effectLst>
              </a:rPr>
              <a:t>posttranslational modifications</a:t>
            </a:r>
            <a:r>
              <a:rPr lang="en-US" altLang="zh-CN" sz="2800" dirty="0"/>
              <a:t>.</a:t>
            </a:r>
          </a:p>
          <a:p>
            <a:pPr eaLnBrk="1" hangingPunct="1">
              <a:defRPr/>
            </a:pPr>
            <a:r>
              <a:rPr lang="en-US" altLang="zh-CN" sz="2800" dirty="0"/>
              <a:t>Formation of </a:t>
            </a:r>
            <a:r>
              <a:rPr lang="en-US" altLang="zh-CN" sz="2800" b="1" dirty="0">
                <a:solidFill>
                  <a:schemeClr val="accent5">
                    <a:lumMod val="75000"/>
                  </a:schemeClr>
                </a:solidFill>
                <a:effectLst>
                  <a:outerShdw blurRad="38100" dist="38100" dir="2700000" algn="tl">
                    <a:srgbClr val="000000"/>
                  </a:outerShdw>
                </a:effectLst>
              </a:rPr>
              <a:t>disulfide bonds</a:t>
            </a:r>
            <a:r>
              <a:rPr lang="en-US" altLang="zh-CN" sz="2800" dirty="0"/>
              <a:t>.</a:t>
            </a:r>
          </a:p>
          <a:p>
            <a:pPr eaLnBrk="1" hangingPunct="1">
              <a:defRPr/>
            </a:pPr>
            <a:r>
              <a:rPr lang="en-US" altLang="zh-CN" sz="2800" dirty="0"/>
              <a:t>Addition of </a:t>
            </a:r>
            <a:r>
              <a:rPr lang="en-US" altLang="zh-CN" sz="2800" b="1" dirty="0">
                <a:solidFill>
                  <a:schemeClr val="accent5">
                    <a:lumMod val="75000"/>
                  </a:schemeClr>
                </a:solidFill>
                <a:effectLst>
                  <a:outerShdw blurRad="38100" dist="38100" dir="2700000" algn="tl">
                    <a:srgbClr val="000000"/>
                  </a:outerShdw>
                </a:effectLst>
              </a:rPr>
              <a:t>cofactors</a:t>
            </a:r>
            <a:r>
              <a:rPr lang="en-US" altLang="zh-CN" sz="2800" dirty="0"/>
              <a:t> via covalent or noncovalent bonds.</a:t>
            </a:r>
          </a:p>
        </p:txBody>
      </p:sp>
    </p:spTree>
    <p:extLst>
      <p:ext uri="{BB962C8B-B14F-4D97-AF65-F5344CB8AC3E}">
        <p14:creationId xmlns:p14="http://schemas.microsoft.com/office/powerpoint/2010/main" val="20433254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1BF700B1-5379-479A-9540-EEF66933B01F}"/>
              </a:ext>
            </a:extLst>
          </p:cNvPr>
          <p:cNvSpPr>
            <a:spLocks noGrp="1" noChangeArrowheads="1"/>
          </p:cNvSpPr>
          <p:nvPr>
            <p:ph type="title" idx="4294967295"/>
          </p:nvPr>
        </p:nvSpPr>
        <p:spPr>
          <a:xfrm>
            <a:off x="304800" y="116632"/>
            <a:ext cx="8839200" cy="1143000"/>
          </a:xfrm>
        </p:spPr>
        <p:txBody>
          <a:bodyPr/>
          <a:lstStyle/>
          <a:p>
            <a:r>
              <a:rPr lang="en-US" altLang="zh-CN" sz="3600" dirty="0"/>
              <a:t>Disulfide bonds are formed and rearranged in the ER lumen</a:t>
            </a:r>
          </a:p>
        </p:txBody>
      </p:sp>
      <p:pic>
        <p:nvPicPr>
          <p:cNvPr id="137219" name="Picture 5">
            <a:extLst>
              <a:ext uri="{FF2B5EF4-FFF2-40B4-BE49-F238E27FC236}">
                <a16:creationId xmlns:a16="http://schemas.microsoft.com/office/drawing/2014/main" id="{1219D027-5EF5-447B-AD65-FE9D548B31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1196752"/>
            <a:ext cx="7675563" cy="551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B2FD05D-38CC-4301-9831-ED5FD270BEFD}"/>
              </a:ext>
            </a:extLst>
          </p:cNvPr>
          <p:cNvSpPr/>
          <p:nvPr/>
        </p:nvSpPr>
        <p:spPr>
          <a:xfrm>
            <a:off x="6261207" y="3675653"/>
            <a:ext cx="2427268" cy="276999"/>
          </a:xfrm>
          <a:prstGeom prst="rect">
            <a:avLst/>
          </a:prstGeom>
        </p:spPr>
        <p:txBody>
          <a:bodyPr wrap="none">
            <a:spAutoFit/>
          </a:bodyPr>
          <a:lstStyle/>
          <a:p>
            <a:r>
              <a:rPr lang="en-US" altLang="zh-CN" sz="1200" dirty="0">
                <a:solidFill>
                  <a:srgbClr val="FF0000"/>
                </a:solidFill>
              </a:rPr>
              <a:t>Protein </a:t>
            </a:r>
            <a:r>
              <a:rPr lang="en-US" altLang="zh-CN" sz="1200" i="1" dirty="0">
                <a:solidFill>
                  <a:srgbClr val="FF0000"/>
                </a:solidFill>
              </a:rPr>
              <a:t>disulfide</a:t>
            </a:r>
            <a:r>
              <a:rPr lang="en-US" altLang="zh-CN" sz="1200" dirty="0">
                <a:solidFill>
                  <a:srgbClr val="FF0000"/>
                </a:solidFill>
              </a:rPr>
              <a:t> isomerase (</a:t>
            </a:r>
            <a:r>
              <a:rPr lang="en-US" altLang="zh-CN" sz="1200" i="1" dirty="0">
                <a:solidFill>
                  <a:srgbClr val="FF0000"/>
                </a:solidFill>
              </a:rPr>
              <a:t>PDI</a:t>
            </a:r>
            <a:r>
              <a:rPr lang="en-US" altLang="zh-CN" sz="1200" dirty="0">
                <a:solidFill>
                  <a:srgbClr val="FF0000"/>
                </a:solidFill>
              </a:rPr>
              <a:t>)</a:t>
            </a:r>
            <a:endParaRPr lang="zh-CN" altLang="en-US" sz="1200" dirty="0">
              <a:solidFill>
                <a:srgbClr val="FF0000"/>
              </a:solidFill>
            </a:endParaRPr>
          </a:p>
        </p:txBody>
      </p:sp>
    </p:spTree>
    <p:extLst>
      <p:ext uri="{BB962C8B-B14F-4D97-AF65-F5344CB8AC3E}">
        <p14:creationId xmlns:p14="http://schemas.microsoft.com/office/powerpoint/2010/main" val="2285464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6F6D24C-EBC6-4A17-A1F7-DDFF60D6CB34}"/>
              </a:ext>
            </a:extLst>
          </p:cNvPr>
          <p:cNvSpPr>
            <a:spLocks noGrp="1" noChangeArrowheads="1"/>
          </p:cNvSpPr>
          <p:nvPr>
            <p:ph type="title" idx="4294967295"/>
          </p:nvPr>
        </p:nvSpPr>
        <p:spPr/>
        <p:txBody>
          <a:bodyPr/>
          <a:lstStyle/>
          <a:p>
            <a:pPr eaLnBrk="1" hangingPunct="1"/>
            <a:r>
              <a:rPr lang="en-US" altLang="zh-CN" dirty="0"/>
              <a:t> </a:t>
            </a:r>
          </a:p>
        </p:txBody>
      </p:sp>
      <p:sp>
        <p:nvSpPr>
          <p:cNvPr id="94211" name="Rectangle 3">
            <a:extLst>
              <a:ext uri="{FF2B5EF4-FFF2-40B4-BE49-F238E27FC236}">
                <a16:creationId xmlns:a16="http://schemas.microsoft.com/office/drawing/2014/main" id="{DD6645D3-D532-4423-B198-138D72EDBA0A}"/>
              </a:ext>
            </a:extLst>
          </p:cNvPr>
          <p:cNvSpPr>
            <a:spLocks noGrp="1" noChangeArrowheads="1"/>
          </p:cNvSpPr>
          <p:nvPr>
            <p:ph type="body" idx="4294967295"/>
          </p:nvPr>
        </p:nvSpPr>
        <p:spPr>
          <a:xfrm>
            <a:off x="0" y="332656"/>
            <a:ext cx="9144000" cy="4267200"/>
          </a:xfrm>
        </p:spPr>
        <p:txBody>
          <a:bodyPr/>
          <a:lstStyle/>
          <a:p>
            <a:pPr eaLnBrk="1" hangingPunct="1">
              <a:defRPr/>
            </a:pPr>
            <a:r>
              <a:rPr lang="en-US" altLang="zh-CN" sz="3200" dirty="0"/>
              <a:t>The N-terminal formyl, </a:t>
            </a:r>
            <a:r>
              <a:rPr lang="en-US" altLang="zh-CN" sz="3200" dirty="0" err="1"/>
              <a:t>fMet</a:t>
            </a:r>
            <a:r>
              <a:rPr lang="en-US" altLang="zh-CN" sz="3200" dirty="0"/>
              <a:t> or Met may be removed enzymatically.</a:t>
            </a:r>
          </a:p>
          <a:p>
            <a:pPr eaLnBrk="1" hangingPunct="1">
              <a:defRPr/>
            </a:pPr>
            <a:r>
              <a:rPr lang="en-US" altLang="zh-CN" b="1" dirty="0">
                <a:solidFill>
                  <a:schemeClr val="accent5">
                    <a:lumMod val="75000"/>
                  </a:schemeClr>
                </a:solidFill>
                <a:effectLst>
                  <a:outerShdw blurRad="38100" dist="38100" dir="2700000" algn="tl">
                    <a:srgbClr val="000000"/>
                  </a:outerShdw>
                </a:effectLst>
              </a:rPr>
              <a:t>Signal sequences</a:t>
            </a:r>
            <a:r>
              <a:rPr lang="en-US" altLang="zh-CN" dirty="0">
                <a:solidFill>
                  <a:schemeClr val="accent5">
                    <a:lumMod val="75000"/>
                  </a:schemeClr>
                </a:solidFill>
              </a:rPr>
              <a:t> </a:t>
            </a:r>
            <a:r>
              <a:rPr lang="en-US" altLang="zh-CN" dirty="0"/>
              <a:t>(usually 15 to 30 residues in length) at the N-terminal of some proteins will be removed by specific peptidases after the protein reached their cellular destinations (protein targeting). </a:t>
            </a:r>
          </a:p>
          <a:p>
            <a:pPr eaLnBrk="1" hangingPunct="1">
              <a:defRPr/>
            </a:pPr>
            <a:r>
              <a:rPr lang="en-US" altLang="zh-CN" b="1" dirty="0">
                <a:solidFill>
                  <a:schemeClr val="accent5">
                    <a:lumMod val="75000"/>
                  </a:schemeClr>
                </a:solidFill>
                <a:effectLst>
                  <a:outerShdw blurRad="38100" dist="38100" dir="2700000" algn="tl">
                    <a:srgbClr val="000000"/>
                  </a:outerShdw>
                </a:effectLst>
              </a:rPr>
              <a:t>Proteolytic cleavage</a:t>
            </a:r>
            <a:r>
              <a:rPr lang="en-US" altLang="zh-CN" dirty="0">
                <a:solidFill>
                  <a:schemeClr val="accent5">
                    <a:lumMod val="75000"/>
                  </a:schemeClr>
                </a:solidFill>
              </a:rPr>
              <a:t> </a:t>
            </a:r>
            <a:r>
              <a:rPr lang="en-US" altLang="zh-CN" dirty="0"/>
              <a:t>of larger precursor proteins.</a:t>
            </a:r>
          </a:p>
        </p:txBody>
      </p:sp>
    </p:spTree>
    <p:extLst>
      <p:ext uri="{BB962C8B-B14F-4D97-AF65-F5344CB8AC3E}">
        <p14:creationId xmlns:p14="http://schemas.microsoft.com/office/powerpoint/2010/main" val="7106301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DA7407B-5CA3-4820-ACA1-F8EAFB36ED47}"/>
              </a:ext>
            </a:extLst>
          </p:cNvPr>
          <p:cNvSpPr>
            <a:spLocks noGrp="1" noChangeArrowheads="1"/>
          </p:cNvSpPr>
          <p:nvPr>
            <p:ph type="title" idx="4294967295"/>
          </p:nvPr>
        </p:nvSpPr>
        <p:spPr>
          <a:xfrm>
            <a:off x="0" y="0"/>
            <a:ext cx="7772400" cy="76200"/>
          </a:xfrm>
        </p:spPr>
        <p:txBody>
          <a:bodyPr/>
          <a:lstStyle/>
          <a:p>
            <a:pPr eaLnBrk="1" hangingPunct="1"/>
            <a:r>
              <a:rPr lang="en-US" altLang="zh-CN" dirty="0"/>
              <a:t> </a:t>
            </a:r>
          </a:p>
        </p:txBody>
      </p:sp>
      <p:sp>
        <p:nvSpPr>
          <p:cNvPr id="95235" name="Rectangle 3">
            <a:extLst>
              <a:ext uri="{FF2B5EF4-FFF2-40B4-BE49-F238E27FC236}">
                <a16:creationId xmlns:a16="http://schemas.microsoft.com/office/drawing/2014/main" id="{28CE2800-929C-4506-B92C-AB0A98C7BAC5}"/>
              </a:ext>
            </a:extLst>
          </p:cNvPr>
          <p:cNvSpPr>
            <a:spLocks noGrp="1" noChangeArrowheads="1"/>
          </p:cNvSpPr>
          <p:nvPr>
            <p:ph type="body" idx="4294967295"/>
          </p:nvPr>
        </p:nvSpPr>
        <p:spPr>
          <a:xfrm>
            <a:off x="0" y="914400"/>
            <a:ext cx="9144000" cy="4114800"/>
          </a:xfrm>
        </p:spPr>
        <p:txBody>
          <a:bodyPr/>
          <a:lstStyle/>
          <a:p>
            <a:pPr eaLnBrk="1" hangingPunct="1">
              <a:defRPr/>
            </a:pPr>
            <a:r>
              <a:rPr lang="en-US" altLang="zh-CN" dirty="0"/>
              <a:t>The N-terminal amino and C-terminal carboxyl groups may be modified (e.g., acetylated).</a:t>
            </a:r>
          </a:p>
          <a:p>
            <a:pPr eaLnBrk="1" hangingPunct="1">
              <a:defRPr/>
            </a:pPr>
            <a:r>
              <a:rPr lang="en-US" altLang="zh-CN" dirty="0"/>
              <a:t>Specific amino acids in a protein may be enzymatically modified </a:t>
            </a:r>
            <a:r>
              <a:rPr lang="en-US" altLang="zh-CN" dirty="0" err="1"/>
              <a:t>posttranslationally</a:t>
            </a:r>
            <a:r>
              <a:rPr lang="en-US" altLang="zh-CN" dirty="0"/>
              <a:t> by groups like </a:t>
            </a:r>
            <a:r>
              <a:rPr lang="en-US" altLang="zh-CN" b="1" dirty="0">
                <a:solidFill>
                  <a:schemeClr val="accent5">
                    <a:lumMod val="75000"/>
                  </a:schemeClr>
                </a:solidFill>
              </a:rPr>
              <a:t>phosphate</a:t>
            </a:r>
            <a:r>
              <a:rPr lang="en-US" altLang="zh-CN" dirty="0">
                <a:solidFill>
                  <a:schemeClr val="accent5">
                    <a:lumMod val="75000"/>
                  </a:schemeClr>
                </a:solidFill>
              </a:rPr>
              <a:t>, </a:t>
            </a:r>
            <a:r>
              <a:rPr lang="en-US" altLang="zh-CN" b="1" dirty="0">
                <a:solidFill>
                  <a:schemeClr val="accent5">
                    <a:lumMod val="75000"/>
                  </a:schemeClr>
                </a:solidFill>
              </a:rPr>
              <a:t>carboxylate</a:t>
            </a:r>
            <a:r>
              <a:rPr lang="zh-CN" altLang="en-US" b="1" dirty="0">
                <a:solidFill>
                  <a:schemeClr val="accent5">
                    <a:lumMod val="75000"/>
                  </a:schemeClr>
                </a:solidFill>
              </a:rPr>
              <a:t>，</a:t>
            </a:r>
            <a:r>
              <a:rPr lang="en-US" altLang="zh-CN" dirty="0"/>
              <a:t>or </a:t>
            </a:r>
            <a:r>
              <a:rPr lang="en-US" altLang="zh-CN" b="1" dirty="0">
                <a:solidFill>
                  <a:schemeClr val="accent5">
                    <a:lumMod val="75000"/>
                  </a:schemeClr>
                </a:solidFill>
              </a:rPr>
              <a:t>methylate</a:t>
            </a:r>
            <a:r>
              <a:rPr lang="en-US" altLang="zh-CN" dirty="0"/>
              <a:t>.</a:t>
            </a:r>
          </a:p>
          <a:p>
            <a:pPr eaLnBrk="1" hangingPunct="1">
              <a:defRPr/>
            </a:pPr>
            <a:r>
              <a:rPr lang="en-US" altLang="zh-CN" b="1" dirty="0">
                <a:solidFill>
                  <a:schemeClr val="accent5">
                    <a:lumMod val="75000"/>
                  </a:schemeClr>
                </a:solidFill>
                <a:effectLst>
                  <a:outerShdw blurRad="38100" dist="38100" dir="2700000" algn="tl">
                    <a:srgbClr val="000000"/>
                  </a:outerShdw>
                </a:effectLst>
              </a:rPr>
              <a:t>Oligosaccharide</a:t>
            </a:r>
            <a:r>
              <a:rPr lang="en-US" altLang="zh-CN" b="1" dirty="0">
                <a:effectLst>
                  <a:outerShdw blurRad="38100" dist="38100" dir="2700000" algn="tl">
                    <a:srgbClr val="000000"/>
                  </a:outerShdw>
                </a:effectLst>
              </a:rPr>
              <a:t> </a:t>
            </a:r>
            <a:r>
              <a:rPr lang="en-US" altLang="zh-CN" dirty="0"/>
              <a:t>groups are covalently attached to specific </a:t>
            </a:r>
            <a:r>
              <a:rPr lang="en-US" altLang="zh-CN" dirty="0" err="1"/>
              <a:t>Asn</a:t>
            </a:r>
            <a:r>
              <a:rPr lang="en-US" altLang="zh-CN" dirty="0"/>
              <a:t>, </a:t>
            </a:r>
            <a:r>
              <a:rPr lang="en-US" altLang="zh-CN" dirty="0" err="1"/>
              <a:t>Thr</a:t>
            </a:r>
            <a:r>
              <a:rPr lang="en-US" altLang="zh-CN" dirty="0"/>
              <a:t>, or Ser residues in some proteins (glycoproteins, often function extracellularly).</a:t>
            </a:r>
          </a:p>
          <a:p>
            <a:pPr eaLnBrk="1" hangingPunct="1">
              <a:defRPr/>
            </a:pPr>
            <a:endParaRPr lang="en-US" altLang="zh-CN" dirty="0"/>
          </a:p>
        </p:txBody>
      </p:sp>
    </p:spTree>
    <p:extLst>
      <p:ext uri="{BB962C8B-B14F-4D97-AF65-F5344CB8AC3E}">
        <p14:creationId xmlns:p14="http://schemas.microsoft.com/office/powerpoint/2010/main" val="21007330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2DBB9BB-638C-4A9E-9310-950EA024D0C4}"/>
              </a:ext>
            </a:extLst>
          </p:cNvPr>
          <p:cNvSpPr txBox="1"/>
          <p:nvPr/>
        </p:nvSpPr>
        <p:spPr>
          <a:xfrm>
            <a:off x="2339752" y="620688"/>
            <a:ext cx="5352256" cy="1323439"/>
          </a:xfrm>
          <a:prstGeom prst="rect">
            <a:avLst/>
          </a:prstGeom>
          <a:noFill/>
        </p:spPr>
        <p:txBody>
          <a:bodyPr wrap="square" rtlCol="0">
            <a:spAutoFit/>
          </a:bodyPr>
          <a:lstStyle/>
          <a:p>
            <a:r>
              <a:rPr lang="en-US" altLang="zh-CN" sz="4400" dirty="0"/>
              <a:t>Epigenetics</a:t>
            </a:r>
          </a:p>
          <a:p>
            <a:r>
              <a:rPr lang="en-US" altLang="zh-CN" sz="3600" dirty="0"/>
              <a:t>       -histone methylation</a:t>
            </a:r>
            <a:endParaRPr lang="zh-CN" altLang="en-US" sz="3600" dirty="0"/>
          </a:p>
        </p:txBody>
      </p:sp>
      <p:graphicFrame>
        <p:nvGraphicFramePr>
          <p:cNvPr id="3" name="表格 2">
            <a:extLst>
              <a:ext uri="{FF2B5EF4-FFF2-40B4-BE49-F238E27FC236}">
                <a16:creationId xmlns:a16="http://schemas.microsoft.com/office/drawing/2014/main" id="{553C09E2-46B0-4F01-AFFC-69DDC7D6DB8D}"/>
              </a:ext>
            </a:extLst>
          </p:cNvPr>
          <p:cNvGraphicFramePr>
            <a:graphicFrameLocks noGrp="1"/>
          </p:cNvGraphicFramePr>
          <p:nvPr/>
        </p:nvGraphicFramePr>
        <p:xfrm>
          <a:off x="1763688" y="2420888"/>
          <a:ext cx="6264696" cy="2291080"/>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329821737"/>
                    </a:ext>
                  </a:extLst>
                </a:gridCol>
                <a:gridCol w="3456384">
                  <a:extLst>
                    <a:ext uri="{9D8B030D-6E8A-4147-A177-3AD203B41FA5}">
                      <a16:colId xmlns:a16="http://schemas.microsoft.com/office/drawing/2014/main" val="2173850138"/>
                    </a:ext>
                  </a:extLst>
                </a:gridCol>
              </a:tblGrid>
              <a:tr h="370840">
                <a:tc>
                  <a:txBody>
                    <a:bodyPr/>
                    <a:lstStyle/>
                    <a:p>
                      <a:pPr algn="ctr"/>
                      <a:r>
                        <a:rPr lang="en-US" altLang="zh-CN" dirty="0"/>
                        <a:t>Histone 3 methylation</a:t>
                      </a:r>
                      <a:endParaRPr lang="zh-CN" altLang="en-US" dirty="0"/>
                    </a:p>
                  </a:txBody>
                  <a:tcPr/>
                </a:tc>
                <a:tc>
                  <a:txBody>
                    <a:bodyPr/>
                    <a:lstStyle/>
                    <a:p>
                      <a:pPr algn="ctr"/>
                      <a:r>
                        <a:rPr lang="en-US" altLang="zh-CN" dirty="0"/>
                        <a:t>function</a:t>
                      </a:r>
                      <a:endParaRPr lang="zh-CN" altLang="en-US" dirty="0"/>
                    </a:p>
                  </a:txBody>
                  <a:tcPr/>
                </a:tc>
                <a:extLst>
                  <a:ext uri="{0D108BD9-81ED-4DB2-BD59-A6C34878D82A}">
                    <a16:rowId xmlns:a16="http://schemas.microsoft.com/office/drawing/2014/main" val="2962553352"/>
                  </a:ext>
                </a:extLst>
              </a:tr>
              <a:tr h="370840">
                <a:tc>
                  <a:txBody>
                    <a:bodyPr/>
                    <a:lstStyle/>
                    <a:p>
                      <a:r>
                        <a:rPr lang="en-US" altLang="zh-CN" dirty="0"/>
                        <a:t>H3K4me3</a:t>
                      </a:r>
                      <a:endParaRPr lang="zh-CN" altLang="en-US" dirty="0"/>
                    </a:p>
                  </a:txBody>
                  <a:tcPr/>
                </a:tc>
                <a:tc>
                  <a:txBody>
                    <a:bodyPr/>
                    <a:lstStyle/>
                    <a:p>
                      <a:r>
                        <a:rPr lang="en-US" altLang="zh-CN" dirty="0"/>
                        <a:t>Gene activation </a:t>
                      </a:r>
                      <a:r>
                        <a:rPr lang="zh-CN" altLang="en-US" dirty="0"/>
                        <a:t>（</a:t>
                      </a:r>
                      <a:r>
                        <a:rPr lang="en-US" altLang="zh-CN" dirty="0"/>
                        <a:t>protein coding gene</a:t>
                      </a:r>
                      <a:r>
                        <a:rPr lang="zh-CN" altLang="en-US" dirty="0"/>
                        <a:t>）</a:t>
                      </a:r>
                    </a:p>
                  </a:txBody>
                  <a:tcPr/>
                </a:tc>
                <a:extLst>
                  <a:ext uri="{0D108BD9-81ED-4DB2-BD59-A6C34878D82A}">
                    <a16:rowId xmlns:a16="http://schemas.microsoft.com/office/drawing/2014/main" val="18836045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H3K9me3</a:t>
                      </a:r>
                      <a:endParaRPr lang="zh-CN" altLang="en-US" dirty="0"/>
                    </a:p>
                  </a:txBody>
                  <a:tcPr/>
                </a:tc>
                <a:tc>
                  <a:txBody>
                    <a:bodyPr/>
                    <a:lstStyle/>
                    <a:p>
                      <a:r>
                        <a:rPr lang="en-US" altLang="zh-CN" dirty="0"/>
                        <a:t>Gene repression </a:t>
                      </a:r>
                      <a:r>
                        <a:rPr lang="zh-CN" altLang="en-US" dirty="0"/>
                        <a:t>（</a:t>
                      </a:r>
                      <a:r>
                        <a:rPr lang="en-US" altLang="zh-CN" dirty="0"/>
                        <a:t>transposon</a:t>
                      </a:r>
                      <a:r>
                        <a:rPr lang="zh-CN" altLang="en-US" dirty="0"/>
                        <a:t>）</a:t>
                      </a:r>
                      <a:endParaRPr lang="en-US" altLang="zh-CN" dirty="0"/>
                    </a:p>
                    <a:p>
                      <a:endParaRPr lang="zh-CN" altLang="en-US" dirty="0"/>
                    </a:p>
                  </a:txBody>
                  <a:tcPr/>
                </a:tc>
                <a:extLst>
                  <a:ext uri="{0D108BD9-81ED-4DB2-BD59-A6C34878D82A}">
                    <a16:rowId xmlns:a16="http://schemas.microsoft.com/office/drawing/2014/main" val="10215743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H3K27me3</a:t>
                      </a:r>
                      <a:endParaRPr lang="zh-CN" altLang="en-US" dirty="0"/>
                    </a:p>
                  </a:txBody>
                  <a:tcPr/>
                </a:tc>
                <a:tc>
                  <a:txBody>
                    <a:bodyPr/>
                    <a:lstStyle/>
                    <a:p>
                      <a:r>
                        <a:rPr lang="en-US" altLang="zh-CN" dirty="0"/>
                        <a:t>Gene repression </a:t>
                      </a:r>
                      <a:r>
                        <a:rPr lang="zh-CN" altLang="en-US" dirty="0"/>
                        <a:t>（</a:t>
                      </a:r>
                      <a:r>
                        <a:rPr lang="en-US" altLang="zh-CN" dirty="0"/>
                        <a:t>protein coding gene</a:t>
                      </a:r>
                      <a:r>
                        <a:rPr lang="zh-CN" altLang="en-US" dirty="0"/>
                        <a:t>）</a:t>
                      </a:r>
                    </a:p>
                  </a:txBody>
                  <a:tcPr/>
                </a:tc>
                <a:extLst>
                  <a:ext uri="{0D108BD9-81ED-4DB2-BD59-A6C34878D82A}">
                    <a16:rowId xmlns:a16="http://schemas.microsoft.com/office/drawing/2014/main" val="4224585183"/>
                  </a:ext>
                </a:extLst>
              </a:tr>
            </a:tbl>
          </a:graphicData>
        </a:graphic>
      </p:graphicFrame>
    </p:spTree>
    <p:extLst>
      <p:ext uri="{BB962C8B-B14F-4D97-AF65-F5344CB8AC3E}">
        <p14:creationId xmlns:p14="http://schemas.microsoft.com/office/powerpoint/2010/main" val="9035308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5" name="Picture 3">
            <a:extLst>
              <a:ext uri="{FF2B5EF4-FFF2-40B4-BE49-F238E27FC236}">
                <a16:creationId xmlns:a16="http://schemas.microsoft.com/office/drawing/2014/main" id="{042BB3EB-943D-4732-BE2C-EC42A8455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765175"/>
            <a:ext cx="8839200"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552DA8B-6113-4E32-85E9-98091C4CD547}"/>
              </a:ext>
            </a:extLst>
          </p:cNvPr>
          <p:cNvSpPr/>
          <p:nvPr/>
        </p:nvSpPr>
        <p:spPr>
          <a:xfrm>
            <a:off x="827584" y="5013176"/>
            <a:ext cx="1368152" cy="21602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136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8" name="Picture 2">
            <a:extLst>
              <a:ext uri="{FF2B5EF4-FFF2-40B4-BE49-F238E27FC236}">
                <a16:creationId xmlns:a16="http://schemas.microsoft.com/office/drawing/2014/main" id="{AB26C513-F2B5-40FF-B1A3-46EF71FAE1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9300" y="254000"/>
            <a:ext cx="25654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6CFD31C7-0C76-464A-A755-D9A65BCCD418}"/>
              </a:ext>
            </a:extLst>
          </p:cNvPr>
          <p:cNvPicPr>
            <a:picLocks noChangeAspect="1"/>
          </p:cNvPicPr>
          <p:nvPr/>
        </p:nvPicPr>
        <p:blipFill>
          <a:blip r:embed="rId4"/>
          <a:stretch>
            <a:fillRect/>
          </a:stretch>
        </p:blipFill>
        <p:spPr>
          <a:xfrm>
            <a:off x="6372200" y="4149080"/>
            <a:ext cx="2091109" cy="1164437"/>
          </a:xfrm>
          <a:prstGeom prst="rect">
            <a:avLst/>
          </a:prstGeom>
        </p:spPr>
      </p:pic>
    </p:spTree>
    <p:extLst>
      <p:ext uri="{BB962C8B-B14F-4D97-AF65-F5344CB8AC3E}">
        <p14:creationId xmlns:p14="http://schemas.microsoft.com/office/powerpoint/2010/main" val="28406701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2DBB9BB-638C-4A9E-9310-950EA024D0C4}"/>
              </a:ext>
            </a:extLst>
          </p:cNvPr>
          <p:cNvSpPr txBox="1"/>
          <p:nvPr/>
        </p:nvSpPr>
        <p:spPr>
          <a:xfrm>
            <a:off x="2339752" y="620688"/>
            <a:ext cx="5352256" cy="1323439"/>
          </a:xfrm>
          <a:prstGeom prst="rect">
            <a:avLst/>
          </a:prstGeom>
          <a:noFill/>
        </p:spPr>
        <p:txBody>
          <a:bodyPr wrap="square" rtlCol="0">
            <a:spAutoFit/>
          </a:bodyPr>
          <a:lstStyle/>
          <a:p>
            <a:r>
              <a:rPr lang="en-US" altLang="zh-CN" sz="4400" dirty="0"/>
              <a:t>Epigenetics</a:t>
            </a:r>
          </a:p>
          <a:p>
            <a:r>
              <a:rPr lang="en-US" altLang="zh-CN" sz="3600" dirty="0"/>
              <a:t>       -histone methylation</a:t>
            </a:r>
            <a:endParaRPr lang="zh-CN" altLang="en-US" sz="3600" dirty="0"/>
          </a:p>
        </p:txBody>
      </p:sp>
      <p:graphicFrame>
        <p:nvGraphicFramePr>
          <p:cNvPr id="3" name="表格 2">
            <a:extLst>
              <a:ext uri="{FF2B5EF4-FFF2-40B4-BE49-F238E27FC236}">
                <a16:creationId xmlns:a16="http://schemas.microsoft.com/office/drawing/2014/main" id="{553C09E2-46B0-4F01-AFFC-69DDC7D6DB8D}"/>
              </a:ext>
            </a:extLst>
          </p:cNvPr>
          <p:cNvGraphicFramePr>
            <a:graphicFrameLocks noGrp="1"/>
          </p:cNvGraphicFramePr>
          <p:nvPr/>
        </p:nvGraphicFramePr>
        <p:xfrm>
          <a:off x="755576" y="2492896"/>
          <a:ext cx="6264696" cy="2291080"/>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329821737"/>
                    </a:ext>
                  </a:extLst>
                </a:gridCol>
                <a:gridCol w="3456384">
                  <a:extLst>
                    <a:ext uri="{9D8B030D-6E8A-4147-A177-3AD203B41FA5}">
                      <a16:colId xmlns:a16="http://schemas.microsoft.com/office/drawing/2014/main" val="2173850138"/>
                    </a:ext>
                  </a:extLst>
                </a:gridCol>
              </a:tblGrid>
              <a:tr h="370840">
                <a:tc>
                  <a:txBody>
                    <a:bodyPr/>
                    <a:lstStyle/>
                    <a:p>
                      <a:pPr algn="ctr"/>
                      <a:r>
                        <a:rPr lang="en-US" altLang="zh-CN" dirty="0"/>
                        <a:t>Histone 3 methylation</a:t>
                      </a:r>
                      <a:endParaRPr lang="zh-CN" altLang="en-US" dirty="0"/>
                    </a:p>
                  </a:txBody>
                  <a:tcPr/>
                </a:tc>
                <a:tc>
                  <a:txBody>
                    <a:bodyPr/>
                    <a:lstStyle/>
                    <a:p>
                      <a:pPr algn="ctr"/>
                      <a:r>
                        <a:rPr lang="en-US" altLang="zh-CN" dirty="0"/>
                        <a:t>function</a:t>
                      </a:r>
                      <a:endParaRPr lang="zh-CN" altLang="en-US" dirty="0"/>
                    </a:p>
                  </a:txBody>
                  <a:tcPr/>
                </a:tc>
                <a:extLst>
                  <a:ext uri="{0D108BD9-81ED-4DB2-BD59-A6C34878D82A}">
                    <a16:rowId xmlns:a16="http://schemas.microsoft.com/office/drawing/2014/main" val="2962553352"/>
                  </a:ext>
                </a:extLst>
              </a:tr>
              <a:tr h="370840">
                <a:tc>
                  <a:txBody>
                    <a:bodyPr/>
                    <a:lstStyle/>
                    <a:p>
                      <a:r>
                        <a:rPr lang="en-US" altLang="zh-CN" dirty="0"/>
                        <a:t>H3K4me3</a:t>
                      </a:r>
                      <a:endParaRPr lang="zh-CN" altLang="en-US" dirty="0"/>
                    </a:p>
                  </a:txBody>
                  <a:tcPr/>
                </a:tc>
                <a:tc>
                  <a:txBody>
                    <a:bodyPr/>
                    <a:lstStyle/>
                    <a:p>
                      <a:r>
                        <a:rPr lang="en-US" altLang="zh-CN" dirty="0"/>
                        <a:t>Gene activation </a:t>
                      </a:r>
                      <a:r>
                        <a:rPr lang="zh-CN" altLang="en-US" dirty="0"/>
                        <a:t>（</a:t>
                      </a:r>
                      <a:r>
                        <a:rPr lang="en-US" altLang="zh-CN" dirty="0"/>
                        <a:t>protein coding gene</a:t>
                      </a:r>
                      <a:r>
                        <a:rPr lang="zh-CN" altLang="en-US" dirty="0"/>
                        <a:t>）</a:t>
                      </a:r>
                    </a:p>
                  </a:txBody>
                  <a:tcPr/>
                </a:tc>
                <a:extLst>
                  <a:ext uri="{0D108BD9-81ED-4DB2-BD59-A6C34878D82A}">
                    <a16:rowId xmlns:a16="http://schemas.microsoft.com/office/drawing/2014/main" val="18836045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H3K9me3</a:t>
                      </a:r>
                      <a:endParaRPr lang="zh-CN" altLang="en-US" dirty="0"/>
                    </a:p>
                  </a:txBody>
                  <a:tcPr/>
                </a:tc>
                <a:tc>
                  <a:txBody>
                    <a:bodyPr/>
                    <a:lstStyle/>
                    <a:p>
                      <a:r>
                        <a:rPr lang="en-US" altLang="zh-CN" dirty="0"/>
                        <a:t>Gene repression </a:t>
                      </a:r>
                      <a:r>
                        <a:rPr lang="zh-CN" altLang="en-US" dirty="0"/>
                        <a:t>（</a:t>
                      </a:r>
                      <a:r>
                        <a:rPr lang="en-US" altLang="zh-CN" dirty="0"/>
                        <a:t>transposon</a:t>
                      </a:r>
                      <a:r>
                        <a:rPr lang="zh-CN" altLang="en-US" dirty="0"/>
                        <a:t>）</a:t>
                      </a:r>
                      <a:endParaRPr lang="en-US" altLang="zh-CN" dirty="0"/>
                    </a:p>
                    <a:p>
                      <a:endParaRPr lang="zh-CN" altLang="en-US" dirty="0"/>
                    </a:p>
                  </a:txBody>
                  <a:tcPr/>
                </a:tc>
                <a:extLst>
                  <a:ext uri="{0D108BD9-81ED-4DB2-BD59-A6C34878D82A}">
                    <a16:rowId xmlns:a16="http://schemas.microsoft.com/office/drawing/2014/main" val="10215743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H3K27me3</a:t>
                      </a:r>
                      <a:endParaRPr lang="zh-CN" altLang="en-US" dirty="0"/>
                    </a:p>
                  </a:txBody>
                  <a:tcPr/>
                </a:tc>
                <a:tc>
                  <a:txBody>
                    <a:bodyPr/>
                    <a:lstStyle/>
                    <a:p>
                      <a:r>
                        <a:rPr lang="en-US" altLang="zh-CN" dirty="0"/>
                        <a:t>Gene repression </a:t>
                      </a:r>
                      <a:r>
                        <a:rPr lang="zh-CN" altLang="en-US" dirty="0"/>
                        <a:t>（</a:t>
                      </a:r>
                      <a:r>
                        <a:rPr lang="en-US" altLang="zh-CN" dirty="0"/>
                        <a:t>protein coding gene</a:t>
                      </a:r>
                      <a:r>
                        <a:rPr lang="zh-CN" altLang="en-US" dirty="0"/>
                        <a:t>）</a:t>
                      </a:r>
                    </a:p>
                  </a:txBody>
                  <a:tcPr/>
                </a:tc>
                <a:extLst>
                  <a:ext uri="{0D108BD9-81ED-4DB2-BD59-A6C34878D82A}">
                    <a16:rowId xmlns:a16="http://schemas.microsoft.com/office/drawing/2014/main" val="4224585183"/>
                  </a:ext>
                </a:extLst>
              </a:tr>
            </a:tbl>
          </a:graphicData>
        </a:graphic>
      </p:graphicFrame>
      <p:sp>
        <p:nvSpPr>
          <p:cNvPr id="4" name="文本框 3">
            <a:extLst>
              <a:ext uri="{FF2B5EF4-FFF2-40B4-BE49-F238E27FC236}">
                <a16:creationId xmlns:a16="http://schemas.microsoft.com/office/drawing/2014/main" id="{108F524D-FCBF-408D-ACB9-D98752CCC00A}"/>
              </a:ext>
            </a:extLst>
          </p:cNvPr>
          <p:cNvSpPr txBox="1"/>
          <p:nvPr/>
        </p:nvSpPr>
        <p:spPr>
          <a:xfrm>
            <a:off x="6948264" y="2996952"/>
            <a:ext cx="1979712" cy="2031325"/>
          </a:xfrm>
          <a:prstGeom prst="rect">
            <a:avLst/>
          </a:prstGeom>
          <a:noFill/>
        </p:spPr>
        <p:txBody>
          <a:bodyPr wrap="square" rtlCol="0">
            <a:spAutoFit/>
          </a:bodyPr>
          <a:lstStyle/>
          <a:p>
            <a:r>
              <a:rPr lang="en-US" altLang="zh-CN" dirty="0"/>
              <a:t>Euchromatin</a:t>
            </a:r>
          </a:p>
          <a:p>
            <a:pPr>
              <a:lnSpc>
                <a:spcPct val="150000"/>
              </a:lnSpc>
            </a:pPr>
            <a:endParaRPr lang="en-US" altLang="zh-CN" dirty="0"/>
          </a:p>
          <a:p>
            <a:r>
              <a:rPr lang="en-US" altLang="zh-CN" dirty="0"/>
              <a:t>Heterochromatin</a:t>
            </a:r>
          </a:p>
          <a:p>
            <a:pPr>
              <a:lnSpc>
                <a:spcPct val="150000"/>
              </a:lnSpc>
            </a:pPr>
            <a:endParaRPr lang="en-US" altLang="zh-CN" dirty="0"/>
          </a:p>
          <a:p>
            <a:r>
              <a:rPr lang="en-US" altLang="zh-CN" dirty="0"/>
              <a:t>Euchromatin</a:t>
            </a:r>
          </a:p>
          <a:p>
            <a:endParaRPr lang="zh-CN" altLang="en-US" dirty="0"/>
          </a:p>
        </p:txBody>
      </p:sp>
    </p:spTree>
    <p:extLst>
      <p:ext uri="{BB962C8B-B14F-4D97-AF65-F5344CB8AC3E}">
        <p14:creationId xmlns:p14="http://schemas.microsoft.com/office/powerpoint/2010/main" val="35139185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30E689FA-774B-46D2-AD45-2A411AE91463}"/>
              </a:ext>
            </a:extLst>
          </p:cNvPr>
          <p:cNvSpPr>
            <a:spLocks noGrp="1" noChangeArrowheads="1"/>
          </p:cNvSpPr>
          <p:nvPr>
            <p:ph type="title" idx="4294967295"/>
          </p:nvPr>
        </p:nvSpPr>
        <p:spPr>
          <a:xfrm>
            <a:off x="0" y="381000"/>
            <a:ext cx="7543800" cy="838200"/>
          </a:xfrm>
        </p:spPr>
        <p:txBody>
          <a:bodyPr/>
          <a:lstStyle/>
          <a:p>
            <a:pPr eaLnBrk="1" hangingPunct="1"/>
            <a:r>
              <a:rPr lang="en-US" altLang="zh-CN" dirty="0"/>
              <a:t>Summary </a:t>
            </a:r>
          </a:p>
        </p:txBody>
      </p:sp>
      <p:sp>
        <p:nvSpPr>
          <p:cNvPr id="86019" name="Rectangle 3">
            <a:extLst>
              <a:ext uri="{FF2B5EF4-FFF2-40B4-BE49-F238E27FC236}">
                <a16:creationId xmlns:a16="http://schemas.microsoft.com/office/drawing/2014/main" id="{06929C9D-059D-4C3D-B1DE-84D9D89DDC14}"/>
              </a:ext>
            </a:extLst>
          </p:cNvPr>
          <p:cNvSpPr>
            <a:spLocks noGrp="1" noChangeArrowheads="1"/>
          </p:cNvSpPr>
          <p:nvPr>
            <p:ph type="body" idx="4294967295"/>
          </p:nvPr>
        </p:nvSpPr>
        <p:spPr>
          <a:xfrm>
            <a:off x="0" y="1196752"/>
            <a:ext cx="9144000" cy="5334000"/>
          </a:xfrm>
        </p:spPr>
        <p:txBody>
          <a:bodyPr/>
          <a:lstStyle/>
          <a:p>
            <a:pPr eaLnBrk="1" hangingPunct="1">
              <a:lnSpc>
                <a:spcPct val="120000"/>
              </a:lnSpc>
            </a:pPr>
            <a:r>
              <a:rPr lang="en-US" altLang="zh-CN" sz="2800" dirty="0"/>
              <a:t>Genetic and biochemical studies showed that the genetic codes are continuous triplets of nucleotides.</a:t>
            </a:r>
          </a:p>
          <a:p>
            <a:pPr eaLnBrk="1" hangingPunct="1">
              <a:lnSpc>
                <a:spcPct val="120000"/>
              </a:lnSpc>
            </a:pPr>
            <a:r>
              <a:rPr lang="en-US" altLang="zh-CN" sz="2800" dirty="0"/>
              <a:t>The genetic codes was deciphered within five years using artificial mRNA templates of various base composition, </a:t>
            </a:r>
            <a:r>
              <a:rPr lang="en-US" altLang="zh-CN" sz="2800" i="1" dirty="0"/>
              <a:t>in vitro</a:t>
            </a:r>
            <a:r>
              <a:rPr lang="en-US" altLang="zh-CN" sz="2800" dirty="0"/>
              <a:t> protein synthesis and filter binding assays.</a:t>
            </a:r>
          </a:p>
          <a:p>
            <a:pPr eaLnBrk="1" hangingPunct="1">
              <a:lnSpc>
                <a:spcPct val="120000"/>
              </a:lnSpc>
            </a:pPr>
            <a:r>
              <a:rPr lang="en-US" altLang="zh-CN" sz="2800" dirty="0"/>
              <a:t>A </a:t>
            </a:r>
            <a:r>
              <a:rPr lang="en-US" altLang="zh-CN" sz="2800" dirty="0" err="1"/>
              <a:t>tRNA</a:t>
            </a:r>
            <a:r>
              <a:rPr lang="en-US" altLang="zh-CN" sz="2800" dirty="0"/>
              <a:t> molecule can recognize one to three codons depending what the first (wobble) nucleotide of the anticodon is (C and A for one, U and G for two, I for three).</a:t>
            </a:r>
          </a:p>
          <a:p>
            <a:pPr eaLnBrk="1" hangingPunct="1">
              <a:lnSpc>
                <a:spcPct val="120000"/>
              </a:lnSpc>
            </a:pPr>
            <a:r>
              <a:rPr lang="en-US" altLang="zh-CN" sz="2800" dirty="0"/>
              <a:t>In certain viral DNAs, overlapping genes are found.</a:t>
            </a:r>
          </a:p>
          <a:p>
            <a:pPr eaLnBrk="1" hangingPunct="1">
              <a:lnSpc>
                <a:spcPct val="120000"/>
              </a:lnSpc>
            </a:pPr>
            <a:endParaRPr lang="en-US" altLang="zh-CN" sz="2400" dirty="0"/>
          </a:p>
        </p:txBody>
      </p:sp>
    </p:spTree>
    <p:extLst>
      <p:ext uri="{BB962C8B-B14F-4D97-AF65-F5344CB8AC3E}">
        <p14:creationId xmlns:p14="http://schemas.microsoft.com/office/powerpoint/2010/main" val="4846575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a:extLst>
              <a:ext uri="{FF2B5EF4-FFF2-40B4-BE49-F238E27FC236}">
                <a16:creationId xmlns:a16="http://schemas.microsoft.com/office/drawing/2014/main" id="{F2B2A1E5-D0CD-4911-B4A5-4A660AD9814B}"/>
              </a:ext>
            </a:extLst>
          </p:cNvPr>
          <p:cNvSpPr>
            <a:spLocks noGrp="1" noChangeArrowheads="1"/>
          </p:cNvSpPr>
          <p:nvPr>
            <p:ph type="body" idx="4294967295"/>
          </p:nvPr>
        </p:nvSpPr>
        <p:spPr>
          <a:xfrm>
            <a:off x="0" y="228600"/>
            <a:ext cx="9144000" cy="6248400"/>
          </a:xfrm>
        </p:spPr>
        <p:txBody>
          <a:bodyPr/>
          <a:lstStyle/>
          <a:p>
            <a:pPr eaLnBrk="1" hangingPunct="1">
              <a:lnSpc>
                <a:spcPct val="110000"/>
              </a:lnSpc>
            </a:pPr>
            <a:r>
              <a:rPr lang="en-US" altLang="zh-CN" sz="2800" dirty="0"/>
              <a:t>Protein synthesis occurs on ribosomes: having a large and small subunits, both composing one or two </a:t>
            </a:r>
            <a:r>
              <a:rPr lang="en-US" altLang="zh-CN" sz="2800" dirty="0" err="1"/>
              <a:t>rRNA</a:t>
            </a:r>
            <a:r>
              <a:rPr lang="en-US" altLang="zh-CN" sz="2800" dirty="0"/>
              <a:t> and many protein molecules.</a:t>
            </a:r>
          </a:p>
          <a:p>
            <a:pPr eaLnBrk="1" hangingPunct="1">
              <a:lnSpc>
                <a:spcPct val="110000"/>
              </a:lnSpc>
            </a:pPr>
            <a:r>
              <a:rPr lang="en-US" altLang="zh-CN" sz="2800" dirty="0"/>
              <a:t>Protein synthesis can be divided into five stages: </a:t>
            </a:r>
          </a:p>
          <a:p>
            <a:pPr marL="457200" indent="-457200" eaLnBrk="1" hangingPunct="1">
              <a:lnSpc>
                <a:spcPct val="110000"/>
              </a:lnSpc>
              <a:buFont typeface="+mj-ea"/>
              <a:buAutoNum type="circleNumDbPlain"/>
            </a:pPr>
            <a:r>
              <a:rPr lang="en-US" altLang="zh-CN" sz="2400" b="1" dirty="0"/>
              <a:t>activation of amino acids </a:t>
            </a:r>
            <a:r>
              <a:rPr lang="en-US" altLang="zh-CN" sz="1600" dirty="0"/>
              <a:t>(ATP dependent, aminoacyl-</a:t>
            </a:r>
            <a:r>
              <a:rPr lang="en-US" altLang="zh-CN" sz="1600" dirty="0" err="1"/>
              <a:t>tRNA</a:t>
            </a:r>
            <a:r>
              <a:rPr lang="en-US" altLang="zh-CN" sz="1600" dirty="0"/>
              <a:t> synthetase catalyzed)</a:t>
            </a:r>
            <a:r>
              <a:rPr lang="en-US" altLang="zh-CN" sz="2800" dirty="0"/>
              <a:t>;</a:t>
            </a:r>
          </a:p>
          <a:p>
            <a:pPr marL="457200" indent="-457200" eaLnBrk="1" hangingPunct="1">
              <a:lnSpc>
                <a:spcPct val="110000"/>
              </a:lnSpc>
              <a:buFont typeface="+mj-ea"/>
              <a:buAutoNum type="circleNumDbPlain"/>
            </a:pPr>
            <a:r>
              <a:rPr lang="en-US" altLang="zh-CN" sz="2400" b="1" dirty="0"/>
              <a:t>formation of the initiation complex </a:t>
            </a:r>
            <a:r>
              <a:rPr lang="en-US" altLang="zh-CN" sz="2400" dirty="0"/>
              <a:t>at the ribosome binding site and initiation codon </a:t>
            </a:r>
            <a:r>
              <a:rPr lang="en-US" altLang="zh-CN" sz="1400" dirty="0"/>
              <a:t>(helped by specific initiation protein factors, IF-1, 2, and 3)</a:t>
            </a:r>
            <a:r>
              <a:rPr lang="en-US" altLang="zh-CN" sz="2800" dirty="0"/>
              <a:t>; </a:t>
            </a:r>
          </a:p>
          <a:p>
            <a:pPr marL="457200" indent="-457200" eaLnBrk="1" hangingPunct="1">
              <a:lnSpc>
                <a:spcPct val="110000"/>
              </a:lnSpc>
              <a:buFont typeface="+mj-ea"/>
              <a:buAutoNum type="circleNumDbPlain"/>
            </a:pPr>
            <a:r>
              <a:rPr lang="en-US" altLang="zh-CN" sz="2400" b="1" dirty="0"/>
              <a:t>elongation</a:t>
            </a:r>
            <a:r>
              <a:rPr lang="en-US" altLang="zh-CN" sz="2400" dirty="0"/>
              <a:t> of the peptide chain </a:t>
            </a:r>
            <a:r>
              <a:rPr lang="en-US" altLang="zh-CN" sz="1400" dirty="0"/>
              <a:t>(helped by the elongation factors, EF-Tu, EF-Ts, EF-G and catalyzed by the 23S </a:t>
            </a:r>
            <a:r>
              <a:rPr lang="en-US" altLang="zh-CN" sz="1400" dirty="0" err="1"/>
              <a:t>rRNA</a:t>
            </a:r>
            <a:r>
              <a:rPr lang="en-US" altLang="zh-CN" sz="1400" dirty="0"/>
              <a:t>); </a:t>
            </a:r>
          </a:p>
          <a:p>
            <a:pPr marL="457200" indent="-457200" eaLnBrk="1" hangingPunct="1">
              <a:lnSpc>
                <a:spcPct val="110000"/>
              </a:lnSpc>
              <a:buFont typeface="+mj-ea"/>
              <a:buAutoNum type="circleNumDbPlain"/>
            </a:pPr>
            <a:r>
              <a:rPr lang="en-US" altLang="zh-CN" sz="2400" b="1" dirty="0"/>
              <a:t>termination</a:t>
            </a:r>
            <a:r>
              <a:rPr lang="en-US" altLang="zh-CN" sz="2800" dirty="0"/>
              <a:t> </a:t>
            </a:r>
            <a:r>
              <a:rPr lang="en-US" altLang="zh-CN" sz="1400" dirty="0"/>
              <a:t>(helped by the releasing factors, RF</a:t>
            </a:r>
            <a:r>
              <a:rPr lang="en-US" altLang="zh-CN" sz="1400" baseline="-25000" dirty="0"/>
              <a:t>1</a:t>
            </a:r>
            <a:r>
              <a:rPr lang="en-US" altLang="zh-CN" sz="1400" dirty="0"/>
              <a:t>, RF</a:t>
            </a:r>
            <a:r>
              <a:rPr lang="en-US" altLang="zh-CN" sz="1400" baseline="-25000" dirty="0"/>
              <a:t>2</a:t>
            </a:r>
            <a:r>
              <a:rPr lang="en-US" altLang="zh-CN" sz="1400" dirty="0"/>
              <a:t>, and RF</a:t>
            </a:r>
            <a:r>
              <a:rPr lang="en-US" altLang="zh-CN" sz="1400" baseline="-25000" dirty="0"/>
              <a:t>3</a:t>
            </a:r>
            <a:r>
              <a:rPr lang="en-US" altLang="zh-CN" sz="1400" dirty="0"/>
              <a:t>); </a:t>
            </a:r>
          </a:p>
          <a:p>
            <a:pPr marL="457200" indent="-457200" eaLnBrk="1" hangingPunct="1">
              <a:lnSpc>
                <a:spcPct val="110000"/>
              </a:lnSpc>
              <a:buFont typeface="+mj-ea"/>
              <a:buAutoNum type="circleNumDbPlain"/>
            </a:pPr>
            <a:r>
              <a:rPr lang="en-US" altLang="zh-CN" sz="2400" b="1" dirty="0"/>
              <a:t>folding and posttranslational modifications</a:t>
            </a:r>
            <a:r>
              <a:rPr lang="en-US" altLang="zh-CN" sz="2400" dirty="0"/>
              <a:t>.</a:t>
            </a:r>
          </a:p>
        </p:txBody>
      </p:sp>
    </p:spTree>
    <p:extLst>
      <p:ext uri="{BB962C8B-B14F-4D97-AF65-F5344CB8AC3E}">
        <p14:creationId xmlns:p14="http://schemas.microsoft.com/office/powerpoint/2010/main" val="38226760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23EC80CF-8CEB-4751-BBBA-4097D55A6051}"/>
              </a:ext>
            </a:extLst>
          </p:cNvPr>
          <p:cNvSpPr>
            <a:spLocks noGrp="1" noChangeArrowheads="1"/>
          </p:cNvSpPr>
          <p:nvPr>
            <p:ph type="ctrTitle" idx="4294967295"/>
          </p:nvPr>
        </p:nvSpPr>
        <p:spPr>
          <a:xfrm>
            <a:off x="1043608" y="1916113"/>
            <a:ext cx="7010400" cy="2209800"/>
          </a:xfrm>
          <a:prstGeom prst="rect">
            <a:avLst/>
          </a:prstGeom>
        </p:spPr>
        <p:txBody>
          <a:bodyPr/>
          <a:lstStyle/>
          <a:p>
            <a:r>
              <a:rPr lang="en-US" altLang="zh-CN" dirty="0"/>
              <a:t>H4  Protein Targeting</a:t>
            </a:r>
          </a:p>
        </p:txBody>
      </p:sp>
    </p:spTree>
    <p:extLst>
      <p:ext uri="{BB962C8B-B14F-4D97-AF65-F5344CB8AC3E}">
        <p14:creationId xmlns:p14="http://schemas.microsoft.com/office/powerpoint/2010/main" val="20855612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FC77627E-1C41-448B-8411-E46B9028D2F0}"/>
              </a:ext>
            </a:extLst>
          </p:cNvPr>
          <p:cNvSpPr>
            <a:spLocks noGrp="1" noChangeArrowheads="1"/>
          </p:cNvSpPr>
          <p:nvPr>
            <p:ph type="title" idx="4294967295"/>
          </p:nvPr>
        </p:nvSpPr>
        <p:spPr>
          <a:xfrm>
            <a:off x="0" y="1143000"/>
            <a:ext cx="8229600" cy="1371600"/>
          </a:xfrm>
        </p:spPr>
        <p:txBody>
          <a:bodyPr/>
          <a:lstStyle/>
          <a:p>
            <a:r>
              <a:rPr lang="en-US" altLang="zh-CN" sz="4800"/>
              <a:t>How does a protein get to the correct cellular location?</a:t>
            </a:r>
          </a:p>
        </p:txBody>
      </p:sp>
      <p:sp>
        <p:nvSpPr>
          <p:cNvPr id="109571" name="Rectangle 3">
            <a:extLst>
              <a:ext uri="{FF2B5EF4-FFF2-40B4-BE49-F238E27FC236}">
                <a16:creationId xmlns:a16="http://schemas.microsoft.com/office/drawing/2014/main" id="{F3CD38F0-5F7A-4653-9F27-9B698352B599}"/>
              </a:ext>
            </a:extLst>
          </p:cNvPr>
          <p:cNvSpPr>
            <a:spLocks noChangeArrowheads="1"/>
          </p:cNvSpPr>
          <p:nvPr/>
        </p:nvSpPr>
        <p:spPr bwMode="auto">
          <a:xfrm>
            <a:off x="0" y="373380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4400">
                <a:solidFill>
                  <a:schemeClr val="tx2"/>
                </a:solidFill>
                <a:latin typeface="Arial" panose="020B0604020202020204" pitchFamily="34" charset="0"/>
              </a:rPr>
              <a:t>Proteins are targeted to different  compartments in different ways.</a:t>
            </a:r>
          </a:p>
          <a:p>
            <a:pPr algn="ctr" eaLnBrk="1" hangingPunct="1"/>
            <a:endParaRPr kumimoji="0" lang="en-US" altLang="zh-CN" sz="4400">
              <a:solidFill>
                <a:schemeClr val="tx2"/>
              </a:solidFill>
              <a:latin typeface="Arial" panose="020B0604020202020204" pitchFamily="34" charset="0"/>
            </a:endParaRPr>
          </a:p>
          <a:p>
            <a:pPr eaLnBrk="1" hangingPunct="1"/>
            <a:endParaRPr kumimoji="0" lang="en-US" altLang="zh-CN" sz="4400">
              <a:solidFill>
                <a:schemeClr val="tx2"/>
              </a:solidFill>
              <a:latin typeface="Arial" panose="020B0604020202020204" pitchFamily="34" charset="0"/>
            </a:endParaRPr>
          </a:p>
        </p:txBody>
      </p:sp>
    </p:spTree>
    <p:extLst>
      <p:ext uri="{BB962C8B-B14F-4D97-AF65-F5344CB8AC3E}">
        <p14:creationId xmlns:p14="http://schemas.microsoft.com/office/powerpoint/2010/main" val="24695226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a:extLst>
              <a:ext uri="{FF2B5EF4-FFF2-40B4-BE49-F238E27FC236}">
                <a16:creationId xmlns:a16="http://schemas.microsoft.com/office/drawing/2014/main" id="{BF960D6C-B72E-475B-9472-21646E61AA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63500"/>
            <a:ext cx="8305800" cy="692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39335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9" name="Oval 5">
            <a:extLst>
              <a:ext uri="{FF2B5EF4-FFF2-40B4-BE49-F238E27FC236}">
                <a16:creationId xmlns:a16="http://schemas.microsoft.com/office/drawing/2014/main" id="{CD46A5AA-344B-40D1-84F1-DE8345FE42A1}"/>
              </a:ext>
            </a:extLst>
          </p:cNvPr>
          <p:cNvSpPr>
            <a:spLocks noChangeArrowheads="1"/>
          </p:cNvSpPr>
          <p:nvPr/>
        </p:nvSpPr>
        <p:spPr bwMode="auto">
          <a:xfrm>
            <a:off x="5867400" y="3429000"/>
            <a:ext cx="1447800" cy="6096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46" name="Oval 2">
            <a:extLst>
              <a:ext uri="{FF2B5EF4-FFF2-40B4-BE49-F238E27FC236}">
                <a16:creationId xmlns:a16="http://schemas.microsoft.com/office/drawing/2014/main" id="{2F43C3A7-3FB2-42B3-801E-C5BD0CFD0085}"/>
              </a:ext>
            </a:extLst>
          </p:cNvPr>
          <p:cNvSpPr>
            <a:spLocks noChangeArrowheads="1"/>
          </p:cNvSpPr>
          <p:nvPr/>
        </p:nvSpPr>
        <p:spPr bwMode="auto">
          <a:xfrm>
            <a:off x="2971800" y="2036763"/>
            <a:ext cx="2667000" cy="1066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47" name="Rectangle 3">
            <a:extLst>
              <a:ext uri="{FF2B5EF4-FFF2-40B4-BE49-F238E27FC236}">
                <a16:creationId xmlns:a16="http://schemas.microsoft.com/office/drawing/2014/main" id="{13AD4D14-5B2C-4305-B94D-9B43358B0CE9}"/>
              </a:ext>
            </a:extLst>
          </p:cNvPr>
          <p:cNvSpPr>
            <a:spLocks noGrp="1" noChangeArrowheads="1"/>
          </p:cNvSpPr>
          <p:nvPr>
            <p:ph type="title" idx="4294967295"/>
          </p:nvPr>
        </p:nvSpPr>
        <p:spPr>
          <a:xfrm>
            <a:off x="3707904" y="476250"/>
            <a:ext cx="0" cy="0"/>
          </a:xfrm>
        </p:spPr>
        <p:txBody>
          <a:bodyPr/>
          <a:lstStyle/>
          <a:p>
            <a:r>
              <a:rPr lang="en-US" altLang="zh-CN" dirty="0"/>
              <a:t>Protein </a:t>
            </a:r>
            <a:r>
              <a:rPr lang="en-US" altLang="zh-CN" dirty="0" err="1"/>
              <a:t>Targetting</a:t>
            </a:r>
            <a:endParaRPr lang="en-US" altLang="zh-CN" dirty="0"/>
          </a:p>
        </p:txBody>
      </p:sp>
      <p:sp>
        <p:nvSpPr>
          <p:cNvPr id="108550" name="Rectangle 6">
            <a:extLst>
              <a:ext uri="{FF2B5EF4-FFF2-40B4-BE49-F238E27FC236}">
                <a16:creationId xmlns:a16="http://schemas.microsoft.com/office/drawing/2014/main" id="{F55C5718-EB66-48DE-B61A-6708105439B9}"/>
              </a:ext>
            </a:extLst>
          </p:cNvPr>
          <p:cNvSpPr>
            <a:spLocks noGrp="1" noChangeArrowheads="1"/>
          </p:cNvSpPr>
          <p:nvPr>
            <p:ph type="body" idx="4294967295"/>
          </p:nvPr>
        </p:nvSpPr>
        <p:spPr>
          <a:xfrm>
            <a:off x="3472507" y="2334418"/>
            <a:ext cx="2088232" cy="893763"/>
          </a:xfrm>
        </p:spPr>
        <p:txBody>
          <a:bodyPr/>
          <a:lstStyle/>
          <a:p>
            <a:pPr>
              <a:lnSpc>
                <a:spcPct val="90000"/>
              </a:lnSpc>
              <a:buFont typeface="Wingdings" panose="05000000000000000000" pitchFamily="2" charset="2"/>
              <a:buNone/>
            </a:pPr>
            <a:r>
              <a:rPr lang="en-US" altLang="zh-CN" dirty="0"/>
              <a:t>Ribosome     	                      	     </a:t>
            </a:r>
          </a:p>
          <a:p>
            <a:pPr>
              <a:lnSpc>
                <a:spcPct val="90000"/>
              </a:lnSpc>
              <a:buFont typeface="Wingdings" panose="05000000000000000000" pitchFamily="2" charset="2"/>
              <a:buNone/>
            </a:pPr>
            <a:endParaRPr lang="en-US" altLang="zh-CN" dirty="0"/>
          </a:p>
          <a:p>
            <a:pPr>
              <a:lnSpc>
                <a:spcPct val="90000"/>
              </a:lnSpc>
              <a:buFont typeface="Wingdings" panose="05000000000000000000" pitchFamily="2" charset="2"/>
              <a:buNone/>
            </a:pPr>
            <a:r>
              <a:rPr lang="en-US" altLang="zh-CN" sz="2400" b="1" dirty="0"/>
              <a:t>    			</a:t>
            </a:r>
          </a:p>
          <a:p>
            <a:pPr>
              <a:lnSpc>
                <a:spcPct val="90000"/>
              </a:lnSpc>
              <a:buFont typeface="Wingdings" panose="05000000000000000000" pitchFamily="2" charset="2"/>
              <a:buNone/>
            </a:pPr>
            <a:r>
              <a:rPr lang="en-US" altLang="zh-CN" sz="2400" b="1" dirty="0"/>
              <a:t>							</a:t>
            </a:r>
            <a:endParaRPr lang="en-US" altLang="zh-CN" sz="2400" dirty="0"/>
          </a:p>
        </p:txBody>
      </p:sp>
      <p:sp>
        <p:nvSpPr>
          <p:cNvPr id="108551" name="Line 7">
            <a:extLst>
              <a:ext uri="{FF2B5EF4-FFF2-40B4-BE49-F238E27FC236}">
                <a16:creationId xmlns:a16="http://schemas.microsoft.com/office/drawing/2014/main" id="{7EA5C498-BBAD-4F08-9567-8D91E0DE89F3}"/>
              </a:ext>
            </a:extLst>
          </p:cNvPr>
          <p:cNvSpPr>
            <a:spLocks noChangeShapeType="1"/>
          </p:cNvSpPr>
          <p:nvPr/>
        </p:nvSpPr>
        <p:spPr bwMode="auto">
          <a:xfrm flipH="1">
            <a:off x="2438400" y="2971800"/>
            <a:ext cx="762000" cy="457200"/>
          </a:xfrm>
          <a:prstGeom prst="line">
            <a:avLst/>
          </a:prstGeom>
          <a:noFill/>
          <a:ln w="31750" cap="sq">
            <a:solidFill>
              <a:srgbClr val="00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2" name="Line 8">
            <a:extLst>
              <a:ext uri="{FF2B5EF4-FFF2-40B4-BE49-F238E27FC236}">
                <a16:creationId xmlns:a16="http://schemas.microsoft.com/office/drawing/2014/main" id="{9C38408C-23A9-4E3D-B891-4DE22D1FE794}"/>
              </a:ext>
            </a:extLst>
          </p:cNvPr>
          <p:cNvSpPr>
            <a:spLocks noChangeShapeType="1"/>
          </p:cNvSpPr>
          <p:nvPr/>
        </p:nvSpPr>
        <p:spPr bwMode="auto">
          <a:xfrm>
            <a:off x="5486400" y="2895600"/>
            <a:ext cx="609600" cy="457200"/>
          </a:xfrm>
          <a:prstGeom prst="line">
            <a:avLst/>
          </a:prstGeom>
          <a:noFill/>
          <a:ln w="31750" cap="sq">
            <a:solidFill>
              <a:srgbClr val="00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4" name="图片 3">
            <a:extLst>
              <a:ext uri="{FF2B5EF4-FFF2-40B4-BE49-F238E27FC236}">
                <a16:creationId xmlns:a16="http://schemas.microsoft.com/office/drawing/2014/main" id="{9BB66A3E-A5BC-40C1-81B6-73588BC72BB0}"/>
              </a:ext>
            </a:extLst>
          </p:cNvPr>
          <p:cNvPicPr>
            <a:picLocks noChangeAspect="1"/>
          </p:cNvPicPr>
          <p:nvPr/>
        </p:nvPicPr>
        <p:blipFill rotWithShape="1">
          <a:blip r:embed="rId3" cstate="print"/>
          <a:srcRect l="16696" t="47430" r="2423" b="9051"/>
          <a:stretch/>
        </p:blipFill>
        <p:spPr>
          <a:xfrm>
            <a:off x="20671" y="2641410"/>
            <a:ext cx="2242493" cy="1275703"/>
          </a:xfrm>
          <a:prstGeom prst="rect">
            <a:avLst/>
          </a:prstGeom>
        </p:spPr>
      </p:pic>
      <p:sp>
        <p:nvSpPr>
          <p:cNvPr id="3" name="文本框 2">
            <a:extLst>
              <a:ext uri="{FF2B5EF4-FFF2-40B4-BE49-F238E27FC236}">
                <a16:creationId xmlns:a16="http://schemas.microsoft.com/office/drawing/2014/main" id="{D9183D3A-00E6-4F68-8BDD-B7308B798220}"/>
              </a:ext>
            </a:extLst>
          </p:cNvPr>
          <p:cNvSpPr txBox="1"/>
          <p:nvPr/>
        </p:nvSpPr>
        <p:spPr>
          <a:xfrm>
            <a:off x="521652" y="3549134"/>
            <a:ext cx="583704" cy="369332"/>
          </a:xfrm>
          <a:prstGeom prst="rect">
            <a:avLst/>
          </a:prstGeom>
          <a:noFill/>
        </p:spPr>
        <p:txBody>
          <a:bodyPr wrap="square" rtlCol="0">
            <a:spAutoFit/>
          </a:bodyPr>
          <a:lstStyle/>
          <a:p>
            <a:r>
              <a:rPr lang="en-US" altLang="zh-CN" dirty="0"/>
              <a:t>ER</a:t>
            </a:r>
            <a:endParaRPr lang="zh-CN" altLang="en-US" dirty="0"/>
          </a:p>
        </p:txBody>
      </p:sp>
      <p:sp>
        <p:nvSpPr>
          <p:cNvPr id="2" name="矩形 1">
            <a:extLst>
              <a:ext uri="{FF2B5EF4-FFF2-40B4-BE49-F238E27FC236}">
                <a16:creationId xmlns:a16="http://schemas.microsoft.com/office/drawing/2014/main" id="{829AC093-4341-413B-AB7D-2127DA55B97D}"/>
              </a:ext>
            </a:extLst>
          </p:cNvPr>
          <p:cNvSpPr/>
          <p:nvPr/>
        </p:nvSpPr>
        <p:spPr>
          <a:xfrm>
            <a:off x="5791200" y="4134475"/>
            <a:ext cx="2005677" cy="1477328"/>
          </a:xfrm>
          <a:prstGeom prst="rect">
            <a:avLst/>
          </a:prstGeom>
        </p:spPr>
        <p:txBody>
          <a:bodyPr wrap="none">
            <a:spAutoFit/>
          </a:bodyPr>
          <a:lstStyle/>
          <a:p>
            <a:r>
              <a:rPr lang="en-US" altLang="zh-CN" b="1" dirty="0"/>
              <a:t>Soluble Proteins</a:t>
            </a:r>
          </a:p>
          <a:p>
            <a:r>
              <a:rPr lang="en-US" altLang="zh-CN" b="1" dirty="0"/>
              <a:t>Nucleus</a:t>
            </a:r>
          </a:p>
          <a:p>
            <a:r>
              <a:rPr lang="en-US" altLang="zh-CN" b="1" dirty="0"/>
              <a:t>Mitochondria</a:t>
            </a:r>
          </a:p>
          <a:p>
            <a:r>
              <a:rPr lang="en-US" altLang="zh-CN" b="1" dirty="0"/>
              <a:t>Chloroplasts</a:t>
            </a:r>
          </a:p>
          <a:p>
            <a:r>
              <a:rPr lang="en-US" altLang="zh-CN" b="1" dirty="0"/>
              <a:t>peroxisomes</a:t>
            </a:r>
            <a:endParaRPr lang="zh-CN" altLang="en-US" dirty="0"/>
          </a:p>
        </p:txBody>
      </p:sp>
      <p:sp>
        <p:nvSpPr>
          <p:cNvPr id="5" name="矩形 4">
            <a:extLst>
              <a:ext uri="{FF2B5EF4-FFF2-40B4-BE49-F238E27FC236}">
                <a16:creationId xmlns:a16="http://schemas.microsoft.com/office/drawing/2014/main" id="{7EECA19A-91E1-410E-8389-BFFA52DD3E92}"/>
              </a:ext>
            </a:extLst>
          </p:cNvPr>
          <p:cNvSpPr/>
          <p:nvPr/>
        </p:nvSpPr>
        <p:spPr>
          <a:xfrm>
            <a:off x="1704514" y="4181799"/>
            <a:ext cx="1787669" cy="1117229"/>
          </a:xfrm>
          <a:prstGeom prst="rect">
            <a:avLst/>
          </a:prstGeom>
        </p:spPr>
        <p:txBody>
          <a:bodyPr wrap="none">
            <a:spAutoFit/>
          </a:bodyPr>
          <a:lstStyle/>
          <a:p>
            <a:pPr>
              <a:lnSpc>
                <a:spcPct val="90000"/>
              </a:lnSpc>
              <a:buFont typeface="Wingdings" panose="05000000000000000000" pitchFamily="2" charset="2"/>
              <a:buNone/>
            </a:pPr>
            <a:r>
              <a:rPr lang="en-US" altLang="zh-CN" b="1" dirty="0"/>
              <a:t>Lysosomal</a:t>
            </a:r>
          </a:p>
          <a:p>
            <a:pPr>
              <a:lnSpc>
                <a:spcPct val="90000"/>
              </a:lnSpc>
              <a:buFont typeface="Wingdings" panose="05000000000000000000" pitchFamily="2" charset="2"/>
              <a:buNone/>
            </a:pPr>
            <a:r>
              <a:rPr lang="en-US" altLang="zh-CN" b="1" dirty="0"/>
              <a:t>Secretory</a:t>
            </a:r>
          </a:p>
          <a:p>
            <a:pPr>
              <a:lnSpc>
                <a:spcPct val="90000"/>
              </a:lnSpc>
              <a:buFont typeface="Wingdings" panose="05000000000000000000" pitchFamily="2" charset="2"/>
              <a:buNone/>
            </a:pPr>
            <a:r>
              <a:rPr lang="en-US" altLang="zh-CN" b="1" dirty="0"/>
              <a:t>Plasma </a:t>
            </a:r>
            <a:r>
              <a:rPr lang="en-US" altLang="zh-CN" b="1" dirty="0" err="1"/>
              <a:t>Memb</a:t>
            </a:r>
            <a:r>
              <a:rPr lang="en-US" altLang="zh-CN" dirty="0"/>
              <a:t>.</a:t>
            </a:r>
          </a:p>
          <a:p>
            <a:endParaRPr lang="zh-CN" altLang="en-US" dirty="0"/>
          </a:p>
        </p:txBody>
      </p:sp>
      <p:sp>
        <p:nvSpPr>
          <p:cNvPr id="6" name="矩形 5">
            <a:extLst>
              <a:ext uri="{FF2B5EF4-FFF2-40B4-BE49-F238E27FC236}">
                <a16:creationId xmlns:a16="http://schemas.microsoft.com/office/drawing/2014/main" id="{9231A94C-725E-4B97-8B31-B03C3891E49A}"/>
              </a:ext>
            </a:extLst>
          </p:cNvPr>
          <p:cNvSpPr/>
          <p:nvPr/>
        </p:nvSpPr>
        <p:spPr>
          <a:xfrm>
            <a:off x="6337478" y="3524875"/>
            <a:ext cx="659155" cy="369332"/>
          </a:xfrm>
          <a:prstGeom prst="rect">
            <a:avLst/>
          </a:prstGeom>
        </p:spPr>
        <p:txBody>
          <a:bodyPr wrap="none">
            <a:spAutoFit/>
          </a:bodyPr>
          <a:lstStyle/>
          <a:p>
            <a:r>
              <a:rPr lang="en-US" altLang="zh-CN" dirty="0"/>
              <a:t>Free</a:t>
            </a:r>
            <a:endParaRPr lang="zh-CN" altLang="en-US" dirty="0"/>
          </a:p>
        </p:txBody>
      </p:sp>
      <p:sp>
        <p:nvSpPr>
          <p:cNvPr id="15" name="Oval 5">
            <a:extLst>
              <a:ext uri="{FF2B5EF4-FFF2-40B4-BE49-F238E27FC236}">
                <a16:creationId xmlns:a16="http://schemas.microsoft.com/office/drawing/2014/main" id="{5A49A12C-97C2-45A1-ADFE-754D066FE2F8}"/>
              </a:ext>
            </a:extLst>
          </p:cNvPr>
          <p:cNvSpPr>
            <a:spLocks noChangeArrowheads="1"/>
          </p:cNvSpPr>
          <p:nvPr/>
        </p:nvSpPr>
        <p:spPr bwMode="auto">
          <a:xfrm>
            <a:off x="1730897" y="3429000"/>
            <a:ext cx="1447800" cy="6096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矩形 6">
            <a:extLst>
              <a:ext uri="{FF2B5EF4-FFF2-40B4-BE49-F238E27FC236}">
                <a16:creationId xmlns:a16="http://schemas.microsoft.com/office/drawing/2014/main" id="{DFF16A75-BDAB-4230-A231-629D3214056E}"/>
              </a:ext>
            </a:extLst>
          </p:cNvPr>
          <p:cNvSpPr/>
          <p:nvPr/>
        </p:nvSpPr>
        <p:spPr>
          <a:xfrm>
            <a:off x="2066773" y="3472895"/>
            <a:ext cx="851515" cy="369332"/>
          </a:xfrm>
          <a:prstGeom prst="rect">
            <a:avLst/>
          </a:prstGeom>
        </p:spPr>
        <p:txBody>
          <a:bodyPr wrap="none">
            <a:spAutoFit/>
          </a:bodyPr>
          <a:lstStyle/>
          <a:p>
            <a:r>
              <a:rPr lang="en-US" altLang="zh-CN" dirty="0"/>
              <a:t>Bound</a:t>
            </a:r>
            <a:endParaRPr lang="zh-CN" altLang="en-US" dirty="0"/>
          </a:p>
        </p:txBody>
      </p:sp>
    </p:spTree>
    <p:extLst>
      <p:ext uri="{BB962C8B-B14F-4D97-AF65-F5344CB8AC3E}">
        <p14:creationId xmlns:p14="http://schemas.microsoft.com/office/powerpoint/2010/main" val="16904862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5">
            <a:extLst>
              <a:ext uri="{FF2B5EF4-FFF2-40B4-BE49-F238E27FC236}">
                <a16:creationId xmlns:a16="http://schemas.microsoft.com/office/drawing/2014/main" id="{BD41FF0A-01ED-4790-8E30-1577D40197F0}"/>
              </a:ext>
            </a:extLst>
          </p:cNvPr>
          <p:cNvSpPr txBox="1">
            <a:spLocks noChangeArrowheads="1"/>
          </p:cNvSpPr>
          <p:nvPr/>
        </p:nvSpPr>
        <p:spPr bwMode="auto">
          <a:xfrm>
            <a:off x="395536" y="3228447"/>
            <a:ext cx="8229600" cy="23083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3600" dirty="0">
                <a:solidFill>
                  <a:schemeClr val="tx2"/>
                </a:solidFill>
                <a:latin typeface="Arial" panose="020B0604020202020204" pitchFamily="34" charset="0"/>
                <a:cs typeface="Arial" panose="020B0604020202020204" pitchFamily="34" charset="0"/>
              </a:rPr>
              <a:t>Proteins that are targeted to the nucleus, mitochondria, chloroplasts and peroxisomes are synthesized on free ribosomes as soluble polypeptides.</a:t>
            </a:r>
          </a:p>
        </p:txBody>
      </p:sp>
      <p:sp>
        <p:nvSpPr>
          <p:cNvPr id="113667" name="Text Box 3">
            <a:extLst>
              <a:ext uri="{FF2B5EF4-FFF2-40B4-BE49-F238E27FC236}">
                <a16:creationId xmlns:a16="http://schemas.microsoft.com/office/drawing/2014/main" id="{CBBE85F8-0E75-4BF4-B432-BB31F709C06A}"/>
              </a:ext>
            </a:extLst>
          </p:cNvPr>
          <p:cNvSpPr txBox="1">
            <a:spLocks noChangeArrowheads="1"/>
          </p:cNvSpPr>
          <p:nvPr/>
        </p:nvSpPr>
        <p:spPr bwMode="auto">
          <a:xfrm>
            <a:off x="395536" y="332656"/>
            <a:ext cx="86106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3600" dirty="0"/>
              <a:t>Proteins that are targeted to the </a:t>
            </a:r>
            <a:r>
              <a:rPr kumimoji="0" lang="en-US" altLang="zh-CN" sz="3600" dirty="0">
                <a:solidFill>
                  <a:srgbClr val="FF0000"/>
                </a:solidFill>
              </a:rPr>
              <a:t>cell surface, Golgi and Lysosomes </a:t>
            </a:r>
            <a:r>
              <a:rPr kumimoji="0" lang="en-US" altLang="zh-CN" sz="3600" dirty="0"/>
              <a:t>are synthesized on ER membrane bound ribosomes and move through the secretory pathway.</a:t>
            </a:r>
            <a:endParaRPr kumimoji="0" lang="zh-CN" altLang="en-US" sz="3600" dirty="0"/>
          </a:p>
        </p:txBody>
      </p:sp>
    </p:spTree>
    <p:extLst>
      <p:ext uri="{BB962C8B-B14F-4D97-AF65-F5344CB8AC3E}">
        <p14:creationId xmlns:p14="http://schemas.microsoft.com/office/powerpoint/2010/main" val="186264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a:extLst>
              <a:ext uri="{FF2B5EF4-FFF2-40B4-BE49-F238E27FC236}">
                <a16:creationId xmlns:a16="http://schemas.microsoft.com/office/drawing/2014/main" id="{851FB10F-C41E-4064-9BCD-05A6FAD77A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1308" t="14844" r="9433" b="14844"/>
          <a:stretch>
            <a:fillRect/>
          </a:stretch>
        </p:blipFill>
        <p:spPr bwMode="auto">
          <a:xfrm>
            <a:off x="0" y="-27384"/>
            <a:ext cx="9144000" cy="648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38010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9F33DFA-235D-4FB6-8DE7-F6F0A989E9E8}"/>
              </a:ext>
            </a:extLst>
          </p:cNvPr>
          <p:cNvSpPr>
            <a:spLocks noGrp="1" noChangeArrowheads="1"/>
          </p:cNvSpPr>
          <p:nvPr>
            <p:ph type="title" idx="4294967295"/>
          </p:nvPr>
        </p:nvSpPr>
        <p:spPr>
          <a:xfrm>
            <a:off x="0" y="533400"/>
            <a:ext cx="7772400" cy="2514600"/>
          </a:xfrm>
        </p:spPr>
        <p:txBody>
          <a:bodyPr/>
          <a:lstStyle/>
          <a:p>
            <a:r>
              <a:rPr lang="en-US" altLang="zh-CN"/>
              <a:t>Protein Targeting:</a:t>
            </a:r>
            <a:br>
              <a:rPr lang="en-US" altLang="zh-CN"/>
            </a:br>
            <a:r>
              <a:rPr lang="en-US" altLang="zh-CN"/>
              <a:t>How do secreted proteins get to the ER membrane? </a:t>
            </a:r>
          </a:p>
        </p:txBody>
      </p:sp>
      <p:sp>
        <p:nvSpPr>
          <p:cNvPr id="15363" name="Rectangle 3">
            <a:extLst>
              <a:ext uri="{FF2B5EF4-FFF2-40B4-BE49-F238E27FC236}">
                <a16:creationId xmlns:a16="http://schemas.microsoft.com/office/drawing/2014/main" id="{3124F204-A301-44BD-80E9-E958E46993D0}"/>
              </a:ext>
            </a:extLst>
          </p:cNvPr>
          <p:cNvSpPr>
            <a:spLocks noChangeArrowheads="1"/>
          </p:cNvSpPr>
          <p:nvPr/>
        </p:nvSpPr>
        <p:spPr bwMode="auto">
          <a:xfrm>
            <a:off x="685800" y="3200400"/>
            <a:ext cx="7772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4400" dirty="0">
                <a:solidFill>
                  <a:srgbClr val="CC3300"/>
                </a:solidFill>
                <a:latin typeface="Arial" panose="020B0604020202020204" pitchFamily="34" charset="0"/>
              </a:rPr>
              <a:t>Gunther </a:t>
            </a:r>
            <a:r>
              <a:rPr kumimoji="0" lang="en-US" altLang="zh-CN" sz="4400" dirty="0" err="1">
                <a:solidFill>
                  <a:srgbClr val="CC3300"/>
                </a:solidFill>
                <a:latin typeface="Arial" panose="020B0604020202020204" pitchFamily="34" charset="0"/>
              </a:rPr>
              <a:t>Blobel</a:t>
            </a:r>
            <a:br>
              <a:rPr kumimoji="0" lang="en-US" altLang="zh-CN" sz="4400" dirty="0">
                <a:solidFill>
                  <a:srgbClr val="CC3300"/>
                </a:solidFill>
                <a:latin typeface="Arial" panose="020B0604020202020204" pitchFamily="34" charset="0"/>
              </a:rPr>
            </a:br>
            <a:r>
              <a:rPr kumimoji="0" lang="en-US" altLang="zh-CN" sz="4400" dirty="0">
                <a:solidFill>
                  <a:srgbClr val="CC3300"/>
                </a:solidFill>
                <a:latin typeface="Arial" panose="020B0604020202020204" pitchFamily="34" charset="0"/>
              </a:rPr>
              <a:t>Nobel Prize 1999</a:t>
            </a:r>
            <a:br>
              <a:rPr kumimoji="0" lang="en-US" altLang="zh-CN" sz="4400" dirty="0">
                <a:solidFill>
                  <a:schemeClr val="accent1"/>
                </a:solidFill>
                <a:latin typeface="Arial" panose="020B0604020202020204" pitchFamily="34" charset="0"/>
              </a:rPr>
            </a:br>
            <a:r>
              <a:rPr kumimoji="0" lang="en-US" altLang="zh-CN" sz="3200" dirty="0">
                <a:solidFill>
                  <a:schemeClr val="tx2"/>
                </a:solidFill>
                <a:latin typeface="Arial" panose="020B0604020202020204" pitchFamily="34" charset="0"/>
              </a:rPr>
              <a:t>"for the discovery that proteins have intrinsic signals that govern their transport and localization in the cell"</a:t>
            </a:r>
          </a:p>
        </p:txBody>
      </p:sp>
    </p:spTree>
    <p:extLst>
      <p:ext uri="{BB962C8B-B14F-4D97-AF65-F5344CB8AC3E}">
        <p14:creationId xmlns:p14="http://schemas.microsoft.com/office/powerpoint/2010/main" val="6011948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1026" descr="D:\blobel.jpg">
            <a:extLst>
              <a:ext uri="{FF2B5EF4-FFF2-40B4-BE49-F238E27FC236}">
                <a16:creationId xmlns:a16="http://schemas.microsoft.com/office/drawing/2014/main" id="{E564B979-7DC6-46F1-97F9-5B64FBB01E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328613"/>
            <a:ext cx="7162800" cy="652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92859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613081ED-F7DE-4BF6-BD8E-55778FA599AF}"/>
              </a:ext>
            </a:extLst>
          </p:cNvPr>
          <p:cNvSpPr>
            <a:spLocks noGrp="1" noChangeArrowheads="1"/>
          </p:cNvSpPr>
          <p:nvPr>
            <p:ph type="title" idx="4294967295"/>
          </p:nvPr>
        </p:nvSpPr>
        <p:spPr>
          <a:xfrm>
            <a:off x="0" y="152400"/>
            <a:ext cx="9144000" cy="1676400"/>
          </a:xfrm>
        </p:spPr>
        <p:txBody>
          <a:bodyPr/>
          <a:lstStyle/>
          <a:p>
            <a:r>
              <a:rPr lang="en-US" altLang="zh-CN" sz="3200" dirty="0"/>
              <a:t>Early experiments: An N-terminal signal sequence on nascent secretory proteins targets synthesis to the ER and is then cleaved</a:t>
            </a:r>
            <a:r>
              <a:rPr lang="en-US" altLang="zh-CN" sz="3600" dirty="0"/>
              <a:t>.</a:t>
            </a:r>
          </a:p>
        </p:txBody>
      </p:sp>
      <p:pic>
        <p:nvPicPr>
          <p:cNvPr id="122883" name="Picture 3" descr="invit prot synthesis with microsomes DLB F17-15">
            <a:extLst>
              <a:ext uri="{FF2B5EF4-FFF2-40B4-BE49-F238E27FC236}">
                <a16:creationId xmlns:a16="http://schemas.microsoft.com/office/drawing/2014/main" id="{CC40D780-04FB-4F8A-9082-9317BBA615F9}"/>
              </a:ext>
            </a:extLst>
          </p:cNvPr>
          <p:cNvPicPr>
            <a:picLocks noGrp="1" noChangeAspect="1" noChangeArrowheads="1"/>
          </p:cNvPicPr>
          <p:nvPr>
            <p:ph type="chart"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4775200" y="1752600"/>
            <a:ext cx="4368800" cy="5105400"/>
          </a:xfrm>
        </p:spPr>
      </p:pic>
      <p:sp>
        <p:nvSpPr>
          <p:cNvPr id="16388" name="AutoShape 4">
            <a:extLst>
              <a:ext uri="{FF2B5EF4-FFF2-40B4-BE49-F238E27FC236}">
                <a16:creationId xmlns:a16="http://schemas.microsoft.com/office/drawing/2014/main" id="{CAA3D1EC-E634-4EAF-97BB-5DFF8F06C490}"/>
              </a:ext>
            </a:extLst>
          </p:cNvPr>
          <p:cNvSpPr>
            <a:spLocks noChangeArrowheads="1"/>
          </p:cNvSpPr>
          <p:nvPr/>
        </p:nvSpPr>
        <p:spPr bwMode="auto">
          <a:xfrm>
            <a:off x="533400" y="1828800"/>
            <a:ext cx="4114800" cy="1905000"/>
          </a:xfrm>
          <a:prstGeom prst="wedgeRectCallout">
            <a:avLst>
              <a:gd name="adj1" fmla="val 60727"/>
              <a:gd name="adj2" fmla="val 26833"/>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t>Translation of secretory mRNA’s in cell free protein synthesis system produces full length proteins with intact signal sequence</a:t>
            </a:r>
          </a:p>
          <a:p>
            <a:pPr algn="ctr" eaLnBrk="1" hangingPunct="1"/>
            <a:endParaRPr kumimoji="0" lang="zh-CN" altLang="en-US" b="1"/>
          </a:p>
        </p:txBody>
      </p:sp>
      <p:sp>
        <p:nvSpPr>
          <p:cNvPr id="16389" name="AutoShape 5">
            <a:extLst>
              <a:ext uri="{FF2B5EF4-FFF2-40B4-BE49-F238E27FC236}">
                <a16:creationId xmlns:a16="http://schemas.microsoft.com/office/drawing/2014/main" id="{E0689EBA-89D6-44EC-ACAC-A9221C1337D0}"/>
              </a:ext>
            </a:extLst>
          </p:cNvPr>
          <p:cNvSpPr>
            <a:spLocks noChangeArrowheads="1"/>
          </p:cNvSpPr>
          <p:nvPr/>
        </p:nvSpPr>
        <p:spPr bwMode="auto">
          <a:xfrm>
            <a:off x="1753344" y="3933056"/>
            <a:ext cx="4114800" cy="2438400"/>
          </a:xfrm>
          <a:prstGeom prst="wedgeRectCallout">
            <a:avLst>
              <a:gd name="adj1" fmla="val 61537"/>
              <a:gd name="adj2" fmla="val 27537"/>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a:t>Adding microsomes (ER membranes) to system causes ribosomes to bind to membranes, translocation of the protein to the lumen and cleavage of signal sequence</a:t>
            </a:r>
          </a:p>
          <a:p>
            <a:pPr algn="ctr" eaLnBrk="1" hangingPunct="1"/>
            <a:endParaRPr kumimoji="0" lang="zh-CN" altLang="en-US" b="1"/>
          </a:p>
        </p:txBody>
      </p:sp>
    </p:spTree>
    <p:extLst>
      <p:ext uri="{BB962C8B-B14F-4D97-AF65-F5344CB8AC3E}">
        <p14:creationId xmlns:p14="http://schemas.microsoft.com/office/powerpoint/2010/main" val="1564926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additive="base">
                                        <p:cTn id="7" dur="500" fill="hold"/>
                                        <p:tgtEl>
                                          <p:spTgt spid="16388"/>
                                        </p:tgtEl>
                                        <p:attrNameLst>
                                          <p:attrName>ppt_x</p:attrName>
                                        </p:attrNameLst>
                                      </p:cBhvr>
                                      <p:tavLst>
                                        <p:tav tm="0">
                                          <p:val>
                                            <p:strVal val="#ppt_x"/>
                                          </p:val>
                                        </p:tav>
                                        <p:tav tm="100000">
                                          <p:val>
                                            <p:strVal val="#ppt_x"/>
                                          </p:val>
                                        </p:tav>
                                      </p:tavLst>
                                    </p:anim>
                                    <p:anim calcmode="lin" valueType="num">
                                      <p:cBhvr additive="base">
                                        <p:cTn id="8"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9"/>
                                        </p:tgtEl>
                                        <p:attrNameLst>
                                          <p:attrName>style.visibility</p:attrName>
                                        </p:attrNameLst>
                                      </p:cBhvr>
                                      <p:to>
                                        <p:strVal val="visible"/>
                                      </p:to>
                                    </p:set>
                                    <p:anim calcmode="lin" valueType="num">
                                      <p:cBhvr additive="base">
                                        <p:cTn id="13" dur="500" fill="hold"/>
                                        <p:tgtEl>
                                          <p:spTgt spid="16389"/>
                                        </p:tgtEl>
                                        <p:attrNameLst>
                                          <p:attrName>ppt_x</p:attrName>
                                        </p:attrNameLst>
                                      </p:cBhvr>
                                      <p:tavLst>
                                        <p:tav tm="0">
                                          <p:val>
                                            <p:strVal val="#ppt_x"/>
                                          </p:val>
                                        </p:tav>
                                        <p:tav tm="100000">
                                          <p:val>
                                            <p:strVal val="#ppt_x"/>
                                          </p:val>
                                        </p:tav>
                                      </p:tavLst>
                                    </p:anim>
                                    <p:anim calcmode="lin" valueType="num">
                                      <p:cBhvr additive="base">
                                        <p:cTn id="14"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nimBg="1"/>
      <p:bldP spid="16389"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9658E373-0756-4A7E-9B0C-5A0C27D65816}"/>
              </a:ext>
            </a:extLst>
          </p:cNvPr>
          <p:cNvSpPr>
            <a:spLocks noGrp="1" noChangeArrowheads="1"/>
          </p:cNvSpPr>
          <p:nvPr>
            <p:ph type="title" idx="4294967295"/>
          </p:nvPr>
        </p:nvSpPr>
        <p:spPr>
          <a:xfrm>
            <a:off x="3635896" y="476672"/>
            <a:ext cx="0" cy="0"/>
          </a:xfrm>
        </p:spPr>
        <p:txBody>
          <a:bodyPr/>
          <a:lstStyle/>
          <a:p>
            <a:r>
              <a:rPr lang="en-US" altLang="zh-CN" sz="1200" dirty="0"/>
              <a:t>Signal sequences usually contain 1 or more + charged amino acids followed by a stretch of hydrophobic residues</a:t>
            </a:r>
          </a:p>
        </p:txBody>
      </p:sp>
      <p:sp>
        <p:nvSpPr>
          <p:cNvPr id="2" name="矩形 1">
            <a:extLst>
              <a:ext uri="{FF2B5EF4-FFF2-40B4-BE49-F238E27FC236}">
                <a16:creationId xmlns:a16="http://schemas.microsoft.com/office/drawing/2014/main" id="{017147AA-5E5F-42CB-9C48-039CF4040DC4}"/>
              </a:ext>
            </a:extLst>
          </p:cNvPr>
          <p:cNvSpPr/>
          <p:nvPr/>
        </p:nvSpPr>
        <p:spPr>
          <a:xfrm>
            <a:off x="395536" y="3501008"/>
            <a:ext cx="7740352" cy="2031325"/>
          </a:xfrm>
          <a:prstGeom prst="rect">
            <a:avLst/>
          </a:prstGeom>
        </p:spPr>
        <p:txBody>
          <a:bodyPr wrap="square">
            <a:spAutoFit/>
          </a:bodyPr>
          <a:lstStyle/>
          <a:p>
            <a:r>
              <a:rPr lang="en-US" altLang="zh-CN" dirty="0">
                <a:solidFill>
                  <a:srgbClr val="231F20"/>
                </a:solidFill>
                <a:latin typeface="Century-Light"/>
              </a:rPr>
              <a:t>Signal sequences vary in length from 13 to 36 amino acid residues, but all have the following features: </a:t>
            </a:r>
          </a:p>
          <a:p>
            <a:pPr marL="342900" indent="-342900">
              <a:buAutoNum type="arabicParenBoth"/>
            </a:pPr>
            <a:r>
              <a:rPr lang="en-US" altLang="zh-CN" dirty="0">
                <a:solidFill>
                  <a:srgbClr val="231F20"/>
                </a:solidFill>
                <a:latin typeface="Century-Light"/>
              </a:rPr>
              <a:t>10 to 15 hydrophobic amino acid residues; </a:t>
            </a:r>
          </a:p>
          <a:p>
            <a:pPr marL="342900" indent="-342900">
              <a:buAutoNum type="arabicParenBoth"/>
            </a:pPr>
            <a:r>
              <a:rPr lang="en-US" altLang="zh-CN" dirty="0">
                <a:solidFill>
                  <a:srgbClr val="231F20"/>
                </a:solidFill>
                <a:latin typeface="Century-Light"/>
              </a:rPr>
              <a:t>one or more positively charged residues</a:t>
            </a:r>
            <a:r>
              <a:rPr lang="zh-CN" altLang="en-US" dirty="0">
                <a:solidFill>
                  <a:srgbClr val="231F20"/>
                </a:solidFill>
                <a:latin typeface="Century-Light"/>
              </a:rPr>
              <a:t>（</a:t>
            </a:r>
            <a:r>
              <a:rPr lang="en-US" altLang="zh-CN" dirty="0">
                <a:solidFill>
                  <a:srgbClr val="231F20"/>
                </a:solidFill>
                <a:latin typeface="Century-Light"/>
              </a:rPr>
              <a:t>basic residues</a:t>
            </a:r>
            <a:r>
              <a:rPr lang="zh-CN" altLang="en-US" dirty="0">
                <a:solidFill>
                  <a:srgbClr val="231F20"/>
                </a:solidFill>
                <a:latin typeface="Century-Light"/>
              </a:rPr>
              <a:t>）</a:t>
            </a:r>
            <a:r>
              <a:rPr lang="en-US" altLang="zh-CN" dirty="0">
                <a:solidFill>
                  <a:srgbClr val="231F20"/>
                </a:solidFill>
                <a:latin typeface="Century-Light"/>
              </a:rPr>
              <a:t>,usually near the amino terminus; </a:t>
            </a:r>
          </a:p>
          <a:p>
            <a:pPr marL="342900" indent="-342900">
              <a:buAutoNum type="arabicParenBoth"/>
            </a:pPr>
            <a:r>
              <a:rPr lang="en-US" altLang="zh-CN" dirty="0">
                <a:solidFill>
                  <a:srgbClr val="231F20"/>
                </a:solidFill>
                <a:latin typeface="Century-Light"/>
              </a:rPr>
              <a:t>An amino acid residues with short side chains (especially Ala) at the positions closest to the cleavage site.</a:t>
            </a:r>
            <a:r>
              <a:rPr lang="en-US" altLang="zh-CN" dirty="0"/>
              <a:t> </a:t>
            </a:r>
            <a:endParaRPr lang="zh-CN" altLang="en-US" dirty="0"/>
          </a:p>
        </p:txBody>
      </p:sp>
      <p:pic>
        <p:nvPicPr>
          <p:cNvPr id="4" name="图片 3">
            <a:extLst>
              <a:ext uri="{FF2B5EF4-FFF2-40B4-BE49-F238E27FC236}">
                <a16:creationId xmlns:a16="http://schemas.microsoft.com/office/drawing/2014/main" id="{525B51E7-B46C-433E-9D2F-D6D7FFB68A42}"/>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79512" y="803269"/>
            <a:ext cx="8464026" cy="22442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964853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C5D4A59-A8F7-420F-9C15-243BC7FCDDD6}"/>
              </a:ext>
            </a:extLst>
          </p:cNvPr>
          <p:cNvSpPr>
            <a:spLocks noGrp="1" noChangeArrowheads="1"/>
          </p:cNvSpPr>
          <p:nvPr>
            <p:ph type="title" idx="4294967295"/>
          </p:nvPr>
        </p:nvSpPr>
        <p:spPr>
          <a:xfrm>
            <a:off x="0" y="2492896"/>
            <a:ext cx="7696200" cy="1295400"/>
          </a:xfrm>
        </p:spPr>
        <p:txBody>
          <a:bodyPr/>
          <a:lstStyle/>
          <a:p>
            <a:r>
              <a:rPr lang="en-US" altLang="zh-CN" dirty="0">
                <a:solidFill>
                  <a:srgbClr val="CC3300"/>
                </a:solidFill>
              </a:rPr>
              <a:t>The ER targeting mechanism requires two special receptor proteins:</a:t>
            </a:r>
          </a:p>
        </p:txBody>
      </p:sp>
      <p:sp>
        <p:nvSpPr>
          <p:cNvPr id="126979" name="Text Box 3">
            <a:extLst>
              <a:ext uri="{FF2B5EF4-FFF2-40B4-BE49-F238E27FC236}">
                <a16:creationId xmlns:a16="http://schemas.microsoft.com/office/drawing/2014/main" id="{8B15209D-9C3D-4D8F-AD0A-436AB3AE628F}"/>
              </a:ext>
            </a:extLst>
          </p:cNvPr>
          <p:cNvSpPr txBox="1">
            <a:spLocks noChangeArrowheads="1"/>
          </p:cNvSpPr>
          <p:nvPr/>
        </p:nvSpPr>
        <p:spPr bwMode="auto">
          <a:xfrm>
            <a:off x="762000" y="476672"/>
            <a:ext cx="7543800" cy="1920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4000" dirty="0">
                <a:solidFill>
                  <a:schemeClr val="tx2"/>
                </a:solidFill>
              </a:rPr>
              <a:t>What gets the ribosomes with secretory protein mRNA's to bind to the ER membranes?</a:t>
            </a:r>
          </a:p>
        </p:txBody>
      </p:sp>
      <p:sp>
        <p:nvSpPr>
          <p:cNvPr id="18436" name="Rectangle 4">
            <a:extLst>
              <a:ext uri="{FF2B5EF4-FFF2-40B4-BE49-F238E27FC236}">
                <a16:creationId xmlns:a16="http://schemas.microsoft.com/office/drawing/2014/main" id="{8D89F725-E0A2-4F04-A54E-34BB2F107853}"/>
              </a:ext>
            </a:extLst>
          </p:cNvPr>
          <p:cNvSpPr>
            <a:spLocks noChangeArrowheads="1"/>
          </p:cNvSpPr>
          <p:nvPr/>
        </p:nvSpPr>
        <p:spPr bwMode="auto">
          <a:xfrm>
            <a:off x="481136" y="4581872"/>
            <a:ext cx="8915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4400" dirty="0"/>
              <a:t>1. Signal recognition particle (SRP)</a:t>
            </a:r>
          </a:p>
          <a:p>
            <a:pPr eaLnBrk="1" hangingPunct="1"/>
            <a:r>
              <a:rPr kumimoji="0" lang="en-US" altLang="zh-CN" sz="4400" dirty="0"/>
              <a:t>2. SRP receptor</a:t>
            </a:r>
          </a:p>
        </p:txBody>
      </p:sp>
    </p:spTree>
    <p:extLst>
      <p:ext uri="{BB962C8B-B14F-4D97-AF65-F5344CB8AC3E}">
        <p14:creationId xmlns:p14="http://schemas.microsoft.com/office/powerpoint/2010/main" val="13849233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67B5BE38-AC2E-43B1-A2E8-3DC787217B24}"/>
              </a:ext>
            </a:extLst>
          </p:cNvPr>
          <p:cNvSpPr>
            <a:spLocks noGrp="1" noChangeArrowheads="1"/>
          </p:cNvSpPr>
          <p:nvPr>
            <p:ph type="title" idx="4294967295"/>
          </p:nvPr>
        </p:nvSpPr>
        <p:spPr>
          <a:xfrm>
            <a:off x="-1" y="152400"/>
            <a:ext cx="5426075" cy="1143000"/>
          </a:xfrm>
        </p:spPr>
        <p:txBody>
          <a:bodyPr/>
          <a:lstStyle/>
          <a:p>
            <a:r>
              <a:rPr lang="en-US" altLang="zh-CN" sz="3600" dirty="0"/>
              <a:t>Translation of secretory mRNA begins on free ribosomes</a:t>
            </a:r>
          </a:p>
        </p:txBody>
      </p:sp>
      <p:sp>
        <p:nvSpPr>
          <p:cNvPr id="19459" name="Rectangle 3">
            <a:extLst>
              <a:ext uri="{FF2B5EF4-FFF2-40B4-BE49-F238E27FC236}">
                <a16:creationId xmlns:a16="http://schemas.microsoft.com/office/drawing/2014/main" id="{03D89E5D-F256-4DA2-9F04-6C5BC0073C6A}"/>
              </a:ext>
            </a:extLst>
          </p:cNvPr>
          <p:cNvSpPr>
            <a:spLocks noGrp="1" noChangeArrowheads="1"/>
          </p:cNvSpPr>
          <p:nvPr>
            <p:ph type="body" sz="half" idx="4294967295"/>
          </p:nvPr>
        </p:nvSpPr>
        <p:spPr>
          <a:xfrm>
            <a:off x="334888" y="2165176"/>
            <a:ext cx="5029200" cy="3640088"/>
          </a:xfrm>
        </p:spPr>
        <p:txBody>
          <a:bodyPr/>
          <a:lstStyle/>
          <a:p>
            <a:r>
              <a:rPr lang="en-US" altLang="zh-CN" dirty="0"/>
              <a:t>N-terminal signal sequence emerges from ribosome tunnel</a:t>
            </a:r>
          </a:p>
          <a:p>
            <a:r>
              <a:rPr lang="en-US" altLang="zh-CN" dirty="0"/>
              <a:t>Signal recognition particle (SRP) binds to the emerging signal sequence from the ribosome</a:t>
            </a:r>
          </a:p>
        </p:txBody>
      </p:sp>
      <p:pic>
        <p:nvPicPr>
          <p:cNvPr id="129028" name="Picture 6">
            <a:extLst>
              <a:ext uri="{FF2B5EF4-FFF2-40B4-BE49-F238E27FC236}">
                <a16:creationId xmlns:a16="http://schemas.microsoft.com/office/drawing/2014/main" id="{2FB4DCB9-94B9-427D-A817-037AF0A955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69643"/>
          <a:stretch>
            <a:fillRect/>
          </a:stretch>
        </p:blipFill>
        <p:spPr bwMode="auto">
          <a:xfrm>
            <a:off x="5292080" y="44624"/>
            <a:ext cx="3717925"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06248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34197EB5-1AF9-45C7-8524-6DF1CEF094AA}"/>
              </a:ext>
            </a:extLst>
          </p:cNvPr>
          <p:cNvSpPr>
            <a:spLocks noGrp="1" noChangeArrowheads="1"/>
          </p:cNvSpPr>
          <p:nvPr>
            <p:ph type="title" idx="4294967295"/>
          </p:nvPr>
        </p:nvSpPr>
        <p:spPr>
          <a:xfrm>
            <a:off x="152400" y="457200"/>
            <a:ext cx="8991600" cy="1143000"/>
          </a:xfrm>
        </p:spPr>
        <p:txBody>
          <a:bodyPr/>
          <a:lstStyle/>
          <a:p>
            <a:r>
              <a:rPr lang="en-US" altLang="zh-CN" sz="3600"/>
              <a:t>SRP receptor initiates the interaction of signal sequences with the ER membrane</a:t>
            </a:r>
          </a:p>
        </p:txBody>
      </p:sp>
      <p:pic>
        <p:nvPicPr>
          <p:cNvPr id="131075" name="Picture 5">
            <a:extLst>
              <a:ext uri="{FF2B5EF4-FFF2-40B4-BE49-F238E27FC236}">
                <a16:creationId xmlns:a16="http://schemas.microsoft.com/office/drawing/2014/main" id="{EBE89226-57B9-49AA-9526-2A13C93D7F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13" y="1676400"/>
            <a:ext cx="8535987"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32276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E66E7B46-3A66-4E74-86E0-AD6F40213A04}"/>
              </a:ext>
            </a:extLst>
          </p:cNvPr>
          <p:cNvSpPr>
            <a:spLocks noGrp="1" noChangeArrowheads="1"/>
          </p:cNvSpPr>
          <p:nvPr>
            <p:ph type="title" idx="4294967295"/>
          </p:nvPr>
        </p:nvSpPr>
        <p:spPr>
          <a:xfrm>
            <a:off x="467544" y="980728"/>
            <a:ext cx="7992888" cy="3352800"/>
          </a:xfrm>
        </p:spPr>
        <p:txBody>
          <a:bodyPr/>
          <a:lstStyle/>
          <a:p>
            <a:r>
              <a:rPr lang="en-US" altLang="zh-CN" dirty="0"/>
              <a:t>Secretory proteins move from the Rough ER lumen through Golgi complex and then to cell surface by vesicle mediated transport</a:t>
            </a:r>
            <a:br>
              <a:rPr lang="en-US" altLang="zh-CN" dirty="0"/>
            </a:br>
            <a:endParaRPr lang="en-US" altLang="zh-CN" dirty="0"/>
          </a:p>
        </p:txBody>
      </p:sp>
    </p:spTree>
    <p:extLst>
      <p:ext uri="{BB962C8B-B14F-4D97-AF65-F5344CB8AC3E}">
        <p14:creationId xmlns:p14="http://schemas.microsoft.com/office/powerpoint/2010/main" val="14888067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a:extLst>
              <a:ext uri="{FF2B5EF4-FFF2-40B4-BE49-F238E27FC236}">
                <a16:creationId xmlns:a16="http://schemas.microsoft.com/office/drawing/2014/main" id="{BF960D6C-B72E-475B-9472-21646E61AA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63500"/>
            <a:ext cx="8305800" cy="692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95628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a:extLst>
              <a:ext uri="{FF2B5EF4-FFF2-40B4-BE49-F238E27FC236}">
                <a16:creationId xmlns:a16="http://schemas.microsoft.com/office/drawing/2014/main" id="{032339F7-34BB-42F3-8324-1C38069A71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4999" t="14844" r="14375" b="15625"/>
          <a:stretch>
            <a:fillRect/>
          </a:stretch>
        </p:blipFill>
        <p:spPr bwMode="auto">
          <a:xfrm>
            <a:off x="304800" y="0"/>
            <a:ext cx="8610600" cy="623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5337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2C35734A-B900-482C-9CD6-E11B7D474FE2}"/>
              </a:ext>
            </a:extLst>
          </p:cNvPr>
          <p:cNvSpPr>
            <a:spLocks noGrp="1" noChangeArrowheads="1"/>
          </p:cNvSpPr>
          <p:nvPr>
            <p:ph type="title" idx="4294967295"/>
          </p:nvPr>
        </p:nvSpPr>
        <p:spPr>
          <a:xfrm>
            <a:off x="228600" y="260648"/>
            <a:ext cx="8915400" cy="1143000"/>
          </a:xfrm>
        </p:spPr>
        <p:txBody>
          <a:bodyPr/>
          <a:lstStyle/>
          <a:p>
            <a:r>
              <a:rPr lang="en-US" altLang="zh-CN" sz="4000" dirty="0">
                <a:solidFill>
                  <a:schemeClr val="accent2">
                    <a:lumMod val="75000"/>
                  </a:schemeClr>
                </a:solidFill>
              </a:rPr>
              <a:t>All proteins encoded by nuclear DNA are first translated on free cytoplasmic ribosomes</a:t>
            </a:r>
          </a:p>
        </p:txBody>
      </p:sp>
      <p:sp>
        <p:nvSpPr>
          <p:cNvPr id="10243" name="Rectangle 3">
            <a:extLst>
              <a:ext uri="{FF2B5EF4-FFF2-40B4-BE49-F238E27FC236}">
                <a16:creationId xmlns:a16="http://schemas.microsoft.com/office/drawing/2014/main" id="{BE4BE632-E6FE-41F4-99E4-2C480ED71964}"/>
              </a:ext>
            </a:extLst>
          </p:cNvPr>
          <p:cNvSpPr>
            <a:spLocks noGrp="1" noChangeArrowheads="1"/>
          </p:cNvSpPr>
          <p:nvPr>
            <p:ph type="body" sz="half" idx="4294967295"/>
          </p:nvPr>
        </p:nvSpPr>
        <p:spPr>
          <a:xfrm>
            <a:off x="228600" y="2286000"/>
            <a:ext cx="8915400" cy="4267200"/>
          </a:xfrm>
          <a:ln>
            <a:solidFill>
              <a:schemeClr val="tx2"/>
            </a:solidFill>
            <a:miter lim="800000"/>
            <a:headEnd/>
            <a:tailEnd/>
          </a:ln>
        </p:spPr>
        <p:txBody>
          <a:bodyPr/>
          <a:lstStyle/>
          <a:p>
            <a:r>
              <a:rPr lang="en-US" altLang="zh-CN" sz="2800" dirty="0"/>
              <a:t>Soluble proteins and proteins targeted to the mitochondria, chloroplasts  and peroxisomes are completely synthesized on </a:t>
            </a:r>
            <a:r>
              <a:rPr lang="en-US" altLang="zh-CN" sz="2800" dirty="0">
                <a:solidFill>
                  <a:srgbClr val="FF3300"/>
                </a:solidFill>
              </a:rPr>
              <a:t>free ribosomes</a:t>
            </a:r>
          </a:p>
          <a:p>
            <a:r>
              <a:rPr lang="en-US" altLang="zh-CN" sz="2800" dirty="0">
                <a:solidFill>
                  <a:schemeClr val="tx2"/>
                </a:solidFill>
              </a:rPr>
              <a:t>Translation of Integral membrane proteins</a:t>
            </a:r>
            <a:r>
              <a:rPr lang="en-US" altLang="zh-CN" sz="2800" dirty="0"/>
              <a:t>, secreted proteins, and proteins in the ER, Golgi, and lysosomes are synthesized on </a:t>
            </a:r>
            <a:r>
              <a:rPr lang="en-US" altLang="zh-CN" sz="2800" dirty="0">
                <a:solidFill>
                  <a:srgbClr val="FF3300"/>
                </a:solidFill>
              </a:rPr>
              <a:t>ribosomes bound to the ER membrane</a:t>
            </a:r>
          </a:p>
          <a:p>
            <a:r>
              <a:rPr lang="en-US" altLang="zh-CN" sz="2800" dirty="0">
                <a:solidFill>
                  <a:srgbClr val="FF0000"/>
                </a:solidFill>
              </a:rPr>
              <a:t>The subunits on free and ER bound ribosomes are identical</a:t>
            </a:r>
          </a:p>
        </p:txBody>
      </p:sp>
    </p:spTree>
    <p:extLst>
      <p:ext uri="{BB962C8B-B14F-4D97-AF65-F5344CB8AC3E}">
        <p14:creationId xmlns:p14="http://schemas.microsoft.com/office/powerpoint/2010/main" val="34839737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05F10A2F-6CC3-481D-B118-3D56CEF45864}"/>
              </a:ext>
            </a:extLst>
          </p:cNvPr>
          <p:cNvSpPr>
            <a:spLocks noGrp="1" noChangeArrowheads="1"/>
          </p:cNvSpPr>
          <p:nvPr>
            <p:ph type="title" idx="4294967295"/>
          </p:nvPr>
        </p:nvSpPr>
        <p:spPr>
          <a:xfrm>
            <a:off x="0" y="1828800"/>
            <a:ext cx="7848600" cy="3810000"/>
          </a:xfrm>
        </p:spPr>
        <p:txBody>
          <a:bodyPr/>
          <a:lstStyle/>
          <a:p>
            <a:r>
              <a:rPr lang="en-US" altLang="zh-CN" dirty="0"/>
              <a:t>Most proteins synthesized in the Rough ER  are glycosylated by a core oligosaccharide.</a:t>
            </a:r>
            <a:br>
              <a:rPr lang="en-US" altLang="zh-CN" dirty="0"/>
            </a:br>
            <a:endParaRPr lang="en-US" altLang="zh-CN" dirty="0"/>
          </a:p>
        </p:txBody>
      </p:sp>
      <p:sp>
        <p:nvSpPr>
          <p:cNvPr id="139267" name="Text Box 3">
            <a:extLst>
              <a:ext uri="{FF2B5EF4-FFF2-40B4-BE49-F238E27FC236}">
                <a16:creationId xmlns:a16="http://schemas.microsoft.com/office/drawing/2014/main" id="{BD8D1EC3-28C6-4E5A-BA32-6F65AB928C80}"/>
              </a:ext>
            </a:extLst>
          </p:cNvPr>
          <p:cNvSpPr txBox="1">
            <a:spLocks noChangeArrowheads="1"/>
          </p:cNvSpPr>
          <p:nvPr/>
        </p:nvSpPr>
        <p:spPr bwMode="auto">
          <a:xfrm>
            <a:off x="685800" y="68580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4400" dirty="0">
                <a:solidFill>
                  <a:srgbClr val="CC3300"/>
                </a:solidFill>
                <a:latin typeface="Arial" panose="020B0604020202020204" pitchFamily="34" charset="0"/>
              </a:rPr>
              <a:t>H5 Protein Glycosylation</a:t>
            </a:r>
          </a:p>
        </p:txBody>
      </p:sp>
    </p:spTree>
    <p:extLst>
      <p:ext uri="{BB962C8B-B14F-4D97-AF65-F5344CB8AC3E}">
        <p14:creationId xmlns:p14="http://schemas.microsoft.com/office/powerpoint/2010/main" val="5969322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1251">
            <a:extLst>
              <a:ext uri="{FF2B5EF4-FFF2-40B4-BE49-F238E27FC236}">
                <a16:creationId xmlns:a16="http://schemas.microsoft.com/office/drawing/2014/main" id="{A699F0E1-01DC-456F-8501-D1D6E7069D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28600"/>
            <a:ext cx="3879850" cy="6400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1315" name="Text Box 3">
            <a:extLst>
              <a:ext uri="{FF2B5EF4-FFF2-40B4-BE49-F238E27FC236}">
                <a16:creationId xmlns:a16="http://schemas.microsoft.com/office/drawing/2014/main" id="{C88DF327-2CAD-4D7D-A205-0AC9BFAD4AB4}"/>
              </a:ext>
            </a:extLst>
          </p:cNvPr>
          <p:cNvSpPr txBox="1">
            <a:spLocks noChangeArrowheads="1"/>
          </p:cNvSpPr>
          <p:nvPr/>
        </p:nvSpPr>
        <p:spPr bwMode="auto">
          <a:xfrm>
            <a:off x="3146425" y="152400"/>
            <a:ext cx="599757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0" lang="en-US" altLang="zh-CN" sz="4000" b="1">
                <a:latin typeface="Comic Sans MS" panose="030F0702030302020204" pitchFamily="66" charset="0"/>
              </a:rPr>
              <a:t>Proteins are Glycosylated in ER and Golgi</a:t>
            </a:r>
          </a:p>
        </p:txBody>
      </p:sp>
      <p:sp>
        <p:nvSpPr>
          <p:cNvPr id="141316" name="Rectangle 4">
            <a:extLst>
              <a:ext uri="{FF2B5EF4-FFF2-40B4-BE49-F238E27FC236}">
                <a16:creationId xmlns:a16="http://schemas.microsoft.com/office/drawing/2014/main" id="{DCC3627A-1794-4BF3-A5E8-8FD98235950B}"/>
              </a:ext>
            </a:extLst>
          </p:cNvPr>
          <p:cNvSpPr>
            <a:spLocks noChangeArrowheads="1"/>
          </p:cNvSpPr>
          <p:nvPr/>
        </p:nvSpPr>
        <p:spPr bwMode="auto">
          <a:xfrm>
            <a:off x="4800600" y="2922588"/>
            <a:ext cx="3541713"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0" lang="en-US" altLang="zh-CN" sz="2800" dirty="0"/>
              <a:t>-important for folding</a:t>
            </a:r>
          </a:p>
          <a:p>
            <a:pPr eaLnBrk="0" hangingPunct="0"/>
            <a:endParaRPr kumimoji="0" lang="en-US" altLang="zh-CN" sz="2800" dirty="0"/>
          </a:p>
          <a:p>
            <a:pPr eaLnBrk="0" hangingPunct="0"/>
            <a:r>
              <a:rPr kumimoji="0" lang="en-US" altLang="zh-CN" sz="2800" dirty="0"/>
              <a:t>-important for function</a:t>
            </a:r>
          </a:p>
          <a:p>
            <a:pPr eaLnBrk="0" hangingPunct="0"/>
            <a:endParaRPr kumimoji="0" lang="en-US" altLang="zh-CN" sz="2800" dirty="0"/>
          </a:p>
          <a:p>
            <a:pPr eaLnBrk="0" hangingPunct="0"/>
            <a:r>
              <a:rPr kumimoji="0" lang="en-US" altLang="zh-CN" sz="2800" dirty="0"/>
              <a:t>-important for targeting</a:t>
            </a:r>
          </a:p>
        </p:txBody>
      </p:sp>
      <p:sp>
        <p:nvSpPr>
          <p:cNvPr id="2" name="矩形 1">
            <a:extLst>
              <a:ext uri="{FF2B5EF4-FFF2-40B4-BE49-F238E27FC236}">
                <a16:creationId xmlns:a16="http://schemas.microsoft.com/office/drawing/2014/main" id="{BF215389-75A4-4853-8E50-91816AABDD6F}"/>
              </a:ext>
            </a:extLst>
          </p:cNvPr>
          <p:cNvSpPr/>
          <p:nvPr/>
        </p:nvSpPr>
        <p:spPr>
          <a:xfrm>
            <a:off x="2555776" y="5949280"/>
            <a:ext cx="1800493" cy="369332"/>
          </a:xfrm>
          <a:prstGeom prst="rect">
            <a:avLst/>
          </a:prstGeom>
        </p:spPr>
        <p:txBody>
          <a:bodyPr wrap="none">
            <a:spAutoFit/>
          </a:bodyPr>
          <a:lstStyle/>
          <a:p>
            <a:r>
              <a:rPr lang="zh-CN" altLang="en-US" dirty="0"/>
              <a:t>乙酰氨基葡萄糖</a:t>
            </a:r>
          </a:p>
        </p:txBody>
      </p:sp>
      <p:sp>
        <p:nvSpPr>
          <p:cNvPr id="3" name="矩形 2">
            <a:extLst>
              <a:ext uri="{FF2B5EF4-FFF2-40B4-BE49-F238E27FC236}">
                <a16:creationId xmlns:a16="http://schemas.microsoft.com/office/drawing/2014/main" id="{3C51D704-55D3-4BEA-941B-4685C89510C6}"/>
              </a:ext>
            </a:extLst>
          </p:cNvPr>
          <p:cNvSpPr/>
          <p:nvPr/>
        </p:nvSpPr>
        <p:spPr>
          <a:xfrm>
            <a:off x="2149255" y="2719608"/>
            <a:ext cx="1582484" cy="369332"/>
          </a:xfrm>
          <a:prstGeom prst="rect">
            <a:avLst/>
          </a:prstGeom>
        </p:spPr>
        <p:txBody>
          <a:bodyPr wrap="none">
            <a:spAutoFit/>
          </a:bodyPr>
          <a:lstStyle/>
          <a:p>
            <a:r>
              <a:rPr lang="en-US" altLang="zh-CN" b="1" dirty="0" err="1">
                <a:solidFill>
                  <a:srgbClr val="FF0000"/>
                </a:solidFill>
                <a:latin typeface="Arial Narrow" panose="020B0606020202030204" pitchFamily="34" charset="0"/>
              </a:rPr>
              <a:t>Asn</a:t>
            </a:r>
            <a:r>
              <a:rPr lang="en-US" altLang="zh-CN" b="1" dirty="0">
                <a:solidFill>
                  <a:srgbClr val="FF0000"/>
                </a:solidFill>
                <a:latin typeface="Arial Narrow" panose="020B0606020202030204" pitchFamily="34" charset="0"/>
              </a:rPr>
              <a:t>-[X]-Ser/</a:t>
            </a:r>
            <a:r>
              <a:rPr lang="en-US" altLang="zh-CN" b="1" dirty="0" err="1">
                <a:solidFill>
                  <a:srgbClr val="FF0000"/>
                </a:solidFill>
                <a:latin typeface="Arial Narrow" panose="020B0606020202030204" pitchFamily="34" charset="0"/>
              </a:rPr>
              <a:t>Thr</a:t>
            </a:r>
            <a:endParaRPr lang="zh-CN" altLang="en-US" b="1"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6436882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descr="1252">
            <a:extLst>
              <a:ext uri="{FF2B5EF4-FFF2-40B4-BE49-F238E27FC236}">
                <a16:creationId xmlns:a16="http://schemas.microsoft.com/office/drawing/2014/main" id="{BC678E25-4E2D-4111-8CF2-4F60839938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3600" y="914400"/>
            <a:ext cx="5029200" cy="557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63" name="Text Box 3">
            <a:extLst>
              <a:ext uri="{FF2B5EF4-FFF2-40B4-BE49-F238E27FC236}">
                <a16:creationId xmlns:a16="http://schemas.microsoft.com/office/drawing/2014/main" id="{5F33547B-84DA-4D5E-B66B-44977290ABB5}"/>
              </a:ext>
            </a:extLst>
          </p:cNvPr>
          <p:cNvSpPr txBox="1">
            <a:spLocks noChangeArrowheads="1"/>
          </p:cNvSpPr>
          <p:nvPr/>
        </p:nvSpPr>
        <p:spPr bwMode="auto">
          <a:xfrm>
            <a:off x="152400" y="395288"/>
            <a:ext cx="883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0" lang="en-US" altLang="zh-CN" sz="2800" b="1" dirty="0">
                <a:latin typeface="Comic Sans MS" panose="030F0702030302020204" pitchFamily="66" charset="0"/>
              </a:rPr>
              <a:t>N-linked on </a:t>
            </a:r>
            <a:r>
              <a:rPr kumimoji="0" lang="en-US" altLang="zh-CN" sz="2800" b="1" dirty="0" err="1">
                <a:latin typeface="Comic Sans MS" panose="030F0702030302020204" pitchFamily="66" charset="0"/>
              </a:rPr>
              <a:t>Asn</a:t>
            </a:r>
            <a:r>
              <a:rPr kumimoji="0" lang="en-US" altLang="zh-CN" sz="2800" b="1" dirty="0">
                <a:latin typeface="Comic Sans MS" panose="030F0702030302020204" pitchFamily="66" charset="0"/>
              </a:rPr>
              <a:t> and O-linked on Ser/</a:t>
            </a:r>
            <a:r>
              <a:rPr kumimoji="0" lang="en-US" altLang="zh-CN" sz="2800" b="1" dirty="0" err="1">
                <a:latin typeface="Comic Sans MS" panose="030F0702030302020204" pitchFamily="66" charset="0"/>
              </a:rPr>
              <a:t>Thr</a:t>
            </a:r>
            <a:endParaRPr kumimoji="0" lang="en-US" altLang="zh-CN" sz="2800" b="1" dirty="0">
              <a:latin typeface="Comic Sans MS" panose="030F0702030302020204" pitchFamily="66" charset="0"/>
            </a:endParaRPr>
          </a:p>
        </p:txBody>
      </p:sp>
      <p:sp>
        <p:nvSpPr>
          <p:cNvPr id="2" name="矩形 1">
            <a:extLst>
              <a:ext uri="{FF2B5EF4-FFF2-40B4-BE49-F238E27FC236}">
                <a16:creationId xmlns:a16="http://schemas.microsoft.com/office/drawing/2014/main" id="{16C1FD3B-D06B-49C6-9D5F-372B10EA1FB6}"/>
              </a:ext>
            </a:extLst>
          </p:cNvPr>
          <p:cNvSpPr/>
          <p:nvPr/>
        </p:nvSpPr>
        <p:spPr>
          <a:xfrm>
            <a:off x="899592" y="3645024"/>
            <a:ext cx="1736373" cy="369332"/>
          </a:xfrm>
          <a:prstGeom prst="rect">
            <a:avLst/>
          </a:prstGeom>
        </p:spPr>
        <p:txBody>
          <a:bodyPr wrap="none">
            <a:spAutoFit/>
          </a:bodyPr>
          <a:lstStyle/>
          <a:p>
            <a:r>
              <a:rPr lang="en-US" altLang="zh-CN" dirty="0"/>
              <a:t>Pyrophosphate</a:t>
            </a:r>
          </a:p>
        </p:txBody>
      </p:sp>
    </p:spTree>
    <p:extLst>
      <p:ext uri="{BB962C8B-B14F-4D97-AF65-F5344CB8AC3E}">
        <p14:creationId xmlns:p14="http://schemas.microsoft.com/office/powerpoint/2010/main" val="32011252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a:extLst>
              <a:ext uri="{FF2B5EF4-FFF2-40B4-BE49-F238E27FC236}">
                <a16:creationId xmlns:a16="http://schemas.microsoft.com/office/drawing/2014/main" id="{7B7C9A32-60C8-4CCC-9073-3380CFEB4800}"/>
              </a:ext>
            </a:extLst>
          </p:cNvPr>
          <p:cNvSpPr txBox="1">
            <a:spLocks noChangeArrowheads="1"/>
          </p:cNvSpPr>
          <p:nvPr/>
        </p:nvSpPr>
        <p:spPr bwMode="auto">
          <a:xfrm>
            <a:off x="395288" y="2180829"/>
            <a:ext cx="2159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zh-CN" altLang="en-US" sz="3200" b="1">
                <a:solidFill>
                  <a:srgbClr val="CC3300"/>
                </a:solidFill>
                <a:ea typeface="华文楷体" panose="02010600040101010101" pitchFamily="2" charset="-122"/>
              </a:rPr>
              <a:t>连接方式</a:t>
            </a:r>
          </a:p>
        </p:txBody>
      </p:sp>
      <p:grpSp>
        <p:nvGrpSpPr>
          <p:cNvPr id="145411" name="Group 3">
            <a:extLst>
              <a:ext uri="{FF2B5EF4-FFF2-40B4-BE49-F238E27FC236}">
                <a16:creationId xmlns:a16="http://schemas.microsoft.com/office/drawing/2014/main" id="{864CE732-2825-43EE-8700-C6F51F09C341}"/>
              </a:ext>
            </a:extLst>
          </p:cNvPr>
          <p:cNvGrpSpPr>
            <a:grpSpLocks/>
          </p:cNvGrpSpPr>
          <p:nvPr/>
        </p:nvGrpSpPr>
        <p:grpSpPr bwMode="auto">
          <a:xfrm>
            <a:off x="2362200" y="1025129"/>
            <a:ext cx="2032000" cy="2955925"/>
            <a:chOff x="1488" y="933"/>
            <a:chExt cx="1280" cy="1862"/>
          </a:xfrm>
        </p:grpSpPr>
        <p:sp>
          <p:nvSpPr>
            <p:cNvPr id="145412" name="AutoShape 4">
              <a:extLst>
                <a:ext uri="{FF2B5EF4-FFF2-40B4-BE49-F238E27FC236}">
                  <a16:creationId xmlns:a16="http://schemas.microsoft.com/office/drawing/2014/main" id="{CE0DE75E-7A85-465D-B37A-DE227FC75401}"/>
                </a:ext>
              </a:extLst>
            </p:cNvPr>
            <p:cNvSpPr>
              <a:spLocks/>
            </p:cNvSpPr>
            <p:nvPr/>
          </p:nvSpPr>
          <p:spPr bwMode="auto">
            <a:xfrm>
              <a:off x="1488" y="1104"/>
              <a:ext cx="96" cy="1440"/>
            </a:xfrm>
            <a:prstGeom prst="leftBrace">
              <a:avLst>
                <a:gd name="adj1" fmla="val 12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3" name="Text Box 5">
              <a:extLst>
                <a:ext uri="{FF2B5EF4-FFF2-40B4-BE49-F238E27FC236}">
                  <a16:creationId xmlns:a16="http://schemas.microsoft.com/office/drawing/2014/main" id="{4C1B701E-D03F-43C5-A80B-BF49F19CCA19}"/>
                </a:ext>
              </a:extLst>
            </p:cNvPr>
            <p:cNvSpPr txBox="1">
              <a:spLocks noChangeArrowheads="1"/>
            </p:cNvSpPr>
            <p:nvPr/>
          </p:nvSpPr>
          <p:spPr bwMode="auto">
            <a:xfrm>
              <a:off x="1610" y="933"/>
              <a:ext cx="11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CC3300"/>
                  </a:solidFill>
                  <a:ea typeface="华文楷体" panose="02010600040101010101" pitchFamily="2" charset="-122"/>
                </a:rPr>
                <a:t>N-</a:t>
              </a:r>
              <a:r>
                <a:rPr lang="zh-CN" altLang="en-US" sz="3200" b="1">
                  <a:solidFill>
                    <a:srgbClr val="CC3300"/>
                  </a:solidFill>
                  <a:latin typeface="华文楷体" panose="02010600040101010101" pitchFamily="2" charset="-122"/>
                  <a:ea typeface="华文楷体" panose="02010600040101010101" pitchFamily="2" charset="-122"/>
                </a:rPr>
                <a:t>连接</a:t>
              </a:r>
              <a:r>
                <a:rPr lang="zh-CN" altLang="en-US" sz="3200" b="1">
                  <a:solidFill>
                    <a:srgbClr val="CC3300"/>
                  </a:solidFill>
                </a:rPr>
                <a:t>：</a:t>
              </a:r>
            </a:p>
          </p:txBody>
        </p:sp>
        <p:sp>
          <p:nvSpPr>
            <p:cNvPr id="145414" name="Text Box 6">
              <a:extLst>
                <a:ext uri="{FF2B5EF4-FFF2-40B4-BE49-F238E27FC236}">
                  <a16:creationId xmlns:a16="http://schemas.microsoft.com/office/drawing/2014/main" id="{EA9626E8-FB3C-4787-9532-F5E4D4A63B12}"/>
                </a:ext>
              </a:extLst>
            </p:cNvPr>
            <p:cNvSpPr txBox="1">
              <a:spLocks noChangeArrowheads="1"/>
            </p:cNvSpPr>
            <p:nvPr/>
          </p:nvSpPr>
          <p:spPr bwMode="auto">
            <a:xfrm>
              <a:off x="1565" y="2430"/>
              <a:ext cx="11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CC3300"/>
                  </a:solidFill>
                  <a:ea typeface="华文楷体" panose="02010600040101010101" pitchFamily="2" charset="-122"/>
                </a:rPr>
                <a:t>O-</a:t>
              </a:r>
              <a:r>
                <a:rPr lang="zh-CN" altLang="en-US" sz="3200" b="1">
                  <a:solidFill>
                    <a:srgbClr val="CC3300"/>
                  </a:solidFill>
                  <a:latin typeface="华文楷体" panose="02010600040101010101" pitchFamily="2" charset="-122"/>
                  <a:ea typeface="华文楷体" panose="02010600040101010101" pitchFamily="2" charset="-122"/>
                </a:rPr>
                <a:t>连接</a:t>
              </a:r>
              <a:r>
                <a:rPr lang="zh-CN" altLang="en-US" sz="3200" b="1">
                  <a:solidFill>
                    <a:srgbClr val="CC3300"/>
                  </a:solidFill>
                </a:rPr>
                <a:t>：</a:t>
              </a:r>
            </a:p>
          </p:txBody>
        </p:sp>
      </p:grpSp>
      <p:graphicFrame>
        <p:nvGraphicFramePr>
          <p:cNvPr id="145415" name="Object 7">
            <a:extLst>
              <a:ext uri="{FF2B5EF4-FFF2-40B4-BE49-F238E27FC236}">
                <a16:creationId xmlns:a16="http://schemas.microsoft.com/office/drawing/2014/main" id="{CF1C62D7-9227-4714-B94F-1E4F07AC1F40}"/>
              </a:ext>
            </a:extLst>
          </p:cNvPr>
          <p:cNvGraphicFramePr>
            <a:graphicFrameLocks noChangeAspect="1"/>
          </p:cNvGraphicFramePr>
          <p:nvPr>
            <p:extLst>
              <p:ext uri="{D42A27DB-BD31-4B8C-83A1-F6EECF244321}">
                <p14:modId xmlns:p14="http://schemas.microsoft.com/office/powerpoint/2010/main" val="3613255711"/>
              </p:ext>
            </p:extLst>
          </p:nvPr>
        </p:nvGraphicFramePr>
        <p:xfrm>
          <a:off x="4139952" y="255332"/>
          <a:ext cx="3074374" cy="2119031"/>
        </p:xfrm>
        <a:graphic>
          <a:graphicData uri="http://schemas.openxmlformats.org/presentationml/2006/ole">
            <mc:AlternateContent xmlns:mc="http://schemas.openxmlformats.org/markup-compatibility/2006">
              <mc:Choice xmlns:v="urn:schemas-microsoft-com:vml" Requires="v">
                <p:oleObj name="Image" r:id="rId2" imgW="7682540" imgH="5295238" progId="">
                  <p:embed/>
                </p:oleObj>
              </mc:Choice>
              <mc:Fallback>
                <p:oleObj name="Image" r:id="rId2" imgW="7682540" imgH="5295238" progId="">
                  <p:embed/>
                  <p:pic>
                    <p:nvPicPr>
                      <p:cNvPr id="0" name="Picture 3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255332"/>
                        <a:ext cx="3074374" cy="21190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416" name="Object 8">
            <a:extLst>
              <a:ext uri="{FF2B5EF4-FFF2-40B4-BE49-F238E27FC236}">
                <a16:creationId xmlns:a16="http://schemas.microsoft.com/office/drawing/2014/main" id="{CE88FAB0-699C-46A4-AF26-053A5F54B8B1}"/>
              </a:ext>
            </a:extLst>
          </p:cNvPr>
          <p:cNvGraphicFramePr>
            <a:graphicFrameLocks noChangeAspect="1"/>
          </p:cNvGraphicFramePr>
          <p:nvPr>
            <p:extLst>
              <p:ext uri="{D42A27DB-BD31-4B8C-83A1-F6EECF244321}">
                <p14:modId xmlns:p14="http://schemas.microsoft.com/office/powerpoint/2010/main" val="840924858"/>
              </p:ext>
            </p:extLst>
          </p:nvPr>
        </p:nvGraphicFramePr>
        <p:xfrm>
          <a:off x="4344988" y="2617302"/>
          <a:ext cx="3096220" cy="2311861"/>
        </p:xfrm>
        <a:graphic>
          <a:graphicData uri="http://schemas.openxmlformats.org/presentationml/2006/ole">
            <mc:AlternateContent xmlns:mc="http://schemas.openxmlformats.org/markup-compatibility/2006">
              <mc:Choice xmlns:v="urn:schemas-microsoft-com:vml" Requires="v">
                <p:oleObj name="Image" r:id="rId4" imgW="6412698" imgH="5574603" progId="">
                  <p:embed/>
                </p:oleObj>
              </mc:Choice>
              <mc:Fallback>
                <p:oleObj name="Image" r:id="rId4" imgW="6412698" imgH="5574603" progId="">
                  <p:embed/>
                  <p:pic>
                    <p:nvPicPr>
                      <p:cNvPr id="0" name="Picture 3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4988" y="2617302"/>
                        <a:ext cx="3096220" cy="23118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17" name="AutoShape 9">
            <a:extLst>
              <a:ext uri="{FF2B5EF4-FFF2-40B4-BE49-F238E27FC236}">
                <a16:creationId xmlns:a16="http://schemas.microsoft.com/office/drawing/2014/main" id="{7C63035D-7803-450F-BE01-86627425BC6C}"/>
              </a:ext>
            </a:extLst>
          </p:cNvPr>
          <p:cNvSpPr>
            <a:spLocks/>
          </p:cNvSpPr>
          <p:nvPr/>
        </p:nvSpPr>
        <p:spPr bwMode="auto">
          <a:xfrm>
            <a:off x="2370138" y="1296591"/>
            <a:ext cx="144462" cy="2232025"/>
          </a:xfrm>
          <a:prstGeom prst="leftBrace">
            <a:avLst>
              <a:gd name="adj1" fmla="val 128755"/>
              <a:gd name="adj2" fmla="val 50000"/>
            </a:avLst>
          </a:prstGeom>
          <a:noFill/>
          <a:ln w="28575">
            <a:solidFill>
              <a:srgbClr val="66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5">
            <a:extLst>
              <a:ext uri="{FF2B5EF4-FFF2-40B4-BE49-F238E27FC236}">
                <a16:creationId xmlns:a16="http://schemas.microsoft.com/office/drawing/2014/main" id="{3D161D3E-65C8-4537-9878-D5C571F0414E}"/>
              </a:ext>
            </a:extLst>
          </p:cNvPr>
          <p:cNvSpPr txBox="1">
            <a:spLocks noChangeArrowheads="1"/>
          </p:cNvSpPr>
          <p:nvPr/>
        </p:nvSpPr>
        <p:spPr bwMode="auto">
          <a:xfrm>
            <a:off x="1979712" y="5297979"/>
            <a:ext cx="655272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dirty="0"/>
              <a:t>The glycosylation signal is </a:t>
            </a:r>
            <a:r>
              <a:rPr kumimoji="0" lang="en-US" altLang="zh-CN" dirty="0" err="1"/>
              <a:t>Asn</a:t>
            </a:r>
            <a:r>
              <a:rPr kumimoji="0" lang="en-US" altLang="zh-CN" dirty="0"/>
              <a:t>-X- (Ser/</a:t>
            </a:r>
            <a:r>
              <a:rPr kumimoji="0" lang="en-US" altLang="zh-CN" dirty="0" err="1"/>
              <a:t>Thr</a:t>
            </a:r>
            <a:r>
              <a:rPr kumimoji="0" lang="en-US" altLang="zh-CN" dirty="0"/>
              <a:t>)</a:t>
            </a:r>
            <a:br>
              <a:rPr kumimoji="0" lang="en-US" altLang="zh-CN" dirty="0"/>
            </a:br>
            <a:endParaRPr kumimoji="0" lang="en-US" altLang="zh-CN" dirty="0"/>
          </a:p>
        </p:txBody>
      </p:sp>
    </p:spTree>
    <p:extLst>
      <p:ext uri="{BB962C8B-B14F-4D97-AF65-F5344CB8AC3E}">
        <p14:creationId xmlns:p14="http://schemas.microsoft.com/office/powerpoint/2010/main" val="407080821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5417"/>
                                        </p:tgtEl>
                                        <p:attrNameLst>
                                          <p:attrName>style.visibility</p:attrName>
                                        </p:attrNameLst>
                                      </p:cBhvr>
                                      <p:to>
                                        <p:strVal val="visible"/>
                                      </p:to>
                                    </p:set>
                                    <p:animEffect transition="in" filter="wipe(left)">
                                      <p:cBhvr>
                                        <p:cTn id="7" dur="500"/>
                                        <p:tgtEl>
                                          <p:spTgt spid="14541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5411"/>
                                        </p:tgtEl>
                                        <p:attrNameLst>
                                          <p:attrName>style.visibility</p:attrName>
                                        </p:attrNameLst>
                                      </p:cBhvr>
                                      <p:to>
                                        <p:strVal val="visible"/>
                                      </p:to>
                                    </p:set>
                                    <p:animEffect transition="in" filter="wipe(left)">
                                      <p:cBhvr>
                                        <p:cTn id="11" dur="500"/>
                                        <p:tgtEl>
                                          <p:spTgt spid="145411"/>
                                        </p:tgtEl>
                                      </p:cBhvr>
                                    </p:animEffect>
                                  </p:childTnLst>
                                </p:cTn>
                              </p:par>
                            </p:childTnLst>
                          </p:cTn>
                        </p:par>
                        <p:par>
                          <p:cTn id="12" fill="hold" nodeType="afterGroup">
                            <p:stCondLst>
                              <p:cond delay="1000"/>
                            </p:stCondLst>
                            <p:childTnLst>
                              <p:par>
                                <p:cTn id="13" presetID="17" presetClass="entr" presetSubtype="8" fill="hold" nodeType="afterEffect">
                                  <p:stCondLst>
                                    <p:cond delay="0"/>
                                  </p:stCondLst>
                                  <p:childTnLst>
                                    <p:set>
                                      <p:cBhvr>
                                        <p:cTn id="14" dur="1" fill="hold">
                                          <p:stCondLst>
                                            <p:cond delay="0"/>
                                          </p:stCondLst>
                                        </p:cTn>
                                        <p:tgtEl>
                                          <p:spTgt spid="145416"/>
                                        </p:tgtEl>
                                        <p:attrNameLst>
                                          <p:attrName>style.visibility</p:attrName>
                                        </p:attrNameLst>
                                      </p:cBhvr>
                                      <p:to>
                                        <p:strVal val="visible"/>
                                      </p:to>
                                    </p:set>
                                    <p:anim calcmode="lin" valueType="num">
                                      <p:cBhvr>
                                        <p:cTn id="15" dur="500" fill="hold"/>
                                        <p:tgtEl>
                                          <p:spTgt spid="145416"/>
                                        </p:tgtEl>
                                        <p:attrNameLst>
                                          <p:attrName>ppt_x</p:attrName>
                                        </p:attrNameLst>
                                      </p:cBhvr>
                                      <p:tavLst>
                                        <p:tav tm="0">
                                          <p:val>
                                            <p:strVal val="#ppt_x-#ppt_w/2"/>
                                          </p:val>
                                        </p:tav>
                                        <p:tav tm="100000">
                                          <p:val>
                                            <p:strVal val="#ppt_x"/>
                                          </p:val>
                                        </p:tav>
                                      </p:tavLst>
                                    </p:anim>
                                    <p:anim calcmode="lin" valueType="num">
                                      <p:cBhvr>
                                        <p:cTn id="16" dur="500" fill="hold"/>
                                        <p:tgtEl>
                                          <p:spTgt spid="145416"/>
                                        </p:tgtEl>
                                        <p:attrNameLst>
                                          <p:attrName>ppt_y</p:attrName>
                                        </p:attrNameLst>
                                      </p:cBhvr>
                                      <p:tavLst>
                                        <p:tav tm="0">
                                          <p:val>
                                            <p:strVal val="#ppt_y"/>
                                          </p:val>
                                        </p:tav>
                                        <p:tav tm="100000">
                                          <p:val>
                                            <p:strVal val="#ppt_y"/>
                                          </p:val>
                                        </p:tav>
                                      </p:tavLst>
                                    </p:anim>
                                    <p:anim calcmode="lin" valueType="num">
                                      <p:cBhvr>
                                        <p:cTn id="17" dur="500" fill="hold"/>
                                        <p:tgtEl>
                                          <p:spTgt spid="145416"/>
                                        </p:tgtEl>
                                        <p:attrNameLst>
                                          <p:attrName>ppt_w</p:attrName>
                                        </p:attrNameLst>
                                      </p:cBhvr>
                                      <p:tavLst>
                                        <p:tav tm="0">
                                          <p:val>
                                            <p:fltVal val="0"/>
                                          </p:val>
                                        </p:tav>
                                        <p:tav tm="100000">
                                          <p:val>
                                            <p:strVal val="#ppt_w"/>
                                          </p:val>
                                        </p:tav>
                                      </p:tavLst>
                                    </p:anim>
                                    <p:anim calcmode="lin" valueType="num">
                                      <p:cBhvr>
                                        <p:cTn id="18" dur="500" fill="hold"/>
                                        <p:tgtEl>
                                          <p:spTgt spid="145416"/>
                                        </p:tgtEl>
                                        <p:attrNameLst>
                                          <p:attrName>ppt_h</p:attrName>
                                        </p:attrNameLst>
                                      </p:cBhvr>
                                      <p:tavLst>
                                        <p:tav tm="0">
                                          <p:val>
                                            <p:strVal val="#ppt_h"/>
                                          </p:val>
                                        </p:tav>
                                        <p:tav tm="100000">
                                          <p:val>
                                            <p:strVal val="#ppt_h"/>
                                          </p:val>
                                        </p:tav>
                                      </p:tavLst>
                                    </p:anim>
                                  </p:childTnLst>
                                </p:cTn>
                              </p:par>
                              <p:par>
                                <p:cTn id="19" presetID="17" presetClass="entr" presetSubtype="8" fill="hold" nodeType="withEffect">
                                  <p:stCondLst>
                                    <p:cond delay="0"/>
                                  </p:stCondLst>
                                  <p:childTnLst>
                                    <p:set>
                                      <p:cBhvr>
                                        <p:cTn id="20" dur="1" fill="hold">
                                          <p:stCondLst>
                                            <p:cond delay="0"/>
                                          </p:stCondLst>
                                        </p:cTn>
                                        <p:tgtEl>
                                          <p:spTgt spid="145415"/>
                                        </p:tgtEl>
                                        <p:attrNameLst>
                                          <p:attrName>style.visibility</p:attrName>
                                        </p:attrNameLst>
                                      </p:cBhvr>
                                      <p:to>
                                        <p:strVal val="visible"/>
                                      </p:to>
                                    </p:set>
                                    <p:anim calcmode="lin" valueType="num">
                                      <p:cBhvr>
                                        <p:cTn id="21" dur="500" fill="hold"/>
                                        <p:tgtEl>
                                          <p:spTgt spid="145415"/>
                                        </p:tgtEl>
                                        <p:attrNameLst>
                                          <p:attrName>ppt_x</p:attrName>
                                        </p:attrNameLst>
                                      </p:cBhvr>
                                      <p:tavLst>
                                        <p:tav tm="0">
                                          <p:val>
                                            <p:strVal val="#ppt_x-#ppt_w/2"/>
                                          </p:val>
                                        </p:tav>
                                        <p:tav tm="100000">
                                          <p:val>
                                            <p:strVal val="#ppt_x"/>
                                          </p:val>
                                        </p:tav>
                                      </p:tavLst>
                                    </p:anim>
                                    <p:anim calcmode="lin" valueType="num">
                                      <p:cBhvr>
                                        <p:cTn id="22" dur="500" fill="hold"/>
                                        <p:tgtEl>
                                          <p:spTgt spid="145415"/>
                                        </p:tgtEl>
                                        <p:attrNameLst>
                                          <p:attrName>ppt_y</p:attrName>
                                        </p:attrNameLst>
                                      </p:cBhvr>
                                      <p:tavLst>
                                        <p:tav tm="0">
                                          <p:val>
                                            <p:strVal val="#ppt_y"/>
                                          </p:val>
                                        </p:tav>
                                        <p:tav tm="100000">
                                          <p:val>
                                            <p:strVal val="#ppt_y"/>
                                          </p:val>
                                        </p:tav>
                                      </p:tavLst>
                                    </p:anim>
                                    <p:anim calcmode="lin" valueType="num">
                                      <p:cBhvr>
                                        <p:cTn id="23" dur="500" fill="hold"/>
                                        <p:tgtEl>
                                          <p:spTgt spid="145415"/>
                                        </p:tgtEl>
                                        <p:attrNameLst>
                                          <p:attrName>ppt_w</p:attrName>
                                        </p:attrNameLst>
                                      </p:cBhvr>
                                      <p:tavLst>
                                        <p:tav tm="0">
                                          <p:val>
                                            <p:fltVal val="0"/>
                                          </p:val>
                                        </p:tav>
                                        <p:tav tm="100000">
                                          <p:val>
                                            <p:strVal val="#ppt_w"/>
                                          </p:val>
                                        </p:tav>
                                      </p:tavLst>
                                    </p:anim>
                                    <p:anim calcmode="lin" valueType="num">
                                      <p:cBhvr>
                                        <p:cTn id="24" dur="500" fill="hold"/>
                                        <p:tgtEl>
                                          <p:spTgt spid="1454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B9D39A-7CE5-45F8-AFDA-5B58254748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93104" y="2420888"/>
            <a:ext cx="8915400" cy="4113213"/>
          </a:xfrm>
          <a:prstGeom prst="rect">
            <a:avLst/>
          </a:prstGeom>
        </p:spPr>
      </p:pic>
      <p:sp>
        <p:nvSpPr>
          <p:cNvPr id="150531" name="Text Box 5">
            <a:extLst>
              <a:ext uri="{FF2B5EF4-FFF2-40B4-BE49-F238E27FC236}">
                <a16:creationId xmlns:a16="http://schemas.microsoft.com/office/drawing/2014/main" id="{C3BB6719-5C60-43B7-8F58-C986C45A1AA3}"/>
              </a:ext>
            </a:extLst>
          </p:cNvPr>
          <p:cNvSpPr txBox="1">
            <a:spLocks noChangeArrowheads="1"/>
          </p:cNvSpPr>
          <p:nvPr/>
        </p:nvSpPr>
        <p:spPr bwMode="auto">
          <a:xfrm>
            <a:off x="914400" y="457200"/>
            <a:ext cx="6324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3200" dirty="0">
                <a:latin typeface="Arial" panose="020B0604020202020204" pitchFamily="34" charset="0"/>
              </a:rPr>
              <a:t>Core Glycosylation and Trimming in the ER lumen</a:t>
            </a:r>
          </a:p>
        </p:txBody>
      </p:sp>
      <p:sp>
        <p:nvSpPr>
          <p:cNvPr id="105475" name="AutoShape 3">
            <a:extLst>
              <a:ext uri="{FF2B5EF4-FFF2-40B4-BE49-F238E27FC236}">
                <a16:creationId xmlns:a16="http://schemas.microsoft.com/office/drawing/2014/main" id="{EF2C348A-77C9-4DAF-9F8C-5E5ABB5A44E1}"/>
              </a:ext>
            </a:extLst>
          </p:cNvPr>
          <p:cNvSpPr>
            <a:spLocks/>
          </p:cNvSpPr>
          <p:nvPr/>
        </p:nvSpPr>
        <p:spPr bwMode="auto">
          <a:xfrm>
            <a:off x="4211961" y="2039888"/>
            <a:ext cx="4392488" cy="762000"/>
          </a:xfrm>
          <a:prstGeom prst="borderCallout1">
            <a:avLst>
              <a:gd name="adj1" fmla="val 15000"/>
              <a:gd name="adj2" fmla="val -1208"/>
              <a:gd name="adj3" fmla="val 251164"/>
              <a:gd name="adj4" fmla="val -57323"/>
            </a:avLst>
          </a:prstGeom>
          <a:solidFill>
            <a:schemeClr val="bg1"/>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b="1">
                <a:latin typeface="Times" panose="02020603050405020304" pitchFamily="18" charset="0"/>
              </a:rPr>
              <a:t>Oligosaccharide Transferase</a:t>
            </a:r>
          </a:p>
        </p:txBody>
      </p:sp>
    </p:spTree>
    <p:extLst>
      <p:ext uri="{BB962C8B-B14F-4D97-AF65-F5344CB8AC3E}">
        <p14:creationId xmlns:p14="http://schemas.microsoft.com/office/powerpoint/2010/main" val="1386346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5A439ADE-61D4-4E1D-81B9-08726171E325}"/>
              </a:ext>
            </a:extLst>
          </p:cNvPr>
          <p:cNvSpPr>
            <a:spLocks noGrp="1" noChangeArrowheads="1"/>
          </p:cNvSpPr>
          <p:nvPr>
            <p:ph type="title" idx="4294967295"/>
          </p:nvPr>
        </p:nvSpPr>
        <p:spPr>
          <a:xfrm>
            <a:off x="0" y="1828800"/>
            <a:ext cx="8001000" cy="3048000"/>
          </a:xfrm>
        </p:spPr>
        <p:txBody>
          <a:bodyPr/>
          <a:lstStyle/>
          <a:p>
            <a:r>
              <a:rPr lang="en-US" altLang="zh-CN" dirty="0"/>
              <a:t>The core oligosaccharide used for N-linked glycosylation is assembled onto the </a:t>
            </a:r>
            <a:r>
              <a:rPr lang="en-US" altLang="zh-CN" dirty="0" err="1"/>
              <a:t>polyisoprenoid</a:t>
            </a:r>
            <a:r>
              <a:rPr lang="en-US" altLang="zh-CN" dirty="0"/>
              <a:t> lipid, dolichol pyrophosphate.</a:t>
            </a:r>
          </a:p>
        </p:txBody>
      </p:sp>
    </p:spTree>
    <p:extLst>
      <p:ext uri="{BB962C8B-B14F-4D97-AF65-F5344CB8AC3E}">
        <p14:creationId xmlns:p14="http://schemas.microsoft.com/office/powerpoint/2010/main" val="44878045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FC3423-E345-4802-AB9D-C80D504E2B96}"/>
              </a:ext>
            </a:extLst>
          </p:cNvPr>
          <p:cNvSpPr txBox="1"/>
          <p:nvPr/>
        </p:nvSpPr>
        <p:spPr>
          <a:xfrm>
            <a:off x="3347864" y="1340768"/>
            <a:ext cx="2736304" cy="1754326"/>
          </a:xfrm>
          <a:prstGeom prst="rect">
            <a:avLst/>
          </a:prstGeom>
          <a:noFill/>
        </p:spPr>
        <p:txBody>
          <a:bodyPr wrap="square" rtlCol="0">
            <a:spAutoFit/>
          </a:bodyPr>
          <a:lstStyle/>
          <a:p>
            <a:pPr algn="ctr"/>
            <a:r>
              <a:rPr lang="en-US" altLang="zh-CN" sz="5400" dirty="0"/>
              <a:t>END</a:t>
            </a:r>
          </a:p>
          <a:p>
            <a:pPr algn="ctr"/>
            <a:endParaRPr lang="en-US" altLang="zh-CN" dirty="0"/>
          </a:p>
          <a:p>
            <a:pPr algn="ctr"/>
            <a:r>
              <a:rPr lang="en-US" altLang="zh-CN" sz="3600" dirty="0"/>
              <a:t>Thank you</a:t>
            </a:r>
            <a:endParaRPr lang="zh-CN" altLang="en-US" sz="3600" dirty="0"/>
          </a:p>
        </p:txBody>
      </p:sp>
    </p:spTree>
    <p:extLst>
      <p:ext uri="{BB962C8B-B14F-4D97-AF65-F5344CB8AC3E}">
        <p14:creationId xmlns:p14="http://schemas.microsoft.com/office/powerpoint/2010/main" val="138913980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26">
            <a:extLst>
              <a:ext uri="{FF2B5EF4-FFF2-40B4-BE49-F238E27FC236}">
                <a16:creationId xmlns:a16="http://schemas.microsoft.com/office/drawing/2014/main" id="{A4B1182B-229B-402A-9300-CAAA701010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9000" t="9000" r="9000" b="9000"/>
          <a:stretch>
            <a:fillRect/>
          </a:stretch>
        </p:blipFill>
        <p:spPr bwMode="auto">
          <a:xfrm>
            <a:off x="395536" y="304800"/>
            <a:ext cx="8458200" cy="63436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FC2BE61D-D9DD-4B2B-B7E7-2E84C0A4BAF5}"/>
              </a:ext>
            </a:extLst>
          </p:cNvPr>
          <p:cNvSpPr/>
          <p:nvPr/>
        </p:nvSpPr>
        <p:spPr>
          <a:xfrm>
            <a:off x="6746776" y="1980456"/>
            <a:ext cx="432048" cy="288032"/>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26A9DB36-787D-4CBF-80F2-B6861FCA6357}"/>
              </a:ext>
            </a:extLst>
          </p:cNvPr>
          <p:cNvSpPr/>
          <p:nvPr/>
        </p:nvSpPr>
        <p:spPr>
          <a:xfrm>
            <a:off x="2078696" y="4725145"/>
            <a:ext cx="382284" cy="27795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5" name="Rectangle 1027">
            <a:extLst>
              <a:ext uri="{FF2B5EF4-FFF2-40B4-BE49-F238E27FC236}">
                <a16:creationId xmlns:a16="http://schemas.microsoft.com/office/drawing/2014/main" id="{01760C86-AD2A-4490-B3E0-59364359782D}"/>
              </a:ext>
            </a:extLst>
          </p:cNvPr>
          <p:cNvSpPr>
            <a:spLocks noChangeArrowheads="1"/>
          </p:cNvSpPr>
          <p:nvPr/>
        </p:nvSpPr>
        <p:spPr bwMode="auto">
          <a:xfrm>
            <a:off x="395536" y="228601"/>
            <a:ext cx="1385316" cy="1384995"/>
          </a:xfrm>
          <a:prstGeom prst="rect">
            <a:avLst/>
          </a:prstGeom>
          <a:noFill/>
          <a:ln w="9525">
            <a:noFill/>
            <a:miter lim="800000"/>
            <a:headEnd/>
            <a:tailEnd/>
          </a:ln>
        </p:spPr>
        <p:txBody>
          <a:bodyPr wrap="none">
            <a:spAutoFit/>
          </a:bodyPr>
          <a:lstStyle/>
          <a:p>
            <a:pPr>
              <a:defRPr/>
            </a:pPr>
            <a:r>
              <a:rPr lang="en-US" altLang="zh-CN" sz="2800" b="1" dirty="0">
                <a:solidFill>
                  <a:srgbClr val="333399"/>
                </a:solidFill>
                <a:effectLst>
                  <a:outerShdw blurRad="38100" dist="38100" dir="2700000" algn="tl">
                    <a:srgbClr val="000000"/>
                  </a:outerShdw>
                </a:effectLst>
              </a:rPr>
              <a:t>All 64 </a:t>
            </a:r>
          </a:p>
          <a:p>
            <a:pPr>
              <a:defRPr/>
            </a:pPr>
            <a:r>
              <a:rPr lang="en-US" altLang="zh-CN" sz="2800" b="1" dirty="0">
                <a:solidFill>
                  <a:srgbClr val="333399"/>
                </a:solidFill>
                <a:effectLst>
                  <a:outerShdw blurRad="38100" dist="38100" dir="2700000" algn="tl">
                    <a:srgbClr val="000000"/>
                  </a:outerShdw>
                </a:effectLst>
              </a:rPr>
              <a:t>genetic</a:t>
            </a:r>
          </a:p>
          <a:p>
            <a:pPr>
              <a:defRPr/>
            </a:pPr>
            <a:r>
              <a:rPr lang="en-US" altLang="zh-CN" sz="2800" b="1" dirty="0">
                <a:solidFill>
                  <a:srgbClr val="333399"/>
                </a:solidFill>
                <a:effectLst>
                  <a:outerShdw blurRad="38100" dist="38100" dir="2700000" algn="tl">
                    <a:srgbClr val="000000"/>
                  </a:outerShdw>
                </a:effectLst>
              </a:rPr>
              <a:t>codes</a:t>
            </a:r>
          </a:p>
        </p:txBody>
      </p:sp>
      <p:sp>
        <p:nvSpPr>
          <p:cNvPr id="7" name="矩形 6">
            <a:extLst>
              <a:ext uri="{FF2B5EF4-FFF2-40B4-BE49-F238E27FC236}">
                <a16:creationId xmlns:a16="http://schemas.microsoft.com/office/drawing/2014/main" id="{1A42545F-0963-48DB-9B21-95B323E1788C}"/>
              </a:ext>
            </a:extLst>
          </p:cNvPr>
          <p:cNvSpPr/>
          <p:nvPr/>
        </p:nvSpPr>
        <p:spPr>
          <a:xfrm>
            <a:off x="6777202" y="2808921"/>
            <a:ext cx="432048" cy="288032"/>
          </a:xfrm>
          <a:prstGeom prst="rect">
            <a:avLst/>
          </a:prstGeom>
          <a:noFill/>
          <a:ln>
            <a:solidFill>
              <a:srgbClr val="008000"/>
            </a:solidFill>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E9297632-8FC0-4D86-8858-F17673292C27}"/>
              </a:ext>
            </a:extLst>
          </p:cNvPr>
          <p:cNvSpPr/>
          <p:nvPr/>
        </p:nvSpPr>
        <p:spPr>
          <a:xfrm>
            <a:off x="4211250" y="1441586"/>
            <a:ext cx="432048" cy="288032"/>
          </a:xfrm>
          <a:prstGeom prst="rect">
            <a:avLst/>
          </a:prstGeom>
          <a:noFill/>
          <a:ln>
            <a:solidFill>
              <a:srgbClr val="008000"/>
            </a:solidFill>
          </a:ln>
          <a:effectLst>
            <a:glow rad="101600">
              <a:schemeClr val="accent3">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E386312B-7DDE-4CA5-96C6-948BAF018599}"/>
              </a:ext>
            </a:extLst>
          </p:cNvPr>
          <p:cNvSpPr/>
          <p:nvPr/>
        </p:nvSpPr>
        <p:spPr>
          <a:xfrm>
            <a:off x="2786336" y="1767372"/>
            <a:ext cx="432048" cy="288032"/>
          </a:xfrm>
          <a:prstGeom prst="rect">
            <a:avLst/>
          </a:prstGeom>
          <a:noFill/>
          <a:ln>
            <a:solidFill>
              <a:srgbClr val="008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F27BFCCC-6B50-4B5D-A1AF-BB977E4CD50B}"/>
              </a:ext>
            </a:extLst>
          </p:cNvPr>
          <p:cNvSpPr/>
          <p:nvPr/>
        </p:nvSpPr>
        <p:spPr>
          <a:xfrm>
            <a:off x="2754085" y="2852936"/>
            <a:ext cx="432048" cy="288032"/>
          </a:xfrm>
          <a:prstGeom prst="rect">
            <a:avLst/>
          </a:prstGeom>
          <a:noFill/>
          <a:ln>
            <a:solidFill>
              <a:srgbClr val="008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76632370-B347-4C87-A7CE-DB3634B58D59}"/>
              </a:ext>
            </a:extLst>
          </p:cNvPr>
          <p:cNvSpPr/>
          <p:nvPr/>
        </p:nvSpPr>
        <p:spPr>
          <a:xfrm>
            <a:off x="6818784" y="4509120"/>
            <a:ext cx="432048" cy="288032"/>
          </a:xfrm>
          <a:prstGeom prst="rect">
            <a:avLst/>
          </a:prstGeom>
          <a:noFill/>
          <a:ln>
            <a:solidFill>
              <a:srgbClr val="008000"/>
            </a:solidFill>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C76E8642-016C-4309-8A75-E301E75A6184}"/>
              </a:ext>
            </a:extLst>
          </p:cNvPr>
          <p:cNvSpPr/>
          <p:nvPr/>
        </p:nvSpPr>
        <p:spPr>
          <a:xfrm>
            <a:off x="6790791" y="3861048"/>
            <a:ext cx="432048" cy="288032"/>
          </a:xfrm>
          <a:prstGeom prst="rect">
            <a:avLst/>
          </a:prstGeom>
          <a:noFill/>
          <a:ln>
            <a:solidFill>
              <a:srgbClr val="008000"/>
            </a:solidFill>
          </a:ln>
          <a:effectLst>
            <a:glow rad="101600">
              <a:schemeClr val="accent3">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2579C53F-668B-48A6-938F-59A6401E5F30}"/>
              </a:ext>
            </a:extLst>
          </p:cNvPr>
          <p:cNvSpPr txBox="1"/>
          <p:nvPr/>
        </p:nvSpPr>
        <p:spPr>
          <a:xfrm>
            <a:off x="2677525" y="1114926"/>
            <a:ext cx="810127" cy="369332"/>
          </a:xfrm>
          <a:prstGeom prst="rect">
            <a:avLst/>
          </a:prstGeom>
          <a:noFill/>
        </p:spPr>
        <p:txBody>
          <a:bodyPr wrap="square" rtlCol="0">
            <a:spAutoFit/>
          </a:bodyPr>
          <a:lstStyle/>
          <a:p>
            <a:r>
              <a:rPr lang="en-US" altLang="zh-CN" dirty="0"/>
              <a:t>GAA</a:t>
            </a:r>
            <a:endParaRPr lang="zh-CN" altLang="en-US" dirty="0"/>
          </a:p>
        </p:txBody>
      </p:sp>
      <p:sp>
        <p:nvSpPr>
          <p:cNvPr id="14" name="文本框 13">
            <a:extLst>
              <a:ext uri="{FF2B5EF4-FFF2-40B4-BE49-F238E27FC236}">
                <a16:creationId xmlns:a16="http://schemas.microsoft.com/office/drawing/2014/main" id="{C0041519-78BB-4F2B-ACC8-0CA078B90C92}"/>
              </a:ext>
            </a:extLst>
          </p:cNvPr>
          <p:cNvSpPr txBox="1"/>
          <p:nvPr/>
        </p:nvSpPr>
        <p:spPr>
          <a:xfrm>
            <a:off x="2677524" y="1946937"/>
            <a:ext cx="810127" cy="369332"/>
          </a:xfrm>
          <a:prstGeom prst="rect">
            <a:avLst/>
          </a:prstGeom>
          <a:noFill/>
        </p:spPr>
        <p:txBody>
          <a:bodyPr wrap="square" rtlCol="0">
            <a:spAutoFit/>
          </a:bodyPr>
          <a:lstStyle/>
          <a:p>
            <a:r>
              <a:rPr lang="en-US" altLang="zh-CN" dirty="0"/>
              <a:t>UAA</a:t>
            </a:r>
            <a:endParaRPr lang="zh-CN" altLang="en-US" dirty="0"/>
          </a:p>
        </p:txBody>
      </p:sp>
      <p:sp>
        <p:nvSpPr>
          <p:cNvPr id="15" name="文本框 14">
            <a:extLst>
              <a:ext uri="{FF2B5EF4-FFF2-40B4-BE49-F238E27FC236}">
                <a16:creationId xmlns:a16="http://schemas.microsoft.com/office/drawing/2014/main" id="{3CE62550-A03E-45BD-9235-CA069EBAA821}"/>
              </a:ext>
            </a:extLst>
          </p:cNvPr>
          <p:cNvSpPr txBox="1"/>
          <p:nvPr/>
        </p:nvSpPr>
        <p:spPr>
          <a:xfrm>
            <a:off x="2629380" y="3074430"/>
            <a:ext cx="810127" cy="646331"/>
          </a:xfrm>
          <a:prstGeom prst="rect">
            <a:avLst/>
          </a:prstGeom>
          <a:noFill/>
        </p:spPr>
        <p:txBody>
          <a:bodyPr wrap="square" rtlCol="0">
            <a:spAutoFit/>
          </a:bodyPr>
          <a:lstStyle/>
          <a:p>
            <a:r>
              <a:rPr lang="en-US" altLang="zh-CN" dirty="0"/>
              <a:t>CAG</a:t>
            </a:r>
          </a:p>
          <a:p>
            <a:r>
              <a:rPr lang="en-US" altLang="zh-CN" dirty="0"/>
              <a:t>IAG</a:t>
            </a:r>
            <a:endParaRPr lang="zh-CN" altLang="en-US" dirty="0"/>
          </a:p>
        </p:txBody>
      </p:sp>
      <p:sp>
        <p:nvSpPr>
          <p:cNvPr id="16" name="文本框 15">
            <a:extLst>
              <a:ext uri="{FF2B5EF4-FFF2-40B4-BE49-F238E27FC236}">
                <a16:creationId xmlns:a16="http://schemas.microsoft.com/office/drawing/2014/main" id="{5BF1DB4E-6EE2-4D4C-9980-450548BC2E1E}"/>
              </a:ext>
            </a:extLst>
          </p:cNvPr>
          <p:cNvSpPr txBox="1"/>
          <p:nvPr/>
        </p:nvSpPr>
        <p:spPr>
          <a:xfrm>
            <a:off x="2629380" y="3667496"/>
            <a:ext cx="810127" cy="369332"/>
          </a:xfrm>
          <a:prstGeom prst="rect">
            <a:avLst/>
          </a:prstGeom>
          <a:noFill/>
        </p:spPr>
        <p:txBody>
          <a:bodyPr wrap="square" rtlCol="0">
            <a:spAutoFit/>
          </a:bodyPr>
          <a:lstStyle/>
          <a:p>
            <a:r>
              <a:rPr lang="en-US" altLang="zh-CN" dirty="0"/>
              <a:t>IAU</a:t>
            </a:r>
            <a:endParaRPr lang="zh-CN" altLang="en-US" dirty="0"/>
          </a:p>
        </p:txBody>
      </p:sp>
      <p:sp>
        <p:nvSpPr>
          <p:cNvPr id="17" name="文本框 16">
            <a:extLst>
              <a:ext uri="{FF2B5EF4-FFF2-40B4-BE49-F238E27FC236}">
                <a16:creationId xmlns:a16="http://schemas.microsoft.com/office/drawing/2014/main" id="{569B68A5-C966-45E1-B397-A8C0AC949B16}"/>
              </a:ext>
            </a:extLst>
          </p:cNvPr>
          <p:cNvSpPr txBox="1"/>
          <p:nvPr/>
        </p:nvSpPr>
        <p:spPr>
          <a:xfrm>
            <a:off x="2677524" y="4509120"/>
            <a:ext cx="810127" cy="369332"/>
          </a:xfrm>
          <a:prstGeom prst="rect">
            <a:avLst/>
          </a:prstGeom>
          <a:noFill/>
        </p:spPr>
        <p:txBody>
          <a:bodyPr wrap="square" rtlCol="0">
            <a:spAutoFit/>
          </a:bodyPr>
          <a:lstStyle/>
          <a:p>
            <a:r>
              <a:rPr lang="en-US" altLang="zh-CN" dirty="0"/>
              <a:t>CAU</a:t>
            </a:r>
            <a:endParaRPr lang="zh-CN" altLang="en-US" dirty="0"/>
          </a:p>
        </p:txBody>
      </p:sp>
      <p:sp>
        <p:nvSpPr>
          <p:cNvPr id="18" name="文本框 17">
            <a:extLst>
              <a:ext uri="{FF2B5EF4-FFF2-40B4-BE49-F238E27FC236}">
                <a16:creationId xmlns:a16="http://schemas.microsoft.com/office/drawing/2014/main" id="{B86D42E1-6551-422D-BE15-7AC7D3266020}"/>
              </a:ext>
            </a:extLst>
          </p:cNvPr>
          <p:cNvSpPr txBox="1"/>
          <p:nvPr/>
        </p:nvSpPr>
        <p:spPr>
          <a:xfrm>
            <a:off x="2629380" y="5217561"/>
            <a:ext cx="810127" cy="369332"/>
          </a:xfrm>
          <a:prstGeom prst="rect">
            <a:avLst/>
          </a:prstGeom>
          <a:noFill/>
        </p:spPr>
        <p:txBody>
          <a:bodyPr wrap="square" rtlCol="0">
            <a:spAutoFit/>
          </a:bodyPr>
          <a:lstStyle/>
          <a:p>
            <a:r>
              <a:rPr lang="en-US" altLang="zh-CN" dirty="0"/>
              <a:t>CAC</a:t>
            </a:r>
            <a:endParaRPr lang="zh-CN" altLang="en-US" dirty="0"/>
          </a:p>
        </p:txBody>
      </p:sp>
      <p:sp>
        <p:nvSpPr>
          <p:cNvPr id="19" name="文本框 18">
            <a:extLst>
              <a:ext uri="{FF2B5EF4-FFF2-40B4-BE49-F238E27FC236}">
                <a16:creationId xmlns:a16="http://schemas.microsoft.com/office/drawing/2014/main" id="{2B721EA0-9820-48EB-9B99-8B0EEF6C3216}"/>
              </a:ext>
            </a:extLst>
          </p:cNvPr>
          <p:cNvSpPr txBox="1"/>
          <p:nvPr/>
        </p:nvSpPr>
        <p:spPr>
          <a:xfrm>
            <a:off x="2629397" y="5394119"/>
            <a:ext cx="810127" cy="369332"/>
          </a:xfrm>
          <a:prstGeom prst="rect">
            <a:avLst/>
          </a:prstGeom>
          <a:noFill/>
        </p:spPr>
        <p:txBody>
          <a:bodyPr wrap="square" rtlCol="0">
            <a:spAutoFit/>
          </a:bodyPr>
          <a:lstStyle/>
          <a:p>
            <a:r>
              <a:rPr lang="en-US" altLang="zh-CN" dirty="0"/>
              <a:t>IAC</a:t>
            </a:r>
            <a:endParaRPr lang="zh-CN" altLang="en-US" dirty="0"/>
          </a:p>
        </p:txBody>
      </p:sp>
      <p:sp>
        <p:nvSpPr>
          <p:cNvPr id="20" name="文本框 19">
            <a:extLst>
              <a:ext uri="{FF2B5EF4-FFF2-40B4-BE49-F238E27FC236}">
                <a16:creationId xmlns:a16="http://schemas.microsoft.com/office/drawing/2014/main" id="{5F7D636C-4529-4D7B-A976-973C38C054E9}"/>
              </a:ext>
            </a:extLst>
          </p:cNvPr>
          <p:cNvSpPr txBox="1"/>
          <p:nvPr/>
        </p:nvSpPr>
        <p:spPr>
          <a:xfrm>
            <a:off x="4102103" y="979921"/>
            <a:ext cx="810127" cy="369332"/>
          </a:xfrm>
          <a:prstGeom prst="rect">
            <a:avLst/>
          </a:prstGeom>
          <a:noFill/>
        </p:spPr>
        <p:txBody>
          <a:bodyPr wrap="square" rtlCol="0">
            <a:spAutoFit/>
          </a:bodyPr>
          <a:lstStyle/>
          <a:p>
            <a:r>
              <a:rPr lang="en-US" altLang="zh-CN" dirty="0"/>
              <a:t>CGA</a:t>
            </a:r>
            <a:endParaRPr lang="zh-CN" altLang="en-US" dirty="0"/>
          </a:p>
        </p:txBody>
      </p:sp>
      <p:sp>
        <p:nvSpPr>
          <p:cNvPr id="21" name="文本框 20">
            <a:extLst>
              <a:ext uri="{FF2B5EF4-FFF2-40B4-BE49-F238E27FC236}">
                <a16:creationId xmlns:a16="http://schemas.microsoft.com/office/drawing/2014/main" id="{848C14F2-E202-4EE6-A2AC-FE7CDCE66AFE}"/>
              </a:ext>
            </a:extLst>
          </p:cNvPr>
          <p:cNvSpPr txBox="1"/>
          <p:nvPr/>
        </p:nvSpPr>
        <p:spPr>
          <a:xfrm>
            <a:off x="4117845" y="1914284"/>
            <a:ext cx="810127" cy="369332"/>
          </a:xfrm>
          <a:prstGeom prst="rect">
            <a:avLst/>
          </a:prstGeom>
          <a:noFill/>
        </p:spPr>
        <p:txBody>
          <a:bodyPr wrap="square" rtlCol="0">
            <a:spAutoFit/>
          </a:bodyPr>
          <a:lstStyle/>
          <a:p>
            <a:r>
              <a:rPr lang="en-US" altLang="zh-CN" dirty="0"/>
              <a:t>IGA</a:t>
            </a:r>
            <a:endParaRPr lang="zh-CN" altLang="en-US" dirty="0"/>
          </a:p>
        </p:txBody>
      </p:sp>
      <p:sp>
        <p:nvSpPr>
          <p:cNvPr id="22" name="文本框 21">
            <a:extLst>
              <a:ext uri="{FF2B5EF4-FFF2-40B4-BE49-F238E27FC236}">
                <a16:creationId xmlns:a16="http://schemas.microsoft.com/office/drawing/2014/main" id="{5BF557AA-C608-4839-9423-C2D5FC0BE08A}"/>
              </a:ext>
            </a:extLst>
          </p:cNvPr>
          <p:cNvSpPr txBox="1"/>
          <p:nvPr/>
        </p:nvSpPr>
        <p:spPr>
          <a:xfrm>
            <a:off x="4171531" y="2352496"/>
            <a:ext cx="810127" cy="369332"/>
          </a:xfrm>
          <a:prstGeom prst="rect">
            <a:avLst/>
          </a:prstGeom>
          <a:noFill/>
        </p:spPr>
        <p:txBody>
          <a:bodyPr wrap="square" rtlCol="0">
            <a:spAutoFit/>
          </a:bodyPr>
          <a:lstStyle/>
          <a:p>
            <a:r>
              <a:rPr lang="en-US" altLang="zh-CN" dirty="0"/>
              <a:t>CGG</a:t>
            </a:r>
            <a:endParaRPr lang="zh-CN" altLang="en-US" dirty="0"/>
          </a:p>
        </p:txBody>
      </p:sp>
      <p:sp>
        <p:nvSpPr>
          <p:cNvPr id="23" name="文本框 22">
            <a:extLst>
              <a:ext uri="{FF2B5EF4-FFF2-40B4-BE49-F238E27FC236}">
                <a16:creationId xmlns:a16="http://schemas.microsoft.com/office/drawing/2014/main" id="{0111ADF0-6C29-4B38-9375-0DD54D2137BB}"/>
              </a:ext>
            </a:extLst>
          </p:cNvPr>
          <p:cNvSpPr txBox="1"/>
          <p:nvPr/>
        </p:nvSpPr>
        <p:spPr>
          <a:xfrm>
            <a:off x="4171548" y="2529054"/>
            <a:ext cx="810127" cy="369332"/>
          </a:xfrm>
          <a:prstGeom prst="rect">
            <a:avLst/>
          </a:prstGeom>
          <a:noFill/>
        </p:spPr>
        <p:txBody>
          <a:bodyPr wrap="square" rtlCol="0">
            <a:spAutoFit/>
          </a:bodyPr>
          <a:lstStyle/>
          <a:p>
            <a:r>
              <a:rPr lang="en-US" altLang="zh-CN" dirty="0"/>
              <a:t>IGG</a:t>
            </a:r>
            <a:endParaRPr lang="zh-CN" altLang="en-US" dirty="0"/>
          </a:p>
        </p:txBody>
      </p:sp>
      <p:sp>
        <p:nvSpPr>
          <p:cNvPr id="24" name="文本框 23">
            <a:extLst>
              <a:ext uri="{FF2B5EF4-FFF2-40B4-BE49-F238E27FC236}">
                <a16:creationId xmlns:a16="http://schemas.microsoft.com/office/drawing/2014/main" id="{42D42376-CF24-4C54-9BFF-C7106142F68E}"/>
              </a:ext>
            </a:extLst>
          </p:cNvPr>
          <p:cNvSpPr txBox="1"/>
          <p:nvPr/>
        </p:nvSpPr>
        <p:spPr>
          <a:xfrm>
            <a:off x="4117845" y="3701037"/>
            <a:ext cx="810127" cy="369332"/>
          </a:xfrm>
          <a:prstGeom prst="rect">
            <a:avLst/>
          </a:prstGeom>
          <a:noFill/>
        </p:spPr>
        <p:txBody>
          <a:bodyPr wrap="square" rtlCol="0">
            <a:spAutoFit/>
          </a:bodyPr>
          <a:lstStyle/>
          <a:p>
            <a:r>
              <a:rPr lang="en-US" altLang="zh-CN" dirty="0"/>
              <a:t>CGU</a:t>
            </a:r>
            <a:endParaRPr lang="zh-CN" altLang="en-US" dirty="0"/>
          </a:p>
        </p:txBody>
      </p:sp>
      <p:sp>
        <p:nvSpPr>
          <p:cNvPr id="25" name="文本框 24">
            <a:extLst>
              <a:ext uri="{FF2B5EF4-FFF2-40B4-BE49-F238E27FC236}">
                <a16:creationId xmlns:a16="http://schemas.microsoft.com/office/drawing/2014/main" id="{CD5E591B-0314-42DE-98DA-7F420DC091CB}"/>
              </a:ext>
            </a:extLst>
          </p:cNvPr>
          <p:cNvSpPr txBox="1"/>
          <p:nvPr/>
        </p:nvSpPr>
        <p:spPr>
          <a:xfrm>
            <a:off x="4117862" y="3877595"/>
            <a:ext cx="810127" cy="369332"/>
          </a:xfrm>
          <a:prstGeom prst="rect">
            <a:avLst/>
          </a:prstGeom>
          <a:noFill/>
        </p:spPr>
        <p:txBody>
          <a:bodyPr wrap="square" rtlCol="0">
            <a:spAutoFit/>
          </a:bodyPr>
          <a:lstStyle/>
          <a:p>
            <a:r>
              <a:rPr lang="en-US" altLang="zh-CN" dirty="0"/>
              <a:t>IGU</a:t>
            </a:r>
            <a:endParaRPr lang="zh-CN" altLang="en-US" dirty="0"/>
          </a:p>
        </p:txBody>
      </p:sp>
      <p:sp>
        <p:nvSpPr>
          <p:cNvPr id="26" name="文本框 25">
            <a:extLst>
              <a:ext uri="{FF2B5EF4-FFF2-40B4-BE49-F238E27FC236}">
                <a16:creationId xmlns:a16="http://schemas.microsoft.com/office/drawing/2014/main" id="{35C7128E-B608-41FC-94C6-8987892C1D41}"/>
              </a:ext>
            </a:extLst>
          </p:cNvPr>
          <p:cNvSpPr txBox="1"/>
          <p:nvPr/>
        </p:nvSpPr>
        <p:spPr>
          <a:xfrm>
            <a:off x="4094064" y="5118458"/>
            <a:ext cx="810127" cy="369332"/>
          </a:xfrm>
          <a:prstGeom prst="rect">
            <a:avLst/>
          </a:prstGeom>
          <a:noFill/>
        </p:spPr>
        <p:txBody>
          <a:bodyPr wrap="square" rtlCol="0">
            <a:spAutoFit/>
          </a:bodyPr>
          <a:lstStyle/>
          <a:p>
            <a:r>
              <a:rPr lang="en-US" altLang="zh-CN" dirty="0"/>
              <a:t>CGC</a:t>
            </a:r>
            <a:endParaRPr lang="zh-CN" altLang="en-US" dirty="0"/>
          </a:p>
        </p:txBody>
      </p:sp>
      <p:sp>
        <p:nvSpPr>
          <p:cNvPr id="27" name="文本框 26">
            <a:extLst>
              <a:ext uri="{FF2B5EF4-FFF2-40B4-BE49-F238E27FC236}">
                <a16:creationId xmlns:a16="http://schemas.microsoft.com/office/drawing/2014/main" id="{4C8548EC-07BA-471D-A7D7-DD56DCA39D69}"/>
              </a:ext>
            </a:extLst>
          </p:cNvPr>
          <p:cNvSpPr txBox="1"/>
          <p:nvPr/>
        </p:nvSpPr>
        <p:spPr>
          <a:xfrm>
            <a:off x="4094081" y="5295016"/>
            <a:ext cx="810127" cy="369332"/>
          </a:xfrm>
          <a:prstGeom prst="rect">
            <a:avLst/>
          </a:prstGeom>
          <a:noFill/>
        </p:spPr>
        <p:txBody>
          <a:bodyPr wrap="square" rtlCol="0">
            <a:spAutoFit/>
          </a:bodyPr>
          <a:lstStyle/>
          <a:p>
            <a:r>
              <a:rPr lang="en-US" altLang="zh-CN" dirty="0"/>
              <a:t>IGC</a:t>
            </a:r>
            <a:endParaRPr lang="zh-CN" altLang="en-US" dirty="0"/>
          </a:p>
        </p:txBody>
      </p:sp>
      <p:sp>
        <p:nvSpPr>
          <p:cNvPr id="28" name="文本框 27">
            <a:extLst>
              <a:ext uri="{FF2B5EF4-FFF2-40B4-BE49-F238E27FC236}">
                <a16:creationId xmlns:a16="http://schemas.microsoft.com/office/drawing/2014/main" id="{BE872074-34DB-46BC-8CF5-9F65041BB932}"/>
              </a:ext>
            </a:extLst>
          </p:cNvPr>
          <p:cNvSpPr txBox="1"/>
          <p:nvPr/>
        </p:nvSpPr>
        <p:spPr>
          <a:xfrm>
            <a:off x="6732971" y="5209453"/>
            <a:ext cx="810127" cy="369332"/>
          </a:xfrm>
          <a:prstGeom prst="rect">
            <a:avLst/>
          </a:prstGeom>
          <a:noFill/>
        </p:spPr>
        <p:txBody>
          <a:bodyPr wrap="square" rtlCol="0">
            <a:spAutoFit/>
          </a:bodyPr>
          <a:lstStyle/>
          <a:p>
            <a:r>
              <a:rPr lang="en-US" altLang="zh-CN" dirty="0"/>
              <a:t>CCC</a:t>
            </a:r>
            <a:endParaRPr lang="zh-CN" altLang="en-US" dirty="0"/>
          </a:p>
        </p:txBody>
      </p:sp>
      <p:sp>
        <p:nvSpPr>
          <p:cNvPr id="29" name="文本框 28">
            <a:extLst>
              <a:ext uri="{FF2B5EF4-FFF2-40B4-BE49-F238E27FC236}">
                <a16:creationId xmlns:a16="http://schemas.microsoft.com/office/drawing/2014/main" id="{8ADAA26A-8FDD-4EE8-B064-EFAF287454D8}"/>
              </a:ext>
            </a:extLst>
          </p:cNvPr>
          <p:cNvSpPr txBox="1"/>
          <p:nvPr/>
        </p:nvSpPr>
        <p:spPr>
          <a:xfrm>
            <a:off x="6732988" y="5386011"/>
            <a:ext cx="810127" cy="369332"/>
          </a:xfrm>
          <a:prstGeom prst="rect">
            <a:avLst/>
          </a:prstGeom>
          <a:noFill/>
        </p:spPr>
        <p:txBody>
          <a:bodyPr wrap="square" rtlCol="0">
            <a:spAutoFit/>
          </a:bodyPr>
          <a:lstStyle/>
          <a:p>
            <a:r>
              <a:rPr lang="en-US" altLang="zh-CN" dirty="0"/>
              <a:t>ICC</a:t>
            </a:r>
            <a:endParaRPr lang="zh-CN" altLang="en-US" dirty="0"/>
          </a:p>
        </p:txBody>
      </p:sp>
      <p:sp>
        <p:nvSpPr>
          <p:cNvPr id="30" name="文本框 29">
            <a:extLst>
              <a:ext uri="{FF2B5EF4-FFF2-40B4-BE49-F238E27FC236}">
                <a16:creationId xmlns:a16="http://schemas.microsoft.com/office/drawing/2014/main" id="{3E404DA4-BC67-41CD-92B6-37ED1FCDA414}"/>
              </a:ext>
            </a:extLst>
          </p:cNvPr>
          <p:cNvSpPr txBox="1"/>
          <p:nvPr/>
        </p:nvSpPr>
        <p:spPr>
          <a:xfrm>
            <a:off x="5403839" y="1241705"/>
            <a:ext cx="810127" cy="369332"/>
          </a:xfrm>
          <a:prstGeom prst="rect">
            <a:avLst/>
          </a:prstGeom>
          <a:noFill/>
        </p:spPr>
        <p:txBody>
          <a:bodyPr wrap="square" rtlCol="0">
            <a:spAutoFit/>
          </a:bodyPr>
          <a:lstStyle/>
          <a:p>
            <a:r>
              <a:rPr lang="en-US" altLang="zh-CN" dirty="0"/>
              <a:t>GUA</a:t>
            </a:r>
            <a:endParaRPr lang="zh-CN" altLang="en-US" dirty="0"/>
          </a:p>
        </p:txBody>
      </p:sp>
      <p:sp>
        <p:nvSpPr>
          <p:cNvPr id="31" name="文本框 30">
            <a:extLst>
              <a:ext uri="{FF2B5EF4-FFF2-40B4-BE49-F238E27FC236}">
                <a16:creationId xmlns:a16="http://schemas.microsoft.com/office/drawing/2014/main" id="{7A3CE64B-EBC9-4918-9481-85059D61C8DC}"/>
              </a:ext>
            </a:extLst>
          </p:cNvPr>
          <p:cNvSpPr txBox="1"/>
          <p:nvPr/>
        </p:nvSpPr>
        <p:spPr>
          <a:xfrm>
            <a:off x="5398837" y="2668270"/>
            <a:ext cx="810127" cy="369332"/>
          </a:xfrm>
          <a:prstGeom prst="rect">
            <a:avLst/>
          </a:prstGeom>
          <a:noFill/>
        </p:spPr>
        <p:txBody>
          <a:bodyPr wrap="square" rtlCol="0">
            <a:spAutoFit/>
          </a:bodyPr>
          <a:lstStyle/>
          <a:p>
            <a:r>
              <a:rPr lang="en-US" altLang="zh-CN" dirty="0"/>
              <a:t>GUG</a:t>
            </a:r>
            <a:endParaRPr lang="zh-CN" altLang="en-US" dirty="0"/>
          </a:p>
        </p:txBody>
      </p:sp>
      <p:sp>
        <p:nvSpPr>
          <p:cNvPr id="32" name="文本框 31">
            <a:extLst>
              <a:ext uri="{FF2B5EF4-FFF2-40B4-BE49-F238E27FC236}">
                <a16:creationId xmlns:a16="http://schemas.microsoft.com/office/drawing/2014/main" id="{AA0E3A19-FF68-4D26-85BC-0E14246CA4E7}"/>
              </a:ext>
            </a:extLst>
          </p:cNvPr>
          <p:cNvSpPr txBox="1"/>
          <p:nvPr/>
        </p:nvSpPr>
        <p:spPr>
          <a:xfrm>
            <a:off x="5398836" y="3667496"/>
            <a:ext cx="810127" cy="369332"/>
          </a:xfrm>
          <a:prstGeom prst="rect">
            <a:avLst/>
          </a:prstGeom>
          <a:noFill/>
        </p:spPr>
        <p:txBody>
          <a:bodyPr wrap="square" rtlCol="0">
            <a:spAutoFit/>
          </a:bodyPr>
          <a:lstStyle/>
          <a:p>
            <a:r>
              <a:rPr lang="en-US" altLang="zh-CN" dirty="0"/>
              <a:t>GUU</a:t>
            </a:r>
            <a:endParaRPr lang="zh-CN" altLang="en-US" dirty="0"/>
          </a:p>
        </p:txBody>
      </p:sp>
      <p:sp>
        <p:nvSpPr>
          <p:cNvPr id="33" name="文本框 32">
            <a:extLst>
              <a:ext uri="{FF2B5EF4-FFF2-40B4-BE49-F238E27FC236}">
                <a16:creationId xmlns:a16="http://schemas.microsoft.com/office/drawing/2014/main" id="{66E1DD88-3CE3-4372-B4C5-20CFE3A4F71A}"/>
              </a:ext>
            </a:extLst>
          </p:cNvPr>
          <p:cNvSpPr txBox="1"/>
          <p:nvPr/>
        </p:nvSpPr>
        <p:spPr>
          <a:xfrm>
            <a:off x="5432746" y="4288825"/>
            <a:ext cx="810127" cy="369332"/>
          </a:xfrm>
          <a:prstGeom prst="rect">
            <a:avLst/>
          </a:prstGeom>
          <a:noFill/>
        </p:spPr>
        <p:txBody>
          <a:bodyPr wrap="square" rtlCol="0">
            <a:spAutoFit/>
          </a:bodyPr>
          <a:lstStyle/>
          <a:p>
            <a:r>
              <a:rPr lang="en-US" altLang="zh-CN" dirty="0"/>
              <a:t>UUU</a:t>
            </a:r>
            <a:endParaRPr lang="zh-CN" altLang="en-US" dirty="0"/>
          </a:p>
        </p:txBody>
      </p:sp>
      <p:sp>
        <p:nvSpPr>
          <p:cNvPr id="34" name="文本框 33">
            <a:extLst>
              <a:ext uri="{FF2B5EF4-FFF2-40B4-BE49-F238E27FC236}">
                <a16:creationId xmlns:a16="http://schemas.microsoft.com/office/drawing/2014/main" id="{AEF35F10-7164-4888-BE5B-BFC0232ED339}"/>
              </a:ext>
            </a:extLst>
          </p:cNvPr>
          <p:cNvSpPr txBox="1"/>
          <p:nvPr/>
        </p:nvSpPr>
        <p:spPr>
          <a:xfrm>
            <a:off x="5432745" y="5024787"/>
            <a:ext cx="810127" cy="369332"/>
          </a:xfrm>
          <a:prstGeom prst="rect">
            <a:avLst/>
          </a:prstGeom>
          <a:noFill/>
        </p:spPr>
        <p:txBody>
          <a:bodyPr wrap="square" rtlCol="0">
            <a:spAutoFit/>
          </a:bodyPr>
          <a:lstStyle/>
          <a:p>
            <a:r>
              <a:rPr lang="en-US" altLang="zh-CN" dirty="0"/>
              <a:t>GUC</a:t>
            </a:r>
            <a:endParaRPr lang="zh-CN" altLang="en-US" dirty="0"/>
          </a:p>
        </p:txBody>
      </p:sp>
      <p:sp>
        <p:nvSpPr>
          <p:cNvPr id="35" name="文本框 34">
            <a:extLst>
              <a:ext uri="{FF2B5EF4-FFF2-40B4-BE49-F238E27FC236}">
                <a16:creationId xmlns:a16="http://schemas.microsoft.com/office/drawing/2014/main" id="{6675DEB8-7C9C-40D9-AED8-28E74407DE9C}"/>
              </a:ext>
            </a:extLst>
          </p:cNvPr>
          <p:cNvSpPr txBox="1"/>
          <p:nvPr/>
        </p:nvSpPr>
        <p:spPr>
          <a:xfrm>
            <a:off x="5445202" y="5715390"/>
            <a:ext cx="810127" cy="369332"/>
          </a:xfrm>
          <a:prstGeom prst="rect">
            <a:avLst/>
          </a:prstGeom>
          <a:noFill/>
        </p:spPr>
        <p:txBody>
          <a:bodyPr wrap="square" rtlCol="0">
            <a:spAutoFit/>
          </a:bodyPr>
          <a:lstStyle/>
          <a:p>
            <a:r>
              <a:rPr lang="en-US" altLang="zh-CN" dirty="0"/>
              <a:t>UUC</a:t>
            </a:r>
            <a:endParaRPr lang="zh-CN" altLang="en-US" dirty="0"/>
          </a:p>
        </p:txBody>
      </p:sp>
      <p:sp>
        <p:nvSpPr>
          <p:cNvPr id="36" name="文本框 35">
            <a:extLst>
              <a:ext uri="{FF2B5EF4-FFF2-40B4-BE49-F238E27FC236}">
                <a16:creationId xmlns:a16="http://schemas.microsoft.com/office/drawing/2014/main" id="{55D75A29-746E-43F3-A93C-12B749E9BCC8}"/>
              </a:ext>
            </a:extLst>
          </p:cNvPr>
          <p:cNvSpPr txBox="1"/>
          <p:nvPr/>
        </p:nvSpPr>
        <p:spPr>
          <a:xfrm>
            <a:off x="6682185" y="2394675"/>
            <a:ext cx="810127" cy="369332"/>
          </a:xfrm>
          <a:prstGeom prst="rect">
            <a:avLst/>
          </a:prstGeom>
          <a:noFill/>
        </p:spPr>
        <p:txBody>
          <a:bodyPr wrap="square" rtlCol="0">
            <a:spAutoFit/>
          </a:bodyPr>
          <a:lstStyle/>
          <a:p>
            <a:r>
              <a:rPr lang="en-US" altLang="zh-CN" dirty="0"/>
              <a:t>CCG</a:t>
            </a:r>
            <a:endParaRPr lang="zh-CN" altLang="en-US" dirty="0"/>
          </a:p>
        </p:txBody>
      </p:sp>
      <p:sp>
        <p:nvSpPr>
          <p:cNvPr id="37" name="文本框 36">
            <a:extLst>
              <a:ext uri="{FF2B5EF4-FFF2-40B4-BE49-F238E27FC236}">
                <a16:creationId xmlns:a16="http://schemas.microsoft.com/office/drawing/2014/main" id="{12E1B21E-5CE2-4477-A923-2BEF34475FCC}"/>
              </a:ext>
            </a:extLst>
          </p:cNvPr>
          <p:cNvSpPr txBox="1"/>
          <p:nvPr/>
        </p:nvSpPr>
        <p:spPr>
          <a:xfrm>
            <a:off x="6732970" y="3138714"/>
            <a:ext cx="810127" cy="369332"/>
          </a:xfrm>
          <a:prstGeom prst="rect">
            <a:avLst/>
          </a:prstGeom>
          <a:noFill/>
        </p:spPr>
        <p:txBody>
          <a:bodyPr wrap="square" rtlCol="0">
            <a:spAutoFit/>
          </a:bodyPr>
          <a:lstStyle/>
          <a:p>
            <a:r>
              <a:rPr lang="en-US" altLang="zh-CN" dirty="0"/>
              <a:t>ICG</a:t>
            </a:r>
            <a:endParaRPr lang="zh-CN" altLang="en-US" dirty="0"/>
          </a:p>
        </p:txBody>
      </p:sp>
      <p:sp>
        <p:nvSpPr>
          <p:cNvPr id="38" name="文本框 37">
            <a:extLst>
              <a:ext uri="{FF2B5EF4-FFF2-40B4-BE49-F238E27FC236}">
                <a16:creationId xmlns:a16="http://schemas.microsoft.com/office/drawing/2014/main" id="{D40C826D-3C8E-4296-8480-640C67FF9C46}"/>
              </a:ext>
            </a:extLst>
          </p:cNvPr>
          <p:cNvSpPr txBox="1"/>
          <p:nvPr/>
        </p:nvSpPr>
        <p:spPr>
          <a:xfrm>
            <a:off x="6749516" y="1238377"/>
            <a:ext cx="810127" cy="369332"/>
          </a:xfrm>
          <a:prstGeom prst="rect">
            <a:avLst/>
          </a:prstGeom>
          <a:noFill/>
        </p:spPr>
        <p:txBody>
          <a:bodyPr wrap="square" rtlCol="0">
            <a:spAutoFit/>
          </a:bodyPr>
          <a:lstStyle/>
          <a:p>
            <a:r>
              <a:rPr lang="en-US" altLang="zh-CN" dirty="0"/>
              <a:t>GCA</a:t>
            </a:r>
            <a:endParaRPr lang="zh-CN" altLang="en-US" dirty="0"/>
          </a:p>
        </p:txBody>
      </p:sp>
      <p:sp>
        <p:nvSpPr>
          <p:cNvPr id="39" name="文本框 38">
            <a:extLst>
              <a:ext uri="{FF2B5EF4-FFF2-40B4-BE49-F238E27FC236}">
                <a16:creationId xmlns:a16="http://schemas.microsoft.com/office/drawing/2014/main" id="{CC75CEE2-0B1E-4525-BAFE-E644AB2CCB61}"/>
              </a:ext>
            </a:extLst>
          </p:cNvPr>
          <p:cNvSpPr txBox="1"/>
          <p:nvPr/>
        </p:nvSpPr>
        <p:spPr>
          <a:xfrm>
            <a:off x="6746776" y="2031570"/>
            <a:ext cx="810127" cy="369332"/>
          </a:xfrm>
          <a:prstGeom prst="rect">
            <a:avLst/>
          </a:prstGeom>
          <a:noFill/>
        </p:spPr>
        <p:txBody>
          <a:bodyPr wrap="square" rtlCol="0">
            <a:spAutoFit/>
          </a:bodyPr>
          <a:lstStyle/>
          <a:p>
            <a:r>
              <a:rPr lang="en-US" altLang="zh-CN" dirty="0"/>
              <a:t>CCA</a:t>
            </a:r>
            <a:endParaRPr lang="zh-CN" altLang="en-US" dirty="0"/>
          </a:p>
        </p:txBody>
      </p:sp>
      <p:sp>
        <p:nvSpPr>
          <p:cNvPr id="40" name="文本框 39">
            <a:extLst>
              <a:ext uri="{FF2B5EF4-FFF2-40B4-BE49-F238E27FC236}">
                <a16:creationId xmlns:a16="http://schemas.microsoft.com/office/drawing/2014/main" id="{C7707664-8A97-441A-9415-10D81063C988}"/>
              </a:ext>
            </a:extLst>
          </p:cNvPr>
          <p:cNvSpPr txBox="1"/>
          <p:nvPr/>
        </p:nvSpPr>
        <p:spPr>
          <a:xfrm>
            <a:off x="6700850" y="4091488"/>
            <a:ext cx="810127" cy="369332"/>
          </a:xfrm>
          <a:prstGeom prst="rect">
            <a:avLst/>
          </a:prstGeom>
          <a:noFill/>
        </p:spPr>
        <p:txBody>
          <a:bodyPr wrap="square" rtlCol="0">
            <a:spAutoFit/>
          </a:bodyPr>
          <a:lstStyle/>
          <a:p>
            <a:r>
              <a:rPr lang="en-US" altLang="zh-CN" dirty="0"/>
              <a:t>GCU</a:t>
            </a:r>
            <a:endParaRPr lang="zh-CN" altLang="en-US" dirty="0"/>
          </a:p>
        </p:txBody>
      </p:sp>
      <p:sp>
        <p:nvSpPr>
          <p:cNvPr id="41" name="文本框 40">
            <a:extLst>
              <a:ext uri="{FF2B5EF4-FFF2-40B4-BE49-F238E27FC236}">
                <a16:creationId xmlns:a16="http://schemas.microsoft.com/office/drawing/2014/main" id="{855FF9C9-969B-4638-9A9E-426D4372C38E}"/>
              </a:ext>
            </a:extLst>
          </p:cNvPr>
          <p:cNvSpPr txBox="1"/>
          <p:nvPr/>
        </p:nvSpPr>
        <p:spPr>
          <a:xfrm>
            <a:off x="6746776" y="4669216"/>
            <a:ext cx="810127" cy="369332"/>
          </a:xfrm>
          <a:prstGeom prst="rect">
            <a:avLst/>
          </a:prstGeom>
          <a:noFill/>
        </p:spPr>
        <p:txBody>
          <a:bodyPr wrap="square" rtlCol="0">
            <a:spAutoFit/>
          </a:bodyPr>
          <a:lstStyle/>
          <a:p>
            <a:r>
              <a:rPr lang="en-US" altLang="zh-CN" dirty="0"/>
              <a:t>UCU</a:t>
            </a:r>
            <a:endParaRPr lang="zh-CN" altLang="en-US" dirty="0"/>
          </a:p>
        </p:txBody>
      </p:sp>
      <p:sp>
        <p:nvSpPr>
          <p:cNvPr id="42" name="文本框 41">
            <a:extLst>
              <a:ext uri="{FF2B5EF4-FFF2-40B4-BE49-F238E27FC236}">
                <a16:creationId xmlns:a16="http://schemas.microsoft.com/office/drawing/2014/main" id="{35802377-0E79-4AF3-B157-DFCCDA82CF0E}"/>
              </a:ext>
            </a:extLst>
          </p:cNvPr>
          <p:cNvSpPr txBox="1"/>
          <p:nvPr/>
        </p:nvSpPr>
        <p:spPr>
          <a:xfrm>
            <a:off x="5403838" y="2952937"/>
            <a:ext cx="810127" cy="369332"/>
          </a:xfrm>
          <a:prstGeom prst="rect">
            <a:avLst/>
          </a:prstGeom>
          <a:noFill/>
        </p:spPr>
        <p:txBody>
          <a:bodyPr wrap="square" rtlCol="0">
            <a:spAutoFit/>
          </a:bodyPr>
          <a:lstStyle/>
          <a:p>
            <a:r>
              <a:rPr lang="en-US" altLang="zh-CN" dirty="0"/>
              <a:t>UUG</a:t>
            </a:r>
            <a:endParaRPr lang="zh-CN" altLang="en-US" dirty="0"/>
          </a:p>
        </p:txBody>
      </p:sp>
      <p:cxnSp>
        <p:nvCxnSpPr>
          <p:cNvPr id="43" name="直接箭头连接符 42">
            <a:extLst>
              <a:ext uri="{FF2B5EF4-FFF2-40B4-BE49-F238E27FC236}">
                <a16:creationId xmlns:a16="http://schemas.microsoft.com/office/drawing/2014/main" id="{A16BC2B7-C24B-432C-9BEB-853068DD6007}"/>
              </a:ext>
            </a:extLst>
          </p:cNvPr>
          <p:cNvCxnSpPr>
            <a:cxnSpLocks/>
          </p:cNvCxnSpPr>
          <p:nvPr/>
        </p:nvCxnSpPr>
        <p:spPr>
          <a:xfrm flipH="1">
            <a:off x="7250832" y="1349253"/>
            <a:ext cx="1907705" cy="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B6972B57-0FE4-4C77-B367-0CBBE5D3481A}"/>
              </a:ext>
            </a:extLst>
          </p:cNvPr>
          <p:cNvSpPr txBox="1"/>
          <p:nvPr/>
        </p:nvSpPr>
        <p:spPr>
          <a:xfrm>
            <a:off x="8172301" y="833180"/>
            <a:ext cx="1114926" cy="646331"/>
          </a:xfrm>
          <a:prstGeom prst="rect">
            <a:avLst/>
          </a:prstGeom>
          <a:noFill/>
        </p:spPr>
        <p:txBody>
          <a:bodyPr wrap="square" rtlCol="0">
            <a:spAutoFit/>
          </a:bodyPr>
          <a:lstStyle/>
          <a:p>
            <a:r>
              <a:rPr lang="zh-CN" altLang="en-US" dirty="0"/>
              <a:t>可能的反密码子</a:t>
            </a:r>
          </a:p>
        </p:txBody>
      </p:sp>
    </p:spTree>
    <p:extLst>
      <p:ext uri="{BB962C8B-B14F-4D97-AF65-F5344CB8AC3E}">
        <p14:creationId xmlns:p14="http://schemas.microsoft.com/office/powerpoint/2010/main" val="388439864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026">
            <a:extLst>
              <a:ext uri="{FF2B5EF4-FFF2-40B4-BE49-F238E27FC236}">
                <a16:creationId xmlns:a16="http://schemas.microsoft.com/office/drawing/2014/main" id="{839E55E6-5800-4510-AA0D-07E3481C04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000" t="9000" r="9000" b="9000"/>
          <a:stretch>
            <a:fillRect/>
          </a:stretch>
        </p:blipFill>
        <p:spPr bwMode="auto">
          <a:xfrm>
            <a:off x="381000" y="304800"/>
            <a:ext cx="8458200" cy="63436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B71D14E7-A1C3-41A5-9622-03E8EBDE790A}"/>
              </a:ext>
            </a:extLst>
          </p:cNvPr>
          <p:cNvSpPr/>
          <p:nvPr/>
        </p:nvSpPr>
        <p:spPr>
          <a:xfrm>
            <a:off x="6732240" y="1980456"/>
            <a:ext cx="432048" cy="288032"/>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576FF6D1-6AE3-4E6D-BA3B-EDBA45B76E91}"/>
              </a:ext>
            </a:extLst>
          </p:cNvPr>
          <p:cNvSpPr/>
          <p:nvPr/>
        </p:nvSpPr>
        <p:spPr>
          <a:xfrm>
            <a:off x="2064160" y="4725144"/>
            <a:ext cx="382284" cy="27795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6" name="Rectangle 1027">
            <a:extLst>
              <a:ext uri="{FF2B5EF4-FFF2-40B4-BE49-F238E27FC236}">
                <a16:creationId xmlns:a16="http://schemas.microsoft.com/office/drawing/2014/main" id="{0384FB82-2BA5-4570-B417-82B394A1D6F5}"/>
              </a:ext>
            </a:extLst>
          </p:cNvPr>
          <p:cNvSpPr>
            <a:spLocks noChangeArrowheads="1"/>
          </p:cNvSpPr>
          <p:nvPr/>
        </p:nvSpPr>
        <p:spPr bwMode="auto">
          <a:xfrm>
            <a:off x="381000" y="228600"/>
            <a:ext cx="1444626" cy="1384995"/>
          </a:xfrm>
          <a:prstGeom prst="rect">
            <a:avLst/>
          </a:prstGeom>
          <a:noFill/>
          <a:ln w="9525">
            <a:noFill/>
            <a:miter lim="800000"/>
            <a:headEnd/>
            <a:tailEnd/>
          </a:ln>
        </p:spPr>
        <p:txBody>
          <a:bodyPr wrap="none">
            <a:spAutoFit/>
          </a:bodyPr>
          <a:lstStyle/>
          <a:p>
            <a:pPr>
              <a:defRPr/>
            </a:pPr>
            <a:r>
              <a:rPr lang="en-US" altLang="zh-CN" sz="2800" b="1" dirty="0">
                <a:solidFill>
                  <a:srgbClr val="333399"/>
                </a:solidFill>
                <a:effectLst>
                  <a:outerShdw blurRad="38100" dist="38100" dir="2700000" algn="tl">
                    <a:srgbClr val="000000"/>
                  </a:outerShdw>
                </a:effectLst>
              </a:rPr>
              <a:t>All 64 </a:t>
            </a:r>
          </a:p>
          <a:p>
            <a:pPr>
              <a:defRPr/>
            </a:pPr>
            <a:r>
              <a:rPr lang="en-US" altLang="zh-CN" sz="2800" b="1" dirty="0">
                <a:solidFill>
                  <a:srgbClr val="333399"/>
                </a:solidFill>
                <a:effectLst>
                  <a:outerShdw blurRad="38100" dist="38100" dir="2700000" algn="tl">
                    <a:srgbClr val="000000"/>
                  </a:outerShdw>
                </a:effectLst>
              </a:rPr>
              <a:t>genetic</a:t>
            </a:r>
          </a:p>
          <a:p>
            <a:pPr>
              <a:defRPr/>
            </a:pPr>
            <a:r>
              <a:rPr lang="en-US" altLang="zh-CN" sz="2800" b="1" dirty="0">
                <a:solidFill>
                  <a:srgbClr val="333399"/>
                </a:solidFill>
                <a:effectLst>
                  <a:outerShdw blurRad="38100" dist="38100" dir="2700000" algn="tl">
                    <a:srgbClr val="000000"/>
                  </a:outerShdw>
                </a:effectLst>
              </a:rPr>
              <a:t>codes</a:t>
            </a:r>
          </a:p>
        </p:txBody>
      </p:sp>
      <p:pic>
        <p:nvPicPr>
          <p:cNvPr id="2" name="图片 1">
            <a:hlinkClick r:id="rId4" action="ppaction://hlinksldjump"/>
            <a:extLst>
              <a:ext uri="{FF2B5EF4-FFF2-40B4-BE49-F238E27FC236}">
                <a16:creationId xmlns:a16="http://schemas.microsoft.com/office/drawing/2014/main" id="{F9EBE9C2-F8FA-4DB3-852F-63CC0DDBE268}"/>
              </a:ext>
            </a:extLst>
          </p:cNvPr>
          <p:cNvPicPr>
            <a:picLocks noChangeAspect="1"/>
          </p:cNvPicPr>
          <p:nvPr/>
        </p:nvPicPr>
        <p:blipFill>
          <a:blip r:embed="rId5" cstate="print"/>
          <a:stretch>
            <a:fillRect/>
          </a:stretch>
        </p:blipFill>
        <p:spPr>
          <a:xfrm>
            <a:off x="8759919" y="6573040"/>
            <a:ext cx="384081" cy="310923"/>
          </a:xfrm>
          <a:prstGeom prst="rect">
            <a:avLst/>
          </a:prstGeom>
        </p:spPr>
      </p:pic>
      <p:sp>
        <p:nvSpPr>
          <p:cNvPr id="9" name="矩形 8">
            <a:extLst>
              <a:ext uri="{FF2B5EF4-FFF2-40B4-BE49-F238E27FC236}">
                <a16:creationId xmlns:a16="http://schemas.microsoft.com/office/drawing/2014/main" id="{9FED1BC6-E4D2-459B-AB40-5EDB943874BE}"/>
              </a:ext>
            </a:extLst>
          </p:cNvPr>
          <p:cNvSpPr/>
          <p:nvPr/>
        </p:nvSpPr>
        <p:spPr>
          <a:xfrm>
            <a:off x="6762666" y="2808921"/>
            <a:ext cx="432048" cy="288032"/>
          </a:xfrm>
          <a:prstGeom prst="rect">
            <a:avLst/>
          </a:prstGeom>
          <a:noFill/>
          <a:ln>
            <a:solidFill>
              <a:srgbClr val="008000"/>
            </a:solidFill>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38BC88B5-AAF3-488F-856F-46D00060C970}"/>
              </a:ext>
            </a:extLst>
          </p:cNvPr>
          <p:cNvSpPr/>
          <p:nvPr/>
        </p:nvSpPr>
        <p:spPr>
          <a:xfrm>
            <a:off x="4196714" y="1441586"/>
            <a:ext cx="432048" cy="288032"/>
          </a:xfrm>
          <a:prstGeom prst="rect">
            <a:avLst/>
          </a:prstGeom>
          <a:noFill/>
          <a:ln>
            <a:solidFill>
              <a:srgbClr val="008000"/>
            </a:solidFill>
          </a:ln>
          <a:effectLst>
            <a:glow rad="101600">
              <a:schemeClr val="accent3">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300D7355-7FF8-4A59-ABC7-86E5468E8FC5}"/>
              </a:ext>
            </a:extLst>
          </p:cNvPr>
          <p:cNvSpPr/>
          <p:nvPr/>
        </p:nvSpPr>
        <p:spPr>
          <a:xfrm>
            <a:off x="2771800" y="1767372"/>
            <a:ext cx="432048" cy="288032"/>
          </a:xfrm>
          <a:prstGeom prst="rect">
            <a:avLst/>
          </a:prstGeom>
          <a:noFill/>
          <a:ln>
            <a:solidFill>
              <a:srgbClr val="008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45F3B409-CDC3-444D-8F8E-CDDEC40504A2}"/>
              </a:ext>
            </a:extLst>
          </p:cNvPr>
          <p:cNvSpPr/>
          <p:nvPr/>
        </p:nvSpPr>
        <p:spPr>
          <a:xfrm>
            <a:off x="2739549" y="2852936"/>
            <a:ext cx="432048" cy="288032"/>
          </a:xfrm>
          <a:prstGeom prst="rect">
            <a:avLst/>
          </a:prstGeom>
          <a:noFill/>
          <a:ln>
            <a:solidFill>
              <a:srgbClr val="008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D1B6DDA7-7E54-47D5-A2DC-1269DD7137BB}"/>
              </a:ext>
            </a:extLst>
          </p:cNvPr>
          <p:cNvSpPr/>
          <p:nvPr/>
        </p:nvSpPr>
        <p:spPr>
          <a:xfrm>
            <a:off x="6804248" y="4509120"/>
            <a:ext cx="432048" cy="288032"/>
          </a:xfrm>
          <a:prstGeom prst="rect">
            <a:avLst/>
          </a:prstGeom>
          <a:noFill/>
          <a:ln>
            <a:solidFill>
              <a:srgbClr val="008000"/>
            </a:solidFill>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BFB188EF-5BCF-4262-A3CF-E24E8E50CDCB}"/>
              </a:ext>
            </a:extLst>
          </p:cNvPr>
          <p:cNvSpPr/>
          <p:nvPr/>
        </p:nvSpPr>
        <p:spPr>
          <a:xfrm>
            <a:off x="6776255" y="3861048"/>
            <a:ext cx="432048" cy="288032"/>
          </a:xfrm>
          <a:prstGeom prst="rect">
            <a:avLst/>
          </a:prstGeom>
          <a:noFill/>
          <a:ln>
            <a:solidFill>
              <a:srgbClr val="008000"/>
            </a:solidFill>
          </a:ln>
          <a:effectLst>
            <a:glow rad="101600">
              <a:schemeClr val="accent3">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E69D8065-D24D-4224-9950-51593E577314}"/>
              </a:ext>
            </a:extLst>
          </p:cNvPr>
          <p:cNvSpPr txBox="1"/>
          <p:nvPr/>
        </p:nvSpPr>
        <p:spPr>
          <a:xfrm>
            <a:off x="2627784" y="849681"/>
            <a:ext cx="648072" cy="369332"/>
          </a:xfrm>
          <a:prstGeom prst="rect">
            <a:avLst/>
          </a:prstGeom>
          <a:noFill/>
        </p:spPr>
        <p:txBody>
          <a:bodyPr wrap="square" rtlCol="0">
            <a:spAutoFit/>
          </a:bodyPr>
          <a:lstStyle/>
          <a:p>
            <a:r>
              <a:rPr lang="en-US" altLang="zh-CN" dirty="0">
                <a:solidFill>
                  <a:srgbClr val="FF0000"/>
                </a:solidFill>
              </a:rPr>
              <a:t>IAA</a:t>
            </a:r>
            <a:endParaRPr lang="zh-CN" altLang="en-US" dirty="0">
              <a:solidFill>
                <a:srgbClr val="FF0000"/>
              </a:solidFill>
            </a:endParaRPr>
          </a:p>
        </p:txBody>
      </p:sp>
      <p:sp>
        <p:nvSpPr>
          <p:cNvPr id="16" name="文本框 15">
            <a:extLst>
              <a:ext uri="{FF2B5EF4-FFF2-40B4-BE49-F238E27FC236}">
                <a16:creationId xmlns:a16="http://schemas.microsoft.com/office/drawing/2014/main" id="{26A0B2C5-43D1-4DE1-9B81-5B6E2BEBFB9A}"/>
              </a:ext>
            </a:extLst>
          </p:cNvPr>
          <p:cNvSpPr txBox="1"/>
          <p:nvPr/>
        </p:nvSpPr>
        <p:spPr>
          <a:xfrm>
            <a:off x="2615736" y="1520930"/>
            <a:ext cx="900100" cy="369332"/>
          </a:xfrm>
          <a:prstGeom prst="rect">
            <a:avLst/>
          </a:prstGeom>
          <a:noFill/>
        </p:spPr>
        <p:txBody>
          <a:bodyPr wrap="square" rtlCol="0">
            <a:spAutoFit/>
          </a:bodyPr>
          <a:lstStyle/>
          <a:p>
            <a:r>
              <a:rPr lang="en-US" altLang="zh-CN" dirty="0">
                <a:solidFill>
                  <a:srgbClr val="FF0000"/>
                </a:solidFill>
              </a:rPr>
              <a:t>UAA</a:t>
            </a:r>
            <a:endParaRPr lang="zh-CN" altLang="en-US" dirty="0">
              <a:solidFill>
                <a:srgbClr val="FF0000"/>
              </a:solidFill>
            </a:endParaRPr>
          </a:p>
        </p:txBody>
      </p:sp>
      <p:sp>
        <p:nvSpPr>
          <p:cNvPr id="17" name="文本框 16">
            <a:extLst>
              <a:ext uri="{FF2B5EF4-FFF2-40B4-BE49-F238E27FC236}">
                <a16:creationId xmlns:a16="http://schemas.microsoft.com/office/drawing/2014/main" id="{4799A241-1A62-4754-AFBB-5C514F911497}"/>
              </a:ext>
            </a:extLst>
          </p:cNvPr>
          <p:cNvSpPr txBox="1"/>
          <p:nvPr/>
        </p:nvSpPr>
        <p:spPr>
          <a:xfrm>
            <a:off x="1331640" y="1974253"/>
            <a:ext cx="843792" cy="369332"/>
          </a:xfrm>
          <a:prstGeom prst="rect">
            <a:avLst/>
          </a:prstGeom>
          <a:noFill/>
        </p:spPr>
        <p:txBody>
          <a:bodyPr wrap="square" rtlCol="0">
            <a:spAutoFit/>
          </a:bodyPr>
          <a:lstStyle/>
          <a:p>
            <a:r>
              <a:rPr lang="en-US" altLang="zh-CN" dirty="0">
                <a:solidFill>
                  <a:schemeClr val="accent2">
                    <a:lumMod val="75000"/>
                  </a:schemeClr>
                </a:solidFill>
              </a:rPr>
              <a:t>CAA</a:t>
            </a:r>
            <a:endParaRPr lang="zh-CN" altLang="en-US" dirty="0">
              <a:solidFill>
                <a:schemeClr val="accent2">
                  <a:lumMod val="75000"/>
                </a:schemeClr>
              </a:solidFill>
            </a:endParaRPr>
          </a:p>
        </p:txBody>
      </p:sp>
      <p:sp>
        <p:nvSpPr>
          <p:cNvPr id="18" name="文本框 17">
            <a:extLst>
              <a:ext uri="{FF2B5EF4-FFF2-40B4-BE49-F238E27FC236}">
                <a16:creationId xmlns:a16="http://schemas.microsoft.com/office/drawing/2014/main" id="{3F53AB9D-FEDF-422D-A56A-FBB1D8A9030D}"/>
              </a:ext>
            </a:extLst>
          </p:cNvPr>
          <p:cNvSpPr txBox="1"/>
          <p:nvPr/>
        </p:nvSpPr>
        <p:spPr>
          <a:xfrm>
            <a:off x="2627784" y="2398245"/>
            <a:ext cx="648072" cy="369332"/>
          </a:xfrm>
          <a:prstGeom prst="rect">
            <a:avLst/>
          </a:prstGeom>
          <a:noFill/>
        </p:spPr>
        <p:txBody>
          <a:bodyPr wrap="square" rtlCol="0">
            <a:spAutoFit/>
          </a:bodyPr>
          <a:lstStyle/>
          <a:p>
            <a:r>
              <a:rPr lang="en-US" altLang="zh-CN" dirty="0">
                <a:solidFill>
                  <a:srgbClr val="FF0000"/>
                </a:solidFill>
              </a:rPr>
              <a:t>IAG</a:t>
            </a:r>
            <a:endParaRPr lang="zh-CN" altLang="en-US" dirty="0">
              <a:solidFill>
                <a:srgbClr val="FF0000"/>
              </a:solidFill>
            </a:endParaRPr>
          </a:p>
        </p:txBody>
      </p:sp>
      <p:sp>
        <p:nvSpPr>
          <p:cNvPr id="19" name="文本框 18">
            <a:extLst>
              <a:ext uri="{FF2B5EF4-FFF2-40B4-BE49-F238E27FC236}">
                <a16:creationId xmlns:a16="http://schemas.microsoft.com/office/drawing/2014/main" id="{57BCED85-60BD-450F-9966-7A2114669D3C}"/>
              </a:ext>
            </a:extLst>
          </p:cNvPr>
          <p:cNvSpPr txBox="1"/>
          <p:nvPr/>
        </p:nvSpPr>
        <p:spPr>
          <a:xfrm>
            <a:off x="2627784" y="3291959"/>
            <a:ext cx="900100" cy="369332"/>
          </a:xfrm>
          <a:prstGeom prst="rect">
            <a:avLst/>
          </a:prstGeom>
          <a:noFill/>
        </p:spPr>
        <p:txBody>
          <a:bodyPr wrap="square" rtlCol="0">
            <a:spAutoFit/>
          </a:bodyPr>
          <a:lstStyle/>
          <a:p>
            <a:r>
              <a:rPr lang="en-US" altLang="zh-CN" dirty="0">
                <a:solidFill>
                  <a:srgbClr val="FF0000"/>
                </a:solidFill>
              </a:rPr>
              <a:t>CAC</a:t>
            </a:r>
            <a:endParaRPr lang="zh-CN" altLang="en-US" dirty="0">
              <a:solidFill>
                <a:srgbClr val="FF0000"/>
              </a:solidFill>
            </a:endParaRPr>
          </a:p>
        </p:txBody>
      </p:sp>
      <p:sp>
        <p:nvSpPr>
          <p:cNvPr id="20" name="文本框 19">
            <a:extLst>
              <a:ext uri="{FF2B5EF4-FFF2-40B4-BE49-F238E27FC236}">
                <a16:creationId xmlns:a16="http://schemas.microsoft.com/office/drawing/2014/main" id="{DC6E8527-889F-46DA-93C3-5AD107FCBC02}"/>
              </a:ext>
            </a:extLst>
          </p:cNvPr>
          <p:cNvSpPr txBox="1"/>
          <p:nvPr/>
        </p:nvSpPr>
        <p:spPr>
          <a:xfrm>
            <a:off x="2676103" y="3699164"/>
            <a:ext cx="900100" cy="369332"/>
          </a:xfrm>
          <a:prstGeom prst="rect">
            <a:avLst/>
          </a:prstGeom>
          <a:noFill/>
        </p:spPr>
        <p:txBody>
          <a:bodyPr wrap="square" rtlCol="0">
            <a:spAutoFit/>
          </a:bodyPr>
          <a:lstStyle/>
          <a:p>
            <a:r>
              <a:rPr lang="en-US" altLang="zh-CN" dirty="0">
                <a:solidFill>
                  <a:srgbClr val="FF0000"/>
                </a:solidFill>
              </a:rPr>
              <a:t>IAU</a:t>
            </a:r>
            <a:endParaRPr lang="zh-CN" altLang="en-US" dirty="0">
              <a:solidFill>
                <a:srgbClr val="FF0000"/>
              </a:solidFill>
            </a:endParaRPr>
          </a:p>
        </p:txBody>
      </p:sp>
      <p:sp>
        <p:nvSpPr>
          <p:cNvPr id="21" name="文本框 20">
            <a:extLst>
              <a:ext uri="{FF2B5EF4-FFF2-40B4-BE49-F238E27FC236}">
                <a16:creationId xmlns:a16="http://schemas.microsoft.com/office/drawing/2014/main" id="{ED8CF7B5-A251-4A5E-AB3A-6F809842E520}"/>
              </a:ext>
            </a:extLst>
          </p:cNvPr>
          <p:cNvSpPr txBox="1"/>
          <p:nvPr/>
        </p:nvSpPr>
        <p:spPr>
          <a:xfrm>
            <a:off x="2676103" y="4876346"/>
            <a:ext cx="900100" cy="369332"/>
          </a:xfrm>
          <a:prstGeom prst="rect">
            <a:avLst/>
          </a:prstGeom>
          <a:noFill/>
        </p:spPr>
        <p:txBody>
          <a:bodyPr wrap="square" rtlCol="0">
            <a:spAutoFit/>
          </a:bodyPr>
          <a:lstStyle/>
          <a:p>
            <a:r>
              <a:rPr lang="en-US" altLang="zh-CN" dirty="0">
                <a:solidFill>
                  <a:srgbClr val="FF0000"/>
                </a:solidFill>
              </a:rPr>
              <a:t>CAU</a:t>
            </a:r>
            <a:endParaRPr lang="zh-CN" altLang="en-US" dirty="0">
              <a:solidFill>
                <a:srgbClr val="FF0000"/>
              </a:solidFill>
            </a:endParaRPr>
          </a:p>
        </p:txBody>
      </p:sp>
      <p:sp>
        <p:nvSpPr>
          <p:cNvPr id="22" name="文本框 21">
            <a:extLst>
              <a:ext uri="{FF2B5EF4-FFF2-40B4-BE49-F238E27FC236}">
                <a16:creationId xmlns:a16="http://schemas.microsoft.com/office/drawing/2014/main" id="{C52CB5DD-2532-4CBA-9487-1A86A8409543}"/>
              </a:ext>
            </a:extLst>
          </p:cNvPr>
          <p:cNvSpPr txBox="1"/>
          <p:nvPr/>
        </p:nvSpPr>
        <p:spPr>
          <a:xfrm>
            <a:off x="2676103" y="5241174"/>
            <a:ext cx="900100" cy="369332"/>
          </a:xfrm>
          <a:prstGeom prst="rect">
            <a:avLst/>
          </a:prstGeom>
          <a:noFill/>
        </p:spPr>
        <p:txBody>
          <a:bodyPr wrap="square" rtlCol="0">
            <a:spAutoFit/>
          </a:bodyPr>
          <a:lstStyle/>
          <a:p>
            <a:r>
              <a:rPr lang="en-US" altLang="zh-CN" dirty="0">
                <a:solidFill>
                  <a:srgbClr val="FF0000"/>
                </a:solidFill>
              </a:rPr>
              <a:t>IAC</a:t>
            </a:r>
            <a:endParaRPr lang="zh-CN" altLang="en-US" dirty="0">
              <a:solidFill>
                <a:srgbClr val="FF0000"/>
              </a:solidFill>
            </a:endParaRPr>
          </a:p>
        </p:txBody>
      </p:sp>
      <p:sp>
        <p:nvSpPr>
          <p:cNvPr id="23" name="文本框 22">
            <a:extLst>
              <a:ext uri="{FF2B5EF4-FFF2-40B4-BE49-F238E27FC236}">
                <a16:creationId xmlns:a16="http://schemas.microsoft.com/office/drawing/2014/main" id="{4D8AFCBA-60C8-4378-A8BC-CBF30662A335}"/>
              </a:ext>
            </a:extLst>
          </p:cNvPr>
          <p:cNvSpPr txBox="1"/>
          <p:nvPr/>
        </p:nvSpPr>
        <p:spPr>
          <a:xfrm>
            <a:off x="2669381" y="6053528"/>
            <a:ext cx="900100" cy="369332"/>
          </a:xfrm>
          <a:prstGeom prst="rect">
            <a:avLst/>
          </a:prstGeom>
          <a:noFill/>
        </p:spPr>
        <p:txBody>
          <a:bodyPr wrap="square" rtlCol="0">
            <a:spAutoFit/>
          </a:bodyPr>
          <a:lstStyle/>
          <a:p>
            <a:r>
              <a:rPr lang="en-US" altLang="zh-CN" dirty="0">
                <a:solidFill>
                  <a:srgbClr val="FF0000"/>
                </a:solidFill>
              </a:rPr>
              <a:t>CAC</a:t>
            </a:r>
            <a:endParaRPr lang="zh-CN" altLang="en-US" dirty="0">
              <a:solidFill>
                <a:srgbClr val="FF0000"/>
              </a:solidFill>
            </a:endParaRPr>
          </a:p>
        </p:txBody>
      </p:sp>
      <p:sp>
        <p:nvSpPr>
          <p:cNvPr id="24" name="文本框 23">
            <a:extLst>
              <a:ext uri="{FF2B5EF4-FFF2-40B4-BE49-F238E27FC236}">
                <a16:creationId xmlns:a16="http://schemas.microsoft.com/office/drawing/2014/main" id="{DBDC5576-53B2-4A03-8142-0FBB26467AF1}"/>
              </a:ext>
            </a:extLst>
          </p:cNvPr>
          <p:cNvSpPr txBox="1"/>
          <p:nvPr/>
        </p:nvSpPr>
        <p:spPr>
          <a:xfrm>
            <a:off x="4093008" y="1922087"/>
            <a:ext cx="900100" cy="369332"/>
          </a:xfrm>
          <a:prstGeom prst="rect">
            <a:avLst/>
          </a:prstGeom>
          <a:noFill/>
        </p:spPr>
        <p:txBody>
          <a:bodyPr wrap="square" rtlCol="0">
            <a:spAutoFit/>
          </a:bodyPr>
          <a:lstStyle/>
          <a:p>
            <a:r>
              <a:rPr lang="en-US" altLang="zh-CN" dirty="0">
                <a:solidFill>
                  <a:srgbClr val="FF0000"/>
                </a:solidFill>
              </a:rPr>
              <a:t>CGA</a:t>
            </a:r>
            <a:endParaRPr lang="zh-CN" altLang="en-US" dirty="0">
              <a:solidFill>
                <a:srgbClr val="FF0000"/>
              </a:solidFill>
            </a:endParaRPr>
          </a:p>
        </p:txBody>
      </p:sp>
      <p:sp>
        <p:nvSpPr>
          <p:cNvPr id="25" name="文本框 24">
            <a:extLst>
              <a:ext uri="{FF2B5EF4-FFF2-40B4-BE49-F238E27FC236}">
                <a16:creationId xmlns:a16="http://schemas.microsoft.com/office/drawing/2014/main" id="{988C72E7-7813-49C7-9454-9A55F4F5D8AB}"/>
              </a:ext>
            </a:extLst>
          </p:cNvPr>
          <p:cNvSpPr txBox="1"/>
          <p:nvPr/>
        </p:nvSpPr>
        <p:spPr>
          <a:xfrm>
            <a:off x="4175956" y="1021407"/>
            <a:ext cx="900100" cy="369332"/>
          </a:xfrm>
          <a:prstGeom prst="rect">
            <a:avLst/>
          </a:prstGeom>
          <a:noFill/>
        </p:spPr>
        <p:txBody>
          <a:bodyPr wrap="square" rtlCol="0">
            <a:spAutoFit/>
          </a:bodyPr>
          <a:lstStyle/>
          <a:p>
            <a:r>
              <a:rPr lang="en-US" altLang="zh-CN" dirty="0">
                <a:solidFill>
                  <a:srgbClr val="FF0000"/>
                </a:solidFill>
              </a:rPr>
              <a:t>IGA</a:t>
            </a:r>
            <a:endParaRPr lang="zh-CN" altLang="en-US" dirty="0">
              <a:solidFill>
                <a:srgbClr val="FF0000"/>
              </a:solidFill>
            </a:endParaRPr>
          </a:p>
        </p:txBody>
      </p:sp>
      <p:sp>
        <p:nvSpPr>
          <p:cNvPr id="26" name="文本框 25">
            <a:extLst>
              <a:ext uri="{FF2B5EF4-FFF2-40B4-BE49-F238E27FC236}">
                <a16:creationId xmlns:a16="http://schemas.microsoft.com/office/drawing/2014/main" id="{B850C5A2-8CEC-4FEF-B859-4AF46C109559}"/>
              </a:ext>
            </a:extLst>
          </p:cNvPr>
          <p:cNvSpPr txBox="1"/>
          <p:nvPr/>
        </p:nvSpPr>
        <p:spPr>
          <a:xfrm>
            <a:off x="4095363" y="2483888"/>
            <a:ext cx="900100" cy="369332"/>
          </a:xfrm>
          <a:prstGeom prst="rect">
            <a:avLst/>
          </a:prstGeom>
          <a:noFill/>
        </p:spPr>
        <p:txBody>
          <a:bodyPr wrap="square" rtlCol="0">
            <a:spAutoFit/>
          </a:bodyPr>
          <a:lstStyle/>
          <a:p>
            <a:r>
              <a:rPr lang="en-US" altLang="zh-CN" dirty="0">
                <a:solidFill>
                  <a:srgbClr val="FF0000"/>
                </a:solidFill>
              </a:rPr>
              <a:t>IGG</a:t>
            </a:r>
            <a:endParaRPr lang="zh-CN" altLang="en-US" dirty="0">
              <a:solidFill>
                <a:srgbClr val="FF0000"/>
              </a:solidFill>
            </a:endParaRPr>
          </a:p>
        </p:txBody>
      </p:sp>
      <p:sp>
        <p:nvSpPr>
          <p:cNvPr id="27" name="文本框 26">
            <a:extLst>
              <a:ext uri="{FF2B5EF4-FFF2-40B4-BE49-F238E27FC236}">
                <a16:creationId xmlns:a16="http://schemas.microsoft.com/office/drawing/2014/main" id="{D78ADF3A-5E28-48FB-86F2-79BF2E0990A8}"/>
              </a:ext>
            </a:extLst>
          </p:cNvPr>
          <p:cNvSpPr txBox="1"/>
          <p:nvPr/>
        </p:nvSpPr>
        <p:spPr>
          <a:xfrm>
            <a:off x="4100230" y="3291959"/>
            <a:ext cx="900100" cy="369332"/>
          </a:xfrm>
          <a:prstGeom prst="rect">
            <a:avLst/>
          </a:prstGeom>
          <a:noFill/>
        </p:spPr>
        <p:txBody>
          <a:bodyPr wrap="square" rtlCol="0">
            <a:spAutoFit/>
          </a:bodyPr>
          <a:lstStyle/>
          <a:p>
            <a:r>
              <a:rPr lang="en-US" altLang="zh-CN" dirty="0">
                <a:solidFill>
                  <a:srgbClr val="FF0000"/>
                </a:solidFill>
              </a:rPr>
              <a:t>CGG</a:t>
            </a:r>
            <a:endParaRPr lang="zh-CN" altLang="en-US" dirty="0">
              <a:solidFill>
                <a:srgbClr val="FF0000"/>
              </a:solidFill>
            </a:endParaRPr>
          </a:p>
        </p:txBody>
      </p:sp>
      <p:sp>
        <p:nvSpPr>
          <p:cNvPr id="28" name="文本框 27">
            <a:extLst>
              <a:ext uri="{FF2B5EF4-FFF2-40B4-BE49-F238E27FC236}">
                <a16:creationId xmlns:a16="http://schemas.microsoft.com/office/drawing/2014/main" id="{52491AD0-BCB8-4643-883B-6E31D228785B}"/>
              </a:ext>
            </a:extLst>
          </p:cNvPr>
          <p:cNvSpPr txBox="1"/>
          <p:nvPr/>
        </p:nvSpPr>
        <p:spPr>
          <a:xfrm>
            <a:off x="4093008" y="3915936"/>
            <a:ext cx="900100" cy="369332"/>
          </a:xfrm>
          <a:prstGeom prst="rect">
            <a:avLst/>
          </a:prstGeom>
          <a:noFill/>
        </p:spPr>
        <p:txBody>
          <a:bodyPr wrap="square" rtlCol="0">
            <a:spAutoFit/>
          </a:bodyPr>
          <a:lstStyle/>
          <a:p>
            <a:r>
              <a:rPr lang="en-US" altLang="zh-CN" dirty="0">
                <a:solidFill>
                  <a:srgbClr val="FF0000"/>
                </a:solidFill>
              </a:rPr>
              <a:t>IGU</a:t>
            </a:r>
            <a:endParaRPr lang="zh-CN" altLang="en-US" dirty="0">
              <a:solidFill>
                <a:srgbClr val="FF0000"/>
              </a:solidFill>
            </a:endParaRPr>
          </a:p>
        </p:txBody>
      </p:sp>
      <p:sp>
        <p:nvSpPr>
          <p:cNvPr id="29" name="文本框 28">
            <a:extLst>
              <a:ext uri="{FF2B5EF4-FFF2-40B4-BE49-F238E27FC236}">
                <a16:creationId xmlns:a16="http://schemas.microsoft.com/office/drawing/2014/main" id="{37E805DF-A195-4F1D-99B7-DF39E180D48C}"/>
              </a:ext>
            </a:extLst>
          </p:cNvPr>
          <p:cNvSpPr txBox="1"/>
          <p:nvPr/>
        </p:nvSpPr>
        <p:spPr>
          <a:xfrm>
            <a:off x="4093008" y="4627347"/>
            <a:ext cx="900100" cy="369332"/>
          </a:xfrm>
          <a:prstGeom prst="rect">
            <a:avLst/>
          </a:prstGeom>
          <a:noFill/>
        </p:spPr>
        <p:txBody>
          <a:bodyPr wrap="square" rtlCol="0">
            <a:spAutoFit/>
          </a:bodyPr>
          <a:lstStyle/>
          <a:p>
            <a:r>
              <a:rPr lang="en-US" altLang="zh-CN" dirty="0">
                <a:solidFill>
                  <a:srgbClr val="FF0000"/>
                </a:solidFill>
              </a:rPr>
              <a:t>CGU</a:t>
            </a:r>
            <a:endParaRPr lang="zh-CN" altLang="en-US" dirty="0">
              <a:solidFill>
                <a:srgbClr val="FF0000"/>
              </a:solidFill>
            </a:endParaRPr>
          </a:p>
        </p:txBody>
      </p:sp>
      <p:sp>
        <p:nvSpPr>
          <p:cNvPr id="30" name="文本框 29">
            <a:extLst>
              <a:ext uri="{FF2B5EF4-FFF2-40B4-BE49-F238E27FC236}">
                <a16:creationId xmlns:a16="http://schemas.microsoft.com/office/drawing/2014/main" id="{D2E6978C-1529-4AA5-9365-F9541D720C4B}"/>
              </a:ext>
            </a:extLst>
          </p:cNvPr>
          <p:cNvSpPr txBox="1"/>
          <p:nvPr/>
        </p:nvSpPr>
        <p:spPr>
          <a:xfrm>
            <a:off x="4121950" y="5285808"/>
            <a:ext cx="900100" cy="369332"/>
          </a:xfrm>
          <a:prstGeom prst="rect">
            <a:avLst/>
          </a:prstGeom>
          <a:noFill/>
        </p:spPr>
        <p:txBody>
          <a:bodyPr wrap="square" rtlCol="0">
            <a:spAutoFit/>
          </a:bodyPr>
          <a:lstStyle/>
          <a:p>
            <a:r>
              <a:rPr lang="en-US" altLang="zh-CN" dirty="0">
                <a:solidFill>
                  <a:srgbClr val="FF0000"/>
                </a:solidFill>
              </a:rPr>
              <a:t>IGC</a:t>
            </a:r>
            <a:endParaRPr lang="zh-CN" altLang="en-US" dirty="0">
              <a:solidFill>
                <a:srgbClr val="FF0000"/>
              </a:solidFill>
            </a:endParaRPr>
          </a:p>
        </p:txBody>
      </p:sp>
      <p:sp>
        <p:nvSpPr>
          <p:cNvPr id="31" name="文本框 30">
            <a:extLst>
              <a:ext uri="{FF2B5EF4-FFF2-40B4-BE49-F238E27FC236}">
                <a16:creationId xmlns:a16="http://schemas.microsoft.com/office/drawing/2014/main" id="{3AC96867-3864-4C92-A525-6B1A566A640A}"/>
              </a:ext>
            </a:extLst>
          </p:cNvPr>
          <p:cNvSpPr txBox="1"/>
          <p:nvPr/>
        </p:nvSpPr>
        <p:spPr>
          <a:xfrm>
            <a:off x="4093008" y="6053528"/>
            <a:ext cx="900100" cy="369332"/>
          </a:xfrm>
          <a:prstGeom prst="rect">
            <a:avLst/>
          </a:prstGeom>
          <a:noFill/>
        </p:spPr>
        <p:txBody>
          <a:bodyPr wrap="square" rtlCol="0">
            <a:spAutoFit/>
          </a:bodyPr>
          <a:lstStyle/>
          <a:p>
            <a:r>
              <a:rPr lang="en-US" altLang="zh-CN" dirty="0">
                <a:solidFill>
                  <a:srgbClr val="FF0000"/>
                </a:solidFill>
              </a:rPr>
              <a:t>CGC</a:t>
            </a:r>
            <a:endParaRPr lang="zh-CN" altLang="en-US" dirty="0">
              <a:solidFill>
                <a:srgbClr val="FF0000"/>
              </a:solidFill>
            </a:endParaRPr>
          </a:p>
        </p:txBody>
      </p:sp>
      <p:sp>
        <p:nvSpPr>
          <p:cNvPr id="32" name="文本框 31">
            <a:extLst>
              <a:ext uri="{FF2B5EF4-FFF2-40B4-BE49-F238E27FC236}">
                <a16:creationId xmlns:a16="http://schemas.microsoft.com/office/drawing/2014/main" id="{C0E7DE63-E702-4F28-A252-81850F9C12BE}"/>
              </a:ext>
            </a:extLst>
          </p:cNvPr>
          <p:cNvSpPr txBox="1"/>
          <p:nvPr/>
        </p:nvSpPr>
        <p:spPr>
          <a:xfrm>
            <a:off x="5436096" y="908663"/>
            <a:ext cx="900100" cy="369332"/>
          </a:xfrm>
          <a:prstGeom prst="rect">
            <a:avLst/>
          </a:prstGeom>
          <a:noFill/>
        </p:spPr>
        <p:txBody>
          <a:bodyPr wrap="square" rtlCol="0">
            <a:spAutoFit/>
          </a:bodyPr>
          <a:lstStyle/>
          <a:p>
            <a:r>
              <a:rPr lang="en-US" altLang="zh-CN" dirty="0">
                <a:solidFill>
                  <a:srgbClr val="FF0000"/>
                </a:solidFill>
              </a:rPr>
              <a:t>IUA</a:t>
            </a:r>
            <a:endParaRPr lang="zh-CN" altLang="en-US" dirty="0">
              <a:solidFill>
                <a:srgbClr val="FF0000"/>
              </a:solidFill>
            </a:endParaRPr>
          </a:p>
        </p:txBody>
      </p:sp>
      <p:sp>
        <p:nvSpPr>
          <p:cNvPr id="33" name="文本框 32">
            <a:extLst>
              <a:ext uri="{FF2B5EF4-FFF2-40B4-BE49-F238E27FC236}">
                <a16:creationId xmlns:a16="http://schemas.microsoft.com/office/drawing/2014/main" id="{3F6CD4FE-F82A-47E8-92B0-5B6C05A82322}"/>
              </a:ext>
            </a:extLst>
          </p:cNvPr>
          <p:cNvSpPr txBox="1"/>
          <p:nvPr/>
        </p:nvSpPr>
        <p:spPr>
          <a:xfrm>
            <a:off x="5418096" y="539331"/>
            <a:ext cx="900100" cy="369332"/>
          </a:xfrm>
          <a:prstGeom prst="rect">
            <a:avLst/>
          </a:prstGeom>
          <a:noFill/>
        </p:spPr>
        <p:txBody>
          <a:bodyPr wrap="square" rtlCol="0">
            <a:spAutoFit/>
          </a:bodyPr>
          <a:lstStyle/>
          <a:p>
            <a:r>
              <a:rPr lang="en-US" altLang="zh-CN" dirty="0">
                <a:solidFill>
                  <a:schemeClr val="accent2">
                    <a:lumMod val="75000"/>
                  </a:schemeClr>
                </a:solidFill>
              </a:rPr>
              <a:t>GUA</a:t>
            </a:r>
            <a:endParaRPr lang="zh-CN" altLang="en-US" dirty="0">
              <a:solidFill>
                <a:schemeClr val="accent2">
                  <a:lumMod val="75000"/>
                </a:schemeClr>
              </a:solidFill>
            </a:endParaRPr>
          </a:p>
        </p:txBody>
      </p:sp>
      <p:sp>
        <p:nvSpPr>
          <p:cNvPr id="34" name="文本框 33">
            <a:extLst>
              <a:ext uri="{FF2B5EF4-FFF2-40B4-BE49-F238E27FC236}">
                <a16:creationId xmlns:a16="http://schemas.microsoft.com/office/drawing/2014/main" id="{4307764C-FFEC-4B63-B550-4D03D89879EC}"/>
              </a:ext>
            </a:extLst>
          </p:cNvPr>
          <p:cNvSpPr txBox="1"/>
          <p:nvPr/>
        </p:nvSpPr>
        <p:spPr>
          <a:xfrm>
            <a:off x="5406986" y="2268488"/>
            <a:ext cx="900100" cy="369332"/>
          </a:xfrm>
          <a:prstGeom prst="rect">
            <a:avLst/>
          </a:prstGeom>
          <a:noFill/>
        </p:spPr>
        <p:txBody>
          <a:bodyPr wrap="square" rtlCol="0">
            <a:spAutoFit/>
          </a:bodyPr>
          <a:lstStyle/>
          <a:p>
            <a:r>
              <a:rPr lang="en-US" altLang="zh-CN" dirty="0">
                <a:solidFill>
                  <a:srgbClr val="FF0000"/>
                </a:solidFill>
              </a:rPr>
              <a:t>IUG</a:t>
            </a:r>
            <a:endParaRPr lang="zh-CN" altLang="en-US" dirty="0">
              <a:solidFill>
                <a:srgbClr val="FF0000"/>
              </a:solidFill>
            </a:endParaRPr>
          </a:p>
        </p:txBody>
      </p:sp>
      <p:sp>
        <p:nvSpPr>
          <p:cNvPr id="35" name="文本框 34">
            <a:extLst>
              <a:ext uri="{FF2B5EF4-FFF2-40B4-BE49-F238E27FC236}">
                <a16:creationId xmlns:a16="http://schemas.microsoft.com/office/drawing/2014/main" id="{929F843D-244B-4602-ACEB-4430065A542A}"/>
              </a:ext>
            </a:extLst>
          </p:cNvPr>
          <p:cNvSpPr txBox="1"/>
          <p:nvPr/>
        </p:nvSpPr>
        <p:spPr>
          <a:xfrm>
            <a:off x="5406986" y="2952937"/>
            <a:ext cx="900100" cy="369332"/>
          </a:xfrm>
          <a:prstGeom prst="rect">
            <a:avLst/>
          </a:prstGeom>
          <a:noFill/>
        </p:spPr>
        <p:txBody>
          <a:bodyPr wrap="square" rtlCol="0">
            <a:spAutoFit/>
          </a:bodyPr>
          <a:lstStyle/>
          <a:p>
            <a:r>
              <a:rPr lang="en-US" altLang="zh-CN" dirty="0">
                <a:solidFill>
                  <a:srgbClr val="FF0000"/>
                </a:solidFill>
              </a:rPr>
              <a:t>UUG</a:t>
            </a:r>
            <a:endParaRPr lang="zh-CN" altLang="en-US" dirty="0">
              <a:solidFill>
                <a:srgbClr val="FF0000"/>
              </a:solidFill>
            </a:endParaRPr>
          </a:p>
        </p:txBody>
      </p:sp>
      <p:sp>
        <p:nvSpPr>
          <p:cNvPr id="36" name="文本框 35">
            <a:extLst>
              <a:ext uri="{FF2B5EF4-FFF2-40B4-BE49-F238E27FC236}">
                <a16:creationId xmlns:a16="http://schemas.microsoft.com/office/drawing/2014/main" id="{5F8F495E-220D-4728-84DB-2EF3215B947A}"/>
              </a:ext>
            </a:extLst>
          </p:cNvPr>
          <p:cNvSpPr txBox="1"/>
          <p:nvPr/>
        </p:nvSpPr>
        <p:spPr>
          <a:xfrm>
            <a:off x="5451401" y="4285268"/>
            <a:ext cx="900100" cy="369332"/>
          </a:xfrm>
          <a:prstGeom prst="rect">
            <a:avLst/>
          </a:prstGeom>
          <a:noFill/>
        </p:spPr>
        <p:txBody>
          <a:bodyPr wrap="square" rtlCol="0">
            <a:spAutoFit/>
          </a:bodyPr>
          <a:lstStyle/>
          <a:p>
            <a:r>
              <a:rPr lang="en-US" altLang="zh-CN" dirty="0">
                <a:solidFill>
                  <a:srgbClr val="FF0000"/>
                </a:solidFill>
              </a:rPr>
              <a:t>UUU</a:t>
            </a:r>
            <a:endParaRPr lang="zh-CN" altLang="en-US" dirty="0">
              <a:solidFill>
                <a:srgbClr val="FF0000"/>
              </a:solidFill>
            </a:endParaRPr>
          </a:p>
        </p:txBody>
      </p:sp>
      <p:sp>
        <p:nvSpPr>
          <p:cNvPr id="37" name="文本框 36">
            <a:extLst>
              <a:ext uri="{FF2B5EF4-FFF2-40B4-BE49-F238E27FC236}">
                <a16:creationId xmlns:a16="http://schemas.microsoft.com/office/drawing/2014/main" id="{81A9F23E-E188-4B86-B58D-5CC7D9225A51}"/>
              </a:ext>
            </a:extLst>
          </p:cNvPr>
          <p:cNvSpPr txBox="1"/>
          <p:nvPr/>
        </p:nvSpPr>
        <p:spPr>
          <a:xfrm>
            <a:off x="5406986" y="3635872"/>
            <a:ext cx="900100" cy="369332"/>
          </a:xfrm>
          <a:prstGeom prst="rect">
            <a:avLst/>
          </a:prstGeom>
          <a:noFill/>
        </p:spPr>
        <p:txBody>
          <a:bodyPr wrap="square" rtlCol="0">
            <a:spAutoFit/>
          </a:bodyPr>
          <a:lstStyle/>
          <a:p>
            <a:r>
              <a:rPr lang="en-US" altLang="zh-CN" dirty="0">
                <a:solidFill>
                  <a:srgbClr val="FF0000"/>
                </a:solidFill>
              </a:rPr>
              <a:t>IUU</a:t>
            </a:r>
            <a:endParaRPr lang="zh-CN" altLang="en-US" dirty="0">
              <a:solidFill>
                <a:srgbClr val="FF0000"/>
              </a:solidFill>
            </a:endParaRPr>
          </a:p>
        </p:txBody>
      </p:sp>
      <p:sp>
        <p:nvSpPr>
          <p:cNvPr id="38" name="文本框 37">
            <a:extLst>
              <a:ext uri="{FF2B5EF4-FFF2-40B4-BE49-F238E27FC236}">
                <a16:creationId xmlns:a16="http://schemas.microsoft.com/office/drawing/2014/main" id="{73C6AC0D-6F55-4697-92D0-9228D1900718}"/>
              </a:ext>
            </a:extLst>
          </p:cNvPr>
          <p:cNvSpPr txBox="1"/>
          <p:nvPr/>
        </p:nvSpPr>
        <p:spPr>
          <a:xfrm>
            <a:off x="5406986" y="5003101"/>
            <a:ext cx="900100" cy="369332"/>
          </a:xfrm>
          <a:prstGeom prst="rect">
            <a:avLst/>
          </a:prstGeom>
          <a:noFill/>
        </p:spPr>
        <p:txBody>
          <a:bodyPr wrap="square" rtlCol="0">
            <a:spAutoFit/>
          </a:bodyPr>
          <a:lstStyle/>
          <a:p>
            <a:r>
              <a:rPr lang="en-US" altLang="zh-CN" dirty="0">
                <a:solidFill>
                  <a:srgbClr val="FF0000"/>
                </a:solidFill>
              </a:rPr>
              <a:t>IUC</a:t>
            </a:r>
            <a:endParaRPr lang="zh-CN" altLang="en-US" dirty="0">
              <a:solidFill>
                <a:srgbClr val="FF0000"/>
              </a:solidFill>
            </a:endParaRPr>
          </a:p>
        </p:txBody>
      </p:sp>
      <p:sp>
        <p:nvSpPr>
          <p:cNvPr id="39" name="文本框 38">
            <a:extLst>
              <a:ext uri="{FF2B5EF4-FFF2-40B4-BE49-F238E27FC236}">
                <a16:creationId xmlns:a16="http://schemas.microsoft.com/office/drawing/2014/main" id="{9313205B-45E0-41ED-9FA0-B7EE736778FB}"/>
              </a:ext>
            </a:extLst>
          </p:cNvPr>
          <p:cNvSpPr txBox="1"/>
          <p:nvPr/>
        </p:nvSpPr>
        <p:spPr>
          <a:xfrm>
            <a:off x="5376940" y="5684788"/>
            <a:ext cx="900100" cy="369332"/>
          </a:xfrm>
          <a:prstGeom prst="rect">
            <a:avLst/>
          </a:prstGeom>
          <a:noFill/>
        </p:spPr>
        <p:txBody>
          <a:bodyPr wrap="square" rtlCol="0">
            <a:spAutoFit/>
          </a:bodyPr>
          <a:lstStyle/>
          <a:p>
            <a:r>
              <a:rPr lang="en-US" altLang="zh-CN" dirty="0">
                <a:solidFill>
                  <a:srgbClr val="FF0000"/>
                </a:solidFill>
              </a:rPr>
              <a:t>UUC</a:t>
            </a:r>
            <a:endParaRPr lang="zh-CN" altLang="en-US" dirty="0">
              <a:solidFill>
                <a:srgbClr val="FF0000"/>
              </a:solidFill>
            </a:endParaRPr>
          </a:p>
        </p:txBody>
      </p:sp>
      <p:sp>
        <p:nvSpPr>
          <p:cNvPr id="40" name="文本框 39">
            <a:extLst>
              <a:ext uri="{FF2B5EF4-FFF2-40B4-BE49-F238E27FC236}">
                <a16:creationId xmlns:a16="http://schemas.microsoft.com/office/drawing/2014/main" id="{59B47A68-F5B4-4217-AB54-E92FB9707E91}"/>
              </a:ext>
            </a:extLst>
          </p:cNvPr>
          <p:cNvSpPr txBox="1"/>
          <p:nvPr/>
        </p:nvSpPr>
        <p:spPr>
          <a:xfrm>
            <a:off x="6732240" y="865588"/>
            <a:ext cx="900100" cy="369332"/>
          </a:xfrm>
          <a:prstGeom prst="rect">
            <a:avLst/>
          </a:prstGeom>
          <a:noFill/>
        </p:spPr>
        <p:txBody>
          <a:bodyPr wrap="square" rtlCol="0">
            <a:spAutoFit/>
          </a:bodyPr>
          <a:lstStyle/>
          <a:p>
            <a:r>
              <a:rPr lang="en-US" altLang="zh-CN" dirty="0">
                <a:solidFill>
                  <a:srgbClr val="FF0000"/>
                </a:solidFill>
              </a:rPr>
              <a:t>ICA</a:t>
            </a:r>
            <a:endParaRPr lang="zh-CN" altLang="en-US" dirty="0">
              <a:solidFill>
                <a:srgbClr val="FF0000"/>
              </a:solidFill>
            </a:endParaRPr>
          </a:p>
        </p:txBody>
      </p:sp>
      <p:sp>
        <p:nvSpPr>
          <p:cNvPr id="41" name="文本框 40">
            <a:extLst>
              <a:ext uri="{FF2B5EF4-FFF2-40B4-BE49-F238E27FC236}">
                <a16:creationId xmlns:a16="http://schemas.microsoft.com/office/drawing/2014/main" id="{414C25AF-EA27-4B0A-A1DD-BE3B01FF5F07}"/>
              </a:ext>
            </a:extLst>
          </p:cNvPr>
          <p:cNvSpPr txBox="1"/>
          <p:nvPr/>
        </p:nvSpPr>
        <p:spPr>
          <a:xfrm>
            <a:off x="7527997" y="1922087"/>
            <a:ext cx="900100" cy="369332"/>
          </a:xfrm>
          <a:prstGeom prst="rect">
            <a:avLst/>
          </a:prstGeom>
          <a:noFill/>
        </p:spPr>
        <p:txBody>
          <a:bodyPr wrap="square" rtlCol="0">
            <a:spAutoFit/>
          </a:bodyPr>
          <a:lstStyle/>
          <a:p>
            <a:r>
              <a:rPr lang="en-US" altLang="zh-CN" dirty="0">
                <a:solidFill>
                  <a:srgbClr val="FF0000"/>
                </a:solidFill>
              </a:rPr>
              <a:t>ACC</a:t>
            </a:r>
            <a:endParaRPr lang="zh-CN" altLang="en-US" dirty="0">
              <a:solidFill>
                <a:srgbClr val="FF0000"/>
              </a:solidFill>
            </a:endParaRPr>
          </a:p>
        </p:txBody>
      </p:sp>
      <p:sp>
        <p:nvSpPr>
          <p:cNvPr id="42" name="文本框 41">
            <a:extLst>
              <a:ext uri="{FF2B5EF4-FFF2-40B4-BE49-F238E27FC236}">
                <a16:creationId xmlns:a16="http://schemas.microsoft.com/office/drawing/2014/main" id="{198CF189-0DA7-477B-8CF8-030B1254C6BA}"/>
              </a:ext>
            </a:extLst>
          </p:cNvPr>
          <p:cNvSpPr txBox="1"/>
          <p:nvPr/>
        </p:nvSpPr>
        <p:spPr>
          <a:xfrm>
            <a:off x="6673043" y="2449784"/>
            <a:ext cx="900100" cy="369332"/>
          </a:xfrm>
          <a:prstGeom prst="rect">
            <a:avLst/>
          </a:prstGeom>
          <a:noFill/>
        </p:spPr>
        <p:txBody>
          <a:bodyPr wrap="square" rtlCol="0">
            <a:spAutoFit/>
          </a:bodyPr>
          <a:lstStyle/>
          <a:p>
            <a:r>
              <a:rPr lang="en-US" altLang="zh-CN" dirty="0">
                <a:solidFill>
                  <a:srgbClr val="FF0000"/>
                </a:solidFill>
              </a:rPr>
              <a:t>ICG</a:t>
            </a:r>
            <a:endParaRPr lang="zh-CN" altLang="en-US" dirty="0">
              <a:solidFill>
                <a:srgbClr val="FF0000"/>
              </a:solidFill>
            </a:endParaRPr>
          </a:p>
        </p:txBody>
      </p:sp>
      <p:sp>
        <p:nvSpPr>
          <p:cNvPr id="43" name="文本框 42">
            <a:extLst>
              <a:ext uri="{FF2B5EF4-FFF2-40B4-BE49-F238E27FC236}">
                <a16:creationId xmlns:a16="http://schemas.microsoft.com/office/drawing/2014/main" id="{1FF5FA97-8E81-4BEE-9A2A-CD3C0FE79ED3}"/>
              </a:ext>
            </a:extLst>
          </p:cNvPr>
          <p:cNvSpPr txBox="1"/>
          <p:nvPr/>
        </p:nvSpPr>
        <p:spPr>
          <a:xfrm>
            <a:off x="6684118" y="3333351"/>
            <a:ext cx="900100" cy="369332"/>
          </a:xfrm>
          <a:prstGeom prst="rect">
            <a:avLst/>
          </a:prstGeom>
          <a:noFill/>
        </p:spPr>
        <p:txBody>
          <a:bodyPr wrap="square" rtlCol="0">
            <a:spAutoFit/>
          </a:bodyPr>
          <a:lstStyle/>
          <a:p>
            <a:r>
              <a:rPr lang="en-US" altLang="zh-CN" dirty="0">
                <a:solidFill>
                  <a:srgbClr val="FF0000"/>
                </a:solidFill>
              </a:rPr>
              <a:t>CCG</a:t>
            </a:r>
            <a:endParaRPr lang="zh-CN" altLang="en-US" dirty="0">
              <a:solidFill>
                <a:srgbClr val="FF0000"/>
              </a:solidFill>
            </a:endParaRPr>
          </a:p>
        </p:txBody>
      </p:sp>
      <p:sp>
        <p:nvSpPr>
          <p:cNvPr id="44" name="文本框 43">
            <a:extLst>
              <a:ext uri="{FF2B5EF4-FFF2-40B4-BE49-F238E27FC236}">
                <a16:creationId xmlns:a16="http://schemas.microsoft.com/office/drawing/2014/main" id="{7F7409AD-FC6E-4936-924A-9168722BA560}"/>
              </a:ext>
            </a:extLst>
          </p:cNvPr>
          <p:cNvSpPr txBox="1"/>
          <p:nvPr/>
        </p:nvSpPr>
        <p:spPr>
          <a:xfrm>
            <a:off x="7227422" y="3861048"/>
            <a:ext cx="900100" cy="369332"/>
          </a:xfrm>
          <a:prstGeom prst="rect">
            <a:avLst/>
          </a:prstGeom>
          <a:noFill/>
        </p:spPr>
        <p:txBody>
          <a:bodyPr wrap="square" rtlCol="0">
            <a:spAutoFit/>
          </a:bodyPr>
          <a:lstStyle/>
          <a:p>
            <a:r>
              <a:rPr lang="en-US" altLang="zh-CN" dirty="0">
                <a:solidFill>
                  <a:srgbClr val="FF0000"/>
                </a:solidFill>
              </a:rPr>
              <a:t>GCU</a:t>
            </a:r>
            <a:endParaRPr lang="zh-CN" altLang="en-US" dirty="0">
              <a:solidFill>
                <a:srgbClr val="FF0000"/>
              </a:solidFill>
            </a:endParaRPr>
          </a:p>
        </p:txBody>
      </p:sp>
      <p:sp>
        <p:nvSpPr>
          <p:cNvPr id="45" name="文本框 44">
            <a:extLst>
              <a:ext uri="{FF2B5EF4-FFF2-40B4-BE49-F238E27FC236}">
                <a16:creationId xmlns:a16="http://schemas.microsoft.com/office/drawing/2014/main" id="{8BBA0CC3-8A2B-4A21-BE9C-79A9FB52458F}"/>
              </a:ext>
            </a:extLst>
          </p:cNvPr>
          <p:cNvSpPr txBox="1"/>
          <p:nvPr/>
        </p:nvSpPr>
        <p:spPr>
          <a:xfrm>
            <a:off x="7266209" y="4540478"/>
            <a:ext cx="900100" cy="369332"/>
          </a:xfrm>
          <a:prstGeom prst="rect">
            <a:avLst/>
          </a:prstGeom>
          <a:noFill/>
        </p:spPr>
        <p:txBody>
          <a:bodyPr wrap="square" rtlCol="0">
            <a:spAutoFit/>
          </a:bodyPr>
          <a:lstStyle/>
          <a:p>
            <a:r>
              <a:rPr lang="en-US" altLang="zh-CN" dirty="0">
                <a:solidFill>
                  <a:srgbClr val="FF0000"/>
                </a:solidFill>
              </a:rPr>
              <a:t>UCU</a:t>
            </a:r>
            <a:endParaRPr lang="zh-CN" altLang="en-US" dirty="0">
              <a:solidFill>
                <a:srgbClr val="FF0000"/>
              </a:solidFill>
            </a:endParaRPr>
          </a:p>
        </p:txBody>
      </p:sp>
      <p:sp>
        <p:nvSpPr>
          <p:cNvPr id="46" name="文本框 45">
            <a:extLst>
              <a:ext uri="{FF2B5EF4-FFF2-40B4-BE49-F238E27FC236}">
                <a16:creationId xmlns:a16="http://schemas.microsoft.com/office/drawing/2014/main" id="{DDD8693C-9D33-4B4D-A58A-6183FFA4DBD1}"/>
              </a:ext>
            </a:extLst>
          </p:cNvPr>
          <p:cNvSpPr txBox="1"/>
          <p:nvPr/>
        </p:nvSpPr>
        <p:spPr>
          <a:xfrm>
            <a:off x="6673043" y="5243929"/>
            <a:ext cx="900100" cy="369332"/>
          </a:xfrm>
          <a:prstGeom prst="rect">
            <a:avLst/>
          </a:prstGeom>
          <a:noFill/>
        </p:spPr>
        <p:txBody>
          <a:bodyPr wrap="square" rtlCol="0">
            <a:spAutoFit/>
          </a:bodyPr>
          <a:lstStyle/>
          <a:p>
            <a:r>
              <a:rPr lang="en-US" altLang="zh-CN" dirty="0">
                <a:solidFill>
                  <a:srgbClr val="FF0000"/>
                </a:solidFill>
              </a:rPr>
              <a:t>ICC</a:t>
            </a:r>
            <a:endParaRPr lang="zh-CN" altLang="en-US" dirty="0">
              <a:solidFill>
                <a:srgbClr val="FF0000"/>
              </a:solidFill>
            </a:endParaRPr>
          </a:p>
        </p:txBody>
      </p:sp>
      <p:sp>
        <p:nvSpPr>
          <p:cNvPr id="47" name="文本框 46">
            <a:extLst>
              <a:ext uri="{FF2B5EF4-FFF2-40B4-BE49-F238E27FC236}">
                <a16:creationId xmlns:a16="http://schemas.microsoft.com/office/drawing/2014/main" id="{05B7C413-E19E-47F5-BDFC-EFCD2BFA0045}"/>
              </a:ext>
            </a:extLst>
          </p:cNvPr>
          <p:cNvSpPr txBox="1"/>
          <p:nvPr/>
        </p:nvSpPr>
        <p:spPr>
          <a:xfrm>
            <a:off x="6714238" y="6107791"/>
            <a:ext cx="900100" cy="369332"/>
          </a:xfrm>
          <a:prstGeom prst="rect">
            <a:avLst/>
          </a:prstGeom>
          <a:noFill/>
        </p:spPr>
        <p:txBody>
          <a:bodyPr wrap="square" rtlCol="0">
            <a:spAutoFit/>
          </a:bodyPr>
          <a:lstStyle/>
          <a:p>
            <a:r>
              <a:rPr lang="en-US" altLang="zh-CN" dirty="0">
                <a:solidFill>
                  <a:srgbClr val="FF0000"/>
                </a:solidFill>
              </a:rPr>
              <a:t>CCC</a:t>
            </a:r>
            <a:endParaRPr lang="zh-CN" altLang="en-US" dirty="0">
              <a:solidFill>
                <a:srgbClr val="FF0000"/>
              </a:solidFill>
            </a:endParaRPr>
          </a:p>
        </p:txBody>
      </p:sp>
    </p:spTree>
    <p:extLst>
      <p:ext uri="{BB962C8B-B14F-4D97-AF65-F5344CB8AC3E}">
        <p14:creationId xmlns:p14="http://schemas.microsoft.com/office/powerpoint/2010/main" val="2542317584"/>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8391</TotalTime>
  <Words>4034</Words>
  <Application>Microsoft Office PowerPoint</Application>
  <PresentationFormat>全屏显示(4:3)</PresentationFormat>
  <Paragraphs>570</Paragraphs>
  <Slides>119</Slides>
  <Notes>83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119</vt:i4>
      </vt:variant>
    </vt:vector>
  </HeadingPairs>
  <TitlesOfParts>
    <vt:vector size="131" baseType="lpstr">
      <vt:lpstr>Century-Light</vt:lpstr>
      <vt:lpstr>华文楷体</vt:lpstr>
      <vt:lpstr>Arial</vt:lpstr>
      <vt:lpstr>Arial Narrow</vt:lpstr>
      <vt:lpstr>Calibri</vt:lpstr>
      <vt:lpstr>Comic Sans MS</vt:lpstr>
      <vt:lpstr>Tahoma</vt:lpstr>
      <vt:lpstr>Times</vt:lpstr>
      <vt:lpstr>Times New Roman</vt:lpstr>
      <vt:lpstr>Wingdings</vt:lpstr>
      <vt:lpstr>shand</vt:lpstr>
      <vt:lpstr>Image</vt:lpstr>
      <vt:lpstr>Section H    Protein synthesis </vt:lpstr>
      <vt:lpstr>PowerPoint 演示文稿</vt:lpstr>
      <vt:lpstr>PowerPoint 演示文稿</vt:lpstr>
      <vt:lpstr>Brief history of discovery of genetic central dogma</vt:lpstr>
      <vt:lpstr>PowerPoint 演示文稿</vt:lpstr>
      <vt:lpstr>PowerPoint 演示文稿</vt:lpstr>
      <vt:lpstr>1. Translation (protein synthesis) necessitates the coordinated interplay of about 300 macromolecules in the cells</vt:lpstr>
      <vt:lpstr> </vt:lpstr>
      <vt:lpstr>2. The molecular mechanism of protein synthesis was mainly revealed during the 2nd half of the 20th century</vt:lpstr>
      <vt:lpstr> </vt:lpstr>
      <vt:lpstr>PowerPoint 演示文稿</vt:lpstr>
      <vt:lpstr>PowerPoint 演示文稿</vt:lpstr>
      <vt:lpstr>PowerPoint 演示文稿</vt:lpstr>
      <vt:lpstr>1. Amino acids in a polypeptide chain were found to be coded by groups of three nucleotides in a mRNA</vt:lpstr>
      <vt:lpstr>PowerPoint 演示文稿</vt:lpstr>
      <vt:lpstr>PowerPoint 演示文稿</vt:lpstr>
      <vt:lpstr>PowerPoint 演示文稿</vt:lpstr>
      <vt:lpstr>PowerPoint 演示文稿</vt:lpstr>
      <vt:lpstr>PowerPoint 演示文稿</vt:lpstr>
      <vt:lpstr>2. All 64 triplet codes were deciphered by 1966</vt:lpstr>
      <vt:lpstr> </vt:lpstr>
      <vt:lpstr>PowerPoint 演示文稿</vt:lpstr>
      <vt:lpstr>PowerPoint 演示文稿</vt:lpstr>
      <vt:lpstr>3. The genetic code has been proved to be nearly(not absolutely) universal</vt:lpstr>
      <vt:lpstr>PowerPoint 演示文稿</vt:lpstr>
      <vt:lpstr>PowerPoint 演示文稿</vt:lpstr>
      <vt:lpstr>PowerPoint 演示文稿</vt:lpstr>
      <vt:lpstr>1. Three kinds of RNA molecules perform different but cooperative functions in protein synthesis</vt:lpstr>
      <vt:lpstr>PowerPoint 演示文稿</vt:lpstr>
      <vt:lpstr>PowerPoint 演示文稿</vt:lpstr>
      <vt:lpstr>PowerPoint 演示文稿</vt:lpstr>
      <vt:lpstr>3. Some tRNA molecules can recognize more than one codons via wobble pairing</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The synthesis of a protein can be divided into five stages</vt:lpstr>
      <vt:lpstr>PowerPoint 演示文稿</vt:lpstr>
      <vt:lpstr>5. The 20 aminoacyl-tRNA synthetases attach the 20 amino acids to one or more specific tRNAs (stage 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 The polypeptide chain is elongated via a repeating three-step reactions (stage3)</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8. Polypeptide synthesis is terminated by release factors that read the stop codons</vt:lpstr>
      <vt:lpstr>PowerPoint 演示文稿</vt:lpstr>
      <vt:lpstr>9. At least four high-energy bonds are ultimately consumed for the formation of each specific peptide bond</vt:lpstr>
      <vt:lpstr>10. Each mRNA is usually  translated simultaneously by many ribosomes (as polysomes)</vt:lpstr>
      <vt:lpstr>PowerPoint 演示文稿</vt:lpstr>
      <vt:lpstr>PowerPoint 演示文稿</vt:lpstr>
      <vt:lpstr>PowerPoint 演示文稿</vt:lpstr>
      <vt:lpstr>PowerPoint 演示文稿</vt:lpstr>
      <vt:lpstr>PowerPoint 演示文稿</vt:lpstr>
      <vt:lpstr>PowerPoint 演示文稿</vt:lpstr>
      <vt:lpstr>12. The newly synthesized polypeptide chains need to be folded, assembled, and processed to make a functional protein (stage 5)</vt:lpstr>
      <vt:lpstr>Disulfide bonds are formed and rearranged in the ER lumen</vt:lpstr>
      <vt:lpstr> </vt:lpstr>
      <vt:lpstr> </vt:lpstr>
      <vt:lpstr>PowerPoint 演示文稿</vt:lpstr>
      <vt:lpstr>PowerPoint 演示文稿</vt:lpstr>
      <vt:lpstr>PowerPoint 演示文稿</vt:lpstr>
      <vt:lpstr>PowerPoint 演示文稿</vt:lpstr>
      <vt:lpstr>Summary </vt:lpstr>
      <vt:lpstr>PowerPoint 演示文稿</vt:lpstr>
      <vt:lpstr>H4  Protein Targeting</vt:lpstr>
      <vt:lpstr>How does a protein get to the correct cellular location?</vt:lpstr>
      <vt:lpstr>PowerPoint 演示文稿</vt:lpstr>
      <vt:lpstr>Protein Targetting</vt:lpstr>
      <vt:lpstr>PowerPoint 演示文稿</vt:lpstr>
      <vt:lpstr>PowerPoint 演示文稿</vt:lpstr>
      <vt:lpstr>Protein Targeting: How do secreted proteins get to the ER membrane? </vt:lpstr>
      <vt:lpstr>PowerPoint 演示文稿</vt:lpstr>
      <vt:lpstr>Early experiments: An N-terminal signal sequence on nascent secretory proteins targets synthesis to the ER and is then cleaved.</vt:lpstr>
      <vt:lpstr>Signal sequences usually contain 1 or more + charged amino acids followed by a stretch of hydrophobic residues</vt:lpstr>
      <vt:lpstr>The ER targeting mechanism requires two special receptor proteins:</vt:lpstr>
      <vt:lpstr>Translation of secretory mRNA begins on free ribosomes</vt:lpstr>
      <vt:lpstr>SRP receptor initiates the interaction of signal sequences with the ER membrane</vt:lpstr>
      <vt:lpstr>Secretory proteins move from the Rough ER lumen through Golgi complex and then to cell surface by vesicle mediated transport </vt:lpstr>
      <vt:lpstr>PowerPoint 演示文稿</vt:lpstr>
      <vt:lpstr>PowerPoint 演示文稿</vt:lpstr>
      <vt:lpstr>All proteins encoded by nuclear DNA are first translated on free cytoplasmic ribosomes</vt:lpstr>
      <vt:lpstr>Most proteins synthesized in the Rough ER  are glycosylated by a core oligosaccharide. </vt:lpstr>
      <vt:lpstr>PowerPoint 演示文稿</vt:lpstr>
      <vt:lpstr>PowerPoint 演示文稿</vt:lpstr>
      <vt:lpstr>PowerPoint 演示文稿</vt:lpstr>
      <vt:lpstr>PowerPoint 演示文稿</vt:lpstr>
      <vt:lpstr>The core oligosaccharide used for N-linked glycosylation is assembled onto the polyisoprenoid lipid, dolichol pyrophosphate.</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洛冰 韩</cp:lastModifiedBy>
  <cp:revision>305</cp:revision>
  <dcterms:created xsi:type="dcterms:W3CDTF">2014-10-13T11:37:17Z</dcterms:created>
  <dcterms:modified xsi:type="dcterms:W3CDTF">2023-12-27T06:37:21Z</dcterms:modified>
</cp:coreProperties>
</file>