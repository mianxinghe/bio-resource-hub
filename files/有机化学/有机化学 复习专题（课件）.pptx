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1" r:id="rId1"/>
    <p:sldMasterId id="2147483987" r:id="rId2"/>
    <p:sldMasterId id="2147483983" r:id="rId3"/>
    <p:sldMasterId id="2147483997" r:id="rId4"/>
    <p:sldMasterId id="2147483682" r:id="rId5"/>
  </p:sldMasterIdLst>
  <p:notesMasterIdLst>
    <p:notesMasterId r:id="rId72"/>
  </p:notesMasterIdLst>
  <p:sldIdLst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37" r:id="rId24"/>
    <p:sldId id="338" r:id="rId25"/>
    <p:sldId id="339" r:id="rId26"/>
    <p:sldId id="340" r:id="rId27"/>
    <p:sldId id="341" r:id="rId28"/>
    <p:sldId id="342" r:id="rId29"/>
    <p:sldId id="343" r:id="rId30"/>
    <p:sldId id="344" r:id="rId31"/>
    <p:sldId id="345" r:id="rId32"/>
    <p:sldId id="346" r:id="rId33"/>
    <p:sldId id="347" r:id="rId34"/>
    <p:sldId id="348" r:id="rId35"/>
    <p:sldId id="349" r:id="rId36"/>
    <p:sldId id="350" r:id="rId37"/>
    <p:sldId id="351" r:id="rId38"/>
    <p:sldId id="352" r:id="rId39"/>
    <p:sldId id="353" r:id="rId40"/>
    <p:sldId id="354" r:id="rId41"/>
    <p:sldId id="355" r:id="rId42"/>
    <p:sldId id="356" r:id="rId43"/>
    <p:sldId id="357" r:id="rId44"/>
    <p:sldId id="438" r:id="rId45"/>
    <p:sldId id="439" r:id="rId46"/>
    <p:sldId id="440" r:id="rId47"/>
    <p:sldId id="441" r:id="rId48"/>
    <p:sldId id="419" r:id="rId49"/>
    <p:sldId id="420" r:id="rId50"/>
    <p:sldId id="421" r:id="rId51"/>
    <p:sldId id="422" r:id="rId52"/>
    <p:sldId id="423" r:id="rId53"/>
    <p:sldId id="424" r:id="rId54"/>
    <p:sldId id="425" r:id="rId55"/>
    <p:sldId id="427" r:id="rId56"/>
    <p:sldId id="428" r:id="rId57"/>
    <p:sldId id="429" r:id="rId58"/>
    <p:sldId id="430" r:id="rId59"/>
    <p:sldId id="431" r:id="rId60"/>
    <p:sldId id="436" r:id="rId61"/>
    <p:sldId id="407" r:id="rId62"/>
    <p:sldId id="408" r:id="rId63"/>
    <p:sldId id="409" r:id="rId64"/>
    <p:sldId id="410" r:id="rId65"/>
    <p:sldId id="411" r:id="rId66"/>
    <p:sldId id="412" r:id="rId67"/>
    <p:sldId id="413" r:id="rId68"/>
    <p:sldId id="414" r:id="rId69"/>
    <p:sldId id="415" r:id="rId70"/>
    <p:sldId id="416" r:id="rId7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0000"/>
    <a:srgbClr val="006666"/>
    <a:srgbClr val="A50021"/>
    <a:srgbClr val="9933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565" autoAdjust="0"/>
    <p:restoredTop sz="94660" autoAdjust="0"/>
  </p:normalViewPr>
  <p:slideViewPr>
    <p:cSldViewPr>
      <p:cViewPr varScale="1">
        <p:scale>
          <a:sx n="99" d="100"/>
          <a:sy n="99" d="100"/>
        </p:scale>
        <p:origin x="44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76" Type="http://schemas.openxmlformats.org/officeDocument/2006/relationships/tableStyles" Target="tableStyle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61" Type="http://schemas.openxmlformats.org/officeDocument/2006/relationships/slide" Target="slides/slide56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页眉占位符 26625">
            <a:extLst>
              <a:ext uri="{FF2B5EF4-FFF2-40B4-BE49-F238E27FC236}">
                <a16:creationId xmlns:a16="http://schemas.microsoft.com/office/drawing/2014/main" id="{FD810926-CE8C-4130-85B8-8AFAAFB118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6627" name="日期占位符 26626">
            <a:extLst>
              <a:ext uri="{FF2B5EF4-FFF2-40B4-BE49-F238E27FC236}">
                <a16:creationId xmlns:a16="http://schemas.microsoft.com/office/drawing/2014/main" id="{2EF623A0-531F-4A8A-92BC-3C681D59D6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388" name="幻灯片图像占位符 26627">
            <a:extLst>
              <a:ext uri="{FF2B5EF4-FFF2-40B4-BE49-F238E27FC236}">
                <a16:creationId xmlns:a16="http://schemas.microsoft.com/office/drawing/2014/main" id="{B6575AB9-7D28-4BA2-98A7-46478E2C7C6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文本占位符 26628">
            <a:extLst>
              <a:ext uri="{FF2B5EF4-FFF2-40B4-BE49-F238E27FC236}">
                <a16:creationId xmlns:a16="http://schemas.microsoft.com/office/drawing/2014/main" id="{3FD86256-7748-4743-BF22-D5F3F62616D0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630" name="页脚占位符 26629">
            <a:extLst>
              <a:ext uri="{FF2B5EF4-FFF2-40B4-BE49-F238E27FC236}">
                <a16:creationId xmlns:a16="http://schemas.microsoft.com/office/drawing/2014/main" id="{ADABF950-C7E8-4223-9D1A-9EE7966BADF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eaLnBrk="1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6631" name="灯片编号占位符 26630">
            <a:extLst>
              <a:ext uri="{FF2B5EF4-FFF2-40B4-BE49-F238E27FC236}">
                <a16:creationId xmlns:a16="http://schemas.microsoft.com/office/drawing/2014/main" id="{460A6097-5A70-4493-8013-AF969531B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 smtClean="0"/>
            </a:lvl1pPr>
          </a:lstStyle>
          <a:p>
            <a:pPr>
              <a:defRPr/>
            </a:pPr>
            <a:fld id="{758698EB-14AC-4693-BEB8-91B574A302D1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200" y="2857500"/>
            <a:ext cx="8229600" cy="1143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195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3661774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854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581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200" y="2857500"/>
            <a:ext cx="8229600" cy="1143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195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104572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398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54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535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74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9806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5256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9EE907-97CD-4D58-A099-92EB11E962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B0F50D-9846-4572-999E-95A6011C3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34162C-F44A-494D-ADAF-3B93283E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60109F3-2C85-407D-B46F-90170E5A0076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8011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06D349-DFE8-4357-97AE-49DDE5D8B3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4DF6AB-893A-4F4A-B3D3-093A1A65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272323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9AAD6F-01D9-4DF1-9223-EC56BCE1EC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12656A-2C40-45B8-9847-3159976AA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C99511-ED49-4B9A-BB73-2DE255CB3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32C24AE-72EB-4445-B142-62A9495B1B73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35810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A61FFB-6EA9-486F-A211-2B3A23763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21499-FCCE-4771-A35D-59909CE4A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AE5243-F4D9-440C-AD52-97029EE71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E9C10B9-4FB0-480A-91EA-9E3C6CBBB006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37838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AB7A8C3-BCC8-4A7D-B676-03F8684DAB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2F2B70-D071-424A-AF20-72576D5F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26AFF0-B456-4C0A-A583-44ECE4C52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0F35649-ED4A-48AB-A982-E13391D4BFDF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58168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510E13-32FA-4014-8627-AFA6BDF243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886366-BFC7-4E9C-857B-38F264911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CD11D8-2AC1-42C9-820D-DC8D9AEBD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F353FD9-E40B-4FBE-9F9C-613FA04F1CDB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03303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19139">
            <a:extLst>
              <a:ext uri="{FF2B5EF4-FFF2-40B4-BE49-F238E27FC236}">
                <a16:creationId xmlns:a16="http://schemas.microsoft.com/office/drawing/2014/main" id="{813AE94F-D9AE-4933-8E7B-2E777853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2FCA01-6E46-42E2-80C1-08103A79E82D}" type="datetime1">
              <a:rPr lang="zh-CN" altLang="en-US"/>
              <a:pPr>
                <a:defRPr/>
              </a:pPr>
              <a:t>2024/4/24</a:t>
            </a:fld>
            <a:endParaRPr lang="zh-CN" altLang="en-US"/>
          </a:p>
        </p:txBody>
      </p:sp>
      <p:sp>
        <p:nvSpPr>
          <p:cNvPr id="3" name="页脚占位符 219140">
            <a:extLst>
              <a:ext uri="{FF2B5EF4-FFF2-40B4-BE49-F238E27FC236}">
                <a16:creationId xmlns:a16="http://schemas.microsoft.com/office/drawing/2014/main" id="{B353DF81-EEAB-4694-9A19-45C18F3E1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灯片编号占位符 219141">
            <a:extLst>
              <a:ext uri="{FF2B5EF4-FFF2-40B4-BE49-F238E27FC236}">
                <a16:creationId xmlns:a16="http://schemas.microsoft.com/office/drawing/2014/main" id="{9020EEE9-DAC4-496F-B9C1-EC027516B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6B6530-9CEF-44BF-8B37-D79A55A8E4FE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847360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E868E7-EAEE-4F61-B6FD-5D902CBF8C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814AE5-6324-4F4E-8C47-DABF7B22E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750228-83F5-4B40-AD82-C06D827F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9D77E4D-1A68-4571-920D-56F089DFFF65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30340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A3A11B-6287-4F0E-8AA1-CB6743667A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D82F8B-F0B4-4045-979B-39D92F4E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C9F5EF-D619-49C3-9DD7-B3DAF186B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C1440B0-599F-4826-9C6F-9C57D8F0B596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71314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32C995-2124-4910-B671-14C3E8266E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01818A-6391-43C9-9F37-E8F601F30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71D61A-7587-4608-B0A8-094F4B36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AABD1F-677A-4303-9F5D-CA659647A160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843775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98A4F4-6614-4B5D-BE33-4F3A146400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1FE8A-28A3-40BB-909C-BCA2CD6B2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586CAC-5FCF-4355-80A7-418D7AE41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6E43FF7-163D-4EE8-BC20-8365649413B2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24761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18986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9EE907-97CD-4D58-A099-92EB11E96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B0F50D-9846-4572-999E-95A6011C3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34162C-F44A-494D-ADAF-3B93283E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60109F3-2C85-407D-B46F-90170E5A0076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079141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06D349-DFE8-4357-97AE-49DDE5D8B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4DF6AB-893A-4F4A-B3D3-093A1A65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6811017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9AAD6F-01D9-4DF1-9223-EC56BCE1E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12656A-2C40-45B8-9847-3159976AA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C99511-ED49-4B9A-BB73-2DE255CB3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32C24AE-72EB-4445-B142-62A9495B1B73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907739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A61FFB-6EA9-486F-A211-2B3A23763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21499-FCCE-4771-A35D-59909CE4A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AE5243-F4D9-440C-AD52-97029EE71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E9C10B9-4FB0-480A-91EA-9E3C6CBBB006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560361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AB7A8C3-BCC8-4A7D-B676-03F8684DA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2F2B70-D071-424A-AF20-72576D5F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26AFF0-B456-4C0A-A583-44ECE4C52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0F35649-ED4A-48AB-A982-E13391D4BFDF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237350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510E13-32FA-4014-8627-AFA6BDF24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886366-BFC7-4E9C-857B-38F264911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CD11D8-2AC1-42C9-820D-DC8D9AEBD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F353FD9-E40B-4FBE-9F9C-613FA04F1CDB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49068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19139">
            <a:extLst>
              <a:ext uri="{FF2B5EF4-FFF2-40B4-BE49-F238E27FC236}">
                <a16:creationId xmlns:a16="http://schemas.microsoft.com/office/drawing/2014/main" id="{813AE94F-D9AE-4933-8E7B-2E777853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2FCA01-6E46-42E2-80C1-08103A79E82D}" type="datetime1">
              <a:rPr lang="zh-CN" altLang="en-US"/>
              <a:pPr>
                <a:defRPr/>
              </a:pPr>
              <a:t>2024/4/24</a:t>
            </a:fld>
            <a:endParaRPr lang="zh-CN" altLang="en-US"/>
          </a:p>
        </p:txBody>
      </p:sp>
      <p:sp>
        <p:nvSpPr>
          <p:cNvPr id="3" name="页脚占位符 219140">
            <a:extLst>
              <a:ext uri="{FF2B5EF4-FFF2-40B4-BE49-F238E27FC236}">
                <a16:creationId xmlns:a16="http://schemas.microsoft.com/office/drawing/2014/main" id="{B353DF81-EEAB-4694-9A19-45C18F3E1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灯片编号占位符 219141">
            <a:extLst>
              <a:ext uri="{FF2B5EF4-FFF2-40B4-BE49-F238E27FC236}">
                <a16:creationId xmlns:a16="http://schemas.microsoft.com/office/drawing/2014/main" id="{9020EEE9-DAC4-496F-B9C1-EC027516B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6B6530-9CEF-44BF-8B37-D79A55A8E4FE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620927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E868E7-EAEE-4F61-B6FD-5D902CBF8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814AE5-6324-4F4E-8C47-DABF7B22E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750228-83F5-4B40-AD82-C06D827F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9D77E4D-1A68-4571-920D-56F089DFFF65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63445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A3A11B-6287-4F0E-8AA1-CB6743667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D82F8B-F0B4-4045-979B-39D92F4E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C9F5EF-D619-49C3-9DD7-B3DAF186B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C1440B0-599F-4826-9C6F-9C57D8F0B596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960367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32C995-2124-4910-B671-14C3E8266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01818A-6391-43C9-9F37-E8F601F30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71D61A-7587-4608-B0A8-094F4B36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AABD1F-677A-4303-9F5D-CA659647A160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147719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98A4F4-6614-4B5D-BE33-4F3A14640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1FE8A-28A3-40BB-909C-BCA2CD6B2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586CAC-5FCF-4355-80A7-418D7AE41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6E43FF7-163D-4EE8-BC20-8365649413B2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028227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86780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C3E34512-89D4-442A-9CAD-3068B95739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7891" y="91282"/>
            <a:ext cx="5976938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糖类化合物</a:t>
            </a:r>
          </a:p>
        </p:txBody>
      </p:sp>
      <p:pic>
        <p:nvPicPr>
          <p:cNvPr id="3" name="图片 29">
            <a:extLst>
              <a:ext uri="{FF2B5EF4-FFF2-40B4-BE49-F238E27FC236}">
                <a16:creationId xmlns:a16="http://schemas.microsoft.com/office/drawing/2014/main" id="{0E4263AF-D959-48AC-801A-ECED89036F5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23" t="44756" r="17229" b="45355"/>
          <a:stretch>
            <a:fillRect/>
          </a:stretch>
        </p:blipFill>
        <p:spPr bwMode="auto">
          <a:xfrm>
            <a:off x="6738938" y="68263"/>
            <a:ext cx="2112962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菱形 3">
            <a:extLst>
              <a:ext uri="{FF2B5EF4-FFF2-40B4-BE49-F238E27FC236}">
                <a16:creationId xmlns:a16="http://schemas.microsoft.com/office/drawing/2014/main" id="{2F4E82FA-ADF1-4898-BD55-F5D98F0B5CAB}"/>
              </a:ext>
            </a:extLst>
          </p:cNvPr>
          <p:cNvSpPr/>
          <p:nvPr userDrawn="1"/>
        </p:nvSpPr>
        <p:spPr>
          <a:xfrm>
            <a:off x="53975" y="103188"/>
            <a:ext cx="485775" cy="481012"/>
          </a:xfrm>
          <a:prstGeom prst="diamond">
            <a:avLst/>
          </a:prstGeom>
          <a:solidFill>
            <a:srgbClr val="0066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1874958-11BA-4AD3-8428-3132FFBFCBDF}"/>
              </a:ext>
            </a:extLst>
          </p:cNvPr>
          <p:cNvCxnSpPr>
            <a:cxnSpLocks/>
            <a:stCxn id="4" idx="2"/>
          </p:cNvCxnSpPr>
          <p:nvPr userDrawn="1"/>
        </p:nvCxnSpPr>
        <p:spPr>
          <a:xfrm flipV="1">
            <a:off x="296863" y="522288"/>
            <a:ext cx="8847137" cy="61912"/>
          </a:xfrm>
          <a:prstGeom prst="line">
            <a:avLst/>
          </a:prstGeom>
          <a:ln w="28575">
            <a:solidFill>
              <a:srgbClr val="0066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77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</p:sldLayoutIdLst>
  <p:txStyles>
    <p:titleStyle>
      <a:lvl1pPr algn="l" defTabSz="289322" rtl="0" eaLnBrk="1" latinLnBrk="0" hangingPunct="1">
        <a:lnSpc>
          <a:spcPct val="90000"/>
        </a:lnSpc>
        <a:spcBef>
          <a:spcPct val="0"/>
        </a:spcBef>
        <a:buNone/>
        <a:defRPr sz="13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331" indent="-72331" algn="l" defTabSz="289322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886" kern="1200">
          <a:solidFill>
            <a:schemeClr val="tx1"/>
          </a:solidFill>
          <a:latin typeface="+mn-lt"/>
          <a:ea typeface="+mn-ea"/>
          <a:cs typeface="+mn-cs"/>
        </a:defRPr>
      </a:lvl1pPr>
      <a:lvl2pPr marL="216992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61653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3pPr>
      <a:lvl4pPr marL="506314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4pPr>
      <a:lvl5pPr marL="650975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5pPr>
      <a:lvl6pPr marL="795635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6pPr>
      <a:lvl7pPr marL="940297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7pPr>
      <a:lvl8pPr marL="1084958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8pPr>
      <a:lvl9pPr marL="1229618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1pPr>
      <a:lvl2pPr marL="144661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2pPr>
      <a:lvl3pPr marL="289322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3pPr>
      <a:lvl4pPr marL="433983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4pPr>
      <a:lvl5pPr marL="578644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5pPr>
      <a:lvl6pPr marL="723305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6pPr>
      <a:lvl7pPr marL="867966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7pPr>
      <a:lvl8pPr marL="1012627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8pPr>
      <a:lvl9pPr marL="1157288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C3E34512-89D4-442A-9CAD-3068B95739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7891" y="91282"/>
            <a:ext cx="5976938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第十三章课后习题</a:t>
            </a:r>
          </a:p>
        </p:txBody>
      </p:sp>
      <p:pic>
        <p:nvPicPr>
          <p:cNvPr id="3" name="图片 29">
            <a:extLst>
              <a:ext uri="{FF2B5EF4-FFF2-40B4-BE49-F238E27FC236}">
                <a16:creationId xmlns:a16="http://schemas.microsoft.com/office/drawing/2014/main" id="{0E4263AF-D959-48AC-801A-ECED89036F5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23" t="44756" r="17229" b="45355"/>
          <a:stretch>
            <a:fillRect/>
          </a:stretch>
        </p:blipFill>
        <p:spPr bwMode="auto">
          <a:xfrm>
            <a:off x="6738938" y="68263"/>
            <a:ext cx="2112962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菱形 3">
            <a:extLst>
              <a:ext uri="{FF2B5EF4-FFF2-40B4-BE49-F238E27FC236}">
                <a16:creationId xmlns:a16="http://schemas.microsoft.com/office/drawing/2014/main" id="{2F4E82FA-ADF1-4898-BD55-F5D98F0B5CAB}"/>
              </a:ext>
            </a:extLst>
          </p:cNvPr>
          <p:cNvSpPr/>
          <p:nvPr userDrawn="1"/>
        </p:nvSpPr>
        <p:spPr>
          <a:xfrm>
            <a:off x="53975" y="103188"/>
            <a:ext cx="485775" cy="481012"/>
          </a:xfrm>
          <a:prstGeom prst="diamond">
            <a:avLst/>
          </a:prstGeom>
          <a:solidFill>
            <a:srgbClr val="0066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1874958-11BA-4AD3-8428-3132FFBFCBDF}"/>
              </a:ext>
            </a:extLst>
          </p:cNvPr>
          <p:cNvCxnSpPr>
            <a:cxnSpLocks/>
            <a:stCxn id="4" idx="2"/>
          </p:cNvCxnSpPr>
          <p:nvPr userDrawn="1"/>
        </p:nvCxnSpPr>
        <p:spPr>
          <a:xfrm flipV="1">
            <a:off x="296863" y="522288"/>
            <a:ext cx="8847137" cy="61912"/>
          </a:xfrm>
          <a:prstGeom prst="line">
            <a:avLst/>
          </a:prstGeom>
          <a:ln w="28575">
            <a:solidFill>
              <a:srgbClr val="0066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692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89" r:id="rId2"/>
    <p:sldLayoutId id="2147483990" r:id="rId3"/>
  </p:sldLayoutIdLst>
  <p:txStyles>
    <p:titleStyle>
      <a:lvl1pPr algn="l" defTabSz="289322" rtl="0" eaLnBrk="1" latinLnBrk="0" hangingPunct="1">
        <a:lnSpc>
          <a:spcPct val="90000"/>
        </a:lnSpc>
        <a:spcBef>
          <a:spcPct val="0"/>
        </a:spcBef>
        <a:buNone/>
        <a:defRPr sz="13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331" indent="-72331" algn="l" defTabSz="289322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886" kern="1200">
          <a:solidFill>
            <a:schemeClr val="tx1"/>
          </a:solidFill>
          <a:latin typeface="+mn-lt"/>
          <a:ea typeface="+mn-ea"/>
          <a:cs typeface="+mn-cs"/>
        </a:defRPr>
      </a:lvl1pPr>
      <a:lvl2pPr marL="216992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61653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3pPr>
      <a:lvl4pPr marL="506314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4pPr>
      <a:lvl5pPr marL="650975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5pPr>
      <a:lvl6pPr marL="795635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6pPr>
      <a:lvl7pPr marL="940297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7pPr>
      <a:lvl8pPr marL="1084958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8pPr>
      <a:lvl9pPr marL="1229618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1pPr>
      <a:lvl2pPr marL="144661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2pPr>
      <a:lvl3pPr marL="289322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3pPr>
      <a:lvl4pPr marL="433983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4pPr>
      <a:lvl5pPr marL="578644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5pPr>
      <a:lvl6pPr marL="723305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6pPr>
      <a:lvl7pPr marL="867966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7pPr>
      <a:lvl8pPr marL="1012627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8pPr>
      <a:lvl9pPr marL="1157288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C3E34512-89D4-442A-9CAD-3068B95739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7891" y="91282"/>
            <a:ext cx="5976938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第十二章课后习题</a:t>
            </a:r>
          </a:p>
        </p:txBody>
      </p:sp>
      <p:pic>
        <p:nvPicPr>
          <p:cNvPr id="3" name="图片 29">
            <a:extLst>
              <a:ext uri="{FF2B5EF4-FFF2-40B4-BE49-F238E27FC236}">
                <a16:creationId xmlns:a16="http://schemas.microsoft.com/office/drawing/2014/main" id="{0E4263AF-D959-48AC-801A-ECED89036F5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23" t="44756" r="17229" b="45355"/>
          <a:stretch>
            <a:fillRect/>
          </a:stretch>
        </p:blipFill>
        <p:spPr bwMode="auto">
          <a:xfrm>
            <a:off x="6738938" y="68263"/>
            <a:ext cx="2112962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菱形 3">
            <a:extLst>
              <a:ext uri="{FF2B5EF4-FFF2-40B4-BE49-F238E27FC236}">
                <a16:creationId xmlns:a16="http://schemas.microsoft.com/office/drawing/2014/main" id="{2F4E82FA-ADF1-4898-BD55-F5D98F0B5CAB}"/>
              </a:ext>
            </a:extLst>
          </p:cNvPr>
          <p:cNvSpPr/>
          <p:nvPr userDrawn="1"/>
        </p:nvSpPr>
        <p:spPr>
          <a:xfrm>
            <a:off x="53975" y="103188"/>
            <a:ext cx="485775" cy="481012"/>
          </a:xfrm>
          <a:prstGeom prst="diamond">
            <a:avLst/>
          </a:prstGeom>
          <a:solidFill>
            <a:srgbClr val="0066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1874958-11BA-4AD3-8428-3132FFBFCBDF}"/>
              </a:ext>
            </a:extLst>
          </p:cNvPr>
          <p:cNvCxnSpPr>
            <a:cxnSpLocks/>
            <a:stCxn id="4" idx="2"/>
          </p:cNvCxnSpPr>
          <p:nvPr userDrawn="1"/>
        </p:nvCxnSpPr>
        <p:spPr>
          <a:xfrm flipV="1">
            <a:off x="296863" y="522288"/>
            <a:ext cx="8847137" cy="61912"/>
          </a:xfrm>
          <a:prstGeom prst="line">
            <a:avLst/>
          </a:prstGeom>
          <a:ln w="28575">
            <a:solidFill>
              <a:srgbClr val="0066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7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86" r:id="rId3"/>
    <p:sldLayoutId id="2147483995" r:id="rId4"/>
  </p:sldLayoutIdLst>
  <p:txStyles>
    <p:titleStyle>
      <a:lvl1pPr algn="l" defTabSz="289322" rtl="0" eaLnBrk="1" latinLnBrk="0" hangingPunct="1">
        <a:lnSpc>
          <a:spcPct val="90000"/>
        </a:lnSpc>
        <a:spcBef>
          <a:spcPct val="0"/>
        </a:spcBef>
        <a:buNone/>
        <a:defRPr sz="13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331" indent="-72331" algn="l" defTabSz="289322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886" kern="1200">
          <a:solidFill>
            <a:schemeClr val="tx1"/>
          </a:solidFill>
          <a:latin typeface="+mn-lt"/>
          <a:ea typeface="+mn-ea"/>
          <a:cs typeface="+mn-cs"/>
        </a:defRPr>
      </a:lvl1pPr>
      <a:lvl2pPr marL="216992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61653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633" kern="1200">
          <a:solidFill>
            <a:schemeClr val="tx1"/>
          </a:solidFill>
          <a:latin typeface="+mn-lt"/>
          <a:ea typeface="+mn-ea"/>
          <a:cs typeface="+mn-cs"/>
        </a:defRPr>
      </a:lvl3pPr>
      <a:lvl4pPr marL="506314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4pPr>
      <a:lvl5pPr marL="650975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5pPr>
      <a:lvl6pPr marL="795635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6pPr>
      <a:lvl7pPr marL="940297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7pPr>
      <a:lvl8pPr marL="1084958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8pPr>
      <a:lvl9pPr marL="1229618" indent="-72331" algn="l" defTabSz="289322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1pPr>
      <a:lvl2pPr marL="144661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2pPr>
      <a:lvl3pPr marL="289322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3pPr>
      <a:lvl4pPr marL="433983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4pPr>
      <a:lvl5pPr marL="578644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5pPr>
      <a:lvl6pPr marL="723305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6pPr>
      <a:lvl7pPr marL="867966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7pPr>
      <a:lvl8pPr marL="1012627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8pPr>
      <a:lvl9pPr marL="1157288" algn="l" defTabSz="289322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029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  <p:sldLayoutId id="214748400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219137">
            <a:extLst>
              <a:ext uri="{FF2B5EF4-FFF2-40B4-BE49-F238E27FC236}">
                <a16:creationId xmlns:a16="http://schemas.microsoft.com/office/drawing/2014/main" id="{1C553CE1-91CB-4C6B-8F55-5CF3AA18D98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19138">
            <a:extLst>
              <a:ext uri="{FF2B5EF4-FFF2-40B4-BE49-F238E27FC236}">
                <a16:creationId xmlns:a16="http://schemas.microsoft.com/office/drawing/2014/main" id="{F7E5352D-98E8-469F-B42F-4DA449247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9140" name="日期占位符 219139">
            <a:extLst>
              <a:ext uri="{FF2B5EF4-FFF2-40B4-BE49-F238E27FC236}">
                <a16:creationId xmlns:a16="http://schemas.microsoft.com/office/drawing/2014/main" id="{45EFB8A2-7965-4EBB-9456-47395CB64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  <a:cs typeface="+mn-ea"/>
              </a:defRPr>
            </a:lvl1pPr>
          </a:lstStyle>
          <a:p>
            <a:pPr>
              <a:defRPr/>
            </a:pPr>
            <a:fld id="{5D37C23F-6C74-45A6-9A84-ECAC18C22E63}" type="datetime1">
              <a:rPr lang="zh-CN" altLang="en-US"/>
              <a:pPr>
                <a:defRPr/>
              </a:pPr>
              <a:t>2024/4/24</a:t>
            </a:fld>
            <a:endParaRPr lang="zh-CN" altLang="en-US">
              <a:cs typeface="+mn-cs"/>
            </a:endParaRPr>
          </a:p>
        </p:txBody>
      </p:sp>
      <p:sp>
        <p:nvSpPr>
          <p:cNvPr id="219141" name="页脚占位符 219140">
            <a:extLst>
              <a:ext uri="{FF2B5EF4-FFF2-40B4-BE49-F238E27FC236}">
                <a16:creationId xmlns:a16="http://schemas.microsoft.com/office/drawing/2014/main" id="{FAE53806-D703-43DD-9566-35D25CE2F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219142" name="灯片编号占位符 219141">
            <a:extLst>
              <a:ext uri="{FF2B5EF4-FFF2-40B4-BE49-F238E27FC236}">
                <a16:creationId xmlns:a16="http://schemas.microsoft.com/office/drawing/2014/main" id="{43E33DD4-D2B0-4D0F-8438-772A2C3B5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400" noProof="1" smtClean="0"/>
            </a:lvl1pPr>
          </a:lstStyle>
          <a:p>
            <a:pPr>
              <a:defRPr/>
            </a:pPr>
            <a:fld id="{A0E95B9B-DBFF-4808-8241-90615DD35A1B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  <p:sldLayoutId id="214748398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9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4.wmf"/><Relationship Id="rId21" Type="http://schemas.openxmlformats.org/officeDocument/2006/relationships/image" Target="../media/image13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2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0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29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7" Type="http://schemas.openxmlformats.org/officeDocument/2006/relationships/image" Target="../media/image41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42.wmf"/><Relationship Id="rId7" Type="http://schemas.openxmlformats.org/officeDocument/2006/relationships/image" Target="../media/image44.e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3.e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image" Target="../media/image47.wmf"/><Relationship Id="rId7" Type="http://schemas.openxmlformats.org/officeDocument/2006/relationships/image" Target="../media/image49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50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4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5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60.wmf"/><Relationship Id="rId3" Type="http://schemas.openxmlformats.org/officeDocument/2006/relationships/image" Target="../media/image55.wmf"/><Relationship Id="rId7" Type="http://schemas.openxmlformats.org/officeDocument/2006/relationships/image" Target="../media/image57.wmf"/><Relationship Id="rId12" Type="http://schemas.openxmlformats.org/officeDocument/2006/relationships/oleObject" Target="../embeddings/oleObject57.bin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59.wmf"/><Relationship Id="rId5" Type="http://schemas.openxmlformats.org/officeDocument/2006/relationships/image" Target="../media/image56.wmf"/><Relationship Id="rId10" Type="http://schemas.openxmlformats.org/officeDocument/2006/relationships/oleObject" Target="../embeddings/oleObject56.bin"/><Relationship Id="rId4" Type="http://schemas.openxmlformats.org/officeDocument/2006/relationships/oleObject" Target="../embeddings/oleObject53.bin"/><Relationship Id="rId9" Type="http://schemas.openxmlformats.org/officeDocument/2006/relationships/image" Target="../media/image58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7" Type="http://schemas.openxmlformats.org/officeDocument/2006/relationships/image" Target="../media/image63.w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62.wmf"/><Relationship Id="rId4" Type="http://schemas.openxmlformats.org/officeDocument/2006/relationships/oleObject" Target="../embeddings/oleObject5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69.wmf"/><Relationship Id="rId3" Type="http://schemas.openxmlformats.org/officeDocument/2006/relationships/image" Target="../media/image64.wmf"/><Relationship Id="rId7" Type="http://schemas.openxmlformats.org/officeDocument/2006/relationships/image" Target="../media/image66.wmf"/><Relationship Id="rId12" Type="http://schemas.openxmlformats.org/officeDocument/2006/relationships/oleObject" Target="../embeddings/oleObject66.bin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68.wmf"/><Relationship Id="rId5" Type="http://schemas.openxmlformats.org/officeDocument/2006/relationships/image" Target="../media/image65.wmf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67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7" Type="http://schemas.openxmlformats.org/officeDocument/2006/relationships/image" Target="../media/image72.w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69.bin"/><Relationship Id="rId5" Type="http://schemas.openxmlformats.org/officeDocument/2006/relationships/image" Target="../media/image71.emf"/><Relationship Id="rId4" Type="http://schemas.openxmlformats.org/officeDocument/2006/relationships/oleObject" Target="../embeddings/oleObject68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image" Target="../media/image78.wmf"/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12" Type="http://schemas.openxmlformats.org/officeDocument/2006/relationships/oleObject" Target="../embeddings/oleObject75.bin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77.wmf"/><Relationship Id="rId5" Type="http://schemas.openxmlformats.org/officeDocument/2006/relationships/image" Target="../media/image74.wmf"/><Relationship Id="rId10" Type="http://schemas.openxmlformats.org/officeDocument/2006/relationships/oleObject" Target="../embeddings/oleObject74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76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1.wmf"/><Relationship Id="rId12" Type="http://schemas.openxmlformats.org/officeDocument/2006/relationships/oleObject" Target="../embeddings/oleObject81.bin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83.wmf"/><Relationship Id="rId5" Type="http://schemas.openxmlformats.org/officeDocument/2006/relationships/image" Target="../media/image80.wmf"/><Relationship Id="rId15" Type="http://schemas.openxmlformats.org/officeDocument/2006/relationships/image" Target="../media/image85.wmf"/><Relationship Id="rId10" Type="http://schemas.openxmlformats.org/officeDocument/2006/relationships/oleObject" Target="../embeddings/oleObject80.bin"/><Relationship Id="rId4" Type="http://schemas.openxmlformats.org/officeDocument/2006/relationships/oleObject" Target="../embeddings/oleObject77.bin"/><Relationship Id="rId9" Type="http://schemas.openxmlformats.org/officeDocument/2006/relationships/image" Target="../media/image82.wmf"/><Relationship Id="rId14" Type="http://schemas.openxmlformats.org/officeDocument/2006/relationships/oleObject" Target="../embeddings/oleObject82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3" Type="http://schemas.openxmlformats.org/officeDocument/2006/relationships/image" Target="../media/image86.emf"/><Relationship Id="rId7" Type="http://schemas.openxmlformats.org/officeDocument/2006/relationships/image" Target="../media/image88.wmf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85.bin"/><Relationship Id="rId5" Type="http://schemas.openxmlformats.org/officeDocument/2006/relationships/image" Target="../media/image87.emf"/><Relationship Id="rId4" Type="http://schemas.openxmlformats.org/officeDocument/2006/relationships/oleObject" Target="../embeddings/oleObject84.bin"/><Relationship Id="rId9" Type="http://schemas.openxmlformats.org/officeDocument/2006/relationships/image" Target="../media/image8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95.wmf"/><Relationship Id="rId18" Type="http://schemas.openxmlformats.org/officeDocument/2006/relationships/oleObject" Target="../embeddings/oleObject96.bin"/><Relationship Id="rId3" Type="http://schemas.openxmlformats.org/officeDocument/2006/relationships/image" Target="../media/image90.wmf"/><Relationship Id="rId7" Type="http://schemas.openxmlformats.org/officeDocument/2006/relationships/image" Target="../media/image92.wmf"/><Relationship Id="rId12" Type="http://schemas.openxmlformats.org/officeDocument/2006/relationships/oleObject" Target="../embeddings/oleObject92.bin"/><Relationship Id="rId17" Type="http://schemas.openxmlformats.org/officeDocument/2006/relationships/oleObject" Target="../embeddings/oleObject95.bin"/><Relationship Id="rId2" Type="http://schemas.openxmlformats.org/officeDocument/2006/relationships/oleObject" Target="../embeddings/oleObject87.bin"/><Relationship Id="rId16" Type="http://schemas.openxmlformats.org/officeDocument/2006/relationships/oleObject" Target="../embeddings/oleObject94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94.wmf"/><Relationship Id="rId5" Type="http://schemas.openxmlformats.org/officeDocument/2006/relationships/image" Target="../media/image91.wmf"/><Relationship Id="rId15" Type="http://schemas.openxmlformats.org/officeDocument/2006/relationships/image" Target="../media/image96.wmf"/><Relationship Id="rId10" Type="http://schemas.openxmlformats.org/officeDocument/2006/relationships/oleObject" Target="../embeddings/oleObject91.bin"/><Relationship Id="rId19" Type="http://schemas.openxmlformats.org/officeDocument/2006/relationships/image" Target="../media/image97.wmf"/><Relationship Id="rId4" Type="http://schemas.openxmlformats.org/officeDocument/2006/relationships/oleObject" Target="../embeddings/oleObject88.bin"/><Relationship Id="rId9" Type="http://schemas.openxmlformats.org/officeDocument/2006/relationships/image" Target="../media/image93.wmf"/><Relationship Id="rId14" Type="http://schemas.openxmlformats.org/officeDocument/2006/relationships/oleObject" Target="../embeddings/oleObject93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oleObject" Target="../embeddings/oleObject98.bin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oleObject" Target="../embeddings/oleObject99.bin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13" Type="http://schemas.openxmlformats.org/officeDocument/2006/relationships/oleObject" Target="../embeddings/oleObject106.bin"/><Relationship Id="rId3" Type="http://schemas.openxmlformats.org/officeDocument/2006/relationships/image" Target="../media/image101.wmf"/><Relationship Id="rId7" Type="http://schemas.openxmlformats.org/officeDocument/2006/relationships/image" Target="../media/image103.wmf"/><Relationship Id="rId12" Type="http://schemas.openxmlformats.org/officeDocument/2006/relationships/image" Target="../media/image105.wmf"/><Relationship Id="rId2" Type="http://schemas.openxmlformats.org/officeDocument/2006/relationships/oleObject" Target="../embeddings/oleObject100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02.bin"/><Relationship Id="rId11" Type="http://schemas.openxmlformats.org/officeDocument/2006/relationships/oleObject" Target="../embeddings/oleObject105.bin"/><Relationship Id="rId5" Type="http://schemas.openxmlformats.org/officeDocument/2006/relationships/image" Target="../media/image102.wmf"/><Relationship Id="rId10" Type="http://schemas.openxmlformats.org/officeDocument/2006/relationships/image" Target="../media/image104.wmf"/><Relationship Id="rId4" Type="http://schemas.openxmlformats.org/officeDocument/2006/relationships/oleObject" Target="../embeddings/oleObject101.bin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06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13" Type="http://schemas.openxmlformats.org/officeDocument/2006/relationships/image" Target="../media/image112.wmf"/><Relationship Id="rId18" Type="http://schemas.openxmlformats.org/officeDocument/2006/relationships/oleObject" Target="../embeddings/oleObject115.bin"/><Relationship Id="rId3" Type="http://schemas.openxmlformats.org/officeDocument/2006/relationships/image" Target="../media/image107.wmf"/><Relationship Id="rId21" Type="http://schemas.openxmlformats.org/officeDocument/2006/relationships/oleObject" Target="../embeddings/oleObject118.bin"/><Relationship Id="rId7" Type="http://schemas.openxmlformats.org/officeDocument/2006/relationships/image" Target="../media/image109.wmf"/><Relationship Id="rId12" Type="http://schemas.openxmlformats.org/officeDocument/2006/relationships/oleObject" Target="../embeddings/oleObject112.bin"/><Relationship Id="rId17" Type="http://schemas.openxmlformats.org/officeDocument/2006/relationships/image" Target="../media/image114.wmf"/><Relationship Id="rId2" Type="http://schemas.openxmlformats.org/officeDocument/2006/relationships/oleObject" Target="../embeddings/oleObject107.bin"/><Relationship Id="rId16" Type="http://schemas.openxmlformats.org/officeDocument/2006/relationships/oleObject" Target="../embeddings/oleObject114.bin"/><Relationship Id="rId20" Type="http://schemas.openxmlformats.org/officeDocument/2006/relationships/oleObject" Target="../embeddings/oleObject117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111.wmf"/><Relationship Id="rId5" Type="http://schemas.openxmlformats.org/officeDocument/2006/relationships/image" Target="../media/image108.wmf"/><Relationship Id="rId15" Type="http://schemas.openxmlformats.org/officeDocument/2006/relationships/image" Target="../media/image113.wmf"/><Relationship Id="rId23" Type="http://schemas.openxmlformats.org/officeDocument/2006/relationships/image" Target="../media/image115.wmf"/><Relationship Id="rId10" Type="http://schemas.openxmlformats.org/officeDocument/2006/relationships/oleObject" Target="../embeddings/oleObject111.bin"/><Relationship Id="rId19" Type="http://schemas.openxmlformats.org/officeDocument/2006/relationships/oleObject" Target="../embeddings/oleObject116.bin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10.wmf"/><Relationship Id="rId14" Type="http://schemas.openxmlformats.org/officeDocument/2006/relationships/oleObject" Target="../embeddings/oleObject113.bin"/><Relationship Id="rId22" Type="http://schemas.openxmlformats.org/officeDocument/2006/relationships/oleObject" Target="../embeddings/oleObject11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13" Type="http://schemas.openxmlformats.org/officeDocument/2006/relationships/oleObject" Target="../embeddings/oleObject126.bin"/><Relationship Id="rId18" Type="http://schemas.openxmlformats.org/officeDocument/2006/relationships/oleObject" Target="../embeddings/oleObject129.bin"/><Relationship Id="rId3" Type="http://schemas.openxmlformats.org/officeDocument/2006/relationships/image" Target="../media/image116.wmf"/><Relationship Id="rId21" Type="http://schemas.openxmlformats.org/officeDocument/2006/relationships/oleObject" Target="../embeddings/oleObject132.bin"/><Relationship Id="rId7" Type="http://schemas.openxmlformats.org/officeDocument/2006/relationships/image" Target="../media/image118.wmf"/><Relationship Id="rId12" Type="http://schemas.openxmlformats.org/officeDocument/2006/relationships/image" Target="../media/image120.wmf"/><Relationship Id="rId17" Type="http://schemas.openxmlformats.org/officeDocument/2006/relationships/image" Target="../media/image122.wmf"/><Relationship Id="rId2" Type="http://schemas.openxmlformats.org/officeDocument/2006/relationships/oleObject" Target="../embeddings/oleObject120.bin"/><Relationship Id="rId16" Type="http://schemas.openxmlformats.org/officeDocument/2006/relationships/oleObject" Target="../embeddings/oleObject128.bin"/><Relationship Id="rId20" Type="http://schemas.openxmlformats.org/officeDocument/2006/relationships/oleObject" Target="../embeddings/oleObject131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22.bin"/><Relationship Id="rId11" Type="http://schemas.openxmlformats.org/officeDocument/2006/relationships/oleObject" Target="../embeddings/oleObject125.bin"/><Relationship Id="rId5" Type="http://schemas.openxmlformats.org/officeDocument/2006/relationships/image" Target="../media/image117.wmf"/><Relationship Id="rId15" Type="http://schemas.openxmlformats.org/officeDocument/2006/relationships/image" Target="../media/image121.wmf"/><Relationship Id="rId23" Type="http://schemas.openxmlformats.org/officeDocument/2006/relationships/image" Target="../media/image123.wmf"/><Relationship Id="rId10" Type="http://schemas.openxmlformats.org/officeDocument/2006/relationships/oleObject" Target="../embeddings/oleObject124.bin"/><Relationship Id="rId19" Type="http://schemas.openxmlformats.org/officeDocument/2006/relationships/oleObject" Target="../embeddings/oleObject130.bin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19.wmf"/><Relationship Id="rId14" Type="http://schemas.openxmlformats.org/officeDocument/2006/relationships/oleObject" Target="../embeddings/oleObject127.bin"/><Relationship Id="rId22" Type="http://schemas.openxmlformats.org/officeDocument/2006/relationships/oleObject" Target="../embeddings/oleObject133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oleObject" Target="../embeddings/oleObject134.bin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25.emf"/><Relationship Id="rId4" Type="http://schemas.openxmlformats.org/officeDocument/2006/relationships/oleObject" Target="../embeddings/oleObject135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0.bin"/><Relationship Id="rId13" Type="http://schemas.openxmlformats.org/officeDocument/2006/relationships/image" Target="../media/image129.wmf"/><Relationship Id="rId18" Type="http://schemas.openxmlformats.org/officeDocument/2006/relationships/oleObject" Target="../embeddings/oleObject147.bin"/><Relationship Id="rId26" Type="http://schemas.openxmlformats.org/officeDocument/2006/relationships/image" Target="../media/image134.wmf"/><Relationship Id="rId3" Type="http://schemas.openxmlformats.org/officeDocument/2006/relationships/image" Target="../media/image126.wmf"/><Relationship Id="rId21" Type="http://schemas.openxmlformats.org/officeDocument/2006/relationships/oleObject" Target="../embeddings/oleObject149.bin"/><Relationship Id="rId7" Type="http://schemas.openxmlformats.org/officeDocument/2006/relationships/oleObject" Target="../embeddings/oleObject139.bin"/><Relationship Id="rId12" Type="http://schemas.openxmlformats.org/officeDocument/2006/relationships/oleObject" Target="../embeddings/oleObject143.bin"/><Relationship Id="rId17" Type="http://schemas.openxmlformats.org/officeDocument/2006/relationships/oleObject" Target="../embeddings/oleObject146.bin"/><Relationship Id="rId25" Type="http://schemas.openxmlformats.org/officeDocument/2006/relationships/oleObject" Target="../embeddings/oleObject151.bin"/><Relationship Id="rId2" Type="http://schemas.openxmlformats.org/officeDocument/2006/relationships/oleObject" Target="../embeddings/oleObject136.bin"/><Relationship Id="rId16" Type="http://schemas.openxmlformats.org/officeDocument/2006/relationships/image" Target="../media/image130.wmf"/><Relationship Id="rId20" Type="http://schemas.openxmlformats.org/officeDocument/2006/relationships/oleObject" Target="../embeddings/oleObject148.bin"/><Relationship Id="rId29" Type="http://schemas.openxmlformats.org/officeDocument/2006/relationships/oleObject" Target="../embeddings/oleObject153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38.bin"/><Relationship Id="rId11" Type="http://schemas.openxmlformats.org/officeDocument/2006/relationships/oleObject" Target="../embeddings/oleObject142.bin"/><Relationship Id="rId24" Type="http://schemas.openxmlformats.org/officeDocument/2006/relationships/image" Target="../media/image133.wmf"/><Relationship Id="rId5" Type="http://schemas.openxmlformats.org/officeDocument/2006/relationships/image" Target="../media/image127.emf"/><Relationship Id="rId15" Type="http://schemas.openxmlformats.org/officeDocument/2006/relationships/oleObject" Target="../embeddings/oleObject145.bin"/><Relationship Id="rId23" Type="http://schemas.openxmlformats.org/officeDocument/2006/relationships/oleObject" Target="../embeddings/oleObject150.bin"/><Relationship Id="rId28" Type="http://schemas.openxmlformats.org/officeDocument/2006/relationships/image" Target="../media/image135.wmf"/><Relationship Id="rId10" Type="http://schemas.openxmlformats.org/officeDocument/2006/relationships/image" Target="../media/image128.emf"/><Relationship Id="rId19" Type="http://schemas.openxmlformats.org/officeDocument/2006/relationships/image" Target="../media/image131.wmf"/><Relationship Id="rId4" Type="http://schemas.openxmlformats.org/officeDocument/2006/relationships/oleObject" Target="../embeddings/oleObject137.bin"/><Relationship Id="rId9" Type="http://schemas.openxmlformats.org/officeDocument/2006/relationships/oleObject" Target="../embeddings/oleObject141.bin"/><Relationship Id="rId14" Type="http://schemas.openxmlformats.org/officeDocument/2006/relationships/oleObject" Target="../embeddings/oleObject144.bin"/><Relationship Id="rId22" Type="http://schemas.openxmlformats.org/officeDocument/2006/relationships/image" Target="../media/image132.wmf"/><Relationship Id="rId27" Type="http://schemas.openxmlformats.org/officeDocument/2006/relationships/oleObject" Target="../embeddings/oleObject152.bin"/><Relationship Id="rId30" Type="http://schemas.openxmlformats.org/officeDocument/2006/relationships/image" Target="../media/image136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7.bin"/><Relationship Id="rId13" Type="http://schemas.openxmlformats.org/officeDocument/2006/relationships/image" Target="../media/image142.wmf"/><Relationship Id="rId3" Type="http://schemas.openxmlformats.org/officeDocument/2006/relationships/image" Target="../media/image137.wmf"/><Relationship Id="rId7" Type="http://schemas.openxmlformats.org/officeDocument/2006/relationships/image" Target="../media/image139.wmf"/><Relationship Id="rId12" Type="http://schemas.openxmlformats.org/officeDocument/2006/relationships/oleObject" Target="../embeddings/oleObject159.bin"/><Relationship Id="rId2" Type="http://schemas.openxmlformats.org/officeDocument/2006/relationships/oleObject" Target="../embeddings/oleObject154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156.bin"/><Relationship Id="rId11" Type="http://schemas.openxmlformats.org/officeDocument/2006/relationships/image" Target="../media/image141.emf"/><Relationship Id="rId5" Type="http://schemas.openxmlformats.org/officeDocument/2006/relationships/image" Target="../media/image138.wmf"/><Relationship Id="rId10" Type="http://schemas.openxmlformats.org/officeDocument/2006/relationships/oleObject" Target="../embeddings/oleObject158.bin"/><Relationship Id="rId4" Type="http://schemas.openxmlformats.org/officeDocument/2006/relationships/oleObject" Target="../embeddings/oleObject155.bin"/><Relationship Id="rId9" Type="http://schemas.openxmlformats.org/officeDocument/2006/relationships/image" Target="../media/image140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13" Type="http://schemas.openxmlformats.org/officeDocument/2006/relationships/image" Target="../media/image148.wmf"/><Relationship Id="rId3" Type="http://schemas.openxmlformats.org/officeDocument/2006/relationships/image" Target="../media/image143.wmf"/><Relationship Id="rId7" Type="http://schemas.openxmlformats.org/officeDocument/2006/relationships/image" Target="../media/image145.emf"/><Relationship Id="rId12" Type="http://schemas.openxmlformats.org/officeDocument/2006/relationships/oleObject" Target="../embeddings/oleObject165.bin"/><Relationship Id="rId2" Type="http://schemas.openxmlformats.org/officeDocument/2006/relationships/oleObject" Target="../embeddings/oleObject160.bin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162.bin"/><Relationship Id="rId11" Type="http://schemas.openxmlformats.org/officeDocument/2006/relationships/image" Target="../media/image147.emf"/><Relationship Id="rId5" Type="http://schemas.openxmlformats.org/officeDocument/2006/relationships/image" Target="../media/image144.wmf"/><Relationship Id="rId10" Type="http://schemas.openxmlformats.org/officeDocument/2006/relationships/oleObject" Target="../embeddings/oleObject164.bin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46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9.bin"/><Relationship Id="rId3" Type="http://schemas.openxmlformats.org/officeDocument/2006/relationships/image" Target="../media/image149.emf"/><Relationship Id="rId7" Type="http://schemas.openxmlformats.org/officeDocument/2006/relationships/image" Target="../media/image151.emf"/><Relationship Id="rId2" Type="http://schemas.openxmlformats.org/officeDocument/2006/relationships/oleObject" Target="../embeddings/oleObject166.bin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168.bin"/><Relationship Id="rId5" Type="http://schemas.openxmlformats.org/officeDocument/2006/relationships/image" Target="../media/image150.wmf"/><Relationship Id="rId4" Type="http://schemas.openxmlformats.org/officeDocument/2006/relationships/oleObject" Target="../embeddings/oleObject167.bin"/><Relationship Id="rId9" Type="http://schemas.openxmlformats.org/officeDocument/2006/relationships/image" Target="../media/image152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wmf"/><Relationship Id="rId2" Type="http://schemas.openxmlformats.org/officeDocument/2006/relationships/oleObject" Target="../embeddings/oleObject170.bin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emf"/><Relationship Id="rId2" Type="http://schemas.openxmlformats.org/officeDocument/2006/relationships/oleObject" Target="../embeddings/oleObject171.bin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emf"/><Relationship Id="rId2" Type="http://schemas.openxmlformats.org/officeDocument/2006/relationships/oleObject" Target="../embeddings/oleObject172.bin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emf"/><Relationship Id="rId2" Type="http://schemas.openxmlformats.org/officeDocument/2006/relationships/oleObject" Target="../embeddings/oleObject173.bin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wmf"/><Relationship Id="rId2" Type="http://schemas.openxmlformats.org/officeDocument/2006/relationships/oleObject" Target="../embeddings/oleObject174.bin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emf"/><Relationship Id="rId2" Type="http://schemas.openxmlformats.org/officeDocument/2006/relationships/oleObject" Target="../embeddings/oleObject175.bin"/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wmf"/><Relationship Id="rId2" Type="http://schemas.openxmlformats.org/officeDocument/2006/relationships/oleObject" Target="../embeddings/oleObject176.bin"/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7.bin"/><Relationship Id="rId2" Type="http://schemas.openxmlformats.org/officeDocument/2006/relationships/image" Target="../media/image160.wmf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1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2" Type="http://schemas.openxmlformats.org/officeDocument/2006/relationships/oleObject" Target="../embeddings/oleObject178.bin"/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wmf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emf"/><Relationship Id="rId2" Type="http://schemas.openxmlformats.org/officeDocument/2006/relationships/oleObject" Target="../embeddings/oleObject179.bin"/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emf"/><Relationship Id="rId2" Type="http://schemas.openxmlformats.org/officeDocument/2006/relationships/oleObject" Target="../embeddings/oleObject180.bin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wmf"/><Relationship Id="rId7" Type="http://schemas.openxmlformats.org/officeDocument/2006/relationships/image" Target="../media/image168.wmf"/><Relationship Id="rId2" Type="http://schemas.openxmlformats.org/officeDocument/2006/relationships/oleObject" Target="../embeddings/oleObject181.bin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183.bin"/><Relationship Id="rId5" Type="http://schemas.openxmlformats.org/officeDocument/2006/relationships/image" Target="../media/image167.wmf"/><Relationship Id="rId4" Type="http://schemas.openxmlformats.org/officeDocument/2006/relationships/oleObject" Target="../embeddings/oleObject182.bin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矩形 2049" descr="白色大理石">
            <a:extLst>
              <a:ext uri="{FF2B5EF4-FFF2-40B4-BE49-F238E27FC236}">
                <a16:creationId xmlns:a16="http://schemas.microsoft.com/office/drawing/2014/main" id="{2279A424-1A33-4F0E-94F1-9BBFF9B2AA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42988" y="1844675"/>
            <a:ext cx="7416800" cy="1368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ObliqueRight"/>
              <a:lightRig rig="legacyHarsh3" dir="t"/>
            </a:scene3d>
            <a:sp3d extrusionH="100000" prstMaterial="legacyMatte">
              <a:extrusionClr>
                <a:srgbClr val="663300"/>
              </a:extrusionClr>
              <a:contourClr>
                <a:srgbClr val="FFFFFF"/>
              </a:contourClr>
            </a:sp3d>
          </a:bodyPr>
          <a:lstStyle/>
          <a:p>
            <a:pPr algn="ctr"/>
            <a:r>
              <a:rPr lang="zh-CN" altLang="en-US" sz="4800" kern="10">
                <a:ln w="9525">
                  <a:round/>
                  <a:headEnd/>
                  <a:tailEnd/>
                </a:ln>
                <a:blipFill dpi="0" rotWithShape="0">
                  <a:blip r:embed="rId2"/>
                  <a:srcRect/>
                  <a:tile tx="0" ty="0" sx="100000" sy="100000" flip="none" algn="tl"/>
                </a:blipFill>
                <a:latin typeface="华文新魏" panose="02010800040101010101" pitchFamily="2" charset="-122"/>
                <a:ea typeface="华文新魏" panose="02010800040101010101" pitchFamily="2" charset="-122"/>
              </a:rPr>
              <a:t>有机化学复习专题</a:t>
            </a:r>
          </a:p>
        </p:txBody>
      </p:sp>
      <p:sp>
        <p:nvSpPr>
          <p:cNvPr id="37891" name="文本框 2052">
            <a:extLst>
              <a:ext uri="{FF2B5EF4-FFF2-40B4-BE49-F238E27FC236}">
                <a16:creationId xmlns:a16="http://schemas.microsoft.com/office/drawing/2014/main" id="{6C4C02D4-E1A7-4D09-B19A-E5A567580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181600"/>
            <a:ext cx="2514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endParaRPr lang="en-US" altLang="zh-CN" b="1">
              <a:solidFill>
                <a:srgbClr val="333399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37892" name="灯片编号占位符 1">
            <a:extLst>
              <a:ext uri="{FF2B5EF4-FFF2-40B4-BE49-F238E27FC236}">
                <a16:creationId xmlns:a16="http://schemas.microsoft.com/office/drawing/2014/main" id="{00619485-9885-4D27-8E0C-2A042A30E2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AF60BA83-D912-4164-BDBA-87A1F4BFC80A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1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3073">
            <a:extLst>
              <a:ext uri="{FF2B5EF4-FFF2-40B4-BE49-F238E27FC236}">
                <a16:creationId xmlns:a16="http://schemas.microsoft.com/office/drawing/2014/main" id="{2A88EF10-C268-426A-93D4-B5775524AD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609600"/>
          </a:xfrm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rgbClr val="FF0066"/>
                </a:solidFill>
                <a:ea typeface="华文新魏" panose="02010800040101010101" pitchFamily="2" charset="-122"/>
              </a:rPr>
              <a:t>有机化学复习专题</a:t>
            </a:r>
          </a:p>
        </p:txBody>
      </p:sp>
      <p:sp>
        <p:nvSpPr>
          <p:cNvPr id="38915" name="文本框 3084">
            <a:extLst>
              <a:ext uri="{FF2B5EF4-FFF2-40B4-BE49-F238E27FC236}">
                <a16:creationId xmlns:a16="http://schemas.microsoft.com/office/drawing/2014/main" id="{4A4AF40F-AE80-476B-A906-2A53634BE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有机化合物的命名。</a:t>
            </a:r>
          </a:p>
        </p:txBody>
      </p:sp>
      <p:sp>
        <p:nvSpPr>
          <p:cNvPr id="38916" name="文本框 3085">
            <a:extLst>
              <a:ext uri="{FF2B5EF4-FFF2-40B4-BE49-F238E27FC236}">
                <a16:creationId xmlns:a16="http://schemas.microsoft.com/office/drawing/2014/main" id="{9EB3BAA3-4C6D-446F-92CD-00D84F08E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098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基本概念与理化性质比较。</a:t>
            </a:r>
          </a:p>
        </p:txBody>
      </p:sp>
      <p:sp>
        <p:nvSpPr>
          <p:cNvPr id="38917" name="文本框 3086">
            <a:extLst>
              <a:ext uri="{FF2B5EF4-FFF2-40B4-BE49-F238E27FC236}">
                <a16:creationId xmlns:a16="http://schemas.microsoft.com/office/drawing/2014/main" id="{C3ECC863-8990-4EB6-9947-1366EAFDB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24175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完成反应式。</a:t>
            </a:r>
          </a:p>
        </p:txBody>
      </p:sp>
      <p:sp>
        <p:nvSpPr>
          <p:cNvPr id="38918" name="文本框 3089">
            <a:extLst>
              <a:ext uri="{FF2B5EF4-FFF2-40B4-BE49-F238E27FC236}">
                <a16:creationId xmlns:a16="http://schemas.microsoft.com/office/drawing/2014/main" id="{09248E0F-1D60-4902-8670-CD1677457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5085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有机化合物的合成。</a:t>
            </a:r>
          </a:p>
        </p:txBody>
      </p:sp>
      <p:sp>
        <p:nvSpPr>
          <p:cNvPr id="38920" name="文本框 3092">
            <a:extLst>
              <a:ext uri="{FF2B5EF4-FFF2-40B4-BE49-F238E27FC236}">
                <a16:creationId xmlns:a16="http://schemas.microsoft.com/office/drawing/2014/main" id="{2F881D0E-1A43-465D-B85F-332DB260C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716338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有机化合物的鉴别。</a:t>
            </a:r>
          </a:p>
        </p:txBody>
      </p:sp>
      <p:sp>
        <p:nvSpPr>
          <p:cNvPr id="38921" name="灯片编号占位符 1">
            <a:extLst>
              <a:ext uri="{FF2B5EF4-FFF2-40B4-BE49-F238E27FC236}">
                <a16:creationId xmlns:a16="http://schemas.microsoft.com/office/drawing/2014/main" id="{D9868592-6E92-4BF5-82AA-A2304407064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A1E0CA49-275D-49C3-8E6D-3D57EB563E18}" type="slidenum">
              <a:rPr altLang="en-US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</a:t>
            </a:fld>
            <a:endParaRPr lang="zh-CN" alt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37889">
            <a:extLst>
              <a:ext uri="{FF2B5EF4-FFF2-40B4-BE49-F238E27FC236}">
                <a16:creationId xmlns:a16="http://schemas.microsoft.com/office/drawing/2014/main" id="{72C2BE67-F669-4ACB-A49C-6D2F251568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09600"/>
          </a:xfrm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rgbClr val="0000FF"/>
                </a:solidFill>
                <a:ea typeface="华文新魏" panose="02010800040101010101" pitchFamily="2" charset="-122"/>
              </a:rPr>
              <a:t>有机化合物的命名</a:t>
            </a:r>
          </a:p>
        </p:txBody>
      </p:sp>
      <p:sp>
        <p:nvSpPr>
          <p:cNvPr id="39939" name="文本占位符 37903">
            <a:extLst>
              <a:ext uri="{FF2B5EF4-FFF2-40B4-BE49-F238E27FC236}">
                <a16:creationId xmlns:a16="http://schemas.microsoft.com/office/drawing/2014/main" id="{57BD2282-9052-4455-A1D4-F8A9FF3BF0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908050"/>
            <a:ext cx="9144000" cy="5334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/>
              <a:t>一、系统命名法</a:t>
            </a:r>
          </a:p>
        </p:txBody>
      </p:sp>
      <p:sp>
        <p:nvSpPr>
          <p:cNvPr id="37905" name="文本框 37904">
            <a:extLst>
              <a:ext uri="{FF2B5EF4-FFF2-40B4-BE49-F238E27FC236}">
                <a16:creationId xmlns:a16="http://schemas.microsoft.com/office/drawing/2014/main" id="{79B91E95-C919-4CA2-857C-A0B913739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73238"/>
            <a:ext cx="9144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系统命名的基本方法是：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选择主要官能团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→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确定主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链位次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→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排列取代基列出顺序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→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写出化合物全称。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06" name="文本框 37905">
            <a:extLst>
              <a:ext uri="{FF2B5EF4-FFF2-40B4-BE49-F238E27FC236}">
                <a16:creationId xmlns:a16="http://schemas.microsoft.com/office/drawing/2014/main" id="{2D4B1C6A-A780-4A02-8ACE-8B3A592B3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52413" y="3141663"/>
            <a:ext cx="914400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</a:rPr>
              <a:t>要点：</a:t>
            </a:r>
          </a:p>
        </p:txBody>
      </p:sp>
      <p:sp>
        <p:nvSpPr>
          <p:cNvPr id="37907" name="文本框 37906">
            <a:extLst>
              <a:ext uri="{FF2B5EF4-FFF2-40B4-BE49-F238E27FC236}">
                <a16:creationId xmlns:a16="http://schemas.microsoft.com/office/drawing/2014/main" id="{C60E4BFC-F565-49A6-ADB6-907883561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789363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1. </a:t>
            </a: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最低系列”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近链端。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7908" name="对象 37907">
            <a:extLst>
              <a:ext uri="{FF2B5EF4-FFF2-40B4-BE49-F238E27FC236}">
                <a16:creationId xmlns:a16="http://schemas.microsoft.com/office/drawing/2014/main" id="{C43F7EC3-6725-416E-88BD-9C72563BC86B}"/>
              </a:ext>
            </a:extLst>
          </p:cNvPr>
          <p:cNvGraphicFramePr>
            <a:graphicFrameLocks/>
          </p:cNvGraphicFramePr>
          <p:nvPr/>
        </p:nvGraphicFramePr>
        <p:xfrm>
          <a:off x="1331913" y="4652963"/>
          <a:ext cx="2743200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64360" imgH="721360" progId="ChemDraw.Document.5.0">
                  <p:embed/>
                </p:oleObj>
              </mc:Choice>
              <mc:Fallback>
                <p:oleObj r:id="rId2" imgW="1864360" imgH="721360" progId="ChemDraw.Document.5.0">
                  <p:embed/>
                  <p:pic>
                    <p:nvPicPr>
                      <p:cNvPr id="0" name="对象 3790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652963"/>
                        <a:ext cx="2743200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9" name="对象 37908">
            <a:extLst>
              <a:ext uri="{FF2B5EF4-FFF2-40B4-BE49-F238E27FC236}">
                <a16:creationId xmlns:a16="http://schemas.microsoft.com/office/drawing/2014/main" id="{477939A5-83B9-499E-B9CD-9175826C58D0}"/>
              </a:ext>
            </a:extLst>
          </p:cNvPr>
          <p:cNvGraphicFramePr>
            <a:graphicFrameLocks/>
          </p:cNvGraphicFramePr>
          <p:nvPr/>
        </p:nvGraphicFramePr>
        <p:xfrm>
          <a:off x="1116013" y="4868863"/>
          <a:ext cx="29718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98980" imgH="142240" progId="ChemDraw.Document.5.0">
                  <p:embed/>
                </p:oleObj>
              </mc:Choice>
              <mc:Fallback>
                <p:oleObj r:id="rId4" imgW="1998980" imgH="142240" progId="ChemDraw.Document.5.0">
                  <p:embed/>
                  <p:pic>
                    <p:nvPicPr>
                      <p:cNvPr id="0" name="对象 3790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868863"/>
                        <a:ext cx="29718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0" name="对象 37909">
            <a:extLst>
              <a:ext uri="{FF2B5EF4-FFF2-40B4-BE49-F238E27FC236}">
                <a16:creationId xmlns:a16="http://schemas.microsoft.com/office/drawing/2014/main" id="{A61FC8D1-5FF5-47ED-B0ED-65E24879EDEC}"/>
              </a:ext>
            </a:extLst>
          </p:cNvPr>
          <p:cNvGraphicFramePr>
            <a:graphicFrameLocks/>
          </p:cNvGraphicFramePr>
          <p:nvPr/>
        </p:nvGraphicFramePr>
        <p:xfrm>
          <a:off x="2335213" y="5249863"/>
          <a:ext cx="167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40460" imgH="403860" progId="ChemDraw.Document.5.0">
                  <p:embed/>
                </p:oleObj>
              </mc:Choice>
              <mc:Fallback>
                <p:oleObj r:id="rId6" imgW="1140460" imgH="403860" progId="ChemDraw.Document.5.0">
                  <p:embed/>
                  <p:pic>
                    <p:nvPicPr>
                      <p:cNvPr id="0" name="对象 3790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213" y="5249863"/>
                        <a:ext cx="1676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1" name="对象 37910">
            <a:extLst>
              <a:ext uri="{FF2B5EF4-FFF2-40B4-BE49-F238E27FC236}">
                <a16:creationId xmlns:a16="http://schemas.microsoft.com/office/drawing/2014/main" id="{AED6F10D-F07D-4B4B-8681-B929559A4F73}"/>
              </a:ext>
            </a:extLst>
          </p:cNvPr>
          <p:cNvGraphicFramePr>
            <a:graphicFrameLocks/>
          </p:cNvGraphicFramePr>
          <p:nvPr/>
        </p:nvGraphicFramePr>
        <p:xfrm>
          <a:off x="3325813" y="4868863"/>
          <a:ext cx="185737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3720" imgH="116516" progId="ChemDraw.Document.5.0">
                  <p:embed/>
                </p:oleObj>
              </mc:Choice>
              <mc:Fallback>
                <p:oleObj r:id="rId8" imgW="93720" imgH="116516" progId="ChemDraw.Document.5.0">
                  <p:embed/>
                  <p:pic>
                    <p:nvPicPr>
                      <p:cNvPr id="0" name="对象 3791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5813" y="4868863"/>
                        <a:ext cx="185737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2" name="对象 37911">
            <a:extLst>
              <a:ext uri="{FF2B5EF4-FFF2-40B4-BE49-F238E27FC236}">
                <a16:creationId xmlns:a16="http://schemas.microsoft.com/office/drawing/2014/main" id="{B10FA604-3CAC-490C-9F10-2AA2196517BF}"/>
              </a:ext>
            </a:extLst>
          </p:cNvPr>
          <p:cNvGraphicFramePr>
            <a:graphicFrameLocks/>
          </p:cNvGraphicFramePr>
          <p:nvPr/>
        </p:nvGraphicFramePr>
        <p:xfrm>
          <a:off x="2487613" y="4868863"/>
          <a:ext cx="18097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91187" imgH="116516" progId="ChemDraw.Document.5.0">
                  <p:embed/>
                </p:oleObj>
              </mc:Choice>
              <mc:Fallback>
                <p:oleObj r:id="rId10" imgW="91187" imgH="116516" progId="ChemDraw.Document.5.0">
                  <p:embed/>
                  <p:pic>
                    <p:nvPicPr>
                      <p:cNvPr id="0" name="对象 37911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613" y="4868863"/>
                        <a:ext cx="180975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3" name="对象 37912">
            <a:extLst>
              <a:ext uri="{FF2B5EF4-FFF2-40B4-BE49-F238E27FC236}">
                <a16:creationId xmlns:a16="http://schemas.microsoft.com/office/drawing/2014/main" id="{7628C9F7-18F3-4395-8382-D675EBD1769D}"/>
              </a:ext>
            </a:extLst>
          </p:cNvPr>
          <p:cNvGraphicFramePr>
            <a:graphicFrameLocks/>
          </p:cNvGraphicFramePr>
          <p:nvPr/>
        </p:nvGraphicFramePr>
        <p:xfrm>
          <a:off x="2106613" y="4868863"/>
          <a:ext cx="18097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91187" imgH="116516" progId="ChemDraw.Document.5.0">
                  <p:embed/>
                </p:oleObj>
              </mc:Choice>
              <mc:Fallback>
                <p:oleObj r:id="rId12" imgW="91187" imgH="116516" progId="ChemDraw.Document.5.0">
                  <p:embed/>
                  <p:pic>
                    <p:nvPicPr>
                      <p:cNvPr id="0" name="对象 37912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613" y="4868863"/>
                        <a:ext cx="180975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4" name="对象 37913">
            <a:extLst>
              <a:ext uri="{FF2B5EF4-FFF2-40B4-BE49-F238E27FC236}">
                <a16:creationId xmlns:a16="http://schemas.microsoft.com/office/drawing/2014/main" id="{26897D8B-B9BC-4BDB-AE75-2B2BCB1DA88C}"/>
              </a:ext>
            </a:extLst>
          </p:cNvPr>
          <p:cNvGraphicFramePr>
            <a:graphicFrameLocks/>
          </p:cNvGraphicFramePr>
          <p:nvPr/>
        </p:nvGraphicFramePr>
        <p:xfrm>
          <a:off x="3203575" y="5157788"/>
          <a:ext cx="1841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93720" imgH="116516" progId="ChemDraw.Document.5.0">
                  <p:embed/>
                </p:oleObj>
              </mc:Choice>
              <mc:Fallback>
                <p:oleObj r:id="rId14" imgW="93720" imgH="116516" progId="ChemDraw.Document.5.0">
                  <p:embed/>
                  <p:pic>
                    <p:nvPicPr>
                      <p:cNvPr id="0" name="对象 37913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157788"/>
                        <a:ext cx="18415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5" name="对象 37914">
            <a:extLst>
              <a:ext uri="{FF2B5EF4-FFF2-40B4-BE49-F238E27FC236}">
                <a16:creationId xmlns:a16="http://schemas.microsoft.com/office/drawing/2014/main" id="{28BBD1F6-CA6B-427B-92F6-54E8018B5F5F}"/>
              </a:ext>
            </a:extLst>
          </p:cNvPr>
          <p:cNvGraphicFramePr>
            <a:graphicFrameLocks/>
          </p:cNvGraphicFramePr>
          <p:nvPr/>
        </p:nvGraphicFramePr>
        <p:xfrm>
          <a:off x="2563813" y="5173663"/>
          <a:ext cx="18097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91187" imgH="116516" progId="ChemDraw.Document.5.0">
                  <p:embed/>
                </p:oleObj>
              </mc:Choice>
              <mc:Fallback>
                <p:oleObj r:id="rId16" imgW="91187" imgH="116516" progId="ChemDraw.Document.5.0">
                  <p:embed/>
                  <p:pic>
                    <p:nvPicPr>
                      <p:cNvPr id="0" name="对象 37914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813" y="5173663"/>
                        <a:ext cx="180975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6" name="对象 37915">
            <a:extLst>
              <a:ext uri="{FF2B5EF4-FFF2-40B4-BE49-F238E27FC236}">
                <a16:creationId xmlns:a16="http://schemas.microsoft.com/office/drawing/2014/main" id="{B816B1F2-ED23-4A70-8934-0F680CB70A4C}"/>
              </a:ext>
            </a:extLst>
          </p:cNvPr>
          <p:cNvGraphicFramePr>
            <a:graphicFrameLocks/>
          </p:cNvGraphicFramePr>
          <p:nvPr/>
        </p:nvGraphicFramePr>
        <p:xfrm>
          <a:off x="2487613" y="5630863"/>
          <a:ext cx="18097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91187" imgH="116516" progId="ChemDraw.Document.5.0">
                  <p:embed/>
                </p:oleObj>
              </mc:Choice>
              <mc:Fallback>
                <p:oleObj r:id="rId18" imgW="91187" imgH="116516" progId="ChemDraw.Document.5.0">
                  <p:embed/>
                  <p:pic>
                    <p:nvPicPr>
                      <p:cNvPr id="0" name="对象 37915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613" y="5630863"/>
                        <a:ext cx="180975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7" name="对象 37916">
            <a:extLst>
              <a:ext uri="{FF2B5EF4-FFF2-40B4-BE49-F238E27FC236}">
                <a16:creationId xmlns:a16="http://schemas.microsoft.com/office/drawing/2014/main" id="{94598917-B337-4757-B10C-60B366CA63B9}"/>
              </a:ext>
            </a:extLst>
          </p:cNvPr>
          <p:cNvGraphicFramePr>
            <a:graphicFrameLocks/>
          </p:cNvGraphicFramePr>
          <p:nvPr/>
        </p:nvGraphicFramePr>
        <p:xfrm>
          <a:off x="2868613" y="5630863"/>
          <a:ext cx="18097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91187" imgH="116516" progId="ChemDraw.Document.5.0">
                  <p:embed/>
                </p:oleObj>
              </mc:Choice>
              <mc:Fallback>
                <p:oleObj r:id="rId20" imgW="91187" imgH="116516" progId="ChemDraw.Document.5.0">
                  <p:embed/>
                  <p:pic>
                    <p:nvPicPr>
                      <p:cNvPr id="0" name="对象 37916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613" y="5630863"/>
                        <a:ext cx="180975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9" name="文本框 37918">
            <a:extLst>
              <a:ext uri="{FF2B5EF4-FFF2-40B4-BE49-F238E27FC236}">
                <a16:creationId xmlns:a16="http://schemas.microsoft.com/office/drawing/2014/main" id="{2904AFEC-4137-46ED-A995-719B04FB0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813" y="5097463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2,5-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二甲基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-4-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异丁基庚烷</a:t>
            </a:r>
          </a:p>
        </p:txBody>
      </p:sp>
      <p:sp>
        <p:nvSpPr>
          <p:cNvPr id="39954" name="灯片编号占位符 1">
            <a:extLst>
              <a:ext uri="{FF2B5EF4-FFF2-40B4-BE49-F238E27FC236}">
                <a16:creationId xmlns:a16="http://schemas.microsoft.com/office/drawing/2014/main" id="{0304D0D3-EB65-4BA5-AC66-2C64BD7C789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5E53156D-6CC1-41F6-A782-97D6E125264D}" type="slidenum">
              <a:rPr altLang="en-US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</a:t>
            </a:fld>
            <a:endParaRPr lang="zh-CN" alt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7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7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7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7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7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5" grpId="0"/>
      <p:bldP spid="37906" grpId="0"/>
      <p:bldP spid="37907" grpId="0"/>
      <p:bldP spid="379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文本框 40979">
            <a:extLst>
              <a:ext uri="{FF2B5EF4-FFF2-40B4-BE49-F238E27FC236}">
                <a16:creationId xmlns:a16="http://schemas.microsoft.com/office/drawing/2014/main" id="{E04451D5-2E10-4CF4-BE62-4D5C2B5C6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765175"/>
            <a:ext cx="889317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2. </a:t>
            </a: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优先基团后列出”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800" b="1">
                <a:solidFill>
                  <a:srgbClr val="463634"/>
                </a:solidFill>
                <a:latin typeface="Times New Roman" panose="02020603050405020304" pitchFamily="18" charset="0"/>
              </a:rPr>
              <a:t>当主碳链上有多个取代基，在命名时这些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基团的列出顺序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遵循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较优基团后列出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的原则，较优基团的确定依据是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次序规则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0981" name="对象 40980">
            <a:extLst>
              <a:ext uri="{FF2B5EF4-FFF2-40B4-BE49-F238E27FC236}">
                <a16:creationId xmlns:a16="http://schemas.microsoft.com/office/drawing/2014/main" id="{D276A82E-8818-4E4F-A6C6-B6E2C6C77098}"/>
              </a:ext>
            </a:extLst>
          </p:cNvPr>
          <p:cNvGraphicFramePr>
            <a:graphicFrameLocks/>
          </p:cNvGraphicFramePr>
          <p:nvPr/>
        </p:nvGraphicFramePr>
        <p:xfrm>
          <a:off x="685800" y="2771775"/>
          <a:ext cx="41910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45740" imgH="746760" progId="ChemDraw.Document.5.0">
                  <p:embed/>
                </p:oleObj>
              </mc:Choice>
              <mc:Fallback>
                <p:oleObj r:id="rId2" imgW="2745740" imgH="746760" progId="ChemDraw.Document.5.0">
                  <p:embed/>
                  <p:pic>
                    <p:nvPicPr>
                      <p:cNvPr id="0" name="对象 40980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771775"/>
                        <a:ext cx="4191000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2" name="对象 40981">
            <a:extLst>
              <a:ext uri="{FF2B5EF4-FFF2-40B4-BE49-F238E27FC236}">
                <a16:creationId xmlns:a16="http://schemas.microsoft.com/office/drawing/2014/main" id="{C039362B-DEAC-452B-A6F7-4385E8420D1B}"/>
              </a:ext>
            </a:extLst>
          </p:cNvPr>
          <p:cNvGraphicFramePr>
            <a:graphicFrameLocks/>
          </p:cNvGraphicFramePr>
          <p:nvPr/>
        </p:nvGraphicFramePr>
        <p:xfrm>
          <a:off x="685800" y="3381375"/>
          <a:ext cx="4137025" cy="20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938780" imgH="142240" progId="ChemDraw.Document.5.0">
                  <p:embed/>
                </p:oleObj>
              </mc:Choice>
              <mc:Fallback>
                <p:oleObj r:id="rId4" imgW="2938780" imgH="142240" progId="ChemDraw.Document.5.0">
                  <p:embed/>
                  <p:pic>
                    <p:nvPicPr>
                      <p:cNvPr id="0" name="对象 40981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381375"/>
                        <a:ext cx="4137025" cy="20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3" name="对象 40982">
            <a:extLst>
              <a:ext uri="{FF2B5EF4-FFF2-40B4-BE49-F238E27FC236}">
                <a16:creationId xmlns:a16="http://schemas.microsoft.com/office/drawing/2014/main" id="{A96F4A06-F9B0-4D7D-B346-663389DD16BB}"/>
              </a:ext>
            </a:extLst>
          </p:cNvPr>
          <p:cNvGraphicFramePr>
            <a:graphicFrameLocks/>
          </p:cNvGraphicFramePr>
          <p:nvPr/>
        </p:nvGraphicFramePr>
        <p:xfrm>
          <a:off x="2438400" y="2924175"/>
          <a:ext cx="25463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39900" imgH="200660" progId="ChemDraw.Document.5.0">
                  <p:embed/>
                </p:oleObj>
              </mc:Choice>
              <mc:Fallback>
                <p:oleObj r:id="rId6" imgW="1739900" imgH="200660" progId="ChemDraw.Document.5.0">
                  <p:embed/>
                  <p:pic>
                    <p:nvPicPr>
                      <p:cNvPr id="0" name="对象 40982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924175"/>
                        <a:ext cx="25463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5" name="文本框 40984">
            <a:extLst>
              <a:ext uri="{FF2B5EF4-FFF2-40B4-BE49-F238E27FC236}">
                <a16:creationId xmlns:a16="http://schemas.microsoft.com/office/drawing/2014/main" id="{3EC31867-BDE7-491F-A1A2-1D62874E2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619375"/>
            <a:ext cx="3581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400" b="1">
                <a:solidFill>
                  <a:srgbClr val="008000"/>
                </a:solidFill>
                <a:latin typeface="Times New Roman" panose="02020603050405020304" pitchFamily="18" charset="0"/>
              </a:rPr>
              <a:t>两条等长碳链选择连有取代基多的为主链。</a:t>
            </a:r>
          </a:p>
        </p:txBody>
      </p:sp>
      <p:sp>
        <p:nvSpPr>
          <p:cNvPr id="40986" name="文本框 40985">
            <a:extLst>
              <a:ext uri="{FF2B5EF4-FFF2-40B4-BE49-F238E27FC236}">
                <a16:creationId xmlns:a16="http://schemas.microsoft.com/office/drawing/2014/main" id="{5EEBBEC2-7107-4533-BEB6-9CA3B44A0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457575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异丙基优先于正丁基。</a:t>
            </a:r>
          </a:p>
        </p:txBody>
      </p:sp>
      <p:sp>
        <p:nvSpPr>
          <p:cNvPr id="40987" name="文本框 40986">
            <a:extLst>
              <a:ext uri="{FF2B5EF4-FFF2-40B4-BE49-F238E27FC236}">
                <a16:creationId xmlns:a16="http://schemas.microsoft.com/office/drawing/2014/main" id="{39AE5F52-896B-4B09-B7CC-683D7FE39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292600"/>
            <a:ext cx="640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5-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丁基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-4-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异丙基癸烷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0969" name="灯片编号占位符 1">
            <a:extLst>
              <a:ext uri="{FF2B5EF4-FFF2-40B4-BE49-F238E27FC236}">
                <a16:creationId xmlns:a16="http://schemas.microsoft.com/office/drawing/2014/main" id="{38CC79C5-75B9-4CF1-AA6C-6F997F1CE7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D3EF8122-121D-4379-9C24-64AE45810F9C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4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5" grpId="0"/>
      <p:bldP spid="40986" grpId="0"/>
      <p:bldP spid="4098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文本框 41994">
            <a:extLst>
              <a:ext uri="{FF2B5EF4-FFF2-40B4-BE49-F238E27FC236}">
                <a16:creationId xmlns:a16="http://schemas.microsoft.com/office/drawing/2014/main" id="{456DE726-888C-4DE5-AEE9-E01AF35D1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625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3.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分子中同时含双、叁键化合物</a:t>
            </a:r>
          </a:p>
        </p:txBody>
      </p:sp>
      <p:sp>
        <p:nvSpPr>
          <p:cNvPr id="41996" name="文本框 41995">
            <a:extLst>
              <a:ext uri="{FF2B5EF4-FFF2-40B4-BE49-F238E27FC236}">
                <a16:creationId xmlns:a16="http://schemas.microsoft.com/office/drawing/2014/main" id="{EE0FC484-C2AD-4005-A21C-00A373878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41438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(1) 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双、叁键处于不同位次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谁近谁优先</a:t>
            </a:r>
          </a:p>
        </p:txBody>
      </p:sp>
      <p:sp>
        <p:nvSpPr>
          <p:cNvPr id="42002" name="文本框 42001">
            <a:extLst>
              <a:ext uri="{FF2B5EF4-FFF2-40B4-BE49-F238E27FC236}">
                <a16:creationId xmlns:a16="http://schemas.microsoft.com/office/drawing/2014/main" id="{9BB7EFD2-B549-46FB-BC27-DB48F5B5E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05263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(2) 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双、叁键处于相同的编号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，烯优先。</a:t>
            </a:r>
          </a:p>
        </p:txBody>
      </p:sp>
      <p:graphicFrame>
        <p:nvGraphicFramePr>
          <p:cNvPr id="42003" name="对象 42002">
            <a:extLst>
              <a:ext uri="{FF2B5EF4-FFF2-40B4-BE49-F238E27FC236}">
                <a16:creationId xmlns:a16="http://schemas.microsoft.com/office/drawing/2014/main" id="{16DE59A4-6653-4D4C-A7EF-D8A70099D9C5}"/>
              </a:ext>
            </a:extLst>
          </p:cNvPr>
          <p:cNvGraphicFramePr>
            <a:graphicFrameLocks/>
          </p:cNvGraphicFramePr>
          <p:nvPr/>
        </p:nvGraphicFramePr>
        <p:xfrm>
          <a:off x="1258888" y="5157788"/>
          <a:ext cx="28956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85620" imgH="480060" progId="ChemDraw.Document.5.0">
                  <p:embed/>
                </p:oleObj>
              </mc:Choice>
              <mc:Fallback>
                <p:oleObj r:id="rId2" imgW="1785620" imgH="480060" progId="ChemDraw.Document.5.0">
                  <p:embed/>
                  <p:pic>
                    <p:nvPicPr>
                      <p:cNvPr id="0" name="对象 4200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157788"/>
                        <a:ext cx="28956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4" name="对象 42003">
            <a:extLst>
              <a:ext uri="{FF2B5EF4-FFF2-40B4-BE49-F238E27FC236}">
                <a16:creationId xmlns:a16="http://schemas.microsoft.com/office/drawing/2014/main" id="{0FB558D1-577C-480E-A91C-A79EF62B82CD}"/>
              </a:ext>
            </a:extLst>
          </p:cNvPr>
          <p:cNvGraphicFramePr>
            <a:graphicFrameLocks/>
          </p:cNvGraphicFramePr>
          <p:nvPr/>
        </p:nvGraphicFramePr>
        <p:xfrm>
          <a:off x="1335088" y="5005388"/>
          <a:ext cx="28194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43380" imgH="142240" progId="ChemDraw.Document.5.0">
                  <p:embed/>
                </p:oleObj>
              </mc:Choice>
              <mc:Fallback>
                <p:oleObj r:id="rId4" imgW="1643380" imgH="142240" progId="ChemDraw.Document.5.0">
                  <p:embed/>
                  <p:pic>
                    <p:nvPicPr>
                      <p:cNvPr id="0" name="对象 4200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088" y="5005388"/>
                        <a:ext cx="28194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5" name="文本框 42004">
            <a:extLst>
              <a:ext uri="{FF2B5EF4-FFF2-40B4-BE49-F238E27FC236}">
                <a16:creationId xmlns:a16="http://schemas.microsoft.com/office/drawing/2014/main" id="{569E58DE-7403-4594-ACE4-C0AA0B259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1688" y="5233988"/>
            <a:ext cx="419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3-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甲基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-1-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戊烯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-4-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炔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2006" name="对象 42005">
            <a:extLst>
              <a:ext uri="{FF2B5EF4-FFF2-40B4-BE49-F238E27FC236}">
                <a16:creationId xmlns:a16="http://schemas.microsoft.com/office/drawing/2014/main" id="{7193005A-B0EA-4845-BF5F-00E5DCB83337}"/>
              </a:ext>
            </a:extLst>
          </p:cNvPr>
          <p:cNvGraphicFramePr>
            <a:graphicFrameLocks/>
          </p:cNvGraphicFramePr>
          <p:nvPr/>
        </p:nvGraphicFramePr>
        <p:xfrm>
          <a:off x="919163" y="2771775"/>
          <a:ext cx="3124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74520" imgH="495300" progId="ChemDraw.Document.5.0">
                  <p:embed/>
                </p:oleObj>
              </mc:Choice>
              <mc:Fallback>
                <p:oleObj r:id="rId6" imgW="1874520" imgH="495300" progId="ChemDraw.Document.5.0">
                  <p:embed/>
                  <p:pic>
                    <p:nvPicPr>
                      <p:cNvPr id="0" name="对象 4200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3" y="2771775"/>
                        <a:ext cx="31242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7" name="对象 42006">
            <a:extLst>
              <a:ext uri="{FF2B5EF4-FFF2-40B4-BE49-F238E27FC236}">
                <a16:creationId xmlns:a16="http://schemas.microsoft.com/office/drawing/2014/main" id="{7F9F7279-6E7F-4983-B716-02718471DBB0}"/>
              </a:ext>
            </a:extLst>
          </p:cNvPr>
          <p:cNvGraphicFramePr>
            <a:graphicFrameLocks/>
          </p:cNvGraphicFramePr>
          <p:nvPr/>
        </p:nvGraphicFramePr>
        <p:xfrm>
          <a:off x="2671763" y="3000375"/>
          <a:ext cx="15271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19480" imgH="238760" progId="ChemDraw.Document.5.0">
                  <p:embed/>
                </p:oleObj>
              </mc:Choice>
              <mc:Fallback>
                <p:oleObj r:id="rId8" imgW="919480" imgH="238760" progId="ChemDraw.Document.5.0">
                  <p:embed/>
                  <p:pic>
                    <p:nvPicPr>
                      <p:cNvPr id="0" name="对象 4200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763" y="3000375"/>
                        <a:ext cx="15271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8" name="文本框 42007">
            <a:extLst>
              <a:ext uri="{FF2B5EF4-FFF2-40B4-BE49-F238E27FC236}">
                <a16:creationId xmlns:a16="http://schemas.microsoft.com/office/drawing/2014/main" id="{11C9A772-6744-4DE3-94F3-8052A30BA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2924175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3-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异丁基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-4-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己烯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-1-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炔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1995" name="灯片编号占位符 1">
            <a:extLst>
              <a:ext uri="{FF2B5EF4-FFF2-40B4-BE49-F238E27FC236}">
                <a16:creationId xmlns:a16="http://schemas.microsoft.com/office/drawing/2014/main" id="{5D349FB3-F683-4897-8EC6-0950B75C17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E6785D3C-193E-4252-AA2C-F18BAE6B83CB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5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2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2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2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2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2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6" grpId="0"/>
      <p:bldP spid="42002" grpId="0"/>
      <p:bldP spid="42005" grpId="0"/>
      <p:bldP spid="4200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51" name="副标题 44050">
            <a:extLst>
              <a:ext uri="{FF2B5EF4-FFF2-40B4-BE49-F238E27FC236}">
                <a16:creationId xmlns:a16="http://schemas.microsoft.com/office/drawing/2014/main" id="{9324787C-A2D0-4658-9D1E-724C6AFD431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79388" y="692150"/>
            <a:ext cx="9144000" cy="533400"/>
          </a:xfrm>
        </p:spPr>
        <p:txBody>
          <a:bodyPr/>
          <a:lstStyle/>
          <a:p>
            <a:pPr algn="l" eaLnBrk="1" hangingPunct="1"/>
            <a:r>
              <a:rPr lang="zh-CN" altLang="en-US" sz="2800" b="1"/>
              <a:t>三、立体异构体的命名</a:t>
            </a:r>
          </a:p>
        </p:txBody>
      </p:sp>
      <p:sp>
        <p:nvSpPr>
          <p:cNvPr id="44052" name="文本框 44051">
            <a:extLst>
              <a:ext uri="{FF2B5EF4-FFF2-40B4-BE49-F238E27FC236}">
                <a16:creationId xmlns:a16="http://schemas.microsoft.com/office/drawing/2014/main" id="{8B34DEA1-B2C9-444B-8885-DCA0AB11D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57338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1.  Z / E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法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适用于所有顺反异构体。</a:t>
            </a:r>
          </a:p>
        </p:txBody>
      </p:sp>
      <p:sp>
        <p:nvSpPr>
          <p:cNvPr id="44053" name="文本框 44052">
            <a:extLst>
              <a:ext uri="{FF2B5EF4-FFF2-40B4-BE49-F238E27FC236}">
                <a16:creationId xmlns:a16="http://schemas.microsoft.com/office/drawing/2014/main" id="{5D4FC76D-2B7C-4F63-9DF3-A1AD709E8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5" y="2157413"/>
            <a:ext cx="81248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按“次序规则”，两个‘优先’基团在双键同侧的构型为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Z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型；反之，为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型。</a:t>
            </a:r>
          </a:p>
        </p:txBody>
      </p:sp>
      <p:graphicFrame>
        <p:nvGraphicFramePr>
          <p:cNvPr id="44055" name="对象 44054">
            <a:extLst>
              <a:ext uri="{FF2B5EF4-FFF2-40B4-BE49-F238E27FC236}">
                <a16:creationId xmlns:a16="http://schemas.microsoft.com/office/drawing/2014/main" id="{105CA819-513B-4B77-B485-F4BAD5E4AA33}"/>
              </a:ext>
            </a:extLst>
          </p:cNvPr>
          <p:cNvGraphicFramePr>
            <a:graphicFrameLocks/>
          </p:cNvGraphicFramePr>
          <p:nvPr/>
        </p:nvGraphicFramePr>
        <p:xfrm>
          <a:off x="1692275" y="3575050"/>
          <a:ext cx="502920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086100" imgH="457200" progId="ChemDraw.Document.5.0">
                  <p:embed/>
                </p:oleObj>
              </mc:Choice>
              <mc:Fallback>
                <p:oleObj r:id="rId2" imgW="3086100" imgH="457200" progId="ChemDraw.Document.5.0">
                  <p:embed/>
                  <p:pic>
                    <p:nvPicPr>
                      <p:cNvPr id="0" name="对象 4405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575050"/>
                        <a:ext cx="502920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0" name="文本框 44059">
            <a:extLst>
              <a:ext uri="{FF2B5EF4-FFF2-40B4-BE49-F238E27FC236}">
                <a16:creationId xmlns:a16="http://schemas.microsoft.com/office/drawing/2014/main" id="{36109452-78F8-4FD6-85C8-D19DFD70B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583113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               (9Z,12Z)-9,12-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十八碳二烯酸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3015" name="灯片编号占位符 1">
            <a:extLst>
              <a:ext uri="{FF2B5EF4-FFF2-40B4-BE49-F238E27FC236}">
                <a16:creationId xmlns:a16="http://schemas.microsoft.com/office/drawing/2014/main" id="{C6298368-CB51-4E6A-96DE-FFBB721F98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421BED97-C404-4E62-94FB-C8C3C1F3D239}" type="slidenum">
              <a:rPr altLang="en-US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6</a:t>
            </a:fld>
            <a:endParaRPr lang="zh-CN" alt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51" grpId="0" build="p"/>
      <p:bldP spid="44052" grpId="0"/>
      <p:bldP spid="44053" grpId="0"/>
      <p:bldP spid="440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文本框 45068">
            <a:extLst>
              <a:ext uri="{FF2B5EF4-FFF2-40B4-BE49-F238E27FC236}">
                <a16:creationId xmlns:a16="http://schemas.microsoft.com/office/drawing/2014/main" id="{8ADD383F-6BCC-42AB-A8D5-5E20A8610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60350"/>
            <a:ext cx="9144000" cy="142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顺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/ 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反和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Z / E 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这两种标记方法，在大多数情况下是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一致的，即顺式即为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式，反式即为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式。但两者有时是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</a:rPr>
              <a:t>不一致的，如：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5071" name="对象 45070">
            <a:extLst>
              <a:ext uri="{FF2B5EF4-FFF2-40B4-BE49-F238E27FC236}">
                <a16:creationId xmlns:a16="http://schemas.microsoft.com/office/drawing/2014/main" id="{C4E5BD5A-8884-43FB-8205-5178755A1C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3636442"/>
              </p:ext>
            </p:extLst>
          </p:nvPr>
        </p:nvGraphicFramePr>
        <p:xfrm>
          <a:off x="1163960" y="2121693"/>
          <a:ext cx="205740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20800" imgH="607060" progId="ChemDraw.Document.5.0">
                  <p:embed/>
                </p:oleObj>
              </mc:Choice>
              <mc:Fallback>
                <p:oleObj r:id="rId2" imgW="1320800" imgH="607060" progId="ChemDraw.Document.5.0">
                  <p:embed/>
                  <p:pic>
                    <p:nvPicPr>
                      <p:cNvPr id="0" name="对象 45070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960" y="2121693"/>
                        <a:ext cx="205740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3" name="对象 45072">
            <a:extLst>
              <a:ext uri="{FF2B5EF4-FFF2-40B4-BE49-F238E27FC236}">
                <a16:creationId xmlns:a16="http://schemas.microsoft.com/office/drawing/2014/main" id="{F4F8B49F-1B7B-4361-BCB1-936D20C94B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3330217"/>
              </p:ext>
            </p:extLst>
          </p:nvPr>
        </p:nvGraphicFramePr>
        <p:xfrm>
          <a:off x="4211960" y="1969293"/>
          <a:ext cx="37338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69720" imgH="190500" progId="ChemDraw.Document.5.0">
                  <p:embed/>
                </p:oleObj>
              </mc:Choice>
              <mc:Fallback>
                <p:oleObj r:id="rId4" imgW="1569720" imgH="190500" progId="ChemDraw.Document.5.0">
                  <p:embed/>
                  <p:pic>
                    <p:nvPicPr>
                      <p:cNvPr id="0" name="对象 4507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1969293"/>
                        <a:ext cx="373380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4" name="对象 45073">
            <a:extLst>
              <a:ext uri="{FF2B5EF4-FFF2-40B4-BE49-F238E27FC236}">
                <a16:creationId xmlns:a16="http://schemas.microsoft.com/office/drawing/2014/main" id="{12D4ED20-65EF-416A-B3A0-CD1976D943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603435"/>
              </p:ext>
            </p:extLst>
          </p:nvPr>
        </p:nvGraphicFramePr>
        <p:xfrm>
          <a:off x="935360" y="2274093"/>
          <a:ext cx="217488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2560" imgH="454660" progId="ChemDraw.Document.5.0">
                  <p:embed/>
                </p:oleObj>
              </mc:Choice>
              <mc:Fallback>
                <p:oleObj r:id="rId6" imgW="162560" imgH="454660" progId="ChemDraw.Document.5.0">
                  <p:embed/>
                  <p:pic>
                    <p:nvPicPr>
                      <p:cNvPr id="0" name="对象 4507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360" y="2274093"/>
                        <a:ext cx="217488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5" name="对象 45074">
            <a:extLst>
              <a:ext uri="{FF2B5EF4-FFF2-40B4-BE49-F238E27FC236}">
                <a16:creationId xmlns:a16="http://schemas.microsoft.com/office/drawing/2014/main" id="{8952B047-FF26-4435-98F2-4719DF5A32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0344148"/>
              </p:ext>
            </p:extLst>
          </p:nvPr>
        </p:nvGraphicFramePr>
        <p:xfrm>
          <a:off x="3221360" y="2197893"/>
          <a:ext cx="239713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65100" imgH="480060" progId="ChemDraw.Document.5.0">
                  <p:embed/>
                </p:oleObj>
              </mc:Choice>
              <mc:Fallback>
                <p:oleObj r:id="rId8" imgW="165100" imgH="480060" progId="ChemDraw.Document.5.0">
                  <p:embed/>
                  <p:pic>
                    <p:nvPicPr>
                      <p:cNvPr id="0" name="对象 45074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360" y="2197893"/>
                        <a:ext cx="239713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6" name="对象 45075">
            <a:extLst>
              <a:ext uri="{FF2B5EF4-FFF2-40B4-BE49-F238E27FC236}">
                <a16:creationId xmlns:a16="http://schemas.microsoft.com/office/drawing/2014/main" id="{A5BA97F1-A586-4E3C-8874-7F2031090E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0299660"/>
              </p:ext>
            </p:extLst>
          </p:nvPr>
        </p:nvGraphicFramePr>
        <p:xfrm>
          <a:off x="4211960" y="2578893"/>
          <a:ext cx="3733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620520" imgH="208280" progId="ChemDraw.Document.5.0">
                  <p:embed/>
                </p:oleObj>
              </mc:Choice>
              <mc:Fallback>
                <p:oleObj r:id="rId10" imgW="1620520" imgH="208280" progId="ChemDraw.Document.5.0">
                  <p:embed/>
                  <p:pic>
                    <p:nvPicPr>
                      <p:cNvPr id="0" name="对象 45075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2578893"/>
                        <a:ext cx="37338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8" name="文本框 45077">
            <a:extLst>
              <a:ext uri="{FF2B5EF4-FFF2-40B4-BE49-F238E27FC236}">
                <a16:creationId xmlns:a16="http://schemas.microsoft.com/office/drawing/2014/main" id="{E5E9CA30-B267-46D6-B8DF-5FDCD28A7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933825"/>
            <a:ext cx="91440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2. R / S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法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该法是将最小基团放在远离观察者的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位置，再看其它三个基团，按次序规则由大到小的顺序，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若为顺时针为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；反之为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S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44041" name="灯片编号占位符 1">
            <a:extLst>
              <a:ext uri="{FF2B5EF4-FFF2-40B4-BE49-F238E27FC236}">
                <a16:creationId xmlns:a16="http://schemas.microsoft.com/office/drawing/2014/main" id="{974A7B65-8753-4113-A35D-5A0D0867C6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9A36C7E6-050F-4E2F-8574-91724B115369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7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7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9" name="文本框 46098">
            <a:extLst>
              <a:ext uri="{FF2B5EF4-FFF2-40B4-BE49-F238E27FC236}">
                <a16:creationId xmlns:a16="http://schemas.microsoft.com/office/drawing/2014/main" id="{5E459A5E-AB58-495D-8F4E-D856879C0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262188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如果给出的是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Fischer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投影式，其构型的判断：</a:t>
            </a:r>
          </a:p>
        </p:txBody>
      </p:sp>
      <p:sp>
        <p:nvSpPr>
          <p:cNvPr id="46100" name="文本框 46099">
            <a:extLst>
              <a:ext uri="{FF2B5EF4-FFF2-40B4-BE49-F238E27FC236}">
                <a16:creationId xmlns:a16="http://schemas.microsoft.com/office/drawing/2014/main" id="{492A3F86-8C51-4E9F-9A77-13A3DE398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52738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位于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竖线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上，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顺</a:t>
            </a: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反</a:t>
            </a: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；若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位于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横线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上，则顺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反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</a:p>
        </p:txBody>
      </p:sp>
      <p:graphicFrame>
        <p:nvGraphicFramePr>
          <p:cNvPr id="46102" name="对象 46101">
            <a:extLst>
              <a:ext uri="{FF2B5EF4-FFF2-40B4-BE49-F238E27FC236}">
                <a16:creationId xmlns:a16="http://schemas.microsoft.com/office/drawing/2014/main" id="{0A105CEA-3D0E-4C87-A300-DD9102E05F57}"/>
              </a:ext>
            </a:extLst>
          </p:cNvPr>
          <p:cNvGraphicFramePr>
            <a:graphicFrameLocks/>
          </p:cNvGraphicFramePr>
          <p:nvPr/>
        </p:nvGraphicFramePr>
        <p:xfrm>
          <a:off x="1979613" y="4221163"/>
          <a:ext cx="5181600" cy="140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08680" imgH="924560" progId="ChemDraw.Document.5.0">
                  <p:embed/>
                </p:oleObj>
              </mc:Choice>
              <mc:Fallback>
                <p:oleObj r:id="rId2" imgW="3408680" imgH="924560" progId="ChemDraw.Document.5.0">
                  <p:embed/>
                  <p:pic>
                    <p:nvPicPr>
                      <p:cNvPr id="0" name="对象 4610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221163"/>
                        <a:ext cx="5181600" cy="1404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3" name="对象 46102">
            <a:extLst>
              <a:ext uri="{FF2B5EF4-FFF2-40B4-BE49-F238E27FC236}">
                <a16:creationId xmlns:a16="http://schemas.microsoft.com/office/drawing/2014/main" id="{D12FF38E-9B3A-42B5-AFCA-32F78AC58959}"/>
              </a:ext>
            </a:extLst>
          </p:cNvPr>
          <p:cNvGraphicFramePr>
            <a:graphicFrameLocks/>
          </p:cNvGraphicFramePr>
          <p:nvPr/>
        </p:nvGraphicFramePr>
        <p:xfrm>
          <a:off x="1065213" y="534988"/>
          <a:ext cx="2133600" cy="135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43660" imgH="853440" progId="ChemDraw.Document.5.0">
                  <p:embed/>
                </p:oleObj>
              </mc:Choice>
              <mc:Fallback>
                <p:oleObj r:id="rId4" imgW="1343660" imgH="853440" progId="ChemDraw.Document.5.0">
                  <p:embed/>
                  <p:pic>
                    <p:nvPicPr>
                      <p:cNvPr id="0" name="对象 4610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534988"/>
                        <a:ext cx="2133600" cy="1354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4" name="对象 46103">
            <a:extLst>
              <a:ext uri="{FF2B5EF4-FFF2-40B4-BE49-F238E27FC236}">
                <a16:creationId xmlns:a16="http://schemas.microsoft.com/office/drawing/2014/main" id="{962B951D-E547-43B0-BB6C-C16AB09BFF54}"/>
              </a:ext>
            </a:extLst>
          </p:cNvPr>
          <p:cNvGraphicFramePr>
            <a:graphicFrameLocks/>
          </p:cNvGraphicFramePr>
          <p:nvPr/>
        </p:nvGraphicFramePr>
        <p:xfrm>
          <a:off x="2195513" y="908050"/>
          <a:ext cx="538162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12420" imgH="360680" progId="ChemDraw.Document.5.0">
                  <p:embed/>
                </p:oleObj>
              </mc:Choice>
              <mc:Fallback>
                <p:oleObj r:id="rId6" imgW="312420" imgH="360680" progId="ChemDraw.Document.5.0">
                  <p:embed/>
                  <p:pic>
                    <p:nvPicPr>
                      <p:cNvPr id="0" name="对象 4610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908050"/>
                        <a:ext cx="538162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5" name="文本框 46104">
            <a:extLst>
              <a:ext uri="{FF2B5EF4-FFF2-40B4-BE49-F238E27FC236}">
                <a16:creationId xmlns:a16="http://schemas.microsoft.com/office/drawing/2014/main" id="{3C8AD1C9-8588-4ACB-8DC1-C710E0DC4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1052513"/>
            <a:ext cx="556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(2R,3Z)-3-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戊烯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-2-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醇</a:t>
            </a:r>
          </a:p>
        </p:txBody>
      </p:sp>
      <p:sp>
        <p:nvSpPr>
          <p:cNvPr id="45064" name="灯片编号占位符 1">
            <a:extLst>
              <a:ext uri="{FF2B5EF4-FFF2-40B4-BE49-F238E27FC236}">
                <a16:creationId xmlns:a16="http://schemas.microsoft.com/office/drawing/2014/main" id="{17C2485D-5DAE-4727-A52A-D421F4B1EE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F162E74E-C0D8-4ECB-B7E9-B0C83EE9D3BF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8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6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6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9" grpId="0"/>
      <p:bldP spid="46100" grpId="0"/>
      <p:bldP spid="4610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副标题 49161">
            <a:extLst>
              <a:ext uri="{FF2B5EF4-FFF2-40B4-BE49-F238E27FC236}">
                <a16:creationId xmlns:a16="http://schemas.microsoft.com/office/drawing/2014/main" id="{892F879A-C233-42D0-B007-A4B86CF4262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188913"/>
            <a:ext cx="9144000" cy="457200"/>
          </a:xfrm>
        </p:spPr>
        <p:txBody>
          <a:bodyPr/>
          <a:lstStyle/>
          <a:p>
            <a:pPr algn="l" eaLnBrk="1" hangingPunct="1"/>
            <a:r>
              <a:rPr lang="zh-CN" altLang="en-US" sz="2800" b="1"/>
              <a:t>四、多官能团化合物的命名</a:t>
            </a:r>
          </a:p>
        </p:txBody>
      </p:sp>
      <p:sp>
        <p:nvSpPr>
          <p:cNvPr id="46083" name="文本框 49162">
            <a:extLst>
              <a:ext uri="{FF2B5EF4-FFF2-40B4-BE49-F238E27FC236}">
                <a16:creationId xmlns:a16="http://schemas.microsoft.com/office/drawing/2014/main" id="{234E6C8D-2728-4582-BDB6-5AC1C1CCE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8256" y="760732"/>
            <a:ext cx="9180512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当分子中含有两种或两种以上官能团时，其命名遵循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官能团优先次序、最低系列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次序规则。</a:t>
            </a:r>
          </a:p>
        </p:txBody>
      </p:sp>
      <p:graphicFrame>
        <p:nvGraphicFramePr>
          <p:cNvPr id="49169" name="对象 49168">
            <a:extLst>
              <a:ext uri="{FF2B5EF4-FFF2-40B4-BE49-F238E27FC236}">
                <a16:creationId xmlns:a16="http://schemas.microsoft.com/office/drawing/2014/main" id="{DEEBF1FB-BEAB-40F0-BCC1-C4F3D9B596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1864494"/>
              </p:ext>
            </p:extLst>
          </p:nvPr>
        </p:nvGraphicFramePr>
        <p:xfrm>
          <a:off x="1189434" y="4138892"/>
          <a:ext cx="20701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72040" imgH="1489320" progId="ChemDraw.Document.6.0">
                  <p:embed/>
                </p:oleObj>
              </mc:Choice>
              <mc:Fallback>
                <p:oleObj r:id="rId2" imgW="1472040" imgH="1489320" progId="ChemDraw.Document.6.0">
                  <p:embed/>
                  <p:pic>
                    <p:nvPicPr>
                      <p:cNvPr id="0" name="对象 49168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434" y="4138892"/>
                        <a:ext cx="2070100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0" name="文本框 49169">
            <a:extLst>
              <a:ext uri="{FF2B5EF4-FFF2-40B4-BE49-F238E27FC236}">
                <a16:creationId xmlns:a16="http://schemas.microsoft.com/office/drawing/2014/main" id="{7A59077A-1EB7-434E-80C0-2572081CB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872" y="5151717"/>
            <a:ext cx="4968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2Z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4R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-4-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甲基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-2-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己烯酸</a:t>
            </a:r>
          </a:p>
        </p:txBody>
      </p:sp>
      <p:sp>
        <p:nvSpPr>
          <p:cNvPr id="46086" name="灯片编号占位符 1">
            <a:extLst>
              <a:ext uri="{FF2B5EF4-FFF2-40B4-BE49-F238E27FC236}">
                <a16:creationId xmlns:a16="http://schemas.microsoft.com/office/drawing/2014/main" id="{A3105ADC-908F-43A8-B8C7-31EEC946A5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9CDB7970-CBE3-4CFE-BBD6-CECF138BA86A}" type="slidenum">
              <a:rPr altLang="en-US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9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4F81B8-1BD5-24B1-1F17-6F342EAF6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2035813"/>
            <a:ext cx="8258373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选择母体的顺序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-COOH</a:t>
            </a:r>
            <a:r>
              <a:rPr lang="zh-CN" altLang="en-US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-SO</a:t>
            </a:r>
            <a:r>
              <a:rPr lang="en-US" altLang="zh-CN" sz="2800" baseline="-250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zh-CN" altLang="en-US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-COOR</a:t>
            </a:r>
            <a:r>
              <a:rPr lang="zh-CN" altLang="en-US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-COX</a:t>
            </a:r>
            <a:r>
              <a:rPr lang="zh-CN" altLang="en-US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-CONH</a:t>
            </a:r>
            <a:r>
              <a:rPr lang="en-US" altLang="zh-CN" sz="2800" baseline="-250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-CN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-CHO</a:t>
            </a:r>
            <a:r>
              <a:rPr lang="zh-CN" altLang="en-US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-CO-</a:t>
            </a:r>
            <a:r>
              <a:rPr lang="zh-CN" altLang="en-US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-OH</a:t>
            </a:r>
            <a:r>
              <a:rPr lang="zh-CN" altLang="en-US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-NH</a:t>
            </a:r>
            <a:r>
              <a:rPr lang="en-US" altLang="zh-CN" sz="2800" baseline="-250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 </a:t>
            </a:r>
            <a:r>
              <a:rPr lang="en-US" altLang="zh-CN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-OR</a:t>
            </a:r>
            <a:r>
              <a:rPr lang="zh-CN" altLang="en-US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 </a:t>
            </a:r>
            <a:r>
              <a:rPr lang="en-US" altLang="zh-CN" sz="2800" dirty="0">
                <a:solidFill>
                  <a:srgbClr val="080B0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-R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70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65537">
            <a:extLst>
              <a:ext uri="{FF2B5EF4-FFF2-40B4-BE49-F238E27FC236}">
                <a16:creationId xmlns:a16="http://schemas.microsoft.com/office/drawing/2014/main" id="{7F3E07A3-FCD6-495F-A637-2DEBF8295D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09600"/>
          </a:xfrm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rgbClr val="0000FF"/>
                </a:solidFill>
                <a:ea typeface="华文新魏" panose="02010800040101010101" pitchFamily="2" charset="-122"/>
              </a:rPr>
              <a:t>基本概念与理化性质比较</a:t>
            </a:r>
          </a:p>
        </p:txBody>
      </p:sp>
      <p:sp>
        <p:nvSpPr>
          <p:cNvPr id="65539" name="内容占位符 65538">
            <a:extLst>
              <a:ext uri="{FF2B5EF4-FFF2-40B4-BE49-F238E27FC236}">
                <a16:creationId xmlns:a16="http://schemas.microsoft.com/office/drawing/2014/main" id="{AB37B174-D43D-474B-8ED8-8DEA26B76F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3429000"/>
            <a:ext cx="9144000" cy="381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sz="2800" b="1"/>
              <a:t>一、有关物理性质的问题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 sz="2800" b="1"/>
          </a:p>
        </p:txBody>
      </p:sp>
      <p:sp>
        <p:nvSpPr>
          <p:cNvPr id="47108" name="文本框 65539">
            <a:extLst>
              <a:ext uri="{FF2B5EF4-FFF2-40B4-BE49-F238E27FC236}">
                <a16:creationId xmlns:a16="http://schemas.microsoft.com/office/drawing/2014/main" id="{55FB6910-7A19-4061-9B09-E5C6099F2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838200"/>
            <a:ext cx="855980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FF3300"/>
                </a:solidFill>
              </a:rPr>
              <a:t>       </a:t>
            </a:r>
            <a:r>
              <a:rPr lang="zh-CN" altLang="en-US" sz="2800" b="1">
                <a:solidFill>
                  <a:srgbClr val="FF3300"/>
                </a:solidFill>
              </a:rPr>
              <a:t>基本概念主要是指有机化学的结构理论及理化性能方面的问题</a:t>
            </a:r>
            <a:r>
              <a:rPr lang="zh-CN" altLang="en-US" sz="2800" b="1">
                <a:solidFill>
                  <a:srgbClr val="000000"/>
                </a:solidFill>
              </a:rPr>
              <a:t>，如：化合物的</a:t>
            </a:r>
            <a:r>
              <a:rPr lang="zh-CN" altLang="en-US" sz="2800" b="1" u="sng">
                <a:solidFill>
                  <a:srgbClr val="0000FF"/>
                </a:solidFill>
              </a:rPr>
              <a:t>物理性质</a:t>
            </a:r>
            <a:r>
              <a:rPr lang="zh-CN" altLang="en-US" sz="2800" b="1">
                <a:solidFill>
                  <a:srgbClr val="0000FF"/>
                </a:solidFill>
              </a:rPr>
              <a:t>、</a:t>
            </a:r>
            <a:r>
              <a:rPr lang="zh-CN" altLang="en-US" sz="2800" b="1" u="sng">
                <a:solidFill>
                  <a:srgbClr val="0000FF"/>
                </a:solidFill>
              </a:rPr>
              <a:t>电子理论中诱导效应和共轭效应的概念</a:t>
            </a:r>
            <a:r>
              <a:rPr lang="zh-CN" altLang="en-US" sz="2800" b="1">
                <a:solidFill>
                  <a:srgbClr val="0000FF"/>
                </a:solidFill>
              </a:rPr>
              <a:t>、</a:t>
            </a:r>
            <a:r>
              <a:rPr lang="zh-CN" altLang="en-US" sz="2800" b="1" u="sng">
                <a:solidFill>
                  <a:srgbClr val="0000FF"/>
                </a:solidFill>
              </a:rPr>
              <a:t>分子的手性</a:t>
            </a:r>
            <a:r>
              <a:rPr lang="zh-CN" altLang="en-US" sz="2800" b="1">
                <a:solidFill>
                  <a:srgbClr val="0000FF"/>
                </a:solidFill>
              </a:rPr>
              <a:t>、</a:t>
            </a:r>
            <a:r>
              <a:rPr lang="zh-CN" altLang="en-US" sz="2800" b="1" u="sng">
                <a:solidFill>
                  <a:srgbClr val="0000FF"/>
                </a:solidFill>
              </a:rPr>
              <a:t>酸碱性</a:t>
            </a:r>
            <a:r>
              <a:rPr lang="zh-CN" altLang="en-US" sz="2800" b="1">
                <a:solidFill>
                  <a:srgbClr val="0000FF"/>
                </a:solidFill>
              </a:rPr>
              <a:t>、</a:t>
            </a:r>
            <a:r>
              <a:rPr lang="zh-CN" altLang="en-US" sz="2800" b="1" u="sng">
                <a:solidFill>
                  <a:srgbClr val="0000FF"/>
                </a:solidFill>
              </a:rPr>
              <a:t>芳香性</a:t>
            </a:r>
            <a:r>
              <a:rPr lang="zh-CN" altLang="en-US" sz="2800" b="1">
                <a:solidFill>
                  <a:srgbClr val="0000FF"/>
                </a:solidFill>
              </a:rPr>
              <a:t>、</a:t>
            </a:r>
            <a:r>
              <a:rPr lang="zh-CN" altLang="en-US" sz="2800" b="1" u="sng">
                <a:solidFill>
                  <a:srgbClr val="0000FF"/>
                </a:solidFill>
              </a:rPr>
              <a:t>稳定性</a:t>
            </a:r>
            <a:r>
              <a:rPr lang="zh-CN" altLang="en-US" sz="2800" b="1">
                <a:solidFill>
                  <a:srgbClr val="0000FF"/>
                </a:solidFill>
              </a:rPr>
              <a:t>、</a:t>
            </a:r>
            <a:r>
              <a:rPr lang="zh-CN" altLang="en-US" sz="2800" b="1" u="sng">
                <a:solidFill>
                  <a:srgbClr val="0000FF"/>
                </a:solidFill>
              </a:rPr>
              <a:t>反应活性</a:t>
            </a:r>
            <a:r>
              <a:rPr lang="zh-CN" altLang="en-US" sz="2800" b="1">
                <a:solidFill>
                  <a:srgbClr val="000000"/>
                </a:solidFill>
              </a:rPr>
              <a:t>等。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41" name="文本框 65540">
            <a:extLst>
              <a:ext uri="{FF2B5EF4-FFF2-40B4-BE49-F238E27FC236}">
                <a16:creationId xmlns:a16="http://schemas.microsoft.com/office/drawing/2014/main" id="{2DE52CC5-734F-45E4-9B71-A54320D04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23850" y="3933825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FF3300"/>
                </a:solidFill>
              </a:rPr>
              <a:t>        </a:t>
            </a: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>
                <a:solidFill>
                  <a:srgbClr val="006600"/>
                </a:solidFill>
              </a:rPr>
              <a:t>沸点与分子结构的关系</a:t>
            </a:r>
            <a:r>
              <a:rPr lang="zh-CN" altLang="en-US" sz="2400">
                <a:solidFill>
                  <a:srgbClr val="006600"/>
                </a:solidFill>
              </a:rPr>
              <a:t> </a:t>
            </a:r>
            <a:endParaRPr lang="zh-CN" altLang="en-US" sz="28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42" name="文本框 65541">
            <a:extLst>
              <a:ext uri="{FF2B5EF4-FFF2-40B4-BE49-F238E27FC236}">
                <a16:creationId xmlns:a16="http://schemas.microsoft.com/office/drawing/2014/main" id="{226B59F8-1752-4E7D-8598-6F8CBFD2F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414838"/>
            <a:ext cx="8351837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</a:rPr>
              <a:t>化合物沸点的高低，主要取决于分子间引力的大小，分子间引力越大，沸点就越高。化合物的沸点与结构有如下规律：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1" name="灯片编号占位符 1">
            <a:extLst>
              <a:ext uri="{FF2B5EF4-FFF2-40B4-BE49-F238E27FC236}">
                <a16:creationId xmlns:a16="http://schemas.microsoft.com/office/drawing/2014/main" id="{3015C8A1-42A1-4BEF-9AF5-E0F1C8BA8F1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6553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F504DA45-B1E7-41A2-9176-76163154EAD8}" type="slidenum">
              <a:rPr altLang="en-US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10</a:t>
            </a:fld>
            <a:endParaRPr lang="zh-CN" alt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/>
      <p:bldP spid="65541" grpId="0"/>
      <p:bldP spid="655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5" name="文本框 66564">
            <a:extLst>
              <a:ext uri="{FF2B5EF4-FFF2-40B4-BE49-F238E27FC236}">
                <a16:creationId xmlns:a16="http://schemas.microsoft.com/office/drawing/2014/main" id="{C5240837-43B3-4FAF-97AB-7BF994221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3375"/>
            <a:ext cx="9144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(1) </a:t>
            </a:r>
            <a:r>
              <a:rPr lang="zh-CN" altLang="en-US" sz="2800" b="1">
                <a:solidFill>
                  <a:srgbClr val="000000"/>
                </a:solidFill>
              </a:rPr>
              <a:t>在同系物中，分子的</a:t>
            </a:r>
            <a:r>
              <a:rPr lang="zh-CN" altLang="en-US" sz="2800" b="1">
                <a:solidFill>
                  <a:srgbClr val="0000FF"/>
                </a:solidFill>
              </a:rPr>
              <a:t>相对质量增加，沸点升高；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6600"/>
                </a:solidFill>
              </a:rPr>
              <a:t>直链异构体的沸点＞支链异构体；支链愈多，沸点愈低。</a:t>
            </a:r>
          </a:p>
        </p:txBody>
      </p:sp>
      <p:sp>
        <p:nvSpPr>
          <p:cNvPr id="66567" name="文本框 66566">
            <a:extLst>
              <a:ext uri="{FF2B5EF4-FFF2-40B4-BE49-F238E27FC236}">
                <a16:creationId xmlns:a16="http://schemas.microsoft.com/office/drawing/2014/main" id="{9B324040-F952-49D6-B88B-26BF3993B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319338"/>
            <a:ext cx="9144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沸点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(℃)</a:t>
            </a:r>
            <a:r>
              <a: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：      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- 0.5                                36.1                              27.9                           9.5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66568" name="对象 66567">
            <a:extLst>
              <a:ext uri="{FF2B5EF4-FFF2-40B4-BE49-F238E27FC236}">
                <a16:creationId xmlns:a16="http://schemas.microsoft.com/office/drawing/2014/main" id="{28F59C2D-BBFE-4500-980A-30D824BBA247}"/>
              </a:ext>
            </a:extLst>
          </p:cNvPr>
          <p:cNvGraphicFramePr>
            <a:graphicFrameLocks/>
          </p:cNvGraphicFramePr>
          <p:nvPr/>
        </p:nvGraphicFramePr>
        <p:xfrm>
          <a:off x="381000" y="1557338"/>
          <a:ext cx="85344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791200" imgH="784860" progId="ChemDraw.Document.5.0">
                  <p:embed/>
                </p:oleObj>
              </mc:Choice>
              <mc:Fallback>
                <p:oleObj r:id="rId2" imgW="5791200" imgH="784860" progId="ChemDraw.Document.5.0">
                  <p:embed/>
                  <p:pic>
                    <p:nvPicPr>
                      <p:cNvPr id="0" name="对象 6656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557338"/>
                        <a:ext cx="85344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1" name="文本框 66570">
            <a:extLst>
              <a:ext uri="{FF2B5EF4-FFF2-40B4-BE49-F238E27FC236}">
                <a16:creationId xmlns:a16="http://schemas.microsoft.com/office/drawing/2014/main" id="{E4B7F380-3098-454C-B867-5E4AAF320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068638"/>
            <a:ext cx="9144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3366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sz="2800" b="1">
                <a:solidFill>
                  <a:srgbClr val="000000"/>
                </a:solidFill>
              </a:rPr>
              <a:t>分子中引入能形成缔合氢键的原子或原子团时，</a:t>
            </a:r>
          </a:p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则沸点显著升高，且该基团愈多，沸点愈高。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74" name="文本框 66573">
            <a:extLst>
              <a:ext uri="{FF2B5EF4-FFF2-40B4-BE49-F238E27FC236}">
                <a16:creationId xmlns:a16="http://schemas.microsoft.com/office/drawing/2014/main" id="{7ADEC6D8-B301-45D0-9DEA-4DF22EA27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4975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993300"/>
                </a:solidFill>
              </a:rPr>
              <a:t>        </a:t>
            </a:r>
            <a:r>
              <a:rPr lang="zh-CN" altLang="en-US" sz="2800" b="1">
                <a:solidFill>
                  <a:srgbClr val="FF0000"/>
                </a:solidFill>
              </a:rPr>
              <a:t>形成分子间氢键的比形成分子内氢键的沸点高。</a:t>
            </a:r>
          </a:p>
        </p:txBody>
      </p:sp>
      <p:graphicFrame>
        <p:nvGraphicFramePr>
          <p:cNvPr id="66575" name="对象 66574">
            <a:extLst>
              <a:ext uri="{FF2B5EF4-FFF2-40B4-BE49-F238E27FC236}">
                <a16:creationId xmlns:a16="http://schemas.microsoft.com/office/drawing/2014/main" id="{967C1802-9A5E-4C5B-81F9-AEA870528FCF}"/>
              </a:ext>
            </a:extLst>
          </p:cNvPr>
          <p:cNvGraphicFramePr>
            <a:graphicFrameLocks/>
          </p:cNvGraphicFramePr>
          <p:nvPr/>
        </p:nvGraphicFramePr>
        <p:xfrm>
          <a:off x="2484438" y="4868863"/>
          <a:ext cx="3429000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04720" imgH="830580" progId="ChemDraw.Document.5.0">
                  <p:embed/>
                </p:oleObj>
              </mc:Choice>
              <mc:Fallback>
                <p:oleObj r:id="rId4" imgW="2204720" imgH="830580" progId="ChemDraw.Document.5.0">
                  <p:embed/>
                  <p:pic>
                    <p:nvPicPr>
                      <p:cNvPr id="0" name="对象 6657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868863"/>
                        <a:ext cx="3429000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6" name="文本框 66575">
            <a:extLst>
              <a:ext uri="{FF2B5EF4-FFF2-40B4-BE49-F238E27FC236}">
                <a16:creationId xmlns:a16="http://schemas.microsoft.com/office/drawing/2014/main" id="{629F6A7C-FEDA-4DE5-B653-1E6D846EB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461125"/>
            <a:ext cx="914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 </a:t>
            </a:r>
            <a:r>
              <a:rPr lang="zh-CN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沸点</a:t>
            </a: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(℃)</a:t>
            </a:r>
            <a:r>
              <a:rPr lang="zh-CN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：          </a:t>
            </a: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279                                215 </a:t>
            </a:r>
          </a:p>
        </p:txBody>
      </p:sp>
      <p:sp>
        <p:nvSpPr>
          <p:cNvPr id="48137" name="灯片编号占位符 1">
            <a:extLst>
              <a:ext uri="{FF2B5EF4-FFF2-40B4-BE49-F238E27FC236}">
                <a16:creationId xmlns:a16="http://schemas.microsoft.com/office/drawing/2014/main" id="{C41D0818-AA17-499F-B434-3B1BD3B86C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25695411-D28A-48DD-9C8E-83F227B9D37F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11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6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6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6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6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6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6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5" grpId="0"/>
      <p:bldP spid="66567" grpId="0"/>
      <p:bldP spid="66571" grpId="0"/>
      <p:bldP spid="66574" grpId="0"/>
      <p:bldP spid="6657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矩形 221187">
            <a:extLst>
              <a:ext uri="{FF2B5EF4-FFF2-40B4-BE49-F238E27FC236}">
                <a16:creationId xmlns:a16="http://schemas.microsoft.com/office/drawing/2014/main" id="{4B7484A0-8FC1-4777-8404-33AE3EF42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33375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二、酸碱性的强弱问题</a:t>
            </a:r>
          </a:p>
        </p:txBody>
      </p:sp>
      <p:sp>
        <p:nvSpPr>
          <p:cNvPr id="221189" name="文本框 221188">
            <a:extLst>
              <a:ext uri="{FF2B5EF4-FFF2-40B4-BE49-F238E27FC236}">
                <a16:creationId xmlns:a16="http://schemas.microsoft.com/office/drawing/2014/main" id="{23D3082F-3C70-4A82-809F-7E845A1B3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25538"/>
            <a:ext cx="88931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</a:rPr>
              <a:t>       </a:t>
            </a:r>
            <a:r>
              <a:rPr lang="zh-CN" altLang="en-US" sz="2800" b="1">
                <a:solidFill>
                  <a:srgbClr val="000000"/>
                </a:solidFill>
              </a:rPr>
              <a:t>化合物酸碱性的强弱主要受其结构的</a:t>
            </a:r>
            <a:r>
              <a:rPr lang="zh-CN" altLang="en-US" sz="2800" b="1">
                <a:solidFill>
                  <a:srgbClr val="FF3300"/>
                </a:solidFill>
              </a:rPr>
              <a:t>电子效应</a:t>
            </a:r>
            <a:r>
              <a:rPr lang="zh-CN" altLang="en-US" sz="2800" b="1">
                <a:solidFill>
                  <a:srgbClr val="000000"/>
                </a:solidFill>
              </a:rPr>
              <a:t>、</a:t>
            </a:r>
            <a:r>
              <a:rPr lang="zh-CN" altLang="en-US" sz="2800" b="1">
                <a:solidFill>
                  <a:srgbClr val="FF3300"/>
                </a:solidFill>
              </a:rPr>
              <a:t>杂化</a:t>
            </a:r>
            <a:r>
              <a:rPr lang="zh-CN" altLang="en-US" sz="2800" b="1">
                <a:solidFill>
                  <a:srgbClr val="000000"/>
                </a:solidFill>
              </a:rPr>
              <a:t>、</a:t>
            </a:r>
            <a:r>
              <a:rPr lang="zh-CN" altLang="en-US" sz="2800" b="1">
                <a:solidFill>
                  <a:srgbClr val="FF3300"/>
                </a:solidFill>
              </a:rPr>
              <a:t>氢键</a:t>
            </a:r>
            <a:r>
              <a:rPr lang="zh-CN" altLang="en-US" sz="2800" b="1">
                <a:solidFill>
                  <a:srgbClr val="000000"/>
                </a:solidFill>
              </a:rPr>
              <a:t>、</a:t>
            </a:r>
            <a:r>
              <a:rPr lang="zh-CN" altLang="en-US" sz="2800" b="1">
                <a:solidFill>
                  <a:srgbClr val="FF3300"/>
                </a:solidFill>
              </a:rPr>
              <a:t>空间效应</a:t>
            </a:r>
            <a:r>
              <a:rPr lang="zh-CN" altLang="en-US" sz="2800" b="1">
                <a:solidFill>
                  <a:srgbClr val="000000"/>
                </a:solidFill>
              </a:rPr>
              <a:t>和</a:t>
            </a:r>
            <a:r>
              <a:rPr lang="zh-CN" altLang="en-US" sz="2800" b="1">
                <a:solidFill>
                  <a:srgbClr val="FF3300"/>
                </a:solidFill>
              </a:rPr>
              <a:t>溶剂</a:t>
            </a:r>
            <a:r>
              <a:rPr lang="zh-CN" altLang="en-US" sz="2800" b="1">
                <a:solidFill>
                  <a:srgbClr val="000000"/>
                </a:solidFill>
              </a:rPr>
              <a:t>的影响。</a:t>
            </a:r>
          </a:p>
        </p:txBody>
      </p:sp>
      <p:sp>
        <p:nvSpPr>
          <p:cNvPr id="221190" name="文本框 221189">
            <a:extLst>
              <a:ext uri="{FF2B5EF4-FFF2-40B4-BE49-F238E27FC236}">
                <a16:creationId xmlns:a16="http://schemas.microsoft.com/office/drawing/2014/main" id="{764B9567-97C3-41D6-BDED-6B7678D6C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420938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1.</a:t>
            </a:r>
            <a:r>
              <a:rPr lang="zh-CN" altLang="en-US" sz="2800" b="1">
                <a:solidFill>
                  <a:srgbClr val="0000FF"/>
                </a:solidFill>
              </a:rPr>
              <a:t>羧酸的酸性</a:t>
            </a:r>
          </a:p>
        </p:txBody>
      </p:sp>
      <p:sp>
        <p:nvSpPr>
          <p:cNvPr id="221191" name="文本框 221190">
            <a:extLst>
              <a:ext uri="{FF2B5EF4-FFF2-40B4-BE49-F238E27FC236}">
                <a16:creationId xmlns:a16="http://schemas.microsoft.com/office/drawing/2014/main" id="{574CA69E-3A06-4D7B-80CA-2B22B5022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141663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(1) </a:t>
            </a:r>
            <a:r>
              <a:rPr lang="zh-CN" altLang="en-US" sz="2800" b="1">
                <a:solidFill>
                  <a:srgbClr val="000000"/>
                </a:solidFill>
              </a:rPr>
              <a:t>脂肪族羧酸</a:t>
            </a: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221192" name="文本框 221191">
            <a:extLst>
              <a:ext uri="{FF2B5EF4-FFF2-40B4-BE49-F238E27FC236}">
                <a16:creationId xmlns:a16="http://schemas.microsoft.com/office/drawing/2014/main" id="{E3E16873-28B4-4798-9A1D-D55086F31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933825"/>
            <a:ext cx="9144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</a:rPr>
              <a:t>连有</a:t>
            </a:r>
            <a:r>
              <a:rPr lang="en-US" altLang="zh-CN" sz="2800" b="1">
                <a:solidFill>
                  <a:srgbClr val="008000"/>
                </a:solidFill>
                <a:latin typeface="Times New Roman" panose="02020603050405020304" pitchFamily="18" charset="0"/>
              </a:rPr>
              <a:t>-I</a:t>
            </a:r>
            <a:r>
              <a:rPr lang="zh-CN" altLang="en-US" sz="2800" b="1">
                <a:solidFill>
                  <a:srgbClr val="008000"/>
                </a:solidFill>
              </a:rPr>
              <a:t>效应</a:t>
            </a:r>
            <a:r>
              <a:rPr lang="zh-CN" altLang="en-US" sz="2800" b="1">
                <a:solidFill>
                  <a:srgbClr val="000000"/>
                </a:solidFill>
              </a:rPr>
              <a:t>的原子或基团，使</a:t>
            </a:r>
            <a:r>
              <a:rPr lang="zh-CN" altLang="en-US" sz="2800" b="1">
                <a:solidFill>
                  <a:srgbClr val="008000"/>
                </a:solidFill>
              </a:rPr>
              <a:t>酸性增强</a:t>
            </a:r>
            <a:r>
              <a:rPr lang="zh-CN" altLang="en-US" sz="2800" b="1">
                <a:solidFill>
                  <a:srgbClr val="000000"/>
                </a:solidFill>
              </a:rPr>
              <a:t>；连有</a:t>
            </a:r>
            <a:r>
              <a:rPr lang="en-US" altLang="zh-CN" sz="2800" b="1">
                <a:solidFill>
                  <a:srgbClr val="008000"/>
                </a:solidFill>
                <a:latin typeface="Times New Roman" panose="02020603050405020304" pitchFamily="18" charset="0"/>
              </a:rPr>
              <a:t>+I</a:t>
            </a:r>
            <a:r>
              <a:rPr lang="zh-CN" altLang="en-US" sz="2800" b="1">
                <a:solidFill>
                  <a:srgbClr val="008000"/>
                </a:solidFill>
              </a:rPr>
              <a:t>效应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的原子或基团，使</a:t>
            </a:r>
            <a:r>
              <a:rPr lang="zh-CN" altLang="en-US" sz="2800" b="1">
                <a:solidFill>
                  <a:srgbClr val="008000"/>
                </a:solidFill>
              </a:rPr>
              <a:t>酸性减弱</a:t>
            </a:r>
            <a:r>
              <a:rPr lang="zh-CN" altLang="en-US" sz="2800" b="1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49159" name="灯片编号占位符 1">
            <a:extLst>
              <a:ext uri="{FF2B5EF4-FFF2-40B4-BE49-F238E27FC236}">
                <a16:creationId xmlns:a16="http://schemas.microsoft.com/office/drawing/2014/main" id="{402B54BC-DCFD-497C-8EB3-D126F7796F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528A56CA-ECE5-4D9F-8ADE-23F63909BEBD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12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1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1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9" grpId="0"/>
      <p:bldP spid="221190" grpId="0"/>
      <p:bldP spid="221191" grpId="0"/>
      <p:bldP spid="22119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61" name="对象 74760">
            <a:extLst>
              <a:ext uri="{FF2B5EF4-FFF2-40B4-BE49-F238E27FC236}">
                <a16:creationId xmlns:a16="http://schemas.microsoft.com/office/drawing/2014/main" id="{9E1E61AF-755C-4668-990A-CB9F6A331A50}"/>
              </a:ext>
            </a:extLst>
          </p:cNvPr>
          <p:cNvGraphicFramePr>
            <a:graphicFrameLocks/>
          </p:cNvGraphicFramePr>
          <p:nvPr/>
        </p:nvGraphicFramePr>
        <p:xfrm>
          <a:off x="900113" y="2420938"/>
          <a:ext cx="75438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153660" imgH="515620" progId="ChemDraw.Document.5.0">
                  <p:embed/>
                </p:oleObj>
              </mc:Choice>
              <mc:Fallback>
                <p:oleObj r:id="rId2" imgW="5153660" imgH="515620" progId="ChemDraw.Document.5.0">
                  <p:embed/>
                  <p:pic>
                    <p:nvPicPr>
                      <p:cNvPr id="0" name="对象 74760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420938"/>
                        <a:ext cx="75438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79" name="文本框 74762">
            <a:extLst>
              <a:ext uri="{FF2B5EF4-FFF2-40B4-BE49-F238E27FC236}">
                <a16:creationId xmlns:a16="http://schemas.microsoft.com/office/drawing/2014/main" id="{6E17AA40-213D-4FDB-990A-46C4EF92A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89475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endParaRPr lang="en-US" altLang="zh-CN" sz="2800" b="1">
              <a:solidFill>
                <a:srgbClr val="000000"/>
              </a:solidFill>
            </a:endParaRPr>
          </a:p>
        </p:txBody>
      </p:sp>
      <p:graphicFrame>
        <p:nvGraphicFramePr>
          <p:cNvPr id="74764" name="对象 74763">
            <a:extLst>
              <a:ext uri="{FF2B5EF4-FFF2-40B4-BE49-F238E27FC236}">
                <a16:creationId xmlns:a16="http://schemas.microsoft.com/office/drawing/2014/main" id="{95D11394-A383-4189-81CD-8B00551EE94C}"/>
              </a:ext>
            </a:extLst>
          </p:cNvPr>
          <p:cNvGraphicFramePr>
            <a:graphicFrameLocks/>
          </p:cNvGraphicFramePr>
          <p:nvPr/>
        </p:nvGraphicFramePr>
        <p:xfrm>
          <a:off x="0" y="4308475"/>
          <a:ext cx="9144000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289040" imgH="797560" progId="ChemDraw.Document.5.0">
                  <p:embed/>
                </p:oleObj>
              </mc:Choice>
              <mc:Fallback>
                <p:oleObj r:id="rId4" imgW="6289040" imgH="797560" progId="ChemDraw.Document.5.0">
                  <p:embed/>
                  <p:pic>
                    <p:nvPicPr>
                      <p:cNvPr id="0" name="对象 7476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308475"/>
                        <a:ext cx="9144000" cy="115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5" name="对象 74764">
            <a:extLst>
              <a:ext uri="{FF2B5EF4-FFF2-40B4-BE49-F238E27FC236}">
                <a16:creationId xmlns:a16="http://schemas.microsoft.com/office/drawing/2014/main" id="{8DB10F67-6114-4275-B6A4-FF867BDA960F}"/>
              </a:ext>
            </a:extLst>
          </p:cNvPr>
          <p:cNvGraphicFramePr>
            <a:graphicFrameLocks/>
          </p:cNvGraphicFramePr>
          <p:nvPr/>
        </p:nvGraphicFramePr>
        <p:xfrm>
          <a:off x="0" y="476250"/>
          <a:ext cx="914400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02020" imgH="601980" progId="ChemDraw.Document.5.0">
                  <p:embed/>
                </p:oleObj>
              </mc:Choice>
              <mc:Fallback>
                <p:oleObj r:id="rId6" imgW="6002020" imgH="601980" progId="ChemDraw.Document.5.0">
                  <p:embed/>
                  <p:pic>
                    <p:nvPicPr>
                      <p:cNvPr id="0" name="对象 7476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76250"/>
                        <a:ext cx="9144000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7" name="文本框 74766">
            <a:extLst>
              <a:ext uri="{FF2B5EF4-FFF2-40B4-BE49-F238E27FC236}">
                <a16:creationId xmlns:a16="http://schemas.microsoft.com/office/drawing/2014/main" id="{C5CC7E9D-EE97-437E-9A27-E3E8986C3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00213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-I</a:t>
            </a:r>
            <a:r>
              <a:rPr lang="zh-CN" altLang="en-US" sz="2400" b="1">
                <a:solidFill>
                  <a:srgbClr val="000000"/>
                </a:solidFill>
              </a:rPr>
              <a:t>效应</a:t>
            </a:r>
            <a:r>
              <a:rPr lang="en-US" altLang="zh-CN" sz="2400" b="1">
                <a:solidFill>
                  <a:srgbClr val="000000"/>
                </a:solidFill>
              </a:rPr>
              <a:t>↑</a:t>
            </a:r>
            <a:r>
              <a:rPr lang="zh-CN" altLang="en-US" sz="2400" b="1">
                <a:solidFill>
                  <a:srgbClr val="000000"/>
                </a:solidFill>
              </a:rPr>
              <a:t>，酸性</a:t>
            </a:r>
            <a:r>
              <a:rPr lang="en-US" altLang="zh-CN" sz="2400" b="1">
                <a:solidFill>
                  <a:srgbClr val="000000"/>
                </a:solidFill>
              </a:rPr>
              <a:t>↑</a:t>
            </a:r>
            <a:r>
              <a:rPr lang="zh-CN" altLang="en-US" sz="2400" b="1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74768" name="文本框 74767">
            <a:extLst>
              <a:ext uri="{FF2B5EF4-FFF2-40B4-BE49-F238E27FC236}">
                <a16:creationId xmlns:a16="http://schemas.microsoft.com/office/drawing/2014/main" id="{A99917A1-56EC-428B-86C0-688AD6E30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4290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诱导效应具有加和性。</a:t>
            </a:r>
          </a:p>
        </p:txBody>
      </p:sp>
      <p:sp>
        <p:nvSpPr>
          <p:cNvPr id="74769" name="文本框 74768">
            <a:extLst>
              <a:ext uri="{FF2B5EF4-FFF2-40B4-BE49-F238E27FC236}">
                <a16:creationId xmlns:a16="http://schemas.microsoft.com/office/drawing/2014/main" id="{F70EB4C8-A490-4473-9789-B39821348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527675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诱导效应与距离成反比。</a:t>
            </a:r>
          </a:p>
        </p:txBody>
      </p:sp>
      <p:sp>
        <p:nvSpPr>
          <p:cNvPr id="50185" name="灯片编号占位符 1">
            <a:extLst>
              <a:ext uri="{FF2B5EF4-FFF2-40B4-BE49-F238E27FC236}">
                <a16:creationId xmlns:a16="http://schemas.microsoft.com/office/drawing/2014/main" id="{C041DD19-98BE-4884-9EAF-9CDD4F8ECC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7FB84CDC-382D-4A75-82BB-7472A6C3E84F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13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4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4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4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4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4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4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7" grpId="0"/>
      <p:bldP spid="74768" grpId="0"/>
      <p:bldP spid="7476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8" name="文本框 82947">
            <a:extLst>
              <a:ext uri="{FF2B5EF4-FFF2-40B4-BE49-F238E27FC236}">
                <a16:creationId xmlns:a16="http://schemas.microsoft.com/office/drawing/2014/main" id="{DCA4EE72-1817-47AF-A60A-A997B8A5A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(2) </a:t>
            </a:r>
            <a:r>
              <a:rPr lang="zh-CN" altLang="en-US" sz="2800" b="1">
                <a:solidFill>
                  <a:srgbClr val="000000"/>
                </a:solidFill>
              </a:rPr>
              <a:t>芳香族羧酸</a:t>
            </a:r>
          </a:p>
        </p:txBody>
      </p:sp>
      <p:sp>
        <p:nvSpPr>
          <p:cNvPr id="82949" name="文本框 82948">
            <a:extLst>
              <a:ext uri="{FF2B5EF4-FFF2-40B4-BE49-F238E27FC236}">
                <a16:creationId xmlns:a16="http://schemas.microsoft.com/office/drawing/2014/main" id="{76799DFD-6862-4EC0-BF66-285B02888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052513"/>
            <a:ext cx="8424863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</a:rPr>
              <a:t>    </a:t>
            </a:r>
            <a:r>
              <a:rPr lang="zh-CN" altLang="en-US" sz="2800" b="1">
                <a:solidFill>
                  <a:srgbClr val="000000"/>
                </a:solidFill>
              </a:rPr>
              <a:t>一般来说，在芳环上引入</a:t>
            </a:r>
            <a:r>
              <a:rPr lang="zh-CN" altLang="en-US" sz="2800" b="1">
                <a:solidFill>
                  <a:srgbClr val="008000"/>
                </a:solidFill>
              </a:rPr>
              <a:t>吸电子</a:t>
            </a:r>
            <a:r>
              <a:rPr lang="zh-CN" altLang="en-US" sz="2800" b="1">
                <a:solidFill>
                  <a:srgbClr val="000000"/>
                </a:solidFill>
              </a:rPr>
              <a:t>基团，使</a:t>
            </a:r>
            <a:r>
              <a:rPr lang="zh-CN" altLang="en-US" sz="2800" b="1">
                <a:solidFill>
                  <a:srgbClr val="008000"/>
                </a:solidFill>
              </a:rPr>
              <a:t>酸性增强</a:t>
            </a:r>
            <a:r>
              <a:rPr lang="zh-CN" altLang="en-US" sz="2800" b="1">
                <a:solidFill>
                  <a:srgbClr val="000000"/>
                </a:solidFill>
              </a:rPr>
              <a:t>；引入</a:t>
            </a:r>
            <a:r>
              <a:rPr lang="zh-CN" altLang="en-US" sz="2800" b="1">
                <a:solidFill>
                  <a:srgbClr val="FF00FF"/>
                </a:solidFill>
              </a:rPr>
              <a:t>供电子</a:t>
            </a:r>
            <a:r>
              <a:rPr lang="zh-CN" altLang="en-US" sz="2800" b="1">
                <a:solidFill>
                  <a:srgbClr val="000000"/>
                </a:solidFill>
              </a:rPr>
              <a:t>基团使</a:t>
            </a:r>
            <a:r>
              <a:rPr lang="zh-CN" altLang="en-US" sz="2800" b="1">
                <a:solidFill>
                  <a:srgbClr val="FF00FF"/>
                </a:solidFill>
              </a:rPr>
              <a:t>酸性减弱</a:t>
            </a:r>
            <a:r>
              <a:rPr lang="zh-CN" altLang="en-US" sz="2800" b="1">
                <a:solidFill>
                  <a:srgbClr val="000000"/>
                </a:solidFill>
              </a:rPr>
              <a:t>。此外还与</a:t>
            </a:r>
            <a:r>
              <a:rPr lang="zh-CN" altLang="en-US" sz="2800" b="1">
                <a:solidFill>
                  <a:srgbClr val="0000FF"/>
                </a:solidFill>
              </a:rPr>
              <a:t>基团所连接的位置</a:t>
            </a:r>
            <a:r>
              <a:rPr lang="zh-CN" altLang="en-US" sz="2800" b="1">
                <a:solidFill>
                  <a:srgbClr val="000000"/>
                </a:solidFill>
              </a:rPr>
              <a:t>有关。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50" name="文本框 82949">
            <a:extLst>
              <a:ext uri="{FF2B5EF4-FFF2-40B4-BE49-F238E27FC236}">
                <a16:creationId xmlns:a16="http://schemas.microsoft.com/office/drawing/2014/main" id="{A1CBBA53-03EA-469B-9123-DBBB9A4C9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52738"/>
            <a:ext cx="9144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A. </a:t>
            </a:r>
            <a:r>
              <a:rPr lang="zh-CN" altLang="en-US" sz="2800" b="1">
                <a:solidFill>
                  <a:srgbClr val="0000FF"/>
                </a:solidFill>
              </a:rPr>
              <a:t>对位取代芳香酸的酸性同时受诱导效应和共轭效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FF"/>
                </a:solidFill>
              </a:rPr>
              <a:t>应的影响。</a:t>
            </a:r>
            <a:r>
              <a:rPr lang="zh-CN" altLang="en-US" sz="2400" b="1">
                <a:solidFill>
                  <a:srgbClr val="0000FF"/>
                </a:solidFill>
              </a:rPr>
              <a:t> 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2952" name="对象 82951">
            <a:extLst>
              <a:ext uri="{FF2B5EF4-FFF2-40B4-BE49-F238E27FC236}">
                <a16:creationId xmlns:a16="http://schemas.microsoft.com/office/drawing/2014/main" id="{FD3288A8-63EB-4010-ADF0-484CDFE3EC68}"/>
              </a:ext>
            </a:extLst>
          </p:cNvPr>
          <p:cNvGraphicFramePr>
            <a:graphicFrameLocks/>
          </p:cNvGraphicFramePr>
          <p:nvPr/>
        </p:nvGraphicFramePr>
        <p:xfrm>
          <a:off x="1835150" y="3500438"/>
          <a:ext cx="6019800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906520" imgH="838200" progId="ChemDraw.Document.5.0">
                  <p:embed/>
                </p:oleObj>
              </mc:Choice>
              <mc:Fallback>
                <p:oleObj r:id="rId2" imgW="3906520" imgH="838200" progId="ChemDraw.Document.5.0">
                  <p:embed/>
                  <p:pic>
                    <p:nvPicPr>
                      <p:cNvPr id="0" name="对象 8295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500438"/>
                        <a:ext cx="6019800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3" name="文本框 82952">
            <a:extLst>
              <a:ext uri="{FF2B5EF4-FFF2-40B4-BE49-F238E27FC236}">
                <a16:creationId xmlns:a16="http://schemas.microsoft.com/office/drawing/2014/main" id="{9372EA99-4BC7-4708-ACDB-A2D4C3CA0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" y="4795838"/>
            <a:ext cx="9144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             -I</a:t>
            </a:r>
            <a:r>
              <a: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-C </a:t>
            </a:r>
            <a:r>
              <a: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效应          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-I</a:t>
            </a:r>
            <a:r>
              <a: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＞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+C                                          +C</a:t>
            </a:r>
            <a:r>
              <a: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＞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-I</a:t>
            </a:r>
          </a:p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000" b="1" i="1">
                <a:solidFill>
                  <a:srgbClr val="FF3300"/>
                </a:solidFill>
                <a:latin typeface="Times New Roman" panose="02020603050405020304" pitchFamily="18" charset="0"/>
              </a:rPr>
              <a:t> pK</a:t>
            </a:r>
            <a:r>
              <a:rPr lang="en-US" altLang="zh-CN" sz="2000" b="1" i="1" baseline="-30000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i="1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         3.42                   3.99                   4.20                      4.47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7" name="灯片编号占位符 1">
            <a:extLst>
              <a:ext uri="{FF2B5EF4-FFF2-40B4-BE49-F238E27FC236}">
                <a16:creationId xmlns:a16="http://schemas.microsoft.com/office/drawing/2014/main" id="{610CAA22-8940-4D38-B776-B9A5E9883B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30ABD217-4B13-4A15-8D51-C7F3315C0494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14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2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8" grpId="0"/>
      <p:bldP spid="82949" grpId="0"/>
      <p:bldP spid="82950" grpId="0"/>
      <p:bldP spid="8295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2" name="文本框 83971">
            <a:extLst>
              <a:ext uri="{FF2B5EF4-FFF2-40B4-BE49-F238E27FC236}">
                <a16:creationId xmlns:a16="http://schemas.microsoft.com/office/drawing/2014/main" id="{4128A156-A592-4164-B473-F8CE48919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"/>
            <a:ext cx="9144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B. </a:t>
            </a:r>
            <a:r>
              <a:rPr lang="zh-CN" altLang="en-US" sz="2800" b="1" dirty="0">
                <a:solidFill>
                  <a:srgbClr val="000000"/>
                </a:solidFill>
              </a:rPr>
              <a:t>间位取代芳香酸的酸性，因共轭效应受阻，</a:t>
            </a:r>
            <a:r>
              <a:rPr lang="zh-CN" altLang="en-US" sz="2800" b="1" dirty="0">
                <a:solidFill>
                  <a:srgbClr val="FF0000"/>
                </a:solidFill>
              </a:rPr>
              <a:t>主要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受诱导效应的影响。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3973" name="对象 83972">
            <a:extLst>
              <a:ext uri="{FF2B5EF4-FFF2-40B4-BE49-F238E27FC236}">
                <a16:creationId xmlns:a16="http://schemas.microsoft.com/office/drawing/2014/main" id="{8F23EC0E-6B17-4759-AECD-AC04C35CAEC1}"/>
              </a:ext>
            </a:extLst>
          </p:cNvPr>
          <p:cNvGraphicFramePr>
            <a:graphicFrameLocks/>
          </p:cNvGraphicFramePr>
          <p:nvPr/>
        </p:nvGraphicFramePr>
        <p:xfrm>
          <a:off x="838200" y="1524000"/>
          <a:ext cx="7848600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074920" imgH="632460" progId="ChemDraw.Document.5.0">
                  <p:embed/>
                </p:oleObj>
              </mc:Choice>
              <mc:Fallback>
                <p:oleObj r:id="rId2" imgW="5074920" imgH="632460" progId="ChemDraw.Document.5.0">
                  <p:embed/>
                  <p:pic>
                    <p:nvPicPr>
                      <p:cNvPr id="0" name="对象 8397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7848600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4" name="文本框 83973">
            <a:extLst>
              <a:ext uri="{FF2B5EF4-FFF2-40B4-BE49-F238E27FC236}">
                <a16:creationId xmlns:a16="http://schemas.microsoft.com/office/drawing/2014/main" id="{8EE9D146-9B8F-4928-8A26-2D02E5415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514600"/>
            <a:ext cx="9144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           -I </a:t>
            </a:r>
            <a:r>
              <a: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效应                   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-I                         -I                        -I</a:t>
            </a:r>
          </a:p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000" b="1" i="1">
                <a:solidFill>
                  <a:srgbClr val="FF3300"/>
                </a:solidFill>
                <a:latin typeface="Times New Roman" panose="02020603050405020304" pitchFamily="18" charset="0"/>
              </a:rPr>
              <a:t>   pK</a:t>
            </a:r>
            <a:r>
              <a:rPr lang="en-US" altLang="zh-CN" sz="2000" b="1" i="1" baseline="-30000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i="1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    3.45                   3.83                     4.08                    4.09                   4.20</a:t>
            </a:r>
          </a:p>
        </p:txBody>
      </p:sp>
      <p:sp>
        <p:nvSpPr>
          <p:cNvPr id="83975" name="文本框 83974">
            <a:extLst>
              <a:ext uri="{FF2B5EF4-FFF2-40B4-BE49-F238E27FC236}">
                <a16:creationId xmlns:a16="http://schemas.microsoft.com/office/drawing/2014/main" id="{020B7733-4BB5-448F-A5F5-ECC35B5BA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4290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C. </a:t>
            </a:r>
            <a:r>
              <a:rPr lang="zh-CN" altLang="en-US" sz="2800" b="1" dirty="0">
                <a:solidFill>
                  <a:srgbClr val="000000"/>
                </a:solidFill>
              </a:rPr>
              <a:t>邻位取代芳香酸的酸性都较苯甲酸的酸性强。</a:t>
            </a:r>
            <a:r>
              <a:rPr lang="zh-CN" altLang="en-US" sz="240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83976" name="文本框 83975">
            <a:extLst>
              <a:ext uri="{FF2B5EF4-FFF2-40B4-BE49-F238E27FC236}">
                <a16:creationId xmlns:a16="http://schemas.microsoft.com/office/drawing/2014/main" id="{E4F62C70-C410-453A-8356-B3650D72C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76700"/>
            <a:ext cx="914400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000000"/>
                </a:solidFill>
              </a:rPr>
              <a:t>        </a:t>
            </a:r>
            <a:r>
              <a:rPr lang="zh-CN" altLang="en-US" sz="2800" b="1" dirty="0">
                <a:solidFill>
                  <a:srgbClr val="000000"/>
                </a:solidFill>
              </a:rPr>
              <a:t>这主要是电子效应和空间效应综合影响的结果。由</a:t>
            </a:r>
          </a:p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于</a:t>
            </a:r>
            <a:r>
              <a:rPr lang="zh-CN" altLang="en-US" sz="2800" b="1" dirty="0">
                <a:solidFill>
                  <a:srgbClr val="0066FF"/>
                </a:solidFill>
              </a:rPr>
              <a:t>邻位取代基的空间效应使苯环与羧基难以形成共平面，</a:t>
            </a:r>
          </a:p>
          <a:p>
            <a:pPr algn="just" eaLnBrk="1" hangingPunct="1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0066FF"/>
                </a:solidFill>
              </a:rPr>
              <a:t>难以产生共轭效应</a:t>
            </a:r>
            <a:r>
              <a:rPr lang="zh-CN" altLang="en-US" sz="2800" b="1" dirty="0">
                <a:solidFill>
                  <a:srgbClr val="000000"/>
                </a:solidFill>
              </a:rPr>
              <a:t>；另一方面</a:t>
            </a:r>
            <a:r>
              <a:rPr lang="zh-CN" altLang="en-US" sz="2800" b="1" dirty="0">
                <a:solidFill>
                  <a:srgbClr val="0066FF"/>
                </a:solidFill>
              </a:rPr>
              <a:t>邻位取代基与羧基的距离较近，</a:t>
            </a:r>
            <a:r>
              <a:rPr lang="en-US" altLang="zh-CN" sz="28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-I</a:t>
            </a:r>
            <a:r>
              <a:rPr lang="en-US" altLang="zh-CN" sz="2800" b="1" dirty="0">
                <a:solidFill>
                  <a:srgbClr val="0066FF"/>
                </a:solidFill>
              </a:rPr>
              <a:t> </a:t>
            </a:r>
            <a:r>
              <a:rPr lang="zh-CN" altLang="en-US" sz="2800" b="1" dirty="0">
                <a:solidFill>
                  <a:srgbClr val="0066FF"/>
                </a:solidFill>
              </a:rPr>
              <a:t>效应的影响较大，</a:t>
            </a:r>
            <a:r>
              <a:rPr lang="zh-CN" altLang="en-US" sz="2800" b="1" dirty="0">
                <a:solidFill>
                  <a:srgbClr val="000000"/>
                </a:solidFill>
              </a:rPr>
              <a:t>故</a:t>
            </a:r>
            <a:r>
              <a:rPr lang="zh-CN" altLang="en-US" sz="2800" b="1" dirty="0">
                <a:solidFill>
                  <a:srgbClr val="FF3300"/>
                </a:solidFill>
              </a:rPr>
              <a:t>酸性增强</a:t>
            </a:r>
            <a:r>
              <a:rPr lang="zh-CN" altLang="en-US" sz="2800" b="1" dirty="0">
                <a:solidFill>
                  <a:srgbClr val="000000"/>
                </a:solidFill>
              </a:rPr>
              <a:t>。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1" name="灯片编号占位符 1">
            <a:extLst>
              <a:ext uri="{FF2B5EF4-FFF2-40B4-BE49-F238E27FC236}">
                <a16:creationId xmlns:a16="http://schemas.microsoft.com/office/drawing/2014/main" id="{D611B310-5081-4E4F-AC9B-7A3A71E3CA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4F94C7A1-F547-423E-87EC-2907D3FFC240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15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3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3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/>
      <p:bldP spid="83974" grpId="0"/>
      <p:bldP spid="83975" grpId="0"/>
      <p:bldP spid="8397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文本框 84995">
            <a:extLst>
              <a:ext uri="{FF2B5EF4-FFF2-40B4-BE49-F238E27FC236}">
                <a16:creationId xmlns:a16="http://schemas.microsoft.com/office/drawing/2014/main" id="{CD56B2FA-ED33-48E8-BF9F-527C70C55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4998" name="对象 84997">
            <a:extLst>
              <a:ext uri="{FF2B5EF4-FFF2-40B4-BE49-F238E27FC236}">
                <a16:creationId xmlns:a16="http://schemas.microsoft.com/office/drawing/2014/main" id="{5AD7F55E-4766-486B-9C16-7E91AA732A72}"/>
              </a:ext>
            </a:extLst>
          </p:cNvPr>
          <p:cNvGraphicFramePr>
            <a:graphicFrameLocks/>
          </p:cNvGraphicFramePr>
          <p:nvPr/>
        </p:nvGraphicFramePr>
        <p:xfrm>
          <a:off x="1143000" y="1066800"/>
          <a:ext cx="6324600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525840" imgH="2074320" progId="ChemDraw.Document.6.0">
                  <p:embed/>
                </p:oleObj>
              </mc:Choice>
              <mc:Fallback>
                <p:oleObj r:id="rId2" imgW="3525840" imgH="2074320" progId="ChemDraw.Document.6.0">
                  <p:embed/>
                  <p:pic>
                    <p:nvPicPr>
                      <p:cNvPr id="0" name="对象 8499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066800"/>
                        <a:ext cx="6324600" cy="373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9" name="文本框 84998">
            <a:extLst>
              <a:ext uri="{FF2B5EF4-FFF2-40B4-BE49-F238E27FC236}">
                <a16:creationId xmlns:a16="http://schemas.microsoft.com/office/drawing/2014/main" id="{DB004FA4-E657-490E-ABFE-F3A76E6F3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029200"/>
            <a:ext cx="9144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</a:rPr>
              <a:t>       </a:t>
            </a:r>
            <a:r>
              <a:rPr lang="zh-CN" altLang="en-US" sz="2800" b="1">
                <a:solidFill>
                  <a:srgbClr val="000000"/>
                </a:solidFill>
              </a:rPr>
              <a:t>有的</a:t>
            </a:r>
            <a:r>
              <a:rPr lang="zh-CN" altLang="en-US" sz="2800" b="1">
                <a:solidFill>
                  <a:srgbClr val="006600"/>
                </a:solidFill>
              </a:rPr>
              <a:t>邻位基团能与羧基形成氢键，</a:t>
            </a:r>
            <a:r>
              <a:rPr lang="zh-CN" altLang="en-US" sz="2800" b="1">
                <a:solidFill>
                  <a:srgbClr val="000000"/>
                </a:solidFill>
              </a:rPr>
              <a:t>使其羧基的氢更易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解离，因此表现出更强的酸性。</a:t>
            </a:r>
          </a:p>
        </p:txBody>
      </p:sp>
      <p:sp>
        <p:nvSpPr>
          <p:cNvPr id="53253" name="灯片编号占位符 1">
            <a:extLst>
              <a:ext uri="{FF2B5EF4-FFF2-40B4-BE49-F238E27FC236}">
                <a16:creationId xmlns:a16="http://schemas.microsoft.com/office/drawing/2014/main" id="{7B591FF2-5AE6-45BD-BDD6-E58B2AC7D3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825DC080-CF60-4B10-BAA1-82B308675A29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16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文本框 100353">
            <a:extLst>
              <a:ext uri="{FF2B5EF4-FFF2-40B4-BE49-F238E27FC236}">
                <a16:creationId xmlns:a16="http://schemas.microsoft.com/office/drawing/2014/main" id="{0A3D7938-2802-4B7B-9E28-4F2841F30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FF0000"/>
                </a:solidFill>
              </a:rPr>
              <a:t>        </a:t>
            </a:r>
            <a:endParaRPr lang="en-US" altLang="zh-CN" sz="2400">
              <a:solidFill>
                <a:srgbClr val="000000"/>
              </a:solidFill>
            </a:endParaRPr>
          </a:p>
        </p:txBody>
      </p:sp>
      <p:sp>
        <p:nvSpPr>
          <p:cNvPr id="100356" name="文本框 100355">
            <a:extLst>
              <a:ext uri="{FF2B5EF4-FFF2-40B4-BE49-F238E27FC236}">
                <a16:creationId xmlns:a16="http://schemas.microsoft.com/office/drawing/2014/main" id="{3B7FECF2-A5AD-4CAD-AB30-E6FD9AEF6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209800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</a:rPr>
              <a:t>        </a:t>
            </a:r>
          </a:p>
        </p:txBody>
      </p:sp>
      <p:sp>
        <p:nvSpPr>
          <p:cNvPr id="54276" name="文本框 100357">
            <a:extLst>
              <a:ext uri="{FF2B5EF4-FFF2-40B4-BE49-F238E27FC236}">
                <a16:creationId xmlns:a16="http://schemas.microsoft.com/office/drawing/2014/main" id="{57D76179-176C-4258-834A-85B303BF5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336600"/>
                </a:solidFill>
                <a:latin typeface="Times New Roman" panose="02020603050405020304" pitchFamily="18" charset="0"/>
              </a:rPr>
              <a:t>        2. </a:t>
            </a:r>
            <a:r>
              <a:rPr lang="zh-CN" altLang="en-US" sz="2800" b="1">
                <a:solidFill>
                  <a:srgbClr val="336600"/>
                </a:solidFill>
              </a:rPr>
              <a:t>酚的酸性</a:t>
            </a:r>
            <a:r>
              <a:rPr lang="zh-CN" altLang="en-US" sz="2800" b="1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00359" name="文本框 100358">
            <a:extLst>
              <a:ext uri="{FF2B5EF4-FFF2-40B4-BE49-F238E27FC236}">
                <a16:creationId xmlns:a16="http://schemas.microsoft.com/office/drawing/2014/main" id="{440BD8D9-C133-48C5-84C4-991EF384A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800" b="1">
                <a:solidFill>
                  <a:srgbClr val="000000"/>
                </a:solidFill>
              </a:rPr>
              <a:t>酚的酸性比醇强，但比羧酸弱。</a:t>
            </a:r>
          </a:p>
        </p:txBody>
      </p:sp>
      <p:sp>
        <p:nvSpPr>
          <p:cNvPr id="100361" name="文本框 100360">
            <a:extLst>
              <a:ext uri="{FF2B5EF4-FFF2-40B4-BE49-F238E27FC236}">
                <a16:creationId xmlns:a16="http://schemas.microsoft.com/office/drawing/2014/main" id="{78DB8ABD-785B-44AC-9149-94C5E6CA3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9050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           </a:t>
            </a:r>
            <a:r>
              <a:rPr lang="en-US" altLang="zh-CN" sz="2000" b="1" i="1">
                <a:solidFill>
                  <a:srgbClr val="FF3300"/>
                </a:solidFill>
                <a:latin typeface="Times New Roman" panose="02020603050405020304" pitchFamily="18" charset="0"/>
              </a:rPr>
              <a:t>pKa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          4.76                      9.98                        17</a:t>
            </a:r>
          </a:p>
        </p:txBody>
      </p:sp>
      <p:graphicFrame>
        <p:nvGraphicFramePr>
          <p:cNvPr id="100362" name="对象 100361">
            <a:extLst>
              <a:ext uri="{FF2B5EF4-FFF2-40B4-BE49-F238E27FC236}">
                <a16:creationId xmlns:a16="http://schemas.microsoft.com/office/drawing/2014/main" id="{9ABDE549-B05E-4B5E-A3F9-E6F0932E1FF0}"/>
              </a:ext>
            </a:extLst>
          </p:cNvPr>
          <p:cNvGraphicFramePr>
            <a:graphicFrameLocks/>
          </p:cNvGraphicFramePr>
          <p:nvPr/>
        </p:nvGraphicFramePr>
        <p:xfrm>
          <a:off x="1676400" y="1371600"/>
          <a:ext cx="50292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175000" imgH="314960" progId="ChemDraw.Document.5.0">
                  <p:embed/>
                </p:oleObj>
              </mc:Choice>
              <mc:Fallback>
                <p:oleObj r:id="rId2" imgW="3175000" imgH="314960" progId="ChemDraw.Document.5.0">
                  <p:embed/>
                  <p:pic>
                    <p:nvPicPr>
                      <p:cNvPr id="0" name="对象 10036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371600"/>
                        <a:ext cx="50292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3" name="文本框 100362">
            <a:extLst>
              <a:ext uri="{FF2B5EF4-FFF2-40B4-BE49-F238E27FC236}">
                <a16:creationId xmlns:a16="http://schemas.microsoft.com/office/drawing/2014/main" id="{0473E5C6-D186-4F52-81EF-246D9FC6A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438400"/>
            <a:ext cx="9144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</a:rPr>
              <a:t>取代酚的酸性取决于</a:t>
            </a:r>
            <a:r>
              <a:rPr lang="zh-CN" altLang="en-US" sz="2800" b="1">
                <a:solidFill>
                  <a:srgbClr val="FF3300"/>
                </a:solidFill>
              </a:rPr>
              <a:t>取代基的性质</a:t>
            </a:r>
            <a:r>
              <a:rPr lang="zh-CN" altLang="en-US" sz="2800" b="1">
                <a:solidFill>
                  <a:srgbClr val="000000"/>
                </a:solidFill>
              </a:rPr>
              <a:t>和</a:t>
            </a:r>
            <a:r>
              <a:rPr lang="zh-CN" altLang="en-US" sz="2800" b="1">
                <a:solidFill>
                  <a:srgbClr val="0000FF"/>
                </a:solidFill>
              </a:rPr>
              <a:t>取代基在苯环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FF"/>
                </a:solidFill>
              </a:rPr>
              <a:t>上所处的位置</a:t>
            </a:r>
            <a:r>
              <a:rPr lang="zh-CN" altLang="en-US" sz="2800" b="1">
                <a:solidFill>
                  <a:srgbClr val="000000"/>
                </a:solidFill>
              </a:rPr>
              <a:t>。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64" name="文本框 100363">
            <a:extLst>
              <a:ext uri="{FF2B5EF4-FFF2-40B4-BE49-F238E27FC236}">
                <a16:creationId xmlns:a16="http://schemas.microsoft.com/office/drawing/2014/main" id="{32785239-335C-4254-B191-0F982F640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733800"/>
            <a:ext cx="9144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</a:rPr>
              <a:t>苯环上连有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、－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基团使酚的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酸性增强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；连有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+I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+C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基团使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酸性减弱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100365" name="对象 100364">
            <a:extLst>
              <a:ext uri="{FF2B5EF4-FFF2-40B4-BE49-F238E27FC236}">
                <a16:creationId xmlns:a16="http://schemas.microsoft.com/office/drawing/2014/main" id="{C2095929-8B8D-40E2-AF26-E0BB4238EDD3}"/>
              </a:ext>
            </a:extLst>
          </p:cNvPr>
          <p:cNvGraphicFramePr>
            <a:graphicFrameLocks/>
          </p:cNvGraphicFramePr>
          <p:nvPr/>
        </p:nvGraphicFramePr>
        <p:xfrm>
          <a:off x="1219200" y="4953000"/>
          <a:ext cx="6629400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538980" imgH="855980" progId="ChemDraw.Document.5.0">
                  <p:embed/>
                </p:oleObj>
              </mc:Choice>
              <mc:Fallback>
                <p:oleObj r:id="rId4" imgW="4538980" imgH="855980" progId="ChemDraw.Document.5.0">
                  <p:embed/>
                  <p:pic>
                    <p:nvPicPr>
                      <p:cNvPr id="0" name="对象 10036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953000"/>
                        <a:ext cx="6629400" cy="1249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8" name="对象 100367">
            <a:extLst>
              <a:ext uri="{FF2B5EF4-FFF2-40B4-BE49-F238E27FC236}">
                <a16:creationId xmlns:a16="http://schemas.microsoft.com/office/drawing/2014/main" id="{1490D9BD-25FF-40FC-A1C5-A751F2519268}"/>
              </a:ext>
            </a:extLst>
          </p:cNvPr>
          <p:cNvGraphicFramePr>
            <a:graphicFrameLocks/>
          </p:cNvGraphicFramePr>
          <p:nvPr/>
        </p:nvGraphicFramePr>
        <p:xfrm>
          <a:off x="685800" y="6248400"/>
          <a:ext cx="6705600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660900" imgH="195580" progId="ChemDraw.Document.5.0">
                  <p:embed/>
                </p:oleObj>
              </mc:Choice>
              <mc:Fallback>
                <p:oleObj r:id="rId6" imgW="4660900" imgH="195580" progId="ChemDraw.Document.5.0">
                  <p:embed/>
                  <p:pic>
                    <p:nvPicPr>
                      <p:cNvPr id="0" name="对象 10036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6248400"/>
                        <a:ext cx="6705600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4" name="灯片编号占位符 1">
            <a:extLst>
              <a:ext uri="{FF2B5EF4-FFF2-40B4-BE49-F238E27FC236}">
                <a16:creationId xmlns:a16="http://schemas.microsoft.com/office/drawing/2014/main" id="{31562AE3-1403-45AD-BC6D-39D0BF328B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DA6A1A5F-A5F6-46FA-A5C8-6FEE50737F18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17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0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/>
      <p:bldP spid="100356" grpId="0" build="p"/>
      <p:bldP spid="100359" grpId="0"/>
      <p:bldP spid="100361" grpId="0"/>
      <p:bldP spid="100363" grpId="0"/>
      <p:bldP spid="10036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6" name="文本框 222215">
            <a:extLst>
              <a:ext uri="{FF2B5EF4-FFF2-40B4-BE49-F238E27FC236}">
                <a16:creationId xmlns:a16="http://schemas.microsoft.com/office/drawing/2014/main" id="{6D180B5A-C3A9-4FFD-AD9C-4FBFF01C9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3375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8000"/>
                </a:solidFill>
                <a:latin typeface="Times New Roman" panose="02020603050405020304" pitchFamily="18" charset="0"/>
              </a:rPr>
              <a:t>        3. </a:t>
            </a:r>
            <a:r>
              <a:rPr lang="zh-CN" altLang="en-US" sz="2800" b="1">
                <a:solidFill>
                  <a:srgbClr val="008000"/>
                </a:solidFill>
              </a:rPr>
              <a:t>胺的碱性</a:t>
            </a:r>
          </a:p>
        </p:txBody>
      </p:sp>
      <p:sp>
        <p:nvSpPr>
          <p:cNvPr id="222217" name="文本框 222216">
            <a:extLst>
              <a:ext uri="{FF2B5EF4-FFF2-40B4-BE49-F238E27FC236}">
                <a16:creationId xmlns:a16="http://schemas.microsoft.com/office/drawing/2014/main" id="{49ABE495-B48A-45D6-B2E1-11CF68BB9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2663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336600"/>
                </a:solidFill>
                <a:latin typeface="Times New Roman" panose="02020603050405020304" pitchFamily="18" charset="0"/>
              </a:rPr>
              <a:t>        (1)</a:t>
            </a:r>
            <a:r>
              <a:rPr lang="en-US" altLang="zh-CN" sz="2800" b="1">
                <a:solidFill>
                  <a:srgbClr val="336600"/>
                </a:solidFill>
              </a:rPr>
              <a:t> </a:t>
            </a:r>
            <a:r>
              <a:rPr lang="zh-CN" altLang="en-US" sz="2800" b="1">
                <a:solidFill>
                  <a:srgbClr val="336600"/>
                </a:solidFill>
              </a:rPr>
              <a:t>脂肪胺的碱性</a:t>
            </a:r>
          </a:p>
        </p:txBody>
      </p:sp>
      <p:sp>
        <p:nvSpPr>
          <p:cNvPr id="222218" name="文本框 222217">
            <a:extLst>
              <a:ext uri="{FF2B5EF4-FFF2-40B4-BE49-F238E27FC236}">
                <a16:creationId xmlns:a16="http://schemas.microsoft.com/office/drawing/2014/main" id="{0CB73C62-5751-43BB-8BEB-06F3EA294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30363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在气相或不能形成氢键的溶剂中：</a:t>
            </a:r>
          </a:p>
        </p:txBody>
      </p:sp>
      <p:graphicFrame>
        <p:nvGraphicFramePr>
          <p:cNvPr id="222219" name="对象 222218">
            <a:extLst>
              <a:ext uri="{FF2B5EF4-FFF2-40B4-BE49-F238E27FC236}">
                <a16:creationId xmlns:a16="http://schemas.microsoft.com/office/drawing/2014/main" id="{0788C7D4-D723-4A68-88F8-BCC122D45E2D}"/>
              </a:ext>
            </a:extLst>
          </p:cNvPr>
          <p:cNvGraphicFramePr>
            <a:graphicFrameLocks/>
          </p:cNvGraphicFramePr>
          <p:nvPr/>
        </p:nvGraphicFramePr>
        <p:xfrm>
          <a:off x="1600200" y="2239963"/>
          <a:ext cx="51816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223260" imgH="231140" progId="ChemDraw.Document.5.0">
                  <p:embed/>
                </p:oleObj>
              </mc:Choice>
              <mc:Fallback>
                <p:oleObj r:id="rId2" imgW="3223260" imgH="231140" progId="ChemDraw.Document.5.0">
                  <p:embed/>
                  <p:pic>
                    <p:nvPicPr>
                      <p:cNvPr id="0" name="对象 222218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239963"/>
                        <a:ext cx="51816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21" name="文本框 222220">
            <a:extLst>
              <a:ext uri="{FF2B5EF4-FFF2-40B4-BE49-F238E27FC236}">
                <a16:creationId xmlns:a16="http://schemas.microsoft.com/office/drawing/2014/main" id="{A37506DE-35DF-4D36-8496-DB090E7B5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333375"/>
            <a:ext cx="6156325" cy="528638"/>
          </a:xfrm>
          <a:prstGeom prst="rect">
            <a:avLst/>
          </a:prstGeom>
          <a:gradFill rotWithShape="1">
            <a:gsLst>
              <a:gs pos="0">
                <a:srgbClr val="000082"/>
              </a:gs>
              <a:gs pos="13000">
                <a:srgbClr val="0047FF"/>
              </a:gs>
              <a:gs pos="28000">
                <a:srgbClr val="000082"/>
              </a:gs>
              <a:gs pos="42999">
                <a:srgbClr val="0047FF"/>
              </a:gs>
              <a:gs pos="58000">
                <a:srgbClr val="000082"/>
              </a:gs>
              <a:gs pos="72000">
                <a:srgbClr val="0047FF"/>
              </a:gs>
              <a:gs pos="87000">
                <a:srgbClr val="000082"/>
              </a:gs>
              <a:gs pos="100000">
                <a:srgbClr val="0047FF"/>
              </a:gs>
            </a:gsLst>
            <a:lin ang="2700000" scaled="1"/>
          </a:gra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季铵碱＞脂肪胺＞氨＞芳胺＞酰胺</a:t>
            </a:r>
          </a:p>
        </p:txBody>
      </p:sp>
      <p:sp>
        <p:nvSpPr>
          <p:cNvPr id="55303" name="文本框 222221">
            <a:extLst>
              <a:ext uri="{FF2B5EF4-FFF2-40B4-BE49-F238E27FC236}">
                <a16:creationId xmlns:a16="http://schemas.microsoft.com/office/drawing/2014/main" id="{A4B9421D-DA82-4A48-BEF0-CF90AA002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852738"/>
            <a:ext cx="9144000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lang="en-US" altLang="zh-CN" sz="2400" b="1">
              <a:solidFill>
                <a:srgbClr val="FF00FF"/>
              </a:solidFill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lang="en-US" altLang="zh-CN" sz="2400">
              <a:solidFill>
                <a:srgbClr val="000000"/>
              </a:solidFill>
            </a:endParaRPr>
          </a:p>
        </p:txBody>
      </p:sp>
      <p:sp>
        <p:nvSpPr>
          <p:cNvPr id="55304" name="文本框 222222">
            <a:extLst>
              <a:ext uri="{FF2B5EF4-FFF2-40B4-BE49-F238E27FC236}">
                <a16:creationId xmlns:a16="http://schemas.microsoft.com/office/drawing/2014/main" id="{1D11BCED-064B-4653-A4F0-9D981E5EB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3825" y="3309938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sz="2400" b="1">
              <a:solidFill>
                <a:srgbClr val="336600"/>
              </a:solidFill>
            </a:endParaRPr>
          </a:p>
        </p:txBody>
      </p:sp>
      <p:sp>
        <p:nvSpPr>
          <p:cNvPr id="222224" name="文本框 222223">
            <a:extLst>
              <a:ext uri="{FF2B5EF4-FFF2-40B4-BE49-F238E27FC236}">
                <a16:creationId xmlns:a16="http://schemas.microsoft.com/office/drawing/2014/main" id="{17BC0418-8ED1-4EF7-9E56-16160A8AF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944813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rgbClr val="FF3300"/>
                </a:solidFill>
              </a:rPr>
              <a:t>在水溶液中：一般仲胺碱性最强</a:t>
            </a:r>
          </a:p>
        </p:txBody>
      </p:sp>
      <p:graphicFrame>
        <p:nvGraphicFramePr>
          <p:cNvPr id="222225" name="对象 222224">
            <a:extLst>
              <a:ext uri="{FF2B5EF4-FFF2-40B4-BE49-F238E27FC236}">
                <a16:creationId xmlns:a16="http://schemas.microsoft.com/office/drawing/2014/main" id="{8DE920C2-D855-44A1-ABDB-F01D30F65476}"/>
              </a:ext>
            </a:extLst>
          </p:cNvPr>
          <p:cNvGraphicFramePr>
            <a:graphicFrameLocks/>
          </p:cNvGraphicFramePr>
          <p:nvPr/>
        </p:nvGraphicFramePr>
        <p:xfrm>
          <a:off x="574675" y="3521075"/>
          <a:ext cx="71294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515040" imgH="255240" progId="ChemDraw.Document.6.0">
                  <p:embed/>
                </p:oleObj>
              </mc:Choice>
              <mc:Fallback>
                <p:oleObj r:id="rId4" imgW="3515040" imgH="255240" progId="ChemDraw.Document.6.0">
                  <p:embed/>
                  <p:pic>
                    <p:nvPicPr>
                      <p:cNvPr id="0" name="对象 22222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" y="3521075"/>
                        <a:ext cx="71294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26" name="对象 222225">
            <a:extLst>
              <a:ext uri="{FF2B5EF4-FFF2-40B4-BE49-F238E27FC236}">
                <a16:creationId xmlns:a16="http://schemas.microsoft.com/office/drawing/2014/main" id="{F2B3F5C4-D6E1-437F-A344-3A3960C4799A}"/>
              </a:ext>
            </a:extLst>
          </p:cNvPr>
          <p:cNvGraphicFramePr>
            <a:graphicFrameLocks/>
          </p:cNvGraphicFramePr>
          <p:nvPr/>
        </p:nvGraphicFramePr>
        <p:xfrm>
          <a:off x="646113" y="4095750"/>
          <a:ext cx="78486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140000" imgH="193680" progId="ChemDraw.Document.6.0">
                  <p:embed/>
                </p:oleObj>
              </mc:Choice>
              <mc:Fallback>
                <p:oleObj r:id="rId6" imgW="4140000" imgH="193680" progId="ChemDraw.Document.6.0">
                  <p:embed/>
                  <p:pic>
                    <p:nvPicPr>
                      <p:cNvPr id="0" name="对象 22222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3" y="4095750"/>
                        <a:ext cx="78486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27" name="文本框 222226">
            <a:extLst>
              <a:ext uri="{FF2B5EF4-FFF2-40B4-BE49-F238E27FC236}">
                <a16:creationId xmlns:a16="http://schemas.microsoft.com/office/drawing/2014/main" id="{CBF5371E-28E2-4045-846D-B3FF08721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652963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336600"/>
                </a:solidFill>
                <a:latin typeface="Times New Roman" panose="02020603050405020304" pitchFamily="18" charset="0"/>
              </a:rPr>
              <a:t>        (2) </a:t>
            </a:r>
            <a:r>
              <a:rPr lang="zh-CN" altLang="en-US" sz="2800" b="1">
                <a:solidFill>
                  <a:srgbClr val="336600"/>
                </a:solidFill>
              </a:rPr>
              <a:t>芳胺的碱性</a:t>
            </a:r>
          </a:p>
        </p:txBody>
      </p:sp>
      <p:sp>
        <p:nvSpPr>
          <p:cNvPr id="222228" name="文本框 222227">
            <a:extLst>
              <a:ext uri="{FF2B5EF4-FFF2-40B4-BE49-F238E27FC236}">
                <a16:creationId xmlns:a16="http://schemas.microsoft.com/office/drawing/2014/main" id="{64193E4B-A7EC-46B4-B5FD-99A3E1B84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30225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在水溶液中芳胺的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碱性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较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NH</a:t>
            </a:r>
            <a:r>
              <a:rPr lang="en-US" altLang="zh-CN" sz="28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弱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222229" name="文本框 222228">
            <a:extLst>
              <a:ext uri="{FF2B5EF4-FFF2-40B4-BE49-F238E27FC236}">
                <a16:creationId xmlns:a16="http://schemas.microsoft.com/office/drawing/2014/main" id="{A079767E-6C1D-467D-B23B-E07285010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6021388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</a:rPr>
              <a:t>芳胺碱性的强弱次序为：</a:t>
            </a:r>
          </a:p>
        </p:txBody>
      </p:sp>
      <p:graphicFrame>
        <p:nvGraphicFramePr>
          <p:cNvPr id="222230" name="对象 222229">
            <a:extLst>
              <a:ext uri="{FF2B5EF4-FFF2-40B4-BE49-F238E27FC236}">
                <a16:creationId xmlns:a16="http://schemas.microsoft.com/office/drawing/2014/main" id="{3EEA1588-2D2C-4382-A404-BAE38CAA248A}"/>
              </a:ext>
            </a:extLst>
          </p:cNvPr>
          <p:cNvGraphicFramePr>
            <a:graphicFrameLocks/>
          </p:cNvGraphicFramePr>
          <p:nvPr/>
        </p:nvGraphicFramePr>
        <p:xfrm>
          <a:off x="4787900" y="6092825"/>
          <a:ext cx="36576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369820" imgH="236220" progId="ChemDraw.Document.5.0">
                  <p:embed/>
                </p:oleObj>
              </mc:Choice>
              <mc:Fallback>
                <p:oleObj r:id="rId8" imgW="2369820" imgH="236220" progId="ChemDraw.Document.5.0">
                  <p:embed/>
                  <p:pic>
                    <p:nvPicPr>
                      <p:cNvPr id="0" name="对象 22222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6092825"/>
                        <a:ext cx="36576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2" name="灯片编号占位符 1">
            <a:extLst>
              <a:ext uri="{FF2B5EF4-FFF2-40B4-BE49-F238E27FC236}">
                <a16:creationId xmlns:a16="http://schemas.microsoft.com/office/drawing/2014/main" id="{F72AC362-4C91-4023-B08E-08B1D67178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D1D8EB6C-470F-43CC-90E2-69B4C4BDDCA7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18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2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2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2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2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2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2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2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2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2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2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2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2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2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2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2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2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2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2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2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2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2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6" grpId="0"/>
      <p:bldP spid="222217" grpId="0"/>
      <p:bldP spid="222218" grpId="0"/>
      <p:bldP spid="222221" grpId="0" animBg="1"/>
      <p:bldP spid="222224" grpId="0"/>
      <p:bldP spid="222227" grpId="0"/>
      <p:bldP spid="222228" grpId="0"/>
      <p:bldP spid="2222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文本框 104451">
            <a:extLst>
              <a:ext uri="{FF2B5EF4-FFF2-40B4-BE49-F238E27FC236}">
                <a16:creationId xmlns:a16="http://schemas.microsoft.com/office/drawing/2014/main" id="{3072F15C-3141-4231-8308-D33A4DD6D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49275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</a:rPr>
              <a:t>                        </a:t>
            </a:r>
          </a:p>
        </p:txBody>
      </p:sp>
      <p:sp>
        <p:nvSpPr>
          <p:cNvPr id="104456" name="文本框 104455">
            <a:extLst>
              <a:ext uri="{FF2B5EF4-FFF2-40B4-BE49-F238E27FC236}">
                <a16:creationId xmlns:a16="http://schemas.microsoft.com/office/drawing/2014/main" id="{987C5155-622B-46EF-828F-6CE1C258F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765175"/>
            <a:ext cx="8388350" cy="175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</a:rPr>
              <a:t>取代芳胺的碱性强弱与取代基的性质和在苯环上的位置有关。当苯环上</a:t>
            </a:r>
            <a:r>
              <a:rPr lang="zh-CN" altLang="en-US" sz="2800" b="1">
                <a:solidFill>
                  <a:srgbClr val="0000FF"/>
                </a:solidFill>
              </a:rPr>
              <a:t>连有供电子基团</a:t>
            </a:r>
            <a:r>
              <a:rPr lang="zh-CN" altLang="en-US" sz="2800" b="1">
                <a:solidFill>
                  <a:srgbClr val="000000"/>
                </a:solidFill>
              </a:rPr>
              <a:t>时，将</a:t>
            </a:r>
            <a:r>
              <a:rPr lang="zh-CN" altLang="en-US" sz="2800" b="1">
                <a:solidFill>
                  <a:srgbClr val="0000FF"/>
                </a:solidFill>
              </a:rPr>
              <a:t>使碱性增强</a:t>
            </a:r>
            <a:r>
              <a:rPr lang="zh-CN" altLang="en-US" sz="2800" b="1">
                <a:solidFill>
                  <a:srgbClr val="000000"/>
                </a:solidFill>
              </a:rPr>
              <a:t>；</a:t>
            </a:r>
            <a:r>
              <a:rPr lang="zh-CN" altLang="en-US" sz="2800" b="1">
                <a:solidFill>
                  <a:srgbClr val="FF00FF"/>
                </a:solidFill>
              </a:rPr>
              <a:t>连有吸电子基团</a:t>
            </a:r>
            <a:r>
              <a:rPr lang="zh-CN" altLang="en-US" sz="2800" b="1">
                <a:solidFill>
                  <a:srgbClr val="000000"/>
                </a:solidFill>
              </a:rPr>
              <a:t>时，将</a:t>
            </a:r>
            <a:r>
              <a:rPr lang="zh-CN" altLang="en-US" sz="2800" b="1">
                <a:solidFill>
                  <a:srgbClr val="FF00FF"/>
                </a:solidFill>
              </a:rPr>
              <a:t>使碱性减弱</a:t>
            </a:r>
            <a:r>
              <a:rPr lang="zh-CN" altLang="en-US" sz="2800" b="1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56324" name="文本框 104459">
            <a:extLst>
              <a:ext uri="{FF2B5EF4-FFF2-40B4-BE49-F238E27FC236}">
                <a16:creationId xmlns:a16="http://schemas.microsoft.com/office/drawing/2014/main" id="{41F01018-8CA3-45B9-B00D-1CF8E11FD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67213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</a:rPr>
              <a:t>        </a:t>
            </a:r>
            <a:endParaRPr lang="en-US" altLang="zh-CN" sz="2400" b="1">
              <a:solidFill>
                <a:srgbClr val="006666"/>
              </a:solidFill>
            </a:endParaRPr>
          </a:p>
        </p:txBody>
      </p:sp>
      <p:grpSp>
        <p:nvGrpSpPr>
          <p:cNvPr id="104466" name="组合 104465">
            <a:extLst>
              <a:ext uri="{FF2B5EF4-FFF2-40B4-BE49-F238E27FC236}">
                <a16:creationId xmlns:a16="http://schemas.microsoft.com/office/drawing/2014/main" id="{5C31D2A2-39DD-4EF8-B13E-C326210DE857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3141663"/>
            <a:ext cx="6653212" cy="1935162"/>
            <a:chOff x="703" y="3101"/>
            <a:chExt cx="4191" cy="1219"/>
          </a:xfrm>
        </p:grpSpPr>
        <p:graphicFrame>
          <p:nvGraphicFramePr>
            <p:cNvPr id="56327" name="对象 104463">
              <a:extLst>
                <a:ext uri="{FF2B5EF4-FFF2-40B4-BE49-F238E27FC236}">
                  <a16:creationId xmlns:a16="http://schemas.microsoft.com/office/drawing/2014/main" id="{0E483FF5-D3C2-4140-9F46-8724A41C866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03" y="3101"/>
            <a:ext cx="4191" cy="1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931920" imgH="1369060" progId="ChemDraw.Document.5.0">
                    <p:embed/>
                  </p:oleObj>
                </mc:Choice>
                <mc:Fallback>
                  <p:oleObj r:id="rId2" imgW="3931920" imgH="1369060" progId="ChemDraw.Document.5.0">
                    <p:embed/>
                    <p:pic>
                      <p:nvPicPr>
                        <p:cNvPr id="0" name="对象 10446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3101"/>
                          <a:ext cx="4191" cy="1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28" name="文本框 104464">
              <a:extLst>
                <a:ext uri="{FF2B5EF4-FFF2-40B4-BE49-F238E27FC236}">
                  <a16:creationId xmlns:a16="http://schemas.microsoft.com/office/drawing/2014/main" id="{80A357A8-CDC0-4E18-B974-411F152187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3249"/>
              <a:ext cx="33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3600">
                  <a:solidFill>
                    <a:srgbClr val="000000"/>
                  </a:solidFill>
                </a:rPr>
                <a:t>&gt;</a:t>
              </a:r>
            </a:p>
          </p:txBody>
        </p:sp>
      </p:grpSp>
      <p:sp>
        <p:nvSpPr>
          <p:cNvPr id="56326" name="灯片编号占位符 1">
            <a:extLst>
              <a:ext uri="{FF2B5EF4-FFF2-40B4-BE49-F238E27FC236}">
                <a16:creationId xmlns:a16="http://schemas.microsoft.com/office/drawing/2014/main" id="{3AA8B23B-864A-4B0F-BB04-1C5DD3B93F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11045B14-6319-4B3C-A061-9BE4055AE424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19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副标题 107527">
            <a:extLst>
              <a:ext uri="{FF2B5EF4-FFF2-40B4-BE49-F238E27FC236}">
                <a16:creationId xmlns:a16="http://schemas.microsoft.com/office/drawing/2014/main" id="{E6AAF1CF-7EDB-498B-B5BD-3F4C47FDB18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404813"/>
            <a:ext cx="8915400" cy="457200"/>
          </a:xfrm>
        </p:spPr>
        <p:txBody>
          <a:bodyPr/>
          <a:lstStyle/>
          <a:p>
            <a:pPr algn="l" eaLnBrk="1" hangingPunct="1"/>
            <a:r>
              <a:rPr lang="zh-CN" altLang="en-US" sz="2800" b="1"/>
              <a:t>三、反应活性中间体的稳定性问题</a:t>
            </a:r>
          </a:p>
        </p:txBody>
      </p:sp>
      <p:sp>
        <p:nvSpPr>
          <p:cNvPr id="107530" name="文本框 107529">
            <a:extLst>
              <a:ext uri="{FF2B5EF4-FFF2-40B4-BE49-F238E27FC236}">
                <a16:creationId xmlns:a16="http://schemas.microsoft.com/office/drawing/2014/main" id="{8E837979-7BD4-46F1-9B42-8020BD73C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5538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>
                <a:solidFill>
                  <a:srgbClr val="B05800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>
                <a:solidFill>
                  <a:srgbClr val="B05800"/>
                </a:solidFill>
              </a:rPr>
              <a:t>电子效应的影响</a:t>
            </a:r>
          </a:p>
        </p:txBody>
      </p:sp>
      <p:sp>
        <p:nvSpPr>
          <p:cNvPr id="107531" name="文本框 107530">
            <a:extLst>
              <a:ext uri="{FF2B5EF4-FFF2-40B4-BE49-F238E27FC236}">
                <a16:creationId xmlns:a16="http://schemas.microsoft.com/office/drawing/2014/main" id="{9D893680-7C93-4F1E-AC3C-BA3A63105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73238"/>
            <a:ext cx="9144000" cy="244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</a:rPr>
              <a:t>取代基的电子效应包括</a:t>
            </a:r>
            <a:r>
              <a:rPr lang="zh-CN" altLang="en-US" sz="2800" b="1">
                <a:solidFill>
                  <a:srgbClr val="FF3300"/>
                </a:solidFill>
              </a:rPr>
              <a:t>诱导效应和共轭效应</a:t>
            </a:r>
            <a:r>
              <a:rPr lang="zh-CN" altLang="en-US" sz="2800" b="1">
                <a:solidFill>
                  <a:srgbClr val="000000"/>
                </a:solidFill>
              </a:rPr>
              <a:t>。它们将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对活性中间体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en-US" altLang="zh-CN" sz="2800" b="1">
                <a:solidFill>
                  <a:srgbClr val="000000"/>
                </a:solidFill>
              </a:rPr>
              <a:t> </a:t>
            </a:r>
            <a:r>
              <a:rPr lang="zh-CN" altLang="en-US" sz="2800" b="1">
                <a:solidFill>
                  <a:srgbClr val="000000"/>
                </a:solidFill>
              </a:rPr>
              <a:t>碳正离子、碳负离子和碳自由基的稳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定性产生影响 。凡</a:t>
            </a:r>
            <a:r>
              <a:rPr lang="zh-CN" altLang="en-US" sz="2800" b="1">
                <a:solidFill>
                  <a:srgbClr val="0000FF"/>
                </a:solidFill>
              </a:rPr>
              <a:t>能使电荷分散的因素</a:t>
            </a:r>
            <a:r>
              <a:rPr lang="zh-CN" altLang="en-US" sz="2800" b="1">
                <a:solidFill>
                  <a:srgbClr val="000000"/>
                </a:solidFill>
              </a:rPr>
              <a:t>，都将</a:t>
            </a:r>
            <a:r>
              <a:rPr lang="zh-CN" altLang="en-US" sz="2800" b="1">
                <a:solidFill>
                  <a:srgbClr val="0000FF"/>
                </a:solidFill>
              </a:rPr>
              <a:t>使稳定性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FF"/>
                </a:solidFill>
              </a:rPr>
              <a:t>增加</a:t>
            </a:r>
            <a:r>
              <a:rPr lang="zh-CN" altLang="en-US" sz="2800" b="1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107532" name="文本框 107531">
            <a:extLst>
              <a:ext uri="{FF2B5EF4-FFF2-40B4-BE49-F238E27FC236}">
                <a16:creationId xmlns:a16="http://schemas.microsoft.com/office/drawing/2014/main" id="{AFD2E8B7-9E01-464A-BF04-2F87CA791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221163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碳正离子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中心碳原子均为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800" b="1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杂化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07533" name="对象 107532">
            <a:extLst>
              <a:ext uri="{FF2B5EF4-FFF2-40B4-BE49-F238E27FC236}">
                <a16:creationId xmlns:a16="http://schemas.microsoft.com/office/drawing/2014/main" id="{B19BA91E-E071-4B2E-A04E-94F8D7EE64B5}"/>
              </a:ext>
            </a:extLst>
          </p:cNvPr>
          <p:cNvGraphicFramePr>
            <a:graphicFrameLocks/>
          </p:cNvGraphicFramePr>
          <p:nvPr/>
        </p:nvGraphicFramePr>
        <p:xfrm>
          <a:off x="1042988" y="5084763"/>
          <a:ext cx="70104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808220" imgH="365760" progId="ChemDraw.Document.5.0">
                  <p:embed/>
                </p:oleObj>
              </mc:Choice>
              <mc:Fallback>
                <p:oleObj r:id="rId2" imgW="4808220" imgH="365760" progId="ChemDraw.Document.5.0">
                  <p:embed/>
                  <p:pic>
                    <p:nvPicPr>
                      <p:cNvPr id="0" name="对象 10753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084763"/>
                        <a:ext cx="70104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34" name="对象 107533">
            <a:extLst>
              <a:ext uri="{FF2B5EF4-FFF2-40B4-BE49-F238E27FC236}">
                <a16:creationId xmlns:a16="http://schemas.microsoft.com/office/drawing/2014/main" id="{3AB1F5DD-9183-4C73-A068-9550B91AD4E0}"/>
              </a:ext>
            </a:extLst>
          </p:cNvPr>
          <p:cNvGraphicFramePr>
            <a:graphicFrameLocks/>
          </p:cNvGraphicFramePr>
          <p:nvPr/>
        </p:nvGraphicFramePr>
        <p:xfrm>
          <a:off x="1536700" y="5718175"/>
          <a:ext cx="10668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54380" imgH="208280" progId="ChemDraw.Document.5.0">
                  <p:embed/>
                </p:oleObj>
              </mc:Choice>
              <mc:Fallback>
                <p:oleObj r:id="rId4" imgW="754380" imgH="208280" progId="ChemDraw.Document.5.0">
                  <p:embed/>
                  <p:pic>
                    <p:nvPicPr>
                      <p:cNvPr id="0" name="对象 10753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6700" y="5718175"/>
                        <a:ext cx="1066800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35" name="对象 107534">
            <a:extLst>
              <a:ext uri="{FF2B5EF4-FFF2-40B4-BE49-F238E27FC236}">
                <a16:creationId xmlns:a16="http://schemas.microsoft.com/office/drawing/2014/main" id="{0451F80F-AC9F-48F3-820A-43A20F827CF0}"/>
              </a:ext>
            </a:extLst>
          </p:cNvPr>
          <p:cNvGraphicFramePr>
            <a:graphicFrameLocks/>
          </p:cNvGraphicFramePr>
          <p:nvPr/>
        </p:nvGraphicFramePr>
        <p:xfrm>
          <a:off x="4889500" y="5718175"/>
          <a:ext cx="8382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01980" imgH="208280" progId="ChemDraw.Document.5.0">
                  <p:embed/>
                </p:oleObj>
              </mc:Choice>
              <mc:Fallback>
                <p:oleObj r:id="rId6" imgW="601980" imgH="208280" progId="ChemDraw.Document.5.0">
                  <p:embed/>
                  <p:pic>
                    <p:nvPicPr>
                      <p:cNvPr id="0" name="对象 10753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0" y="5718175"/>
                        <a:ext cx="8382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36" name="对象 107535">
            <a:extLst>
              <a:ext uri="{FF2B5EF4-FFF2-40B4-BE49-F238E27FC236}">
                <a16:creationId xmlns:a16="http://schemas.microsoft.com/office/drawing/2014/main" id="{183CEBB7-E1CF-4B98-AA68-A0FC7BBE398E}"/>
              </a:ext>
            </a:extLst>
          </p:cNvPr>
          <p:cNvGraphicFramePr>
            <a:graphicFrameLocks/>
          </p:cNvGraphicFramePr>
          <p:nvPr/>
        </p:nvGraphicFramePr>
        <p:xfrm>
          <a:off x="6870700" y="5718175"/>
          <a:ext cx="1066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56920" imgH="208280" progId="ChemDraw.Document.5.0">
                  <p:embed/>
                </p:oleObj>
              </mc:Choice>
              <mc:Fallback>
                <p:oleObj r:id="rId8" imgW="756920" imgH="208280" progId="ChemDraw.Document.5.0">
                  <p:embed/>
                  <p:pic>
                    <p:nvPicPr>
                      <p:cNvPr id="0" name="对象 10753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0700" y="5718175"/>
                        <a:ext cx="10668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37" name="对象 107536">
            <a:extLst>
              <a:ext uri="{FF2B5EF4-FFF2-40B4-BE49-F238E27FC236}">
                <a16:creationId xmlns:a16="http://schemas.microsoft.com/office/drawing/2014/main" id="{5B3EDE40-F246-4190-AE8C-36781C8FBDFF}"/>
              </a:ext>
            </a:extLst>
          </p:cNvPr>
          <p:cNvGraphicFramePr>
            <a:graphicFrameLocks/>
          </p:cNvGraphicFramePr>
          <p:nvPr/>
        </p:nvGraphicFramePr>
        <p:xfrm>
          <a:off x="3365500" y="6175375"/>
          <a:ext cx="2590800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732280" imgH="198120" progId="ChemDraw.Document.5.0">
                  <p:embed/>
                </p:oleObj>
              </mc:Choice>
              <mc:Fallback>
                <p:oleObj r:id="rId10" imgW="1732280" imgH="198120" progId="ChemDraw.Document.5.0">
                  <p:embed/>
                  <p:pic>
                    <p:nvPicPr>
                      <p:cNvPr id="0" name="对象 10753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0" y="6175375"/>
                        <a:ext cx="2590800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5" name="灯片编号占位符 1">
            <a:extLst>
              <a:ext uri="{FF2B5EF4-FFF2-40B4-BE49-F238E27FC236}">
                <a16:creationId xmlns:a16="http://schemas.microsoft.com/office/drawing/2014/main" id="{8C98F98C-C63F-4020-B3E2-FC920A7BAC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B9B9D0C8-E177-42E6-9F3B-8D95B53A43BF}" type="slidenum">
              <a:rPr altLang="en-US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20</a:t>
            </a:fld>
            <a:endParaRPr lang="zh-CN" alt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7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7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7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7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7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7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30" grpId="0"/>
      <p:bldP spid="107531" grpId="0"/>
      <p:bldP spid="1075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文本框 223235">
            <a:extLst>
              <a:ext uri="{FF2B5EF4-FFF2-40B4-BE49-F238E27FC236}">
                <a16:creationId xmlns:a16="http://schemas.microsoft.com/office/drawing/2014/main" id="{F0D3F6E1-0CBB-4B07-B649-A156C6547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606425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(1)</a:t>
            </a:r>
            <a:r>
              <a:rPr lang="en-US" altLang="zh-CN" sz="2800" b="1">
                <a:solidFill>
                  <a:srgbClr val="000000"/>
                </a:solidFill>
              </a:rPr>
              <a:t> </a:t>
            </a:r>
            <a:r>
              <a:rPr lang="zh-CN" altLang="en-US" sz="2800" b="1">
                <a:solidFill>
                  <a:srgbClr val="000000"/>
                </a:solidFill>
              </a:rPr>
              <a:t>亲电加成反应：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3237" name="文本框 223236">
            <a:extLst>
              <a:ext uri="{FF2B5EF4-FFF2-40B4-BE49-F238E27FC236}">
                <a16:creationId xmlns:a16="http://schemas.microsoft.com/office/drawing/2014/main" id="{6FBA5ABB-697D-4EB9-8492-21BAF0161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68413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</a:rPr>
              <a:t>亲电加成反应的反应速率取决于碳碳不饱和键电子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3238" name="文本框 223237">
            <a:extLst>
              <a:ext uri="{FF2B5EF4-FFF2-40B4-BE49-F238E27FC236}">
                <a16:creationId xmlns:a16="http://schemas.microsoft.com/office/drawing/2014/main" id="{6316DCA8-9A49-4344-A8FC-DA7E28978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16113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云密度的大小，</a:t>
            </a:r>
            <a:r>
              <a:rPr lang="zh-CN" altLang="en-US" sz="2800" b="1">
                <a:solidFill>
                  <a:srgbClr val="0000FF"/>
                </a:solidFill>
              </a:rPr>
              <a:t>电子云密度越大</a:t>
            </a:r>
            <a:r>
              <a:rPr lang="zh-CN" altLang="en-US" sz="2800" b="1">
                <a:solidFill>
                  <a:srgbClr val="000000"/>
                </a:solidFill>
              </a:rPr>
              <a:t>，</a:t>
            </a:r>
            <a:r>
              <a:rPr lang="zh-CN" altLang="en-US" sz="2800" b="1">
                <a:solidFill>
                  <a:srgbClr val="FF33CC"/>
                </a:solidFill>
              </a:rPr>
              <a:t>反应速率越快</a:t>
            </a:r>
            <a:r>
              <a:rPr lang="zh-CN" altLang="en-US" sz="2800" b="1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223239" name="文本框 223238">
            <a:extLst>
              <a:ext uri="{FF2B5EF4-FFF2-40B4-BE49-F238E27FC236}">
                <a16:creationId xmlns:a16="http://schemas.microsoft.com/office/drawing/2014/main" id="{F569F35F-05D5-4026-8F1E-64EF894DD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636838"/>
            <a:ext cx="9144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</a:rPr>
              <a:t>烯烃双键碳原子上</a:t>
            </a:r>
            <a:r>
              <a:rPr lang="zh-CN" altLang="en-US" sz="2800" b="1">
                <a:solidFill>
                  <a:srgbClr val="0000FF"/>
                </a:solidFill>
              </a:rPr>
              <a:t>连有供电子基</a:t>
            </a:r>
            <a:r>
              <a:rPr lang="zh-CN" altLang="en-US" sz="2800" b="1">
                <a:solidFill>
                  <a:srgbClr val="000000"/>
                </a:solidFill>
              </a:rPr>
              <a:t>时，将使</a:t>
            </a:r>
            <a:r>
              <a:rPr lang="zh-CN" altLang="en-US" sz="2800" b="1">
                <a:solidFill>
                  <a:srgbClr val="FF33CC"/>
                </a:solidFill>
              </a:rPr>
              <a:t>反应活性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FF33CC"/>
                </a:solidFill>
              </a:rPr>
              <a:t>增大</a:t>
            </a:r>
            <a:r>
              <a:rPr lang="zh-CN" altLang="en-US" sz="2800" b="1">
                <a:solidFill>
                  <a:srgbClr val="000000"/>
                </a:solidFill>
              </a:rPr>
              <a:t>，</a:t>
            </a:r>
            <a:r>
              <a:rPr lang="zh-CN" altLang="en-US" sz="2800" b="1">
                <a:solidFill>
                  <a:srgbClr val="FF33CC"/>
                </a:solidFill>
              </a:rPr>
              <a:t>反应速率加快</a:t>
            </a:r>
            <a:r>
              <a:rPr lang="zh-CN" altLang="en-US" sz="2800" b="1">
                <a:solidFill>
                  <a:srgbClr val="000000"/>
                </a:solidFill>
              </a:rPr>
              <a:t>；反之，反应速率减慢。</a:t>
            </a:r>
          </a:p>
        </p:txBody>
      </p:sp>
      <p:graphicFrame>
        <p:nvGraphicFramePr>
          <p:cNvPr id="223240" name="对象 223239">
            <a:extLst>
              <a:ext uri="{FF2B5EF4-FFF2-40B4-BE49-F238E27FC236}">
                <a16:creationId xmlns:a16="http://schemas.microsoft.com/office/drawing/2014/main" id="{04ADB46F-94F1-4AE3-9A3D-096D88A7C3B9}"/>
              </a:ext>
            </a:extLst>
          </p:cNvPr>
          <p:cNvGraphicFramePr>
            <a:graphicFrameLocks/>
          </p:cNvGraphicFramePr>
          <p:nvPr/>
        </p:nvGraphicFramePr>
        <p:xfrm>
          <a:off x="3203575" y="4508500"/>
          <a:ext cx="20891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45540" imgH="215900" progId="ChemDraw.Document.5.0">
                  <p:embed/>
                </p:oleObj>
              </mc:Choice>
              <mc:Fallback>
                <p:oleObj r:id="rId2" imgW="1145540" imgH="215900" progId="ChemDraw.Document.5.0">
                  <p:embed/>
                  <p:pic>
                    <p:nvPicPr>
                      <p:cNvPr id="0" name="对象 223239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508500"/>
                        <a:ext cx="20891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1" name="对象 223240">
            <a:extLst>
              <a:ext uri="{FF2B5EF4-FFF2-40B4-BE49-F238E27FC236}">
                <a16:creationId xmlns:a16="http://schemas.microsoft.com/office/drawing/2014/main" id="{C4903949-D279-4408-A873-26BF31F81F44}"/>
              </a:ext>
            </a:extLst>
          </p:cNvPr>
          <p:cNvGraphicFramePr>
            <a:graphicFrameLocks/>
          </p:cNvGraphicFramePr>
          <p:nvPr/>
        </p:nvGraphicFramePr>
        <p:xfrm>
          <a:off x="523875" y="4127500"/>
          <a:ext cx="800100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196840" imgH="203200" progId="ChemDraw.Document.5.0">
                  <p:embed/>
                </p:oleObj>
              </mc:Choice>
              <mc:Fallback>
                <p:oleObj r:id="rId4" imgW="5196840" imgH="203200" progId="ChemDraw.Document.5.0">
                  <p:embed/>
                  <p:pic>
                    <p:nvPicPr>
                      <p:cNvPr id="0" name="对象 22324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" y="4127500"/>
                        <a:ext cx="8001000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2" name="对象 223241">
            <a:extLst>
              <a:ext uri="{FF2B5EF4-FFF2-40B4-BE49-F238E27FC236}">
                <a16:creationId xmlns:a16="http://schemas.microsoft.com/office/drawing/2014/main" id="{33709485-83F7-46E2-BDBA-1F88314858FE}"/>
              </a:ext>
            </a:extLst>
          </p:cNvPr>
          <p:cNvGraphicFramePr>
            <a:graphicFrameLocks/>
          </p:cNvGraphicFramePr>
          <p:nvPr/>
        </p:nvGraphicFramePr>
        <p:xfrm>
          <a:off x="2657475" y="5651500"/>
          <a:ext cx="26670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27200" imgH="200660" progId="ChemDraw.Document.5.0">
                  <p:embed/>
                </p:oleObj>
              </mc:Choice>
              <mc:Fallback>
                <p:oleObj r:id="rId6" imgW="1727200" imgH="200660" progId="ChemDraw.Document.5.0">
                  <p:embed/>
                  <p:pic>
                    <p:nvPicPr>
                      <p:cNvPr id="0" name="对象 22324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5" y="5651500"/>
                        <a:ext cx="2667000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3" name="文本框 223242">
            <a:extLst>
              <a:ext uri="{FF2B5EF4-FFF2-40B4-BE49-F238E27FC236}">
                <a16:creationId xmlns:a16="http://schemas.microsoft.com/office/drawing/2014/main" id="{37B5612D-65B0-4938-BC39-E848F10F4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41888"/>
            <a:ext cx="9144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HX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与烯烃发生亲电加成反应，其反应速率取决于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HX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离解的难易。</a:t>
            </a:r>
          </a:p>
        </p:txBody>
      </p:sp>
      <p:sp>
        <p:nvSpPr>
          <p:cNvPr id="58378" name="文本框 223243">
            <a:extLst>
              <a:ext uri="{FF2B5EF4-FFF2-40B4-BE49-F238E27FC236}">
                <a16:creationId xmlns:a16="http://schemas.microsoft.com/office/drawing/2014/main" id="{F5822C37-AAD0-404F-A9F9-16B8C99E9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2. </a:t>
            </a:r>
            <a:r>
              <a:rPr lang="zh-CN" altLang="en-US" sz="2800" b="1">
                <a:solidFill>
                  <a:srgbClr val="0000FF"/>
                </a:solidFill>
              </a:rPr>
              <a:t>化学反应速率</a:t>
            </a:r>
          </a:p>
        </p:txBody>
      </p:sp>
      <p:sp>
        <p:nvSpPr>
          <p:cNvPr id="58379" name="灯片编号占位符 1">
            <a:extLst>
              <a:ext uri="{FF2B5EF4-FFF2-40B4-BE49-F238E27FC236}">
                <a16:creationId xmlns:a16="http://schemas.microsoft.com/office/drawing/2014/main" id="{245A2E25-9B0F-4947-9415-C80A8F717F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D34DCB2E-F947-4C64-A042-8428BCECBBC6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21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7" grpId="0"/>
      <p:bldP spid="223238" grpId="0"/>
      <p:bldP spid="223239" grpId="0"/>
      <p:bldP spid="22324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文本框 112646">
            <a:extLst>
              <a:ext uri="{FF2B5EF4-FFF2-40B4-BE49-F238E27FC236}">
                <a16:creationId xmlns:a16="http://schemas.microsoft.com/office/drawing/2014/main" id="{ACB99104-8FFE-428D-BB5F-59F35789F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9812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</a:rPr>
              <a:t>        </a:t>
            </a:r>
            <a:endParaRPr lang="en-US" altLang="zh-CN" sz="2800" b="1">
              <a:solidFill>
                <a:srgbClr val="B85C00"/>
              </a:solidFill>
            </a:endParaRPr>
          </a:p>
        </p:txBody>
      </p:sp>
      <p:sp>
        <p:nvSpPr>
          <p:cNvPr id="59395" name="文本框 112647">
            <a:extLst>
              <a:ext uri="{FF2B5EF4-FFF2-40B4-BE49-F238E27FC236}">
                <a16:creationId xmlns:a16="http://schemas.microsoft.com/office/drawing/2014/main" id="{4DDA6F96-DBC0-4667-950C-35F88B5A6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11463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</a:rPr>
              <a:t>        </a:t>
            </a:r>
            <a:endParaRPr lang="en-US" altLang="zh-CN" sz="2400" b="1">
              <a:solidFill>
                <a:srgbClr val="000000"/>
              </a:solidFill>
            </a:endParaRPr>
          </a:p>
        </p:txBody>
      </p:sp>
      <p:sp>
        <p:nvSpPr>
          <p:cNvPr id="112659" name="文本框 112658">
            <a:extLst>
              <a:ext uri="{FF2B5EF4-FFF2-40B4-BE49-F238E27FC236}">
                <a16:creationId xmlns:a16="http://schemas.microsoft.com/office/drawing/2014/main" id="{917B534B-59AC-4C03-8451-8AC3B9277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625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(2) </a:t>
            </a:r>
            <a:r>
              <a:rPr lang="zh-CN" altLang="en-US" sz="2800" b="1">
                <a:solidFill>
                  <a:srgbClr val="000000"/>
                </a:solidFill>
              </a:rPr>
              <a:t>亲电取代反应：</a:t>
            </a:r>
          </a:p>
        </p:txBody>
      </p:sp>
      <p:sp>
        <p:nvSpPr>
          <p:cNvPr id="59397" name="文本框 112659">
            <a:extLst>
              <a:ext uri="{FF2B5EF4-FFF2-40B4-BE49-F238E27FC236}">
                <a16:creationId xmlns:a16="http://schemas.microsoft.com/office/drawing/2014/main" id="{908F8F11-12F7-493B-BA62-555A6F11B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482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398" name="文本框 112660">
            <a:extLst>
              <a:ext uri="{FF2B5EF4-FFF2-40B4-BE49-F238E27FC236}">
                <a16:creationId xmlns:a16="http://schemas.microsoft.com/office/drawing/2014/main" id="{F23856A8-379B-4331-940F-05B5AD13A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82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</a:rPr>
              <a:t>        </a:t>
            </a:r>
          </a:p>
        </p:txBody>
      </p:sp>
      <p:sp>
        <p:nvSpPr>
          <p:cNvPr id="112665" name="文本框 112664">
            <a:extLst>
              <a:ext uri="{FF2B5EF4-FFF2-40B4-BE49-F238E27FC236}">
                <a16:creationId xmlns:a16="http://schemas.microsoft.com/office/drawing/2014/main" id="{EF913841-9C9B-4F53-A0BB-E15E367C6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96975"/>
            <a:ext cx="91440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</a:rPr>
              <a:t>芳香族化合物亲电取代反应的反应速率取决于芳环上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电子云密度的高低。当芳环上连有</a:t>
            </a:r>
            <a:r>
              <a:rPr lang="zh-CN" altLang="en-US" sz="2800" b="1">
                <a:solidFill>
                  <a:srgbClr val="0000FF"/>
                </a:solidFill>
              </a:rPr>
              <a:t>供电子基</a:t>
            </a:r>
            <a:r>
              <a:rPr lang="zh-CN" altLang="en-US" sz="2800" b="1">
                <a:solidFill>
                  <a:srgbClr val="000000"/>
                </a:solidFill>
              </a:rPr>
              <a:t>（除卤素外的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第一类定位基）时，将使芳环上的电子云密度增大，</a:t>
            </a:r>
            <a:r>
              <a:rPr lang="zh-CN" altLang="en-US" sz="2800" b="1">
                <a:solidFill>
                  <a:srgbClr val="FF33CC"/>
                </a:solidFill>
              </a:rPr>
              <a:t>反应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66" name="文本框 112665">
            <a:extLst>
              <a:ext uri="{FF2B5EF4-FFF2-40B4-BE49-F238E27FC236}">
                <a16:creationId xmlns:a16="http://schemas.microsoft.com/office/drawing/2014/main" id="{BC4CBC99-8519-453C-94AF-EF05EC2F5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13100"/>
            <a:ext cx="9144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FF33CC"/>
                </a:solidFill>
              </a:rPr>
              <a:t>速率加快</a:t>
            </a:r>
            <a:r>
              <a:rPr lang="zh-CN" altLang="en-US" sz="2800" b="1">
                <a:solidFill>
                  <a:srgbClr val="000000"/>
                </a:solidFill>
              </a:rPr>
              <a:t>；连有</a:t>
            </a:r>
            <a:r>
              <a:rPr lang="zh-CN" altLang="en-US" sz="2800" b="1">
                <a:solidFill>
                  <a:srgbClr val="0000FF"/>
                </a:solidFill>
              </a:rPr>
              <a:t>吸电子基</a:t>
            </a:r>
            <a:r>
              <a:rPr lang="zh-CN" altLang="en-US" sz="2800" b="1">
                <a:solidFill>
                  <a:srgbClr val="000000"/>
                </a:solidFill>
              </a:rPr>
              <a:t>（卤素和第二类定位基）时，将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使芳环上的电子云密度降低，</a:t>
            </a:r>
            <a:r>
              <a:rPr lang="zh-CN" altLang="en-US" sz="2800" b="1">
                <a:solidFill>
                  <a:srgbClr val="006600"/>
                </a:solidFill>
              </a:rPr>
              <a:t>反应速率减慢</a:t>
            </a:r>
            <a:r>
              <a:rPr lang="zh-CN" altLang="en-US" sz="2800" b="1">
                <a:solidFill>
                  <a:srgbClr val="000000"/>
                </a:solidFill>
              </a:rPr>
              <a:t>。</a:t>
            </a:r>
          </a:p>
        </p:txBody>
      </p:sp>
      <p:graphicFrame>
        <p:nvGraphicFramePr>
          <p:cNvPr id="112667" name="对象 112666">
            <a:extLst>
              <a:ext uri="{FF2B5EF4-FFF2-40B4-BE49-F238E27FC236}">
                <a16:creationId xmlns:a16="http://schemas.microsoft.com/office/drawing/2014/main" id="{B53156F0-7452-4422-A339-BEF8ABCD1B66}"/>
              </a:ext>
            </a:extLst>
          </p:cNvPr>
          <p:cNvGraphicFramePr>
            <a:graphicFrameLocks/>
          </p:cNvGraphicFramePr>
          <p:nvPr/>
        </p:nvGraphicFramePr>
        <p:xfrm>
          <a:off x="1068388" y="5351463"/>
          <a:ext cx="70104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389120" imgH="195580" progId="ChemDraw.Document.5.0">
                  <p:embed/>
                </p:oleObj>
              </mc:Choice>
              <mc:Fallback>
                <p:oleObj r:id="rId2" imgW="4389120" imgH="195580" progId="ChemDraw.Document.5.0">
                  <p:embed/>
                  <p:pic>
                    <p:nvPicPr>
                      <p:cNvPr id="0" name="对象 11266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388" y="5351463"/>
                        <a:ext cx="7010400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68" name="对象 112667">
            <a:extLst>
              <a:ext uri="{FF2B5EF4-FFF2-40B4-BE49-F238E27FC236}">
                <a16:creationId xmlns:a16="http://schemas.microsoft.com/office/drawing/2014/main" id="{E0CB2FF6-276A-4A92-AB8C-446A40AAA871}"/>
              </a:ext>
            </a:extLst>
          </p:cNvPr>
          <p:cNvGraphicFramePr>
            <a:graphicFrameLocks/>
          </p:cNvGraphicFramePr>
          <p:nvPr/>
        </p:nvGraphicFramePr>
        <p:xfrm>
          <a:off x="2268538" y="6021388"/>
          <a:ext cx="4364037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618740" imgH="213360" progId="ChemDraw.Document.5.0">
                  <p:embed/>
                </p:oleObj>
              </mc:Choice>
              <mc:Fallback>
                <p:oleObj r:id="rId4" imgW="2618740" imgH="213360" progId="ChemDraw.Document.5.0">
                  <p:embed/>
                  <p:pic>
                    <p:nvPicPr>
                      <p:cNvPr id="0" name="对象 11266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6021388"/>
                        <a:ext cx="4364037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69" name="对象 112668">
            <a:extLst>
              <a:ext uri="{FF2B5EF4-FFF2-40B4-BE49-F238E27FC236}">
                <a16:creationId xmlns:a16="http://schemas.microsoft.com/office/drawing/2014/main" id="{47E075AA-F8D9-4148-9A62-DFBC8081D40E}"/>
              </a:ext>
            </a:extLst>
          </p:cNvPr>
          <p:cNvGraphicFramePr>
            <a:graphicFrameLocks/>
          </p:cNvGraphicFramePr>
          <p:nvPr/>
        </p:nvGraphicFramePr>
        <p:xfrm>
          <a:off x="611188" y="4437063"/>
          <a:ext cx="7620000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780280" imgH="558800" progId="ChemDraw.Document.5.0">
                  <p:embed/>
                </p:oleObj>
              </mc:Choice>
              <mc:Fallback>
                <p:oleObj r:id="rId6" imgW="4780280" imgH="558800" progId="ChemDraw.Document.5.0">
                  <p:embed/>
                  <p:pic>
                    <p:nvPicPr>
                      <p:cNvPr id="0" name="对象 11266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437063"/>
                        <a:ext cx="7620000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0" name="对象 112669">
            <a:extLst>
              <a:ext uri="{FF2B5EF4-FFF2-40B4-BE49-F238E27FC236}">
                <a16:creationId xmlns:a16="http://schemas.microsoft.com/office/drawing/2014/main" id="{931B964A-F3D4-4E1B-BD14-64905D59AA2A}"/>
              </a:ext>
            </a:extLst>
          </p:cNvPr>
          <p:cNvGraphicFramePr>
            <a:graphicFrameLocks/>
          </p:cNvGraphicFramePr>
          <p:nvPr/>
        </p:nvGraphicFramePr>
        <p:xfrm>
          <a:off x="1144588" y="5732463"/>
          <a:ext cx="6096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52120" imgH="205740" progId="ChemDraw.Document.5.0">
                  <p:embed/>
                </p:oleObj>
              </mc:Choice>
              <mc:Fallback>
                <p:oleObj r:id="rId8" imgW="452120" imgH="205740" progId="ChemDraw.Document.5.0">
                  <p:embed/>
                  <p:pic>
                    <p:nvPicPr>
                      <p:cNvPr id="0" name="对象 11266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5732463"/>
                        <a:ext cx="60960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1" name="对象 112670">
            <a:extLst>
              <a:ext uri="{FF2B5EF4-FFF2-40B4-BE49-F238E27FC236}">
                <a16:creationId xmlns:a16="http://schemas.microsoft.com/office/drawing/2014/main" id="{D311C65F-74D8-4EB1-9A76-E7C52FF0E3AD}"/>
              </a:ext>
            </a:extLst>
          </p:cNvPr>
          <p:cNvGraphicFramePr>
            <a:graphicFrameLocks/>
          </p:cNvGraphicFramePr>
          <p:nvPr/>
        </p:nvGraphicFramePr>
        <p:xfrm>
          <a:off x="2744788" y="5732463"/>
          <a:ext cx="38100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97180" imgH="203200" progId="ChemDraw.Document.5.0">
                  <p:embed/>
                </p:oleObj>
              </mc:Choice>
              <mc:Fallback>
                <p:oleObj r:id="rId10" imgW="297180" imgH="203200" progId="ChemDraw.Document.5.0">
                  <p:embed/>
                  <p:pic>
                    <p:nvPicPr>
                      <p:cNvPr id="0" name="对象 11267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788" y="5732463"/>
                        <a:ext cx="381000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2" name="对象 112671">
            <a:extLst>
              <a:ext uri="{FF2B5EF4-FFF2-40B4-BE49-F238E27FC236}">
                <a16:creationId xmlns:a16="http://schemas.microsoft.com/office/drawing/2014/main" id="{A1655931-3F3D-4333-8877-E28E02892AA7}"/>
              </a:ext>
            </a:extLst>
          </p:cNvPr>
          <p:cNvGraphicFramePr>
            <a:graphicFrameLocks/>
          </p:cNvGraphicFramePr>
          <p:nvPr/>
        </p:nvGraphicFramePr>
        <p:xfrm>
          <a:off x="7469188" y="5732463"/>
          <a:ext cx="377825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97180" imgH="205740" progId="ChemDraw.Document.5.0">
                  <p:embed/>
                </p:oleObj>
              </mc:Choice>
              <mc:Fallback>
                <p:oleObj r:id="rId12" imgW="297180" imgH="205740" progId="ChemDraw.Document.5.0">
                  <p:embed/>
                  <p:pic>
                    <p:nvPicPr>
                      <p:cNvPr id="0" name="对象 112671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9188" y="5732463"/>
                        <a:ext cx="377825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7" name="灯片编号占位符 1">
            <a:extLst>
              <a:ext uri="{FF2B5EF4-FFF2-40B4-BE49-F238E27FC236}">
                <a16:creationId xmlns:a16="http://schemas.microsoft.com/office/drawing/2014/main" id="{0572E604-9664-44BF-81C7-96712E9533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9A57BFFC-8187-4F31-A347-3A9CC7C73C3A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22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2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2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2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2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2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2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2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2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59" grpId="0"/>
      <p:bldP spid="112665" grpId="0"/>
      <p:bldP spid="11266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文本框 113665">
            <a:extLst>
              <a:ext uri="{FF2B5EF4-FFF2-40B4-BE49-F238E27FC236}">
                <a16:creationId xmlns:a16="http://schemas.microsoft.com/office/drawing/2014/main" id="{E867778E-3FAE-44C6-B5A8-DA4FED66E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sz="2400" b="1">
              <a:solidFill>
                <a:srgbClr val="996633"/>
              </a:solidFill>
            </a:endParaRPr>
          </a:p>
        </p:txBody>
      </p:sp>
      <p:sp>
        <p:nvSpPr>
          <p:cNvPr id="113672" name="文本框 113671">
            <a:extLst>
              <a:ext uri="{FF2B5EF4-FFF2-40B4-BE49-F238E27FC236}">
                <a16:creationId xmlns:a16="http://schemas.microsoft.com/office/drawing/2014/main" id="{DF0501D1-92DA-42BE-9675-5585A4B67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4813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(3) </a:t>
            </a:r>
            <a:r>
              <a:rPr lang="zh-CN" altLang="en-US" sz="2800" b="1">
                <a:solidFill>
                  <a:srgbClr val="000000"/>
                </a:solidFill>
              </a:rPr>
              <a:t>亲核取代反应：</a:t>
            </a:r>
          </a:p>
        </p:txBody>
      </p:sp>
      <p:sp>
        <p:nvSpPr>
          <p:cNvPr id="113673" name="文本框 113672">
            <a:extLst>
              <a:ext uri="{FF2B5EF4-FFF2-40B4-BE49-F238E27FC236}">
                <a16:creationId xmlns:a16="http://schemas.microsoft.com/office/drawing/2014/main" id="{9AE6F464-069D-4E95-B098-B416977BA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5538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</a:rPr>
              <a:t>        A. </a:t>
            </a:r>
            <a:r>
              <a:rPr lang="zh-CN" altLang="en-US" sz="2800" b="1">
                <a:solidFill>
                  <a:srgbClr val="006600"/>
                </a:solidFill>
              </a:rPr>
              <a:t>烃基结构：</a:t>
            </a:r>
          </a:p>
        </p:txBody>
      </p:sp>
      <p:sp>
        <p:nvSpPr>
          <p:cNvPr id="113674" name="文本框 113673">
            <a:extLst>
              <a:ext uri="{FF2B5EF4-FFF2-40B4-BE49-F238E27FC236}">
                <a16:creationId xmlns:a16="http://schemas.microsoft.com/office/drawing/2014/main" id="{1C5CF857-6ABC-4ED9-AD55-9B375E0CF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773238"/>
            <a:ext cx="9144000" cy="180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反应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电子效应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是影响反应速率的主要因素。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FF33CC"/>
                </a:solidFill>
                <a:latin typeface="Times New Roman" panose="02020603050405020304" pitchFamily="18" charset="0"/>
              </a:rPr>
              <a:t>凡有利于碳正离子生成，并能使之稳定的因素均可加速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FF33CC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>
                <a:solidFill>
                  <a:srgbClr val="FF33CC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solidFill>
                  <a:srgbClr val="FF33CC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rgbClr val="FF33CC"/>
                </a:solidFill>
                <a:latin typeface="Times New Roman" panose="02020603050405020304" pitchFamily="18" charset="0"/>
              </a:rPr>
              <a:t>反应。</a:t>
            </a:r>
          </a:p>
        </p:txBody>
      </p:sp>
      <p:graphicFrame>
        <p:nvGraphicFramePr>
          <p:cNvPr id="113681" name="对象 113680">
            <a:extLst>
              <a:ext uri="{FF2B5EF4-FFF2-40B4-BE49-F238E27FC236}">
                <a16:creationId xmlns:a16="http://schemas.microsoft.com/office/drawing/2014/main" id="{8DF9123C-7085-4F4E-9AD4-04546B0BBBD3}"/>
              </a:ext>
            </a:extLst>
          </p:cNvPr>
          <p:cNvGraphicFramePr>
            <a:graphicFrameLocks/>
          </p:cNvGraphicFramePr>
          <p:nvPr/>
        </p:nvGraphicFramePr>
        <p:xfrm>
          <a:off x="1692275" y="3789363"/>
          <a:ext cx="70866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800600" imgH="340360" progId="ChemDraw.Document.5.0">
                  <p:embed/>
                </p:oleObj>
              </mc:Choice>
              <mc:Fallback>
                <p:oleObj r:id="rId2" imgW="4800600" imgH="340360" progId="ChemDraw.Document.5.0">
                  <p:embed/>
                  <p:pic>
                    <p:nvPicPr>
                      <p:cNvPr id="0" name="对象 113680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789363"/>
                        <a:ext cx="70866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82" name="文本框 113681">
            <a:extLst>
              <a:ext uri="{FF2B5EF4-FFF2-40B4-BE49-F238E27FC236}">
                <a16:creationId xmlns:a16="http://schemas.microsoft.com/office/drawing/2014/main" id="{351D2808-03E9-40EB-AAE3-22B96B1CA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32288"/>
            <a:ext cx="1258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0000"/>
                </a:solidFill>
              </a:rPr>
              <a:t>如：</a:t>
            </a:r>
          </a:p>
        </p:txBody>
      </p:sp>
      <p:graphicFrame>
        <p:nvGraphicFramePr>
          <p:cNvPr id="113683" name="对象 113682">
            <a:extLst>
              <a:ext uri="{FF2B5EF4-FFF2-40B4-BE49-F238E27FC236}">
                <a16:creationId xmlns:a16="http://schemas.microsoft.com/office/drawing/2014/main" id="{210C7E12-BCE9-4041-BF09-B7E0EAADC10A}"/>
              </a:ext>
            </a:extLst>
          </p:cNvPr>
          <p:cNvGraphicFramePr>
            <a:graphicFrameLocks/>
          </p:cNvGraphicFramePr>
          <p:nvPr/>
        </p:nvGraphicFramePr>
        <p:xfrm>
          <a:off x="3429000" y="5932488"/>
          <a:ext cx="251142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71600" imgH="215900" progId="ChemDraw.Document.5.0">
                  <p:embed/>
                </p:oleObj>
              </mc:Choice>
              <mc:Fallback>
                <p:oleObj r:id="rId4" imgW="1371600" imgH="215900" progId="ChemDraw.Document.5.0">
                  <p:embed/>
                  <p:pic>
                    <p:nvPicPr>
                      <p:cNvPr id="0" name="对象 11368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932488"/>
                        <a:ext cx="251142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84" name="对象 113683">
            <a:extLst>
              <a:ext uri="{FF2B5EF4-FFF2-40B4-BE49-F238E27FC236}">
                <a16:creationId xmlns:a16="http://schemas.microsoft.com/office/drawing/2014/main" id="{50819D49-039A-411C-944C-58A1CC62C204}"/>
              </a:ext>
            </a:extLst>
          </p:cNvPr>
          <p:cNvGraphicFramePr>
            <a:graphicFrameLocks/>
          </p:cNvGraphicFramePr>
          <p:nvPr/>
        </p:nvGraphicFramePr>
        <p:xfrm>
          <a:off x="0" y="4941888"/>
          <a:ext cx="9144000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350000" imgH="627380" progId="ChemDraw.Document.5.0">
                  <p:embed/>
                </p:oleObj>
              </mc:Choice>
              <mc:Fallback>
                <p:oleObj r:id="rId6" imgW="6350000" imgH="627380" progId="ChemDraw.Document.5.0">
                  <p:embed/>
                  <p:pic>
                    <p:nvPicPr>
                      <p:cNvPr id="0" name="对象 11368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941888"/>
                        <a:ext cx="9144000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6" name="灯片编号占位符 1">
            <a:extLst>
              <a:ext uri="{FF2B5EF4-FFF2-40B4-BE49-F238E27FC236}">
                <a16:creationId xmlns:a16="http://schemas.microsoft.com/office/drawing/2014/main" id="{0A8F1F75-498C-4AA0-B5F4-AB461F60FD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34A74DDC-3BF2-40AC-91AB-1FC524F7CDA9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23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3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3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3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3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3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3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3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3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2" grpId="0"/>
      <p:bldP spid="113673" grpId="0"/>
      <p:bldP spid="113674" grpId="0"/>
      <p:bldP spid="11368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697" name="对象 114696">
            <a:extLst>
              <a:ext uri="{FF2B5EF4-FFF2-40B4-BE49-F238E27FC236}">
                <a16:creationId xmlns:a16="http://schemas.microsoft.com/office/drawing/2014/main" id="{5F41C3D1-7475-4472-8251-4DE4C5790214}"/>
              </a:ext>
            </a:extLst>
          </p:cNvPr>
          <p:cNvGraphicFramePr>
            <a:graphicFrameLocks/>
          </p:cNvGraphicFramePr>
          <p:nvPr/>
        </p:nvGraphicFramePr>
        <p:xfrm>
          <a:off x="3657600" y="2339975"/>
          <a:ext cx="22828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86840" imgH="208280" progId="ChemDraw.Document.5.0">
                  <p:embed/>
                </p:oleObj>
              </mc:Choice>
              <mc:Fallback>
                <p:oleObj r:id="rId2" imgW="1386840" imgH="208280" progId="ChemDraw.Document.5.0">
                  <p:embed/>
                  <p:pic>
                    <p:nvPicPr>
                      <p:cNvPr id="0" name="对象 11469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339975"/>
                        <a:ext cx="22828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19" name="对象 114718">
            <a:extLst>
              <a:ext uri="{FF2B5EF4-FFF2-40B4-BE49-F238E27FC236}">
                <a16:creationId xmlns:a16="http://schemas.microsoft.com/office/drawing/2014/main" id="{36507EBB-5F14-4BC4-9715-814656E84934}"/>
              </a:ext>
            </a:extLst>
          </p:cNvPr>
          <p:cNvGraphicFramePr>
            <a:graphicFrameLocks/>
          </p:cNvGraphicFramePr>
          <p:nvPr/>
        </p:nvGraphicFramePr>
        <p:xfrm>
          <a:off x="0" y="523875"/>
          <a:ext cx="91440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24880" imgH="365760" progId="ChemDraw.Document.5.0">
                  <p:embed/>
                </p:oleObj>
              </mc:Choice>
              <mc:Fallback>
                <p:oleObj r:id="rId4" imgW="6024880" imgH="365760" progId="ChemDraw.Document.5.0">
                  <p:embed/>
                  <p:pic>
                    <p:nvPicPr>
                      <p:cNvPr id="0" name="对象 11471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23875"/>
                        <a:ext cx="91440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20" name="对象 114719">
            <a:extLst>
              <a:ext uri="{FF2B5EF4-FFF2-40B4-BE49-F238E27FC236}">
                <a16:creationId xmlns:a16="http://schemas.microsoft.com/office/drawing/2014/main" id="{4E78F2A0-0D2E-4642-8B3B-FD97795F95A1}"/>
              </a:ext>
            </a:extLst>
          </p:cNvPr>
          <p:cNvGraphicFramePr>
            <a:graphicFrameLocks/>
          </p:cNvGraphicFramePr>
          <p:nvPr/>
        </p:nvGraphicFramePr>
        <p:xfrm>
          <a:off x="609600" y="1196975"/>
          <a:ext cx="822960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560060" imgH="744220" progId="ChemDraw.Document.5.0">
                  <p:embed/>
                </p:oleObj>
              </mc:Choice>
              <mc:Fallback>
                <p:oleObj r:id="rId6" imgW="5560060" imgH="744220" progId="ChemDraw.Document.5.0">
                  <p:embed/>
                  <p:pic>
                    <p:nvPicPr>
                      <p:cNvPr id="0" name="对象 11471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196975"/>
                        <a:ext cx="8229600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18" name="文本框 239617">
            <a:extLst>
              <a:ext uri="{FF2B5EF4-FFF2-40B4-BE49-F238E27FC236}">
                <a16:creationId xmlns:a16="http://schemas.microsoft.com/office/drawing/2014/main" id="{C28854D8-50C4-45F2-978D-61E4F1E1B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852738"/>
            <a:ext cx="9144000" cy="244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S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反应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空间效应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是影响反应速率的主要因素。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 i="1">
                <a:solidFill>
                  <a:srgbClr val="FF33CC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</a:rPr>
              <a:t>α</a:t>
            </a:r>
            <a:r>
              <a:rPr lang="zh-CN" altLang="en-US" sz="2800" b="1" i="1">
                <a:solidFill>
                  <a:srgbClr val="00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</a:rPr>
              <a:t>β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碳原子上烃基增多，不但不利于亲核试剂从背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后进攻，且造成过渡态拥挤，从而使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反应反应活性降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低。</a:t>
            </a:r>
          </a:p>
        </p:txBody>
      </p:sp>
      <p:graphicFrame>
        <p:nvGraphicFramePr>
          <p:cNvPr id="239619" name="对象 239618">
            <a:extLst>
              <a:ext uri="{FF2B5EF4-FFF2-40B4-BE49-F238E27FC236}">
                <a16:creationId xmlns:a16="http://schemas.microsoft.com/office/drawing/2014/main" id="{65AFBF30-2500-46CB-B90B-19630E1243CE}"/>
              </a:ext>
            </a:extLst>
          </p:cNvPr>
          <p:cNvGraphicFramePr>
            <a:graphicFrameLocks/>
          </p:cNvGraphicFramePr>
          <p:nvPr/>
        </p:nvGraphicFramePr>
        <p:xfrm>
          <a:off x="2159000" y="5013325"/>
          <a:ext cx="47529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641600" imgH="233680" progId="ChemDraw.Document.5.0">
                  <p:embed/>
                </p:oleObj>
              </mc:Choice>
              <mc:Fallback>
                <p:oleObj r:id="rId8" imgW="2641600" imgH="233680" progId="ChemDraw.Document.5.0">
                  <p:embed/>
                  <p:pic>
                    <p:nvPicPr>
                      <p:cNvPr id="0" name="对象 23961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5013325"/>
                        <a:ext cx="475297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0" name="对象 239619">
            <a:extLst>
              <a:ext uri="{FF2B5EF4-FFF2-40B4-BE49-F238E27FC236}">
                <a16:creationId xmlns:a16="http://schemas.microsoft.com/office/drawing/2014/main" id="{FA8E0633-8315-4CD2-8766-DD82C937B5AE}"/>
              </a:ext>
            </a:extLst>
          </p:cNvPr>
          <p:cNvGraphicFramePr>
            <a:graphicFrameLocks/>
          </p:cNvGraphicFramePr>
          <p:nvPr/>
        </p:nvGraphicFramePr>
        <p:xfrm>
          <a:off x="503238" y="5661025"/>
          <a:ext cx="806450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679440" imgH="190500" progId="ChemDraw.Document.5.0">
                  <p:embed/>
                </p:oleObj>
              </mc:Choice>
              <mc:Fallback>
                <p:oleObj r:id="rId10" imgW="5679440" imgH="190500" progId="ChemDraw.Document.5.0">
                  <p:embed/>
                  <p:pic>
                    <p:nvPicPr>
                      <p:cNvPr id="0" name="对象 239619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5661025"/>
                        <a:ext cx="8064500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1" name="对象 239620">
            <a:extLst>
              <a:ext uri="{FF2B5EF4-FFF2-40B4-BE49-F238E27FC236}">
                <a16:creationId xmlns:a16="http://schemas.microsoft.com/office/drawing/2014/main" id="{A9096CC5-11A6-4728-BC38-880ADF99D8FA}"/>
              </a:ext>
            </a:extLst>
          </p:cNvPr>
          <p:cNvGraphicFramePr>
            <a:graphicFrameLocks/>
          </p:cNvGraphicFramePr>
          <p:nvPr/>
        </p:nvGraphicFramePr>
        <p:xfrm>
          <a:off x="3238500" y="6092825"/>
          <a:ext cx="3097213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445260" imgH="210820" progId="ChemDraw.Document.5.0">
                  <p:embed/>
                </p:oleObj>
              </mc:Choice>
              <mc:Fallback>
                <p:oleObj r:id="rId12" imgW="1445260" imgH="210820" progId="ChemDraw.Document.5.0">
                  <p:embed/>
                  <p:pic>
                    <p:nvPicPr>
                      <p:cNvPr id="0" name="对象 239620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6092825"/>
                        <a:ext cx="3097213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9" name="灯片编号占位符 1">
            <a:extLst>
              <a:ext uri="{FF2B5EF4-FFF2-40B4-BE49-F238E27FC236}">
                <a16:creationId xmlns:a16="http://schemas.microsoft.com/office/drawing/2014/main" id="{6175C13D-624E-4423-826F-7FA6CFFD65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0392EBC8-1A2C-4B2B-8E20-C8639E3A44C5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24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4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4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9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9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9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81" name="文本框 117780">
            <a:extLst>
              <a:ext uri="{FF2B5EF4-FFF2-40B4-BE49-F238E27FC236}">
                <a16:creationId xmlns:a16="http://schemas.microsoft.com/office/drawing/2014/main" id="{BFB0EC4B-6432-4851-A6BC-EF55E1E44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6035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B85C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(4) </a:t>
            </a:r>
            <a:r>
              <a:rPr lang="zh-CN" altLang="en-US" sz="2800" b="1">
                <a:solidFill>
                  <a:srgbClr val="000000"/>
                </a:solidFill>
              </a:rPr>
              <a:t>亲核加成：</a:t>
            </a:r>
          </a:p>
        </p:txBody>
      </p:sp>
      <p:sp>
        <p:nvSpPr>
          <p:cNvPr id="117782" name="文本框 117781">
            <a:extLst>
              <a:ext uri="{FF2B5EF4-FFF2-40B4-BE49-F238E27FC236}">
                <a16:creationId xmlns:a16="http://schemas.microsoft.com/office/drawing/2014/main" id="{019364F7-9258-43B0-95ED-6780AFCC4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5175"/>
            <a:ext cx="9144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</a:rPr>
              <a:t>亲核加成反应主要包括醛、酮的亲核加成反应和羧酸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及其衍生物的亲核加成反应。</a:t>
            </a:r>
          </a:p>
        </p:txBody>
      </p:sp>
      <p:sp>
        <p:nvSpPr>
          <p:cNvPr id="117790" name="文本框 117789">
            <a:extLst>
              <a:ext uri="{FF2B5EF4-FFF2-40B4-BE49-F238E27FC236}">
                <a16:creationId xmlns:a16="http://schemas.microsoft.com/office/drawing/2014/main" id="{2792AB90-AC76-4CEC-9ABF-804C75F14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7538"/>
            <a:ext cx="9144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</a:rPr>
              <a:t>亲核加成反应的</a:t>
            </a:r>
            <a:r>
              <a:rPr lang="zh-CN" altLang="en-US" sz="2800" b="1">
                <a:solidFill>
                  <a:srgbClr val="006600"/>
                </a:solidFill>
              </a:rPr>
              <a:t>反应速率取决于</a:t>
            </a:r>
            <a:r>
              <a:rPr lang="zh-CN" altLang="en-US" sz="2800" b="1">
                <a:solidFill>
                  <a:srgbClr val="000000"/>
                </a:solidFill>
              </a:rPr>
              <a:t>羰基化合物本身的结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构，即</a:t>
            </a:r>
            <a:r>
              <a:rPr lang="zh-CN" altLang="en-US" sz="2800" b="1">
                <a:solidFill>
                  <a:srgbClr val="CC6600"/>
                </a:solidFill>
              </a:rPr>
              <a:t>羰基碳原子的正电荷量。</a:t>
            </a:r>
          </a:p>
        </p:txBody>
      </p:sp>
      <p:sp>
        <p:nvSpPr>
          <p:cNvPr id="117792" name="文本框 117791">
            <a:extLst>
              <a:ext uri="{FF2B5EF4-FFF2-40B4-BE49-F238E27FC236}">
                <a16:creationId xmlns:a16="http://schemas.microsoft.com/office/drawing/2014/main" id="{3930EB1C-C092-49A4-937A-9B342330C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429000"/>
            <a:ext cx="9144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</a:rPr>
              <a:t>当羰基连有</a:t>
            </a:r>
            <a:r>
              <a:rPr lang="zh-CN" altLang="en-US" sz="2800" b="1">
                <a:solidFill>
                  <a:srgbClr val="FF33CC"/>
                </a:solidFill>
              </a:rPr>
              <a:t>吸电子基团</a:t>
            </a:r>
            <a:r>
              <a:rPr lang="zh-CN" altLang="en-US" sz="2800" b="1">
                <a:solidFill>
                  <a:srgbClr val="000000"/>
                </a:solidFill>
              </a:rPr>
              <a:t>时，将使羰基碳原子的正电性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增大，</a:t>
            </a:r>
            <a:r>
              <a:rPr lang="zh-CN" altLang="en-US" sz="2800" b="1">
                <a:solidFill>
                  <a:srgbClr val="0000FF"/>
                </a:solidFill>
              </a:rPr>
              <a:t>反应活性增强</a:t>
            </a:r>
            <a:r>
              <a:rPr lang="zh-CN" altLang="en-US" sz="2800" b="1">
                <a:solidFill>
                  <a:srgbClr val="000000"/>
                </a:solidFill>
              </a:rPr>
              <a:t>；反之，反应活性减弱。</a:t>
            </a:r>
          </a:p>
        </p:txBody>
      </p:sp>
      <p:sp>
        <p:nvSpPr>
          <p:cNvPr id="117793" name="文本框 117792">
            <a:extLst>
              <a:ext uri="{FF2B5EF4-FFF2-40B4-BE49-F238E27FC236}">
                <a16:creationId xmlns:a16="http://schemas.microsoft.com/office/drawing/2014/main" id="{0C839C23-92E9-4C56-935A-3CBAFB60D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24400"/>
            <a:ext cx="9144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</a:rPr>
              <a:t>当连有能</a:t>
            </a:r>
            <a:r>
              <a:rPr lang="zh-CN" altLang="en-US" sz="2800" b="1">
                <a:solidFill>
                  <a:srgbClr val="0000FF"/>
                </a:solidFill>
              </a:rPr>
              <a:t>与羰基发生共轭的基团</a:t>
            </a:r>
            <a:r>
              <a:rPr lang="zh-CN" altLang="en-US" sz="2800" b="1">
                <a:solidFill>
                  <a:srgbClr val="000000"/>
                </a:solidFill>
              </a:rPr>
              <a:t>时，因共轭效应的结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果，使羰基碳原子的正电荷得到分散，故</a:t>
            </a:r>
            <a:r>
              <a:rPr lang="zh-CN" altLang="en-US" sz="2800" b="1">
                <a:solidFill>
                  <a:srgbClr val="FF33CC"/>
                </a:solidFill>
              </a:rPr>
              <a:t>反应活性降低</a:t>
            </a:r>
            <a:r>
              <a:rPr lang="zh-CN" altLang="en-US" sz="2800" b="1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2471" name="灯片编号占位符 1">
            <a:extLst>
              <a:ext uri="{FF2B5EF4-FFF2-40B4-BE49-F238E27FC236}">
                <a16:creationId xmlns:a16="http://schemas.microsoft.com/office/drawing/2014/main" id="{9DE45C8E-E925-4502-81B3-2C2AB849D0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FCE19BF5-A9B7-4AE0-A980-6727DFFB02BE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25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117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117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7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7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7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7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77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77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77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77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7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17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7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177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81" grpId="0" build="p"/>
      <p:bldP spid="117782" grpId="0"/>
      <p:bldP spid="117790" grpId="0" build="p"/>
      <p:bldP spid="117792" grpId="0" build="p"/>
      <p:bldP spid="11779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文本框 118786">
            <a:extLst>
              <a:ext uri="{FF2B5EF4-FFF2-40B4-BE49-F238E27FC236}">
                <a16:creationId xmlns:a16="http://schemas.microsoft.com/office/drawing/2014/main" id="{A60D5253-47F8-41D1-9A1A-335E110BF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295400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118791" name="文本框 118790">
            <a:extLst>
              <a:ext uri="{FF2B5EF4-FFF2-40B4-BE49-F238E27FC236}">
                <a16:creationId xmlns:a16="http://schemas.microsoft.com/office/drawing/2014/main" id="{7E1885AB-6F79-48F7-826D-66196A87D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49275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</a:rPr>
              <a:t>不同醛、酮的羰基的反应活性顺序是：</a:t>
            </a:r>
          </a:p>
        </p:txBody>
      </p:sp>
      <p:graphicFrame>
        <p:nvGraphicFramePr>
          <p:cNvPr id="118795" name="对象 118794">
            <a:extLst>
              <a:ext uri="{FF2B5EF4-FFF2-40B4-BE49-F238E27FC236}">
                <a16:creationId xmlns:a16="http://schemas.microsoft.com/office/drawing/2014/main" id="{B5744C39-1EDF-479B-A5B3-7441D91E782C}"/>
              </a:ext>
            </a:extLst>
          </p:cNvPr>
          <p:cNvGraphicFramePr>
            <a:graphicFrameLocks/>
          </p:cNvGraphicFramePr>
          <p:nvPr/>
        </p:nvGraphicFramePr>
        <p:xfrm>
          <a:off x="827088" y="1268413"/>
          <a:ext cx="8077200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341620" imgH="510540" progId="ChemDraw.Document.5.0">
                  <p:embed/>
                </p:oleObj>
              </mc:Choice>
              <mc:Fallback>
                <p:oleObj r:id="rId2" imgW="5341620" imgH="510540" progId="ChemDraw.Document.5.0">
                  <p:embed/>
                  <p:pic>
                    <p:nvPicPr>
                      <p:cNvPr id="0" name="对象 11879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268413"/>
                        <a:ext cx="8077200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6" name="对象 118795">
            <a:extLst>
              <a:ext uri="{FF2B5EF4-FFF2-40B4-BE49-F238E27FC236}">
                <a16:creationId xmlns:a16="http://schemas.microsoft.com/office/drawing/2014/main" id="{12B57D76-635E-48EE-9A84-9FD00B4A039A}"/>
              </a:ext>
            </a:extLst>
          </p:cNvPr>
          <p:cNvGraphicFramePr>
            <a:graphicFrameLocks/>
          </p:cNvGraphicFramePr>
          <p:nvPr/>
        </p:nvGraphicFramePr>
        <p:xfrm>
          <a:off x="684213" y="2420938"/>
          <a:ext cx="78486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414120" imgH="605880" progId="ChemDraw.Document.6.0">
                  <p:embed/>
                </p:oleObj>
              </mc:Choice>
              <mc:Fallback>
                <p:oleObj r:id="rId4" imgW="6414120" imgH="605880" progId="ChemDraw.Document.6.0">
                  <p:embed/>
                  <p:pic>
                    <p:nvPicPr>
                      <p:cNvPr id="0" name="对象 11879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420938"/>
                        <a:ext cx="78486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7" name="文本框 118796">
            <a:extLst>
              <a:ext uri="{FF2B5EF4-FFF2-40B4-BE49-F238E27FC236}">
                <a16:creationId xmlns:a16="http://schemas.microsoft.com/office/drawing/2014/main" id="{BBA0AC1E-50FE-4041-BACD-CB157ACC9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716338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6600"/>
                </a:solidFill>
              </a:rPr>
              <a:t>羧酸衍生物的反应活性顺序是：</a:t>
            </a:r>
          </a:p>
        </p:txBody>
      </p:sp>
      <p:graphicFrame>
        <p:nvGraphicFramePr>
          <p:cNvPr id="118798" name="对象 118797">
            <a:extLst>
              <a:ext uri="{FF2B5EF4-FFF2-40B4-BE49-F238E27FC236}">
                <a16:creationId xmlns:a16="http://schemas.microsoft.com/office/drawing/2014/main" id="{3A085D76-6485-4CA2-BFD2-D5C755AB83C1}"/>
              </a:ext>
            </a:extLst>
          </p:cNvPr>
          <p:cNvGraphicFramePr>
            <a:graphicFrameLocks/>
          </p:cNvGraphicFramePr>
          <p:nvPr/>
        </p:nvGraphicFramePr>
        <p:xfrm>
          <a:off x="1042988" y="4686300"/>
          <a:ext cx="708660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572000" imgH="424180" progId="ChemDraw.Document.5.0">
                  <p:embed/>
                </p:oleObj>
              </mc:Choice>
              <mc:Fallback>
                <p:oleObj r:id="rId6" imgW="4572000" imgH="424180" progId="ChemDraw.Document.5.0">
                  <p:embed/>
                  <p:pic>
                    <p:nvPicPr>
                      <p:cNvPr id="0" name="对象 11879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686300"/>
                        <a:ext cx="7086600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6" name="灯片编号占位符 1">
            <a:extLst>
              <a:ext uri="{FF2B5EF4-FFF2-40B4-BE49-F238E27FC236}">
                <a16:creationId xmlns:a16="http://schemas.microsoft.com/office/drawing/2014/main" id="{C39A0942-F35C-4F49-B87D-6A2E5AD341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9D7A67FA-BCCC-461C-8D0D-97888C388C2A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26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18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1" grpId="0" build="p"/>
      <p:bldP spid="11879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5" name="文本框 126984">
            <a:extLst>
              <a:ext uri="{FF2B5EF4-FFF2-40B4-BE49-F238E27FC236}">
                <a16:creationId xmlns:a16="http://schemas.microsoft.com/office/drawing/2014/main" id="{4A0DA213-310B-4739-8E37-9F70DEA8F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7625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FF"/>
                </a:solidFill>
              </a:rPr>
              <a:t>按亲核加成反应的活泼顺序排列：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26986" name="对象 126985">
            <a:extLst>
              <a:ext uri="{FF2B5EF4-FFF2-40B4-BE49-F238E27FC236}">
                <a16:creationId xmlns:a16="http://schemas.microsoft.com/office/drawing/2014/main" id="{1181ED6F-DE18-40AC-874F-18CAE659E9DD}"/>
              </a:ext>
            </a:extLst>
          </p:cNvPr>
          <p:cNvGraphicFramePr>
            <a:graphicFrameLocks/>
          </p:cNvGraphicFramePr>
          <p:nvPr/>
        </p:nvGraphicFramePr>
        <p:xfrm>
          <a:off x="539750" y="1341438"/>
          <a:ext cx="8305800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692140" imgH="190500" progId="ChemDraw.Document.5.0">
                  <p:embed/>
                </p:oleObj>
              </mc:Choice>
              <mc:Fallback>
                <p:oleObj r:id="rId2" imgW="5692140" imgH="190500" progId="ChemDraw.Document.5.0">
                  <p:embed/>
                  <p:pic>
                    <p:nvPicPr>
                      <p:cNvPr id="0" name="对象 12698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341438"/>
                        <a:ext cx="8305800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7" name="对象 126986">
            <a:extLst>
              <a:ext uri="{FF2B5EF4-FFF2-40B4-BE49-F238E27FC236}">
                <a16:creationId xmlns:a16="http://schemas.microsoft.com/office/drawing/2014/main" id="{A20CC570-2D4D-4402-BD19-9C3D5A0B2CB4}"/>
              </a:ext>
            </a:extLst>
          </p:cNvPr>
          <p:cNvGraphicFramePr>
            <a:graphicFrameLocks/>
          </p:cNvGraphicFramePr>
          <p:nvPr/>
        </p:nvGraphicFramePr>
        <p:xfrm>
          <a:off x="3448050" y="1700213"/>
          <a:ext cx="28527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23340" imgH="198120" progId="ChemDraw.Document.5.0">
                  <p:embed/>
                </p:oleObj>
              </mc:Choice>
              <mc:Fallback>
                <p:oleObj r:id="rId4" imgW="1323340" imgH="198120" progId="ChemDraw.Document.5.0">
                  <p:embed/>
                  <p:pic>
                    <p:nvPicPr>
                      <p:cNvPr id="0" name="对象 12698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050" y="1700213"/>
                        <a:ext cx="285273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8" name="对象 126987">
            <a:extLst>
              <a:ext uri="{FF2B5EF4-FFF2-40B4-BE49-F238E27FC236}">
                <a16:creationId xmlns:a16="http://schemas.microsoft.com/office/drawing/2014/main" id="{C29712B3-9200-4B40-915D-D2D8B0CB9A18}"/>
              </a:ext>
            </a:extLst>
          </p:cNvPr>
          <p:cNvGraphicFramePr>
            <a:graphicFrameLocks/>
          </p:cNvGraphicFramePr>
          <p:nvPr/>
        </p:nvGraphicFramePr>
        <p:xfrm>
          <a:off x="900113" y="2276475"/>
          <a:ext cx="6781800" cy="130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277360" imgH="822960" progId="ChemDraw.Document.5.0">
                  <p:embed/>
                </p:oleObj>
              </mc:Choice>
              <mc:Fallback>
                <p:oleObj r:id="rId6" imgW="4277360" imgH="822960" progId="ChemDraw.Document.5.0">
                  <p:embed/>
                  <p:pic>
                    <p:nvPicPr>
                      <p:cNvPr id="0" name="对象 12698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276475"/>
                        <a:ext cx="6781800" cy="1303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9" name="对象 126988">
            <a:extLst>
              <a:ext uri="{FF2B5EF4-FFF2-40B4-BE49-F238E27FC236}">
                <a16:creationId xmlns:a16="http://schemas.microsoft.com/office/drawing/2014/main" id="{C98AB7EE-E15C-4C27-886D-B0CE0670EA49}"/>
              </a:ext>
            </a:extLst>
          </p:cNvPr>
          <p:cNvGraphicFramePr>
            <a:graphicFrameLocks/>
          </p:cNvGraphicFramePr>
          <p:nvPr/>
        </p:nvGraphicFramePr>
        <p:xfrm>
          <a:off x="3419475" y="3789363"/>
          <a:ext cx="32400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65580" imgH="198120" progId="ChemDraw.Document.5.0">
                  <p:embed/>
                </p:oleObj>
              </mc:Choice>
              <mc:Fallback>
                <p:oleObj r:id="rId8" imgW="1465580" imgH="198120" progId="ChemDraw.Document.5.0">
                  <p:embed/>
                  <p:pic>
                    <p:nvPicPr>
                      <p:cNvPr id="0" name="对象 12698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789363"/>
                        <a:ext cx="3240088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90" name="文本框 126989">
            <a:extLst>
              <a:ext uri="{FF2B5EF4-FFF2-40B4-BE49-F238E27FC236}">
                <a16:creationId xmlns:a16="http://schemas.microsoft.com/office/drawing/2014/main" id="{E451886A-CDBA-4F15-A022-2ECB2F0D5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80975" y="4365625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FF"/>
                </a:solidFill>
              </a:rPr>
              <a:t>按酯化反应速度由快到慢排列为序：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26991" name="对象 126990">
            <a:extLst>
              <a:ext uri="{FF2B5EF4-FFF2-40B4-BE49-F238E27FC236}">
                <a16:creationId xmlns:a16="http://schemas.microsoft.com/office/drawing/2014/main" id="{BC93E185-BC46-444E-984B-FA3DDDBD0C05}"/>
              </a:ext>
            </a:extLst>
          </p:cNvPr>
          <p:cNvGraphicFramePr>
            <a:graphicFrameLocks/>
          </p:cNvGraphicFramePr>
          <p:nvPr/>
        </p:nvGraphicFramePr>
        <p:xfrm>
          <a:off x="684213" y="5084763"/>
          <a:ext cx="7924800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219700" imgH="203200" progId="ChemDraw.Document.5.0">
                  <p:embed/>
                </p:oleObj>
              </mc:Choice>
              <mc:Fallback>
                <p:oleObj r:id="rId10" imgW="5219700" imgH="203200" progId="ChemDraw.Document.5.0">
                  <p:embed/>
                  <p:pic>
                    <p:nvPicPr>
                      <p:cNvPr id="0" name="对象 12699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084763"/>
                        <a:ext cx="7924800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92" name="对象 126991">
            <a:extLst>
              <a:ext uri="{FF2B5EF4-FFF2-40B4-BE49-F238E27FC236}">
                <a16:creationId xmlns:a16="http://schemas.microsoft.com/office/drawing/2014/main" id="{8EBABC5C-5EE5-4574-9032-CD01A6188DB7}"/>
              </a:ext>
            </a:extLst>
          </p:cNvPr>
          <p:cNvGraphicFramePr>
            <a:graphicFrameLocks/>
          </p:cNvGraphicFramePr>
          <p:nvPr/>
        </p:nvGraphicFramePr>
        <p:xfrm>
          <a:off x="3348038" y="5805488"/>
          <a:ext cx="302418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490980" imgH="236220" progId="ChemDraw.Document.5.0">
                  <p:embed/>
                </p:oleObj>
              </mc:Choice>
              <mc:Fallback>
                <p:oleObj r:id="rId12" imgW="1490980" imgH="236220" progId="ChemDraw.Document.5.0">
                  <p:embed/>
                  <p:pic>
                    <p:nvPicPr>
                      <p:cNvPr id="0" name="对象 126991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5805488"/>
                        <a:ext cx="3024187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2" name="灯片编号占位符 1">
            <a:extLst>
              <a:ext uri="{FF2B5EF4-FFF2-40B4-BE49-F238E27FC236}">
                <a16:creationId xmlns:a16="http://schemas.microsoft.com/office/drawing/2014/main" id="{66C307D8-53C8-431D-B7F9-16DDCE3111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4E428B50-B96E-4B98-8345-81D62AC85FB6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27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6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6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6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5" grpId="0"/>
      <p:bldP spid="12699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文本框 119814">
            <a:extLst>
              <a:ext uri="{FF2B5EF4-FFF2-40B4-BE49-F238E27FC236}">
                <a16:creationId xmlns:a16="http://schemas.microsoft.com/office/drawing/2014/main" id="{9651BECB-23C5-45B4-BD89-DFC249324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192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</a:rPr>
              <a:t>        </a:t>
            </a:r>
            <a:endParaRPr lang="en-US" altLang="zh-CN" sz="2800" b="1">
              <a:solidFill>
                <a:srgbClr val="B85C00"/>
              </a:solidFill>
            </a:endParaRPr>
          </a:p>
        </p:txBody>
      </p:sp>
      <p:sp>
        <p:nvSpPr>
          <p:cNvPr id="65539" name="文本框 119815">
            <a:extLst>
              <a:ext uri="{FF2B5EF4-FFF2-40B4-BE49-F238E27FC236}">
                <a16:creationId xmlns:a16="http://schemas.microsoft.com/office/drawing/2014/main" id="{58388028-8684-467C-8796-6DA75210B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718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endParaRPr lang="en-US" altLang="zh-CN" sz="2800" b="1">
              <a:solidFill>
                <a:srgbClr val="B85C00"/>
              </a:solidFill>
            </a:endParaRPr>
          </a:p>
        </p:txBody>
      </p:sp>
      <p:sp>
        <p:nvSpPr>
          <p:cNvPr id="65540" name="文本框 119837">
            <a:extLst>
              <a:ext uri="{FF2B5EF4-FFF2-40B4-BE49-F238E27FC236}">
                <a16:creationId xmlns:a16="http://schemas.microsoft.com/office/drawing/2014/main" id="{6484094B-5193-46C5-971C-BB999C99E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625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(5) </a:t>
            </a:r>
            <a:r>
              <a:rPr lang="zh-CN" altLang="en-US" sz="2800" b="1">
                <a:solidFill>
                  <a:srgbClr val="000000"/>
                </a:solidFill>
              </a:rPr>
              <a:t>消除反应：</a:t>
            </a:r>
          </a:p>
        </p:txBody>
      </p:sp>
      <p:sp>
        <p:nvSpPr>
          <p:cNvPr id="119839" name="文本框 119838">
            <a:extLst>
              <a:ext uri="{FF2B5EF4-FFF2-40B4-BE49-F238E27FC236}">
                <a16:creationId xmlns:a16="http://schemas.microsoft.com/office/drawing/2014/main" id="{EF493350-CADF-406F-8CC3-D74AB5FA0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1075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</a:rPr>
              <a:t>消除反应主要指卤代烃脱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HX</a:t>
            </a:r>
            <a:r>
              <a:rPr lang="zh-CN" altLang="en-US" sz="2800" b="1">
                <a:solidFill>
                  <a:srgbClr val="000000"/>
                </a:solidFill>
              </a:rPr>
              <a:t>和醇的分子内脱水。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9840" name="文本框 119839">
            <a:extLst>
              <a:ext uri="{FF2B5EF4-FFF2-40B4-BE49-F238E27FC236}">
                <a16:creationId xmlns:a16="http://schemas.microsoft.com/office/drawing/2014/main" id="{D1CF55FB-8CFD-4E92-9223-BB4B50C7D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57338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6600"/>
                </a:solidFill>
              </a:rPr>
              <a:t>卤代烃：</a:t>
            </a:r>
          </a:p>
        </p:txBody>
      </p:sp>
      <p:graphicFrame>
        <p:nvGraphicFramePr>
          <p:cNvPr id="119841" name="对象 119840">
            <a:extLst>
              <a:ext uri="{FF2B5EF4-FFF2-40B4-BE49-F238E27FC236}">
                <a16:creationId xmlns:a16="http://schemas.microsoft.com/office/drawing/2014/main" id="{6134ED16-9CFF-47CD-BECF-11791F1952EF}"/>
              </a:ext>
            </a:extLst>
          </p:cNvPr>
          <p:cNvGraphicFramePr>
            <a:graphicFrameLocks/>
          </p:cNvGraphicFramePr>
          <p:nvPr/>
        </p:nvGraphicFramePr>
        <p:xfrm>
          <a:off x="2627313" y="1557338"/>
          <a:ext cx="410527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05000" imgH="238760" progId="ChemDraw.Document.5.0">
                  <p:embed/>
                </p:oleObj>
              </mc:Choice>
              <mc:Fallback>
                <p:oleObj r:id="rId2" imgW="1905000" imgH="238760" progId="ChemDraw.Document.5.0">
                  <p:embed/>
                  <p:pic>
                    <p:nvPicPr>
                      <p:cNvPr id="0" name="对象 119840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1557338"/>
                        <a:ext cx="4105275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42" name="对象 119841">
            <a:extLst>
              <a:ext uri="{FF2B5EF4-FFF2-40B4-BE49-F238E27FC236}">
                <a16:creationId xmlns:a16="http://schemas.microsoft.com/office/drawing/2014/main" id="{971CEFB4-69E9-44DB-8119-D23AA3359475}"/>
              </a:ext>
            </a:extLst>
          </p:cNvPr>
          <p:cNvGraphicFramePr>
            <a:graphicFrameLocks/>
          </p:cNvGraphicFramePr>
          <p:nvPr/>
        </p:nvGraphicFramePr>
        <p:xfrm>
          <a:off x="2627313" y="2060575"/>
          <a:ext cx="43211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27580" imgH="231140" progId="ChemDraw.Document.5.0">
                  <p:embed/>
                </p:oleObj>
              </mc:Choice>
              <mc:Fallback>
                <p:oleObj r:id="rId4" imgW="2227580" imgH="231140" progId="ChemDraw.Document.5.0">
                  <p:embed/>
                  <p:pic>
                    <p:nvPicPr>
                      <p:cNvPr id="0" name="对象 119841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060575"/>
                        <a:ext cx="43211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43" name="文本框 119842">
            <a:extLst>
              <a:ext uri="{FF2B5EF4-FFF2-40B4-BE49-F238E27FC236}">
                <a16:creationId xmlns:a16="http://schemas.microsoft.com/office/drawing/2014/main" id="{19DDD1FD-A2BA-4F45-803A-A0B53670F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256540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FF"/>
                </a:solidFill>
              </a:rPr>
              <a:t>醇：</a:t>
            </a:r>
          </a:p>
        </p:txBody>
      </p:sp>
      <p:graphicFrame>
        <p:nvGraphicFramePr>
          <p:cNvPr id="119844" name="对象 119843">
            <a:extLst>
              <a:ext uri="{FF2B5EF4-FFF2-40B4-BE49-F238E27FC236}">
                <a16:creationId xmlns:a16="http://schemas.microsoft.com/office/drawing/2014/main" id="{BE13B78A-E825-4CC2-80C4-9D649DA4DC39}"/>
              </a:ext>
            </a:extLst>
          </p:cNvPr>
          <p:cNvGraphicFramePr>
            <a:graphicFrameLocks/>
          </p:cNvGraphicFramePr>
          <p:nvPr/>
        </p:nvGraphicFramePr>
        <p:xfrm>
          <a:off x="2700338" y="2636838"/>
          <a:ext cx="44640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146300" imgH="238760" progId="ChemDraw.Document.5.0">
                  <p:embed/>
                </p:oleObj>
              </mc:Choice>
              <mc:Fallback>
                <p:oleObj r:id="rId6" imgW="2146300" imgH="238760" progId="ChemDraw.Document.5.0">
                  <p:embed/>
                  <p:pic>
                    <p:nvPicPr>
                      <p:cNvPr id="0" name="对象 11984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636838"/>
                        <a:ext cx="446405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45" name="文本框 119844">
            <a:extLst>
              <a:ext uri="{FF2B5EF4-FFF2-40B4-BE49-F238E27FC236}">
                <a16:creationId xmlns:a16="http://schemas.microsoft.com/office/drawing/2014/main" id="{6208BBBC-F8A3-4152-8ABF-42FA0327D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141663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</a:rPr>
              <a:t>按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E1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反应活性由大到小排列：</a:t>
            </a:r>
          </a:p>
        </p:txBody>
      </p:sp>
      <p:graphicFrame>
        <p:nvGraphicFramePr>
          <p:cNvPr id="119846" name="对象 119845">
            <a:extLst>
              <a:ext uri="{FF2B5EF4-FFF2-40B4-BE49-F238E27FC236}">
                <a16:creationId xmlns:a16="http://schemas.microsoft.com/office/drawing/2014/main" id="{2136F064-0347-4F5E-8AB1-21CE7D0A4689}"/>
              </a:ext>
            </a:extLst>
          </p:cNvPr>
          <p:cNvGraphicFramePr>
            <a:graphicFrameLocks/>
          </p:cNvGraphicFramePr>
          <p:nvPr/>
        </p:nvGraphicFramePr>
        <p:xfrm>
          <a:off x="827088" y="3573463"/>
          <a:ext cx="739140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856480" imgH="797560" progId="ChemDraw.Document.5.0">
                  <p:embed/>
                </p:oleObj>
              </mc:Choice>
              <mc:Fallback>
                <p:oleObj r:id="rId8" imgW="4856480" imgH="797560" progId="ChemDraw.Document.5.0">
                  <p:embed/>
                  <p:pic>
                    <p:nvPicPr>
                      <p:cNvPr id="0" name="对象 11984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573463"/>
                        <a:ext cx="7391400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47" name="对象 119846">
            <a:extLst>
              <a:ext uri="{FF2B5EF4-FFF2-40B4-BE49-F238E27FC236}">
                <a16:creationId xmlns:a16="http://schemas.microsoft.com/office/drawing/2014/main" id="{1F9E9092-4DCE-4C1F-8456-567308743ABB}"/>
              </a:ext>
            </a:extLst>
          </p:cNvPr>
          <p:cNvGraphicFramePr>
            <a:graphicFrameLocks/>
          </p:cNvGraphicFramePr>
          <p:nvPr/>
        </p:nvGraphicFramePr>
        <p:xfrm>
          <a:off x="1258888" y="4652963"/>
          <a:ext cx="609600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076700" imgH="360680" progId="ChemDraw.Document.5.0">
                  <p:embed/>
                </p:oleObj>
              </mc:Choice>
              <mc:Fallback>
                <p:oleObj r:id="rId10" imgW="4076700" imgH="360680" progId="ChemDraw.Document.5.0">
                  <p:embed/>
                  <p:pic>
                    <p:nvPicPr>
                      <p:cNvPr id="0" name="对象 11984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652963"/>
                        <a:ext cx="609600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48" name="对象 119847">
            <a:extLst>
              <a:ext uri="{FF2B5EF4-FFF2-40B4-BE49-F238E27FC236}">
                <a16:creationId xmlns:a16="http://schemas.microsoft.com/office/drawing/2014/main" id="{393B5659-B133-4BE0-9AC2-2941B7835280}"/>
              </a:ext>
            </a:extLst>
          </p:cNvPr>
          <p:cNvGraphicFramePr>
            <a:graphicFrameLocks/>
          </p:cNvGraphicFramePr>
          <p:nvPr/>
        </p:nvGraphicFramePr>
        <p:xfrm>
          <a:off x="1187450" y="5084763"/>
          <a:ext cx="6781800" cy="137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462780" imgH="901700" progId="ChemDraw.Document.5.0">
                  <p:embed/>
                </p:oleObj>
              </mc:Choice>
              <mc:Fallback>
                <p:oleObj r:id="rId12" imgW="4462780" imgH="901700" progId="ChemDraw.Document.5.0">
                  <p:embed/>
                  <p:pic>
                    <p:nvPicPr>
                      <p:cNvPr id="0" name="对象 11984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084763"/>
                        <a:ext cx="6781800" cy="1370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49" name="对象 119848">
            <a:extLst>
              <a:ext uri="{FF2B5EF4-FFF2-40B4-BE49-F238E27FC236}">
                <a16:creationId xmlns:a16="http://schemas.microsoft.com/office/drawing/2014/main" id="{4BFB348E-6374-41D9-9334-704CA624575A}"/>
              </a:ext>
            </a:extLst>
          </p:cNvPr>
          <p:cNvGraphicFramePr>
            <a:graphicFrameLocks/>
          </p:cNvGraphicFramePr>
          <p:nvPr/>
        </p:nvGraphicFramePr>
        <p:xfrm>
          <a:off x="5759450" y="6092825"/>
          <a:ext cx="33845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578037" imgH="222901" progId="ChemDraw.Document.5.0">
                  <p:embed/>
                </p:oleObj>
              </mc:Choice>
              <mc:Fallback>
                <p:oleObj r:id="rId14" imgW="1578037" imgH="222901" progId="ChemDraw.Document.5.0">
                  <p:embed/>
                  <p:pic>
                    <p:nvPicPr>
                      <p:cNvPr id="0" name="对象 11984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450" y="6092825"/>
                        <a:ext cx="3384550" cy="4778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2" name="灯片编号占位符 1">
            <a:extLst>
              <a:ext uri="{FF2B5EF4-FFF2-40B4-BE49-F238E27FC236}">
                <a16:creationId xmlns:a16="http://schemas.microsoft.com/office/drawing/2014/main" id="{898F961F-4B95-44A9-86A5-F8FF0AC7F5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5E652589-6299-4F13-B707-96B7EA601BF0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28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9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9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9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9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9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9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19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9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9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9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9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9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9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9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9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9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9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9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39" grpId="0"/>
      <p:bldP spid="119840" grpId="0"/>
      <p:bldP spid="119843" grpId="0" build="p"/>
      <p:bldP spid="11984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副标题 121874">
            <a:extLst>
              <a:ext uri="{FF2B5EF4-FFF2-40B4-BE49-F238E27FC236}">
                <a16:creationId xmlns:a16="http://schemas.microsoft.com/office/drawing/2014/main" id="{EA32D9B8-091A-4B2D-9335-EE77CDF38E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333375"/>
            <a:ext cx="9144000" cy="533400"/>
          </a:xfrm>
        </p:spPr>
        <p:txBody>
          <a:bodyPr/>
          <a:lstStyle/>
          <a:p>
            <a:pPr algn="l" eaLnBrk="1" hangingPunct="1"/>
            <a:r>
              <a:rPr lang="zh-CN" altLang="en-US" sz="2800" b="1"/>
              <a:t>四、关于芳香性问题</a:t>
            </a:r>
          </a:p>
        </p:txBody>
      </p:sp>
      <p:sp>
        <p:nvSpPr>
          <p:cNvPr id="121876" name="文本框 121875">
            <a:extLst>
              <a:ext uri="{FF2B5EF4-FFF2-40B4-BE49-F238E27FC236}">
                <a16:creationId xmlns:a16="http://schemas.microsoft.com/office/drawing/2014/main" id="{31A37E26-2A04-4020-AC7A-B255F0682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42975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FF00FF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FF00FF"/>
                </a:solidFill>
                <a:latin typeface="Times New Roman" panose="02020603050405020304" pitchFamily="18" charset="0"/>
              </a:rPr>
              <a:t>芳香性的判断依据：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1877" name="文本框 121876">
            <a:extLst>
              <a:ext uri="{FF2B5EF4-FFF2-40B4-BE49-F238E27FC236}">
                <a16:creationId xmlns:a16="http://schemas.microsoft.com/office/drawing/2014/main" id="{3BDF99C5-1632-48DF-A322-6686B5532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76375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必须是闭合的环状共轭体系；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1878" name="文本框 121877">
            <a:extLst>
              <a:ext uri="{FF2B5EF4-FFF2-40B4-BE49-F238E27FC236}">
                <a16:creationId xmlns:a16="http://schemas.microsoft.com/office/drawing/2014/main" id="{6D7C45F7-DC8D-451D-BFD6-8F07D27AD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009775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成环原子要共平面或接近共平面；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1879" name="文本框 121878">
            <a:extLst>
              <a:ext uri="{FF2B5EF4-FFF2-40B4-BE49-F238E27FC236}">
                <a16:creationId xmlns:a16="http://schemas.microsoft.com/office/drawing/2014/main" id="{D4C9C435-7C39-4225-90A5-6D5A53ADB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80975" y="25654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</a:rPr>
              <a:t>π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电子必须符合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4n + 2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的休克尔规则。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1880" name="文本框 121879">
            <a:extLst>
              <a:ext uri="{FF2B5EF4-FFF2-40B4-BE49-F238E27FC236}">
                <a16:creationId xmlns:a16="http://schemas.microsoft.com/office/drawing/2014/main" id="{95CBA4A1-D0D1-4595-BD9C-084E173A1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80975" y="32131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1.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单环体系芳香性的判断：</a:t>
            </a:r>
          </a:p>
        </p:txBody>
      </p:sp>
      <p:sp>
        <p:nvSpPr>
          <p:cNvPr id="121881" name="文本框 121880">
            <a:extLst>
              <a:ext uri="{FF2B5EF4-FFF2-40B4-BE49-F238E27FC236}">
                <a16:creationId xmlns:a16="http://schemas.microsoft.com/office/drawing/2014/main" id="{2DD60310-2D0E-4530-8614-B59795A5C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716338"/>
            <a:ext cx="9144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含杂原子的平面单环体系，也可用休克尔规则来判断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是否具有芳香性。</a:t>
            </a:r>
          </a:p>
        </p:txBody>
      </p:sp>
      <p:graphicFrame>
        <p:nvGraphicFramePr>
          <p:cNvPr id="121882" name="对象 121881">
            <a:extLst>
              <a:ext uri="{FF2B5EF4-FFF2-40B4-BE49-F238E27FC236}">
                <a16:creationId xmlns:a16="http://schemas.microsoft.com/office/drawing/2014/main" id="{927F896A-040F-4DED-81CB-28697E218462}"/>
              </a:ext>
            </a:extLst>
          </p:cNvPr>
          <p:cNvGraphicFramePr>
            <a:graphicFrameLocks/>
          </p:cNvGraphicFramePr>
          <p:nvPr/>
        </p:nvGraphicFramePr>
        <p:xfrm>
          <a:off x="2987675" y="4365625"/>
          <a:ext cx="3959225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944800" imgH="842760" progId="ChemDraw.Document.6.0">
                  <p:embed/>
                </p:oleObj>
              </mc:Choice>
              <mc:Fallback>
                <p:oleObj r:id="rId2" imgW="2944800" imgH="842760" progId="ChemDraw.Document.6.0">
                  <p:embed/>
                  <p:pic>
                    <p:nvPicPr>
                      <p:cNvPr id="0" name="对象 12188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365625"/>
                        <a:ext cx="3959225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83" name="对象 121882">
            <a:extLst>
              <a:ext uri="{FF2B5EF4-FFF2-40B4-BE49-F238E27FC236}">
                <a16:creationId xmlns:a16="http://schemas.microsoft.com/office/drawing/2014/main" id="{6A200462-9C68-40F3-9ABF-B20725BBD10E}"/>
              </a:ext>
            </a:extLst>
          </p:cNvPr>
          <p:cNvGraphicFramePr>
            <a:graphicFrameLocks/>
          </p:cNvGraphicFramePr>
          <p:nvPr/>
        </p:nvGraphicFramePr>
        <p:xfrm>
          <a:off x="2339975" y="5373688"/>
          <a:ext cx="17272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15440" imgH="584640" progId="ChemDraw.Document.6.0">
                  <p:embed/>
                </p:oleObj>
              </mc:Choice>
              <mc:Fallback>
                <p:oleObj r:id="rId4" imgW="1315440" imgH="584640" progId="ChemDraw.Document.6.0">
                  <p:embed/>
                  <p:pic>
                    <p:nvPicPr>
                      <p:cNvPr id="0" name="对象 12188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373688"/>
                        <a:ext cx="1727200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87" name="对象 121886">
            <a:extLst>
              <a:ext uri="{FF2B5EF4-FFF2-40B4-BE49-F238E27FC236}">
                <a16:creationId xmlns:a16="http://schemas.microsoft.com/office/drawing/2014/main" id="{DD61021C-521A-4B52-A5A2-0FDB1FF3DB5A}"/>
              </a:ext>
            </a:extLst>
          </p:cNvPr>
          <p:cNvGraphicFramePr>
            <a:graphicFrameLocks/>
          </p:cNvGraphicFramePr>
          <p:nvPr/>
        </p:nvGraphicFramePr>
        <p:xfrm>
          <a:off x="5651500" y="5445125"/>
          <a:ext cx="2160588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36980" imgH="368300" progId="ChemDraw.Document.5.0">
                  <p:embed/>
                </p:oleObj>
              </mc:Choice>
              <mc:Fallback>
                <p:oleObj r:id="rId6" imgW="1236980" imgH="368300" progId="ChemDraw.Document.5.0">
                  <p:embed/>
                  <p:pic>
                    <p:nvPicPr>
                      <p:cNvPr id="0" name="对象 12188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445125"/>
                        <a:ext cx="2160588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88" name="对象 121887">
            <a:extLst>
              <a:ext uri="{FF2B5EF4-FFF2-40B4-BE49-F238E27FC236}">
                <a16:creationId xmlns:a16="http://schemas.microsoft.com/office/drawing/2014/main" id="{C1145200-A046-4A4D-A373-A86F6C5795C5}"/>
              </a:ext>
            </a:extLst>
          </p:cNvPr>
          <p:cNvGraphicFramePr>
            <a:graphicFrameLocks/>
          </p:cNvGraphicFramePr>
          <p:nvPr/>
        </p:nvGraphicFramePr>
        <p:xfrm>
          <a:off x="4572000" y="6092825"/>
          <a:ext cx="10668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55320" imgH="190500" progId="ChemDraw.Document.5.0">
                  <p:embed/>
                </p:oleObj>
              </mc:Choice>
              <mc:Fallback>
                <p:oleObj r:id="rId8" imgW="655320" imgH="190500" progId="ChemDraw.Document.5.0">
                  <p:embed/>
                  <p:pic>
                    <p:nvPicPr>
                      <p:cNvPr id="0" name="对象 12188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6092825"/>
                        <a:ext cx="1066800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3" name="灯片编号占位符 1">
            <a:extLst>
              <a:ext uri="{FF2B5EF4-FFF2-40B4-BE49-F238E27FC236}">
                <a16:creationId xmlns:a16="http://schemas.microsoft.com/office/drawing/2014/main" id="{E95CA7E0-15AA-467E-89D0-5D3FC1D9F2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482207AE-512F-41F7-BB79-A68BFF7EAE71}" type="slidenum">
              <a:rPr altLang="en-US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29</a:t>
            </a:fld>
            <a:endParaRPr lang="zh-CN" alt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1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1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1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1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1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1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1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1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1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1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1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1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1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1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1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1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1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1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76" grpId="0"/>
      <p:bldP spid="121877" grpId="0"/>
      <p:bldP spid="121878" grpId="0"/>
      <p:bldP spid="121879" grpId="0"/>
      <p:bldP spid="121880" grpId="0"/>
      <p:bldP spid="12188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8" name="文本框 150537">
            <a:extLst>
              <a:ext uri="{FF2B5EF4-FFF2-40B4-BE49-F238E27FC236}">
                <a16:creationId xmlns:a16="http://schemas.microsoft.com/office/drawing/2014/main" id="{913CDBC8-07E7-4B2D-826C-6C1545CC0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813"/>
            <a:ext cx="9144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2.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环状有机离子：</a:t>
            </a:r>
          </a:p>
        </p:txBody>
      </p:sp>
      <p:graphicFrame>
        <p:nvGraphicFramePr>
          <p:cNvPr id="150539" name="对象 150538">
            <a:extLst>
              <a:ext uri="{FF2B5EF4-FFF2-40B4-BE49-F238E27FC236}">
                <a16:creationId xmlns:a16="http://schemas.microsoft.com/office/drawing/2014/main" id="{E09BD96D-A32F-4AF5-BCE1-9081C819D5AC}"/>
              </a:ext>
            </a:extLst>
          </p:cNvPr>
          <p:cNvGraphicFramePr>
            <a:graphicFrameLocks/>
          </p:cNvGraphicFramePr>
          <p:nvPr/>
        </p:nvGraphicFramePr>
        <p:xfrm>
          <a:off x="1042988" y="1268413"/>
          <a:ext cx="708660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460240" imgH="528320" progId="ChemDraw.Document.5.0">
                  <p:embed/>
                </p:oleObj>
              </mc:Choice>
              <mc:Fallback>
                <p:oleObj r:id="rId2" imgW="4460240" imgH="528320" progId="ChemDraw.Document.5.0">
                  <p:embed/>
                  <p:pic>
                    <p:nvPicPr>
                      <p:cNvPr id="0" name="对象 150538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268413"/>
                        <a:ext cx="7086600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1" name="对象 150540">
            <a:extLst>
              <a:ext uri="{FF2B5EF4-FFF2-40B4-BE49-F238E27FC236}">
                <a16:creationId xmlns:a16="http://schemas.microsoft.com/office/drawing/2014/main" id="{5DB2E599-01EA-40A3-B3C2-9ECD94E3746A}"/>
              </a:ext>
            </a:extLst>
          </p:cNvPr>
          <p:cNvGraphicFramePr>
            <a:graphicFrameLocks/>
          </p:cNvGraphicFramePr>
          <p:nvPr/>
        </p:nvGraphicFramePr>
        <p:xfrm>
          <a:off x="993775" y="2208213"/>
          <a:ext cx="2895600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54200" imgH="190500" progId="ChemDraw.Document.5.0">
                  <p:embed/>
                </p:oleObj>
              </mc:Choice>
              <mc:Fallback>
                <p:oleObj r:id="rId4" imgW="1854200" imgH="190500" progId="ChemDraw.Document.5.0">
                  <p:embed/>
                  <p:pic>
                    <p:nvPicPr>
                      <p:cNvPr id="0" name="对象 15054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2208213"/>
                        <a:ext cx="2895600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2" name="对象 150541">
            <a:extLst>
              <a:ext uri="{FF2B5EF4-FFF2-40B4-BE49-F238E27FC236}">
                <a16:creationId xmlns:a16="http://schemas.microsoft.com/office/drawing/2014/main" id="{79DFF292-4420-4B37-B626-931D7AD01709}"/>
              </a:ext>
            </a:extLst>
          </p:cNvPr>
          <p:cNvGraphicFramePr>
            <a:graphicFrameLocks/>
          </p:cNvGraphicFramePr>
          <p:nvPr/>
        </p:nvGraphicFramePr>
        <p:xfrm>
          <a:off x="1908175" y="2589213"/>
          <a:ext cx="990600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55320" imgH="190500" progId="ChemDraw.Document.5.0">
                  <p:embed/>
                </p:oleObj>
              </mc:Choice>
              <mc:Fallback>
                <p:oleObj r:id="rId6" imgW="655320" imgH="190500" progId="ChemDraw.Document.5.0">
                  <p:embed/>
                  <p:pic>
                    <p:nvPicPr>
                      <p:cNvPr id="0" name="对象 15054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589213"/>
                        <a:ext cx="990600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3" name="对象 150542">
            <a:extLst>
              <a:ext uri="{FF2B5EF4-FFF2-40B4-BE49-F238E27FC236}">
                <a16:creationId xmlns:a16="http://schemas.microsoft.com/office/drawing/2014/main" id="{D22F6473-A033-4C50-BC55-62D90CE2E195}"/>
              </a:ext>
            </a:extLst>
          </p:cNvPr>
          <p:cNvGraphicFramePr>
            <a:graphicFrameLocks/>
          </p:cNvGraphicFramePr>
          <p:nvPr/>
        </p:nvGraphicFramePr>
        <p:xfrm>
          <a:off x="5337175" y="2208213"/>
          <a:ext cx="2819400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89760" imgH="190500" progId="ChemDraw.Document.5.0">
                  <p:embed/>
                </p:oleObj>
              </mc:Choice>
              <mc:Fallback>
                <p:oleObj r:id="rId8" imgW="1889760" imgH="190500" progId="ChemDraw.Document.5.0">
                  <p:embed/>
                  <p:pic>
                    <p:nvPicPr>
                      <p:cNvPr id="0" name="对象 15054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7175" y="2208213"/>
                        <a:ext cx="2819400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4" name="对象 150543">
            <a:extLst>
              <a:ext uri="{FF2B5EF4-FFF2-40B4-BE49-F238E27FC236}">
                <a16:creationId xmlns:a16="http://schemas.microsoft.com/office/drawing/2014/main" id="{8C202929-E3E6-40FB-AAD4-A21EA1139002}"/>
              </a:ext>
            </a:extLst>
          </p:cNvPr>
          <p:cNvGraphicFramePr>
            <a:graphicFrameLocks/>
          </p:cNvGraphicFramePr>
          <p:nvPr/>
        </p:nvGraphicFramePr>
        <p:xfrm>
          <a:off x="6099175" y="2589213"/>
          <a:ext cx="1219200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810260" imgH="190500" progId="ChemDraw.Document.5.0">
                  <p:embed/>
                </p:oleObj>
              </mc:Choice>
              <mc:Fallback>
                <p:oleObj r:id="rId10" imgW="810260" imgH="190500" progId="ChemDraw.Document.5.0">
                  <p:embed/>
                  <p:pic>
                    <p:nvPicPr>
                      <p:cNvPr id="0" name="对象 15054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9175" y="2589213"/>
                        <a:ext cx="1219200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45" name="文本框 150544">
            <a:extLst>
              <a:ext uri="{FF2B5EF4-FFF2-40B4-BE49-F238E27FC236}">
                <a16:creationId xmlns:a16="http://schemas.microsoft.com/office/drawing/2014/main" id="{C7B80053-B439-4F42-A93B-281A84411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3400425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由此推断：</a:t>
            </a:r>
          </a:p>
        </p:txBody>
      </p:sp>
      <p:graphicFrame>
        <p:nvGraphicFramePr>
          <p:cNvPr id="150546" name="对象 150545">
            <a:extLst>
              <a:ext uri="{FF2B5EF4-FFF2-40B4-BE49-F238E27FC236}">
                <a16:creationId xmlns:a16="http://schemas.microsoft.com/office/drawing/2014/main" id="{5577B849-8591-48D2-A2E6-D73580836954}"/>
              </a:ext>
            </a:extLst>
          </p:cNvPr>
          <p:cNvGraphicFramePr>
            <a:graphicFrameLocks/>
          </p:cNvGraphicFramePr>
          <p:nvPr/>
        </p:nvGraphicFramePr>
        <p:xfrm>
          <a:off x="1403350" y="3933825"/>
          <a:ext cx="63246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535680" imgH="431800" progId="ChemDraw.Document.5.0">
                  <p:embed/>
                </p:oleObj>
              </mc:Choice>
              <mc:Fallback>
                <p:oleObj r:id="rId12" imgW="3535680" imgH="431800" progId="ChemDraw.Document.5.0">
                  <p:embed/>
                  <p:pic>
                    <p:nvPicPr>
                      <p:cNvPr id="0" name="对象 150545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933825"/>
                        <a:ext cx="6324600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7" name="对象 150546">
            <a:extLst>
              <a:ext uri="{FF2B5EF4-FFF2-40B4-BE49-F238E27FC236}">
                <a16:creationId xmlns:a16="http://schemas.microsoft.com/office/drawing/2014/main" id="{85F5E1AE-99B7-4582-BFDF-BBD6BCD6111A}"/>
              </a:ext>
            </a:extLst>
          </p:cNvPr>
          <p:cNvGraphicFramePr>
            <a:graphicFrameLocks/>
          </p:cNvGraphicFramePr>
          <p:nvPr/>
        </p:nvGraphicFramePr>
        <p:xfrm>
          <a:off x="1708150" y="4695825"/>
          <a:ext cx="16764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158240" imgH="203200" progId="ChemDraw.Document.5.0">
                  <p:embed/>
                </p:oleObj>
              </mc:Choice>
              <mc:Fallback>
                <p:oleObj r:id="rId14" imgW="1158240" imgH="203200" progId="ChemDraw.Document.5.0">
                  <p:embed/>
                  <p:pic>
                    <p:nvPicPr>
                      <p:cNvPr id="0" name="对象 150546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4695825"/>
                        <a:ext cx="1676400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8" name="对象 150547">
            <a:extLst>
              <a:ext uri="{FF2B5EF4-FFF2-40B4-BE49-F238E27FC236}">
                <a16:creationId xmlns:a16="http://schemas.microsoft.com/office/drawing/2014/main" id="{79DEDEAF-1D1C-4C06-8969-27398DB7B387}"/>
              </a:ext>
            </a:extLst>
          </p:cNvPr>
          <p:cNvGraphicFramePr>
            <a:graphicFrameLocks/>
          </p:cNvGraphicFramePr>
          <p:nvPr/>
        </p:nvGraphicFramePr>
        <p:xfrm>
          <a:off x="5441950" y="4772025"/>
          <a:ext cx="205740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158240" imgH="203200" progId="ChemDraw.Document.5.0">
                  <p:embed/>
                </p:oleObj>
              </mc:Choice>
              <mc:Fallback>
                <p:oleObj r:id="rId16" imgW="1158240" imgH="203200" progId="ChemDraw.Document.5.0">
                  <p:embed/>
                  <p:pic>
                    <p:nvPicPr>
                      <p:cNvPr id="0" name="对象 150547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1950" y="4772025"/>
                        <a:ext cx="2057400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9" name="对象 150548">
            <a:extLst>
              <a:ext uri="{FF2B5EF4-FFF2-40B4-BE49-F238E27FC236}">
                <a16:creationId xmlns:a16="http://schemas.microsoft.com/office/drawing/2014/main" id="{54339C76-2890-4CD1-BD31-3DCD225B45C3}"/>
              </a:ext>
            </a:extLst>
          </p:cNvPr>
          <p:cNvGraphicFramePr>
            <a:graphicFrameLocks/>
          </p:cNvGraphicFramePr>
          <p:nvPr/>
        </p:nvGraphicFramePr>
        <p:xfrm>
          <a:off x="1936750" y="5076825"/>
          <a:ext cx="1295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810260" imgH="190500" progId="ChemDraw.Document.5.0">
                  <p:embed/>
                </p:oleObj>
              </mc:Choice>
              <mc:Fallback>
                <p:oleObj r:id="rId17" imgW="810260" imgH="190500" progId="ChemDraw.Document.5.0">
                  <p:embed/>
                  <p:pic>
                    <p:nvPicPr>
                      <p:cNvPr id="0" name="对象 150548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5076825"/>
                        <a:ext cx="1295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50" name="对象 150549">
            <a:extLst>
              <a:ext uri="{FF2B5EF4-FFF2-40B4-BE49-F238E27FC236}">
                <a16:creationId xmlns:a16="http://schemas.microsoft.com/office/drawing/2014/main" id="{531EE995-8C5A-44CF-80ED-B23C43F51F5F}"/>
              </a:ext>
            </a:extLst>
          </p:cNvPr>
          <p:cNvGraphicFramePr>
            <a:graphicFrameLocks/>
          </p:cNvGraphicFramePr>
          <p:nvPr/>
        </p:nvGraphicFramePr>
        <p:xfrm>
          <a:off x="5975350" y="5076825"/>
          <a:ext cx="10668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655320" imgH="190500" progId="ChemDraw.Document.5.0">
                  <p:embed/>
                </p:oleObj>
              </mc:Choice>
              <mc:Fallback>
                <p:oleObj r:id="rId18" imgW="655320" imgH="190500" progId="ChemDraw.Document.5.0">
                  <p:embed/>
                  <p:pic>
                    <p:nvPicPr>
                      <p:cNvPr id="0" name="对象 150549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5350" y="5076825"/>
                        <a:ext cx="1066800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8" name="灯片编号占位符 1">
            <a:extLst>
              <a:ext uri="{FF2B5EF4-FFF2-40B4-BE49-F238E27FC236}">
                <a16:creationId xmlns:a16="http://schemas.microsoft.com/office/drawing/2014/main" id="{C4698E2A-7214-45A7-A34D-DF1C8E02D2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B216BA21-2713-4D72-A064-3BBFAC2FBEC2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30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0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0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0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0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0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0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0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0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0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0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8" grpId="0"/>
      <p:bldP spid="15054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文本框 132097">
            <a:extLst>
              <a:ext uri="{FF2B5EF4-FFF2-40B4-BE49-F238E27FC236}">
                <a16:creationId xmlns:a16="http://schemas.microsoft.com/office/drawing/2014/main" id="{6C8F6F7C-27A9-4C59-B150-EA881B827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73063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099" name="文本框 132098">
            <a:extLst>
              <a:ext uri="{FF2B5EF4-FFF2-40B4-BE49-F238E27FC236}">
                <a16:creationId xmlns:a16="http://schemas.microsoft.com/office/drawing/2014/main" id="{16427EE2-6FC1-4710-BAA8-51B08979F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2" name="文本框 132104">
            <a:extLst>
              <a:ext uri="{FF2B5EF4-FFF2-40B4-BE49-F238E27FC236}">
                <a16:creationId xmlns:a16="http://schemas.microsoft.com/office/drawing/2014/main" id="{FD53376D-F697-4A1E-B27E-C55B3F038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</a:p>
        </p:txBody>
      </p:sp>
      <p:sp>
        <p:nvSpPr>
          <p:cNvPr id="132106" name="文本框 132105">
            <a:extLst>
              <a:ext uri="{FF2B5EF4-FFF2-40B4-BE49-F238E27FC236}">
                <a16:creationId xmlns:a16="http://schemas.microsoft.com/office/drawing/2014/main" id="{F1E835FF-D8ED-4306-A699-E97EAB374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</a:p>
        </p:txBody>
      </p:sp>
      <p:sp>
        <p:nvSpPr>
          <p:cNvPr id="68614" name="副标题 132122">
            <a:extLst>
              <a:ext uri="{FF2B5EF4-FFF2-40B4-BE49-F238E27FC236}">
                <a16:creationId xmlns:a16="http://schemas.microsoft.com/office/drawing/2014/main" id="{D9C2EDDA-05CC-408D-AA0A-E11D0D4A3A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79388" y="260350"/>
            <a:ext cx="9144000" cy="457200"/>
          </a:xfrm>
        </p:spPr>
        <p:txBody>
          <a:bodyPr/>
          <a:lstStyle/>
          <a:p>
            <a:pPr algn="l" eaLnBrk="1" hangingPunct="1"/>
            <a:r>
              <a:rPr lang="zh-CN" altLang="en-US" sz="2800" b="1"/>
              <a:t>五、关于立体异构问题</a:t>
            </a:r>
          </a:p>
        </p:txBody>
      </p:sp>
      <p:sp>
        <p:nvSpPr>
          <p:cNvPr id="68615" name="文本框 132123">
            <a:extLst>
              <a:ext uri="{FF2B5EF4-FFF2-40B4-BE49-F238E27FC236}">
                <a16:creationId xmlns:a16="http://schemas.microsoft.com/office/drawing/2014/main" id="{29AD851E-CDFC-42DA-8B03-35EA88F14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0805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1.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顺反异构：</a:t>
            </a:r>
          </a:p>
        </p:txBody>
      </p:sp>
      <p:sp>
        <p:nvSpPr>
          <p:cNvPr id="132125" name="文本框 132124">
            <a:extLst>
              <a:ext uri="{FF2B5EF4-FFF2-40B4-BE49-F238E27FC236}">
                <a16:creationId xmlns:a16="http://schemas.microsoft.com/office/drawing/2014/main" id="{BCFEFBD8-4EDC-4138-85A4-F0E42A406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84313"/>
            <a:ext cx="9144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产生的原因：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双键或环使单键的自由旋转受到限制，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而使分子具有不同的空间排布方式，即构型不同。</a:t>
            </a:r>
          </a:p>
        </p:txBody>
      </p:sp>
      <p:sp>
        <p:nvSpPr>
          <p:cNvPr id="132126" name="文本框 132125">
            <a:extLst>
              <a:ext uri="{FF2B5EF4-FFF2-40B4-BE49-F238E27FC236}">
                <a16:creationId xmlns:a16="http://schemas.microsoft.com/office/drawing/2014/main" id="{9E9CF364-1D80-407B-94A3-FD9E82530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08275"/>
            <a:ext cx="91440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含双键的化合物：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只要有一个双键原子连有相同的原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子或基团，就不存在顺反异构（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原子上的孤对电子可看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成是一个基团）。</a:t>
            </a:r>
          </a:p>
        </p:txBody>
      </p:sp>
      <p:graphicFrame>
        <p:nvGraphicFramePr>
          <p:cNvPr id="132127" name="对象 132126">
            <a:extLst>
              <a:ext uri="{FF2B5EF4-FFF2-40B4-BE49-F238E27FC236}">
                <a16:creationId xmlns:a16="http://schemas.microsoft.com/office/drawing/2014/main" id="{AE239E5F-DFA2-4710-AB6B-13AEC4B1EDB9}"/>
              </a:ext>
            </a:extLst>
          </p:cNvPr>
          <p:cNvGraphicFramePr>
            <a:graphicFrameLocks/>
          </p:cNvGraphicFramePr>
          <p:nvPr/>
        </p:nvGraphicFramePr>
        <p:xfrm>
          <a:off x="1042988" y="4652963"/>
          <a:ext cx="64008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003040" imgH="586740" progId="ChemDraw.Document.5.0">
                  <p:embed/>
                </p:oleObj>
              </mc:Choice>
              <mc:Fallback>
                <p:oleObj r:id="rId2" imgW="4003040" imgH="586740" progId="ChemDraw.Document.5.0">
                  <p:embed/>
                  <p:pic>
                    <p:nvPicPr>
                      <p:cNvPr id="0" name="对象 13212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652963"/>
                        <a:ext cx="64008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9" name="灯片编号占位符 1">
            <a:extLst>
              <a:ext uri="{FF2B5EF4-FFF2-40B4-BE49-F238E27FC236}">
                <a16:creationId xmlns:a16="http://schemas.microsoft.com/office/drawing/2014/main" id="{7EDDB928-ABAA-487E-8EFF-E85A25BF08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7631DAE6-D060-467D-95A3-567C297EEC32}" type="slidenum">
              <a:rPr altLang="en-US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31</a:t>
            </a:fld>
            <a:endParaRPr lang="zh-CN" alt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" fill="hold"/>
                                        <p:tgtEl>
                                          <p:spTgt spid="132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" fill="hold"/>
                                        <p:tgtEl>
                                          <p:spTgt spid="132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2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2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32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2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2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2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2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build="p"/>
      <p:bldP spid="132106" grpId="0" build="p"/>
      <p:bldP spid="132125" grpId="0" build="p"/>
      <p:bldP spid="13212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文本框 133126">
            <a:extLst>
              <a:ext uri="{FF2B5EF4-FFF2-40B4-BE49-F238E27FC236}">
                <a16:creationId xmlns:a16="http://schemas.microsoft.com/office/drawing/2014/main" id="{AB222BD1-ACB7-4ABF-B379-443738FB1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990600"/>
            <a:ext cx="617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endParaRPr lang="en-US" altLang="zh-CN" sz="1600" b="1">
              <a:solidFill>
                <a:srgbClr val="B85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31" name="文本框 133130">
            <a:extLst>
              <a:ext uri="{FF2B5EF4-FFF2-40B4-BE49-F238E27FC236}">
                <a16:creationId xmlns:a16="http://schemas.microsoft.com/office/drawing/2014/main" id="{F811B79E-9AC8-49EA-B911-936FDF5FB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098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35" name="文本框 133134">
            <a:extLst>
              <a:ext uri="{FF2B5EF4-FFF2-40B4-BE49-F238E27FC236}">
                <a16:creationId xmlns:a16="http://schemas.microsoft.com/office/drawing/2014/main" id="{C4ED3FD8-2A16-488B-9F73-C792EA3EB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4813"/>
            <a:ext cx="9144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环烃化合物：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必须两个或两个以上的环碳原子连有不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同的原子或基团。</a:t>
            </a:r>
          </a:p>
        </p:txBody>
      </p:sp>
      <p:graphicFrame>
        <p:nvGraphicFramePr>
          <p:cNvPr id="133138" name="对象 133137">
            <a:extLst>
              <a:ext uri="{FF2B5EF4-FFF2-40B4-BE49-F238E27FC236}">
                <a16:creationId xmlns:a16="http://schemas.microsoft.com/office/drawing/2014/main" id="{7C6426BD-FDF7-4F87-9C5A-A38A423EECE1}"/>
              </a:ext>
            </a:extLst>
          </p:cNvPr>
          <p:cNvGraphicFramePr>
            <a:graphicFrameLocks/>
          </p:cNvGraphicFramePr>
          <p:nvPr/>
        </p:nvGraphicFramePr>
        <p:xfrm>
          <a:off x="2362200" y="1700213"/>
          <a:ext cx="39624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63800" imgH="551180" progId="ChemDraw.Document.5.0">
                  <p:embed/>
                </p:oleObj>
              </mc:Choice>
              <mc:Fallback>
                <p:oleObj r:id="rId2" imgW="2463800" imgH="551180" progId="ChemDraw.Document.5.0">
                  <p:embed/>
                  <p:pic>
                    <p:nvPicPr>
                      <p:cNvPr id="0" name="对象 13313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700213"/>
                        <a:ext cx="396240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9" name="文本框 133138">
            <a:extLst>
              <a:ext uri="{FF2B5EF4-FFF2-40B4-BE49-F238E27FC236}">
                <a16:creationId xmlns:a16="http://schemas.microsoft.com/office/drawing/2014/main" id="{332C325B-AFC7-462F-94D9-AF8B84A5C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47963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旋光异构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33140" name="文本框 133139">
            <a:extLst>
              <a:ext uri="{FF2B5EF4-FFF2-40B4-BE49-F238E27FC236}">
                <a16:creationId xmlns:a16="http://schemas.microsoft.com/office/drawing/2014/main" id="{62CBE722-822A-41EF-9CD8-7A4B5DE2D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89300"/>
            <a:ext cx="9144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如果一个分子与其镜象不能重叠，它就是手性分子。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手性分子又称为光学活性化合物。</a:t>
            </a:r>
          </a:p>
        </p:txBody>
      </p:sp>
      <p:sp>
        <p:nvSpPr>
          <p:cNvPr id="133141" name="文本框 133140">
            <a:extLst>
              <a:ext uri="{FF2B5EF4-FFF2-40B4-BE49-F238E27FC236}">
                <a16:creationId xmlns:a16="http://schemas.microsoft.com/office/drawing/2014/main" id="{1BFC466D-0B4E-4857-BC61-AF1AF1AD5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508500"/>
            <a:ext cx="91440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互为镜象的两个化合物称为对映异构体，简称对映体。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互为对映体的两个化合物，除旋光方向相反外，一般的化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学性质、物理性质相同。</a:t>
            </a:r>
          </a:p>
        </p:txBody>
      </p:sp>
      <p:sp>
        <p:nvSpPr>
          <p:cNvPr id="69641" name="灯片编号占位符 1">
            <a:extLst>
              <a:ext uri="{FF2B5EF4-FFF2-40B4-BE49-F238E27FC236}">
                <a16:creationId xmlns:a16="http://schemas.microsoft.com/office/drawing/2014/main" id="{F3A6D364-2E2A-457C-9144-1AC8540F5A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D21A113B-2541-4D84-B45A-A5A5DC402C2B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32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3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33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3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3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" fill="hold"/>
                                        <p:tgtEl>
                                          <p:spTgt spid="133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33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" fill="hold"/>
                                        <p:tgtEl>
                                          <p:spTgt spid="133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" fill="hold"/>
                                        <p:tgtEl>
                                          <p:spTgt spid="133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3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133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133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133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31" grpId="0" build="p"/>
      <p:bldP spid="133135" grpId="0" build="p"/>
      <p:bldP spid="133139" grpId="0" build="p"/>
      <p:bldP spid="133140" grpId="0"/>
      <p:bldP spid="133141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5" name="文本框 134154">
            <a:extLst>
              <a:ext uri="{FF2B5EF4-FFF2-40B4-BE49-F238E27FC236}">
                <a16:creationId xmlns:a16="http://schemas.microsoft.com/office/drawing/2014/main" id="{E7FAAC02-AC30-47EF-BE06-15ABE671B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4813"/>
            <a:ext cx="91440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一个化合物有无手性，一般可根据分子是否存在对称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面和对称中心来判断。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如果一个分子</a:t>
            </a:r>
            <a:r>
              <a:rPr lang="zh-CN" altLang="en-US" sz="2800" b="1">
                <a:solidFill>
                  <a:srgbClr val="FF66FF"/>
                </a:solidFill>
                <a:latin typeface="Times New Roman" panose="02020603050405020304" pitchFamily="18" charset="0"/>
              </a:rPr>
              <a:t>没有对称因素</a:t>
            </a:r>
            <a:r>
              <a:rPr lang="zh-CN" altLang="en-US" sz="2800" b="1">
                <a:solidFill>
                  <a:srgbClr val="CC66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则该分子即为手性分子。</a:t>
            </a:r>
          </a:p>
        </p:txBody>
      </p:sp>
      <p:sp>
        <p:nvSpPr>
          <p:cNvPr id="134156" name="文本框 134155">
            <a:extLst>
              <a:ext uri="{FF2B5EF4-FFF2-40B4-BE49-F238E27FC236}">
                <a16:creationId xmlns:a16="http://schemas.microsoft.com/office/drawing/2014/main" id="{95F5D108-81C9-4E4E-8CBB-650C84477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420938"/>
            <a:ext cx="9144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若分子中</a:t>
            </a:r>
            <a:r>
              <a:rPr lang="zh-CN" altLang="en-US" sz="2800" b="1">
                <a:solidFill>
                  <a:srgbClr val="FF00FF"/>
                </a:solidFill>
                <a:latin typeface="Times New Roman" panose="02020603050405020304" pitchFamily="18" charset="0"/>
              </a:rPr>
              <a:t>只含一个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手性碳原子，它一定是手性分子，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存在一对对映体。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34157" name="对象 134156">
            <a:extLst>
              <a:ext uri="{FF2B5EF4-FFF2-40B4-BE49-F238E27FC236}">
                <a16:creationId xmlns:a16="http://schemas.microsoft.com/office/drawing/2014/main" id="{D9945E67-562E-4996-9CE9-66036EBCB2CD}"/>
              </a:ext>
            </a:extLst>
          </p:cNvPr>
          <p:cNvGraphicFramePr>
            <a:graphicFrameLocks/>
          </p:cNvGraphicFramePr>
          <p:nvPr/>
        </p:nvGraphicFramePr>
        <p:xfrm>
          <a:off x="755650" y="4076700"/>
          <a:ext cx="769620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326380" imgH="881380" progId="ChemDraw.Document.5.0">
                  <p:embed/>
                </p:oleObj>
              </mc:Choice>
              <mc:Fallback>
                <p:oleObj r:id="rId2" imgW="5326380" imgH="881380" progId="ChemDraw.Document.5.0">
                  <p:embed/>
                  <p:pic>
                    <p:nvPicPr>
                      <p:cNvPr id="0" name="对象 13415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076700"/>
                        <a:ext cx="7696200" cy="127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1" name="灯片编号占位符 1">
            <a:extLst>
              <a:ext uri="{FF2B5EF4-FFF2-40B4-BE49-F238E27FC236}">
                <a16:creationId xmlns:a16="http://schemas.microsoft.com/office/drawing/2014/main" id="{DF19E5CF-B545-4BBE-A77A-6238FCE1FE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2DDF721C-4972-4F19-AC35-34C98DFAE25E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33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5" grpId="0"/>
      <p:bldP spid="13415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06" name="对象 153605">
            <a:extLst>
              <a:ext uri="{FF2B5EF4-FFF2-40B4-BE49-F238E27FC236}">
                <a16:creationId xmlns:a16="http://schemas.microsoft.com/office/drawing/2014/main" id="{A0F030E8-49EC-4929-99BA-7403ABBAD26D}"/>
              </a:ext>
            </a:extLst>
          </p:cNvPr>
          <p:cNvGraphicFramePr>
            <a:graphicFrameLocks/>
          </p:cNvGraphicFramePr>
          <p:nvPr/>
        </p:nvGraphicFramePr>
        <p:xfrm>
          <a:off x="323850" y="188913"/>
          <a:ext cx="8534400" cy="178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815840" imgH="1005840" progId="ChemDraw.Document.5.0">
                  <p:embed/>
                </p:oleObj>
              </mc:Choice>
              <mc:Fallback>
                <p:oleObj r:id="rId2" imgW="4815840" imgH="1005840" progId="ChemDraw.Document.5.0">
                  <p:embed/>
                  <p:pic>
                    <p:nvPicPr>
                      <p:cNvPr id="0" name="对象 15360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88913"/>
                        <a:ext cx="8534400" cy="178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7" name="对象 153606">
            <a:extLst>
              <a:ext uri="{FF2B5EF4-FFF2-40B4-BE49-F238E27FC236}">
                <a16:creationId xmlns:a16="http://schemas.microsoft.com/office/drawing/2014/main" id="{D40E3EA2-B59A-4AE4-ABFB-FEB069B6A978}"/>
              </a:ext>
            </a:extLst>
          </p:cNvPr>
          <p:cNvGraphicFramePr>
            <a:graphicFrameLocks/>
          </p:cNvGraphicFramePr>
          <p:nvPr/>
        </p:nvGraphicFramePr>
        <p:xfrm>
          <a:off x="611188" y="2205038"/>
          <a:ext cx="80772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443220" imgH="932180" progId="ChemDraw.Document.5.0">
                  <p:embed/>
                </p:oleObj>
              </mc:Choice>
              <mc:Fallback>
                <p:oleObj r:id="rId4" imgW="5443220" imgH="932180" progId="ChemDraw.Document.5.0">
                  <p:embed/>
                  <p:pic>
                    <p:nvPicPr>
                      <p:cNvPr id="0" name="对象 15360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205038"/>
                        <a:ext cx="8077200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8" name="对象 153607">
            <a:extLst>
              <a:ext uri="{FF2B5EF4-FFF2-40B4-BE49-F238E27FC236}">
                <a16:creationId xmlns:a16="http://schemas.microsoft.com/office/drawing/2014/main" id="{9567E73F-7A7A-4F29-AE47-BBEDFDCF3D83}"/>
              </a:ext>
            </a:extLst>
          </p:cNvPr>
          <p:cNvGraphicFramePr>
            <a:graphicFrameLocks/>
          </p:cNvGraphicFramePr>
          <p:nvPr/>
        </p:nvGraphicFramePr>
        <p:xfrm>
          <a:off x="5103813" y="2814638"/>
          <a:ext cx="1295400" cy="1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04268" imgH="81055" progId="ChemDraw.Document.5.0">
                  <p:embed/>
                </p:oleObj>
              </mc:Choice>
              <mc:Fallback>
                <p:oleObj r:id="rId6" imgW="904268" imgH="81055" progId="ChemDraw.Document.5.0">
                  <p:embed/>
                  <p:pic>
                    <p:nvPicPr>
                      <p:cNvPr id="0" name="对象 15360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3813" y="2814638"/>
                        <a:ext cx="1295400" cy="11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9" name="对象 153608">
            <a:extLst>
              <a:ext uri="{FF2B5EF4-FFF2-40B4-BE49-F238E27FC236}">
                <a16:creationId xmlns:a16="http://schemas.microsoft.com/office/drawing/2014/main" id="{679D8803-083B-4406-8871-3D896F53BD95}"/>
              </a:ext>
            </a:extLst>
          </p:cNvPr>
          <p:cNvGraphicFramePr>
            <a:graphicFrameLocks/>
          </p:cNvGraphicFramePr>
          <p:nvPr/>
        </p:nvGraphicFramePr>
        <p:xfrm>
          <a:off x="7389813" y="2814638"/>
          <a:ext cx="1295400" cy="1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04268" imgH="81055" progId="ChemDraw.Document.5.0">
                  <p:embed/>
                </p:oleObj>
              </mc:Choice>
              <mc:Fallback>
                <p:oleObj r:id="rId8" imgW="904268" imgH="81055" progId="ChemDraw.Document.5.0">
                  <p:embed/>
                  <p:pic>
                    <p:nvPicPr>
                      <p:cNvPr id="0" name="对象 15360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9813" y="2814638"/>
                        <a:ext cx="1295400" cy="11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1" name="对象 153610">
            <a:extLst>
              <a:ext uri="{FF2B5EF4-FFF2-40B4-BE49-F238E27FC236}">
                <a16:creationId xmlns:a16="http://schemas.microsoft.com/office/drawing/2014/main" id="{F2B2A748-B7F3-46E8-9A44-950EA12C19A2}"/>
              </a:ext>
            </a:extLst>
          </p:cNvPr>
          <p:cNvGraphicFramePr>
            <a:graphicFrameLocks/>
          </p:cNvGraphicFramePr>
          <p:nvPr/>
        </p:nvGraphicFramePr>
        <p:xfrm>
          <a:off x="1979613" y="3576638"/>
          <a:ext cx="914400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581660" imgH="190500" progId="ChemDraw.Document.5.0">
                  <p:embed/>
                </p:oleObj>
              </mc:Choice>
              <mc:Fallback>
                <p:oleObj r:id="rId9" imgW="581660" imgH="190500" progId="ChemDraw.Document.5.0">
                  <p:embed/>
                  <p:pic>
                    <p:nvPicPr>
                      <p:cNvPr id="0" name="对象 15361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576638"/>
                        <a:ext cx="914400" cy="30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2" name="对象 153611">
            <a:extLst>
              <a:ext uri="{FF2B5EF4-FFF2-40B4-BE49-F238E27FC236}">
                <a16:creationId xmlns:a16="http://schemas.microsoft.com/office/drawing/2014/main" id="{A7B00C80-8200-4052-8CC1-ABEEDCAE6294}"/>
              </a:ext>
            </a:extLst>
          </p:cNvPr>
          <p:cNvGraphicFramePr>
            <a:graphicFrameLocks/>
          </p:cNvGraphicFramePr>
          <p:nvPr/>
        </p:nvGraphicFramePr>
        <p:xfrm>
          <a:off x="6475413" y="3500438"/>
          <a:ext cx="9906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642620" imgH="190500" progId="ChemDraw.Document.5.0">
                  <p:embed/>
                </p:oleObj>
              </mc:Choice>
              <mc:Fallback>
                <p:oleObj r:id="rId11" imgW="642620" imgH="190500" progId="ChemDraw.Document.5.0">
                  <p:embed/>
                  <p:pic>
                    <p:nvPicPr>
                      <p:cNvPr id="0" name="对象 153611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5413" y="3500438"/>
                        <a:ext cx="99060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8" name="文本框 153612">
            <a:extLst>
              <a:ext uri="{FF2B5EF4-FFF2-40B4-BE49-F238E27FC236}">
                <a16:creationId xmlns:a16="http://schemas.microsoft.com/office/drawing/2014/main" id="{14E2D09C-D7F8-4D92-8139-5B07A9C80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49788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</a:p>
        </p:txBody>
      </p:sp>
      <p:sp>
        <p:nvSpPr>
          <p:cNvPr id="153620" name="文本框 153619">
            <a:extLst>
              <a:ext uri="{FF2B5EF4-FFF2-40B4-BE49-F238E27FC236}">
                <a16:creationId xmlns:a16="http://schemas.microsoft.com/office/drawing/2014/main" id="{450C2F99-111A-44B9-95A2-DC78AC6B8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149725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FF00FF"/>
                </a:solidFill>
                <a:latin typeface="Times New Roman" panose="02020603050405020304" pitchFamily="18" charset="0"/>
              </a:rPr>
              <a:t>典型的含手性轴化合物</a:t>
            </a:r>
            <a:r>
              <a:rPr lang="en-US" altLang="zh-CN" sz="2800" b="1">
                <a:solidFill>
                  <a:srgbClr val="FF00FF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800" b="1">
                <a:solidFill>
                  <a:srgbClr val="FF00FF"/>
                </a:solidFill>
                <a:latin typeface="Times New Roman" panose="02020603050405020304" pitchFamily="18" charset="0"/>
              </a:rPr>
              <a:t>丙二烯型化合物：</a:t>
            </a:r>
          </a:p>
        </p:txBody>
      </p:sp>
      <p:graphicFrame>
        <p:nvGraphicFramePr>
          <p:cNvPr id="153621" name="对象 153620">
            <a:extLst>
              <a:ext uri="{FF2B5EF4-FFF2-40B4-BE49-F238E27FC236}">
                <a16:creationId xmlns:a16="http://schemas.microsoft.com/office/drawing/2014/main" id="{9355F332-36C2-4947-8A76-83C49E2EA849}"/>
              </a:ext>
            </a:extLst>
          </p:cNvPr>
          <p:cNvGraphicFramePr>
            <a:graphicFrameLocks/>
          </p:cNvGraphicFramePr>
          <p:nvPr/>
        </p:nvGraphicFramePr>
        <p:xfrm>
          <a:off x="3303588" y="4614863"/>
          <a:ext cx="2057400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163320" imgH="429260" progId="ChemDraw.Document.5.0">
                  <p:embed/>
                </p:oleObj>
              </mc:Choice>
              <mc:Fallback>
                <p:oleObj r:id="rId13" imgW="1163320" imgH="429260" progId="ChemDraw.Document.5.0">
                  <p:embed/>
                  <p:pic>
                    <p:nvPicPr>
                      <p:cNvPr id="0" name="对象 153620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588" y="4614863"/>
                        <a:ext cx="2057400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22" name="文本框 153621">
            <a:extLst>
              <a:ext uri="{FF2B5EF4-FFF2-40B4-BE49-F238E27FC236}">
                <a16:creationId xmlns:a16="http://schemas.microsoft.com/office/drawing/2014/main" id="{831CA936-7130-42A6-8CF4-9C97F560F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373688"/>
            <a:ext cx="9144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两端的不饱和碳原子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只要有一个不饱和碳原子连有两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个相同的原子和基团，那么，这个分子就没有手性。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92" name="灯片编号占位符 1">
            <a:extLst>
              <a:ext uri="{FF2B5EF4-FFF2-40B4-BE49-F238E27FC236}">
                <a16:creationId xmlns:a16="http://schemas.microsoft.com/office/drawing/2014/main" id="{68C50949-545A-4355-BBBA-D6ADF459CC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05864CE4-41F2-4FEB-94B3-0D409FCAE9A6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34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3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3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3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3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0" grpId="0" build="p"/>
      <p:bldP spid="1536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文本框 136193">
            <a:extLst>
              <a:ext uri="{FF2B5EF4-FFF2-40B4-BE49-F238E27FC236}">
                <a16:creationId xmlns:a16="http://schemas.microsoft.com/office/drawing/2014/main" id="{E7BDC734-6807-44EC-A230-A33BBF4DB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endParaRPr lang="en-US" altLang="zh-CN" sz="24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7" name="文本框 136210">
            <a:extLst>
              <a:ext uri="{FF2B5EF4-FFF2-40B4-BE49-F238E27FC236}">
                <a16:creationId xmlns:a16="http://schemas.microsoft.com/office/drawing/2014/main" id="{18A97FCA-5970-442C-AC77-1C321C896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625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6213" name="文本框 136212">
            <a:extLst>
              <a:ext uri="{FF2B5EF4-FFF2-40B4-BE49-F238E27FC236}">
                <a16:creationId xmlns:a16="http://schemas.microsoft.com/office/drawing/2014/main" id="{9B554B3D-6813-413B-973A-76803328B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91440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内消旋体：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分子中含相同的手性碳原子，且有对称面。对称的手性碳原子的构型必定相反，即一个为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R –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型，另一个为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S –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型。</a:t>
            </a:r>
          </a:p>
        </p:txBody>
      </p:sp>
      <p:graphicFrame>
        <p:nvGraphicFramePr>
          <p:cNvPr id="242690" name="对象 242689">
            <a:extLst>
              <a:ext uri="{FF2B5EF4-FFF2-40B4-BE49-F238E27FC236}">
                <a16:creationId xmlns:a16="http://schemas.microsoft.com/office/drawing/2014/main" id="{7893A393-356A-43B0-A8BC-51EAA71F017C}"/>
              </a:ext>
            </a:extLst>
          </p:cNvPr>
          <p:cNvGraphicFramePr>
            <a:graphicFrameLocks/>
          </p:cNvGraphicFramePr>
          <p:nvPr/>
        </p:nvGraphicFramePr>
        <p:xfrm>
          <a:off x="1887538" y="1558925"/>
          <a:ext cx="1350962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66140" imgH="977900" progId="ChemDraw.Document.5.0">
                  <p:embed/>
                </p:oleObj>
              </mc:Choice>
              <mc:Fallback>
                <p:oleObj r:id="rId2" imgW="866140" imgH="977900" progId="ChemDraw.Document.5.0">
                  <p:embed/>
                  <p:pic>
                    <p:nvPicPr>
                      <p:cNvPr id="0" name="对象 242689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38" y="1558925"/>
                        <a:ext cx="1350962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1" name="对象 242690">
            <a:extLst>
              <a:ext uri="{FF2B5EF4-FFF2-40B4-BE49-F238E27FC236}">
                <a16:creationId xmlns:a16="http://schemas.microsoft.com/office/drawing/2014/main" id="{FAF2809A-4854-476E-B5AD-0AEDBE4DA7D9}"/>
              </a:ext>
            </a:extLst>
          </p:cNvPr>
          <p:cNvGraphicFramePr>
            <a:graphicFrameLocks/>
          </p:cNvGraphicFramePr>
          <p:nvPr/>
        </p:nvGraphicFramePr>
        <p:xfrm>
          <a:off x="1735138" y="2244725"/>
          <a:ext cx="1628775" cy="11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19570" imgH="81055" progId="ChemDraw.Document.5.0">
                  <p:embed/>
                </p:oleObj>
              </mc:Choice>
              <mc:Fallback>
                <p:oleObj r:id="rId4" imgW="1119570" imgH="81055" progId="ChemDraw.Document.5.0">
                  <p:embed/>
                  <p:pic>
                    <p:nvPicPr>
                      <p:cNvPr id="0" name="对象 24269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138" y="2244725"/>
                        <a:ext cx="1628775" cy="11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2" name="对象 242691">
            <a:extLst>
              <a:ext uri="{FF2B5EF4-FFF2-40B4-BE49-F238E27FC236}">
                <a16:creationId xmlns:a16="http://schemas.microsoft.com/office/drawing/2014/main" id="{212C8278-65E2-414A-B29E-38F988287C42}"/>
              </a:ext>
            </a:extLst>
          </p:cNvPr>
          <p:cNvGraphicFramePr>
            <a:graphicFrameLocks/>
          </p:cNvGraphicFramePr>
          <p:nvPr/>
        </p:nvGraphicFramePr>
        <p:xfrm>
          <a:off x="2268538" y="1939925"/>
          <a:ext cx="4572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59080" imgH="241300" progId="ChemDraw.Document.5.0">
                  <p:embed/>
                </p:oleObj>
              </mc:Choice>
              <mc:Fallback>
                <p:oleObj r:id="rId6" imgW="259080" imgH="241300" progId="ChemDraw.Document.5.0">
                  <p:embed/>
                  <p:pic>
                    <p:nvPicPr>
                      <p:cNvPr id="0" name="对象 24269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939925"/>
                        <a:ext cx="4572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3" name="对象 242692">
            <a:extLst>
              <a:ext uri="{FF2B5EF4-FFF2-40B4-BE49-F238E27FC236}">
                <a16:creationId xmlns:a16="http://schemas.microsoft.com/office/drawing/2014/main" id="{72727CC4-65CD-4833-AB1F-3FB1581B0C97}"/>
              </a:ext>
            </a:extLst>
          </p:cNvPr>
          <p:cNvGraphicFramePr>
            <a:graphicFrameLocks/>
          </p:cNvGraphicFramePr>
          <p:nvPr/>
        </p:nvGraphicFramePr>
        <p:xfrm>
          <a:off x="2192338" y="1863725"/>
          <a:ext cx="223837" cy="21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2240" imgH="134620" progId="ChemDraw.Document.5.0">
                  <p:embed/>
                </p:oleObj>
              </mc:Choice>
              <mc:Fallback>
                <p:oleObj r:id="rId8" imgW="142240" imgH="134620" progId="ChemDraw.Document.5.0">
                  <p:embed/>
                  <p:pic>
                    <p:nvPicPr>
                      <p:cNvPr id="0" name="对象 24269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2338" y="1863725"/>
                        <a:ext cx="223837" cy="211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4" name="对象 242693">
            <a:extLst>
              <a:ext uri="{FF2B5EF4-FFF2-40B4-BE49-F238E27FC236}">
                <a16:creationId xmlns:a16="http://schemas.microsoft.com/office/drawing/2014/main" id="{E843F064-0F58-44E7-88C0-160C6FDB5E49}"/>
              </a:ext>
            </a:extLst>
          </p:cNvPr>
          <p:cNvGraphicFramePr>
            <a:graphicFrameLocks/>
          </p:cNvGraphicFramePr>
          <p:nvPr/>
        </p:nvGraphicFramePr>
        <p:xfrm>
          <a:off x="2268538" y="2244725"/>
          <a:ext cx="4397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56540" imgH="266700" progId="ChemDraw.Document.5.0">
                  <p:embed/>
                </p:oleObj>
              </mc:Choice>
              <mc:Fallback>
                <p:oleObj r:id="rId10" imgW="256540" imgH="266700" progId="ChemDraw.Document.5.0">
                  <p:embed/>
                  <p:pic>
                    <p:nvPicPr>
                      <p:cNvPr id="0" name="对象 24269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244725"/>
                        <a:ext cx="4397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5" name="对象 242694">
            <a:extLst>
              <a:ext uri="{FF2B5EF4-FFF2-40B4-BE49-F238E27FC236}">
                <a16:creationId xmlns:a16="http://schemas.microsoft.com/office/drawing/2014/main" id="{0DF129B7-5D08-4E76-BEB0-B73BAD18710F}"/>
              </a:ext>
            </a:extLst>
          </p:cNvPr>
          <p:cNvGraphicFramePr>
            <a:graphicFrameLocks/>
          </p:cNvGraphicFramePr>
          <p:nvPr/>
        </p:nvGraphicFramePr>
        <p:xfrm>
          <a:off x="2192338" y="2549525"/>
          <a:ext cx="173037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09220" imgH="139700" progId="ChemDraw.Document.5.0">
                  <p:embed/>
                </p:oleObj>
              </mc:Choice>
              <mc:Fallback>
                <p:oleObj r:id="rId12" imgW="109220" imgH="139700" progId="ChemDraw.Document.5.0">
                  <p:embed/>
                  <p:pic>
                    <p:nvPicPr>
                      <p:cNvPr id="0" name="对象 242694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2338" y="2549525"/>
                        <a:ext cx="173037" cy="22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6" name="对象 242695">
            <a:extLst>
              <a:ext uri="{FF2B5EF4-FFF2-40B4-BE49-F238E27FC236}">
                <a16:creationId xmlns:a16="http://schemas.microsoft.com/office/drawing/2014/main" id="{9203FB18-E777-42CA-ABEC-58A8B56B76B4}"/>
              </a:ext>
            </a:extLst>
          </p:cNvPr>
          <p:cNvGraphicFramePr>
            <a:graphicFrameLocks/>
          </p:cNvGraphicFramePr>
          <p:nvPr/>
        </p:nvGraphicFramePr>
        <p:xfrm>
          <a:off x="5697538" y="1406525"/>
          <a:ext cx="1152525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82320" imgH="1242060" progId="ChemDraw.Document.5.0">
                  <p:embed/>
                </p:oleObj>
              </mc:Choice>
              <mc:Fallback>
                <p:oleObj r:id="rId14" imgW="782320" imgH="1242060" progId="ChemDraw.Document.5.0">
                  <p:embed/>
                  <p:pic>
                    <p:nvPicPr>
                      <p:cNvPr id="0" name="对象 242695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7538" y="1406525"/>
                        <a:ext cx="1152525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7" name="对象 242696">
            <a:extLst>
              <a:ext uri="{FF2B5EF4-FFF2-40B4-BE49-F238E27FC236}">
                <a16:creationId xmlns:a16="http://schemas.microsoft.com/office/drawing/2014/main" id="{19F3A2EC-76DA-44BC-83FD-2CF99650DEF1}"/>
              </a:ext>
            </a:extLst>
          </p:cNvPr>
          <p:cNvGraphicFramePr>
            <a:graphicFrameLocks/>
          </p:cNvGraphicFramePr>
          <p:nvPr/>
        </p:nvGraphicFramePr>
        <p:xfrm>
          <a:off x="5240338" y="2168525"/>
          <a:ext cx="19335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119570" imgH="81055" progId="ChemDraw.Document.5.0">
                  <p:embed/>
                </p:oleObj>
              </mc:Choice>
              <mc:Fallback>
                <p:oleObj r:id="rId16" imgW="1119570" imgH="81055" progId="ChemDraw.Document.5.0">
                  <p:embed/>
                  <p:pic>
                    <p:nvPicPr>
                      <p:cNvPr id="0" name="对象 242696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0338" y="2168525"/>
                        <a:ext cx="19335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8" name="对象 242697">
            <a:extLst>
              <a:ext uri="{FF2B5EF4-FFF2-40B4-BE49-F238E27FC236}">
                <a16:creationId xmlns:a16="http://schemas.microsoft.com/office/drawing/2014/main" id="{B8DA3BAD-D683-4DA3-869C-18AEDCA601D9}"/>
              </a:ext>
            </a:extLst>
          </p:cNvPr>
          <p:cNvGraphicFramePr>
            <a:graphicFrameLocks/>
          </p:cNvGraphicFramePr>
          <p:nvPr/>
        </p:nvGraphicFramePr>
        <p:xfrm>
          <a:off x="6078538" y="1711325"/>
          <a:ext cx="4397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256540" imgH="266700" progId="ChemDraw.Document.5.0">
                  <p:embed/>
                </p:oleObj>
              </mc:Choice>
              <mc:Fallback>
                <p:oleObj r:id="rId18" imgW="256540" imgH="266700" progId="ChemDraw.Document.5.0">
                  <p:embed/>
                  <p:pic>
                    <p:nvPicPr>
                      <p:cNvPr id="0" name="对象 24269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8538" y="1711325"/>
                        <a:ext cx="4397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9" name="对象 242698">
            <a:extLst>
              <a:ext uri="{FF2B5EF4-FFF2-40B4-BE49-F238E27FC236}">
                <a16:creationId xmlns:a16="http://schemas.microsoft.com/office/drawing/2014/main" id="{1704CCD7-A7C1-4377-8990-AE2E7D142008}"/>
              </a:ext>
            </a:extLst>
          </p:cNvPr>
          <p:cNvGraphicFramePr>
            <a:graphicFrameLocks/>
          </p:cNvGraphicFramePr>
          <p:nvPr/>
        </p:nvGraphicFramePr>
        <p:xfrm>
          <a:off x="6002338" y="1635125"/>
          <a:ext cx="173037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09220" imgH="139700" progId="ChemDraw.Document.5.0">
                  <p:embed/>
                </p:oleObj>
              </mc:Choice>
              <mc:Fallback>
                <p:oleObj r:id="rId19" imgW="109220" imgH="139700" progId="ChemDraw.Document.5.0">
                  <p:embed/>
                  <p:pic>
                    <p:nvPicPr>
                      <p:cNvPr id="0" name="对象 242698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2338" y="1635125"/>
                        <a:ext cx="173037" cy="22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00" name="对象 242699">
            <a:extLst>
              <a:ext uri="{FF2B5EF4-FFF2-40B4-BE49-F238E27FC236}">
                <a16:creationId xmlns:a16="http://schemas.microsoft.com/office/drawing/2014/main" id="{886CF86E-24A9-49CB-99D3-A4F04E5F559C}"/>
              </a:ext>
            </a:extLst>
          </p:cNvPr>
          <p:cNvGraphicFramePr>
            <a:graphicFrameLocks/>
          </p:cNvGraphicFramePr>
          <p:nvPr/>
        </p:nvGraphicFramePr>
        <p:xfrm>
          <a:off x="6002338" y="2397125"/>
          <a:ext cx="4572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259080" imgH="241300" progId="ChemDraw.Document.5.0">
                  <p:embed/>
                </p:oleObj>
              </mc:Choice>
              <mc:Fallback>
                <p:oleObj r:id="rId20" imgW="259080" imgH="241300" progId="ChemDraw.Document.5.0">
                  <p:embed/>
                  <p:pic>
                    <p:nvPicPr>
                      <p:cNvPr id="0" name="对象 24269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2338" y="2397125"/>
                        <a:ext cx="4572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01" name="对象 242700">
            <a:extLst>
              <a:ext uri="{FF2B5EF4-FFF2-40B4-BE49-F238E27FC236}">
                <a16:creationId xmlns:a16="http://schemas.microsoft.com/office/drawing/2014/main" id="{E2008BDE-D905-41C4-8DA9-3909A1FA7771}"/>
              </a:ext>
            </a:extLst>
          </p:cNvPr>
          <p:cNvGraphicFramePr>
            <a:graphicFrameLocks/>
          </p:cNvGraphicFramePr>
          <p:nvPr/>
        </p:nvGraphicFramePr>
        <p:xfrm>
          <a:off x="6002338" y="2778125"/>
          <a:ext cx="223837" cy="21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142240" imgH="134620" progId="ChemDraw.Document.5.0">
                  <p:embed/>
                </p:oleObj>
              </mc:Choice>
              <mc:Fallback>
                <p:oleObj r:id="rId21" imgW="142240" imgH="134620" progId="ChemDraw.Document.5.0">
                  <p:embed/>
                  <p:pic>
                    <p:nvPicPr>
                      <p:cNvPr id="0" name="对象 24270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2338" y="2778125"/>
                        <a:ext cx="223837" cy="211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02" name="文本框 242701">
            <a:extLst>
              <a:ext uri="{FF2B5EF4-FFF2-40B4-BE49-F238E27FC236}">
                <a16:creationId xmlns:a16="http://schemas.microsoft.com/office/drawing/2014/main" id="{6DEBF8CB-82D4-46CE-8207-48BD0123F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131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外消旋体：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等量对映体的混合物。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2703" name="文本框 242702">
            <a:extLst>
              <a:ext uri="{FF2B5EF4-FFF2-40B4-BE49-F238E27FC236}">
                <a16:creationId xmlns:a16="http://schemas.microsoft.com/office/drawing/2014/main" id="{5470CB81-9150-4284-A52E-81DDCB88A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789363"/>
            <a:ext cx="9144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B85C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B85C00"/>
                </a:solidFill>
                <a:latin typeface="Times New Roman" panose="02020603050405020304" pitchFamily="18" charset="0"/>
              </a:rPr>
              <a:t>非对映体：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构造相同，构型不同但又不呈镜象关系的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化合物，互为非对映体。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23" name="文本框 242703">
            <a:extLst>
              <a:ext uri="{FF2B5EF4-FFF2-40B4-BE49-F238E27FC236}">
                <a16:creationId xmlns:a16="http://schemas.microsoft.com/office/drawing/2014/main" id="{14F65B1A-B80A-439E-8301-39F087B33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265738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24" name="文本框 242704">
            <a:extLst>
              <a:ext uri="{FF2B5EF4-FFF2-40B4-BE49-F238E27FC236}">
                <a16:creationId xmlns:a16="http://schemas.microsoft.com/office/drawing/2014/main" id="{477A8150-DCE0-4668-ABFC-0049F5944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99138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25" name="文本框 242705">
            <a:extLst>
              <a:ext uri="{FF2B5EF4-FFF2-40B4-BE49-F238E27FC236}">
                <a16:creationId xmlns:a16="http://schemas.microsoft.com/office/drawing/2014/main" id="{C584350B-D0F9-46F2-80D2-B122808F8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008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42707" name="对象 242706">
            <a:extLst>
              <a:ext uri="{FF2B5EF4-FFF2-40B4-BE49-F238E27FC236}">
                <a16:creationId xmlns:a16="http://schemas.microsoft.com/office/drawing/2014/main" id="{E08855D7-6255-4173-93DE-51DAA906ABBB}"/>
              </a:ext>
            </a:extLst>
          </p:cNvPr>
          <p:cNvGraphicFramePr>
            <a:graphicFrameLocks/>
          </p:cNvGraphicFramePr>
          <p:nvPr/>
        </p:nvGraphicFramePr>
        <p:xfrm>
          <a:off x="827088" y="5084763"/>
          <a:ext cx="75438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5163820" imgH="1000760" progId="ChemDraw.Document.5.0">
                  <p:embed/>
                </p:oleObj>
              </mc:Choice>
              <mc:Fallback>
                <p:oleObj r:id="rId22" imgW="5163820" imgH="1000760" progId="ChemDraw.Document.5.0">
                  <p:embed/>
                  <p:pic>
                    <p:nvPicPr>
                      <p:cNvPr id="0" name="对象 242706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084763"/>
                        <a:ext cx="75438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7" name="灯片编号占位符 1">
            <a:extLst>
              <a:ext uri="{FF2B5EF4-FFF2-40B4-BE49-F238E27FC236}">
                <a16:creationId xmlns:a16="http://schemas.microsoft.com/office/drawing/2014/main" id="{44718523-B6E9-4A3D-9AA6-529E68484F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4E54B4C6-8F5F-4A64-BA22-4ED2B29E797A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35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2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2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2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2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2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2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2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2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2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2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2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2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2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2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2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2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2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2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13" grpId="0"/>
      <p:bldP spid="242702" grpId="0"/>
      <p:bldP spid="24270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38" name="文本框 137237">
            <a:extLst>
              <a:ext uri="{FF2B5EF4-FFF2-40B4-BE49-F238E27FC236}">
                <a16:creationId xmlns:a16="http://schemas.microsoft.com/office/drawing/2014/main" id="{0A38E105-F72F-42BA-BB9C-63FBAF4ED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3375"/>
            <a:ext cx="91440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9900FF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9900FF"/>
                </a:solidFill>
                <a:latin typeface="Times New Roman" panose="02020603050405020304" pitchFamily="18" charset="0"/>
              </a:rPr>
              <a:t>差向异构体：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在含多个手性碳原子的旋光异构体中，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若两个异构体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只有一个手性碳原子的构型不同，其余各手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性碳原子的构型均相同</a:t>
            </a:r>
            <a:r>
              <a:rPr lang="zh-CN" altLang="en-US" sz="2800" b="1">
                <a:solidFill>
                  <a:srgbClr val="B85C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这两个异构体就互为差向异构体。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7239" name="文本框 137238">
            <a:extLst>
              <a:ext uri="{FF2B5EF4-FFF2-40B4-BE49-F238E27FC236}">
                <a16:creationId xmlns:a16="http://schemas.microsoft.com/office/drawing/2014/main" id="{3A7B5AC8-F184-4865-9B72-1E2965F98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76475"/>
            <a:ext cx="9144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</a:rPr>
              <a:t>差向异构体必定是非对映体，非对映体不一定是差向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</a:rPr>
              <a:t>异构体。</a:t>
            </a:r>
          </a:p>
        </p:txBody>
      </p:sp>
      <p:graphicFrame>
        <p:nvGraphicFramePr>
          <p:cNvPr id="137240" name="对象 137239">
            <a:extLst>
              <a:ext uri="{FF2B5EF4-FFF2-40B4-BE49-F238E27FC236}">
                <a16:creationId xmlns:a16="http://schemas.microsoft.com/office/drawing/2014/main" id="{881B5A1D-2E15-45E0-AEFA-21C6A414041A}"/>
              </a:ext>
            </a:extLst>
          </p:cNvPr>
          <p:cNvGraphicFramePr>
            <a:graphicFrameLocks/>
          </p:cNvGraphicFramePr>
          <p:nvPr/>
        </p:nvGraphicFramePr>
        <p:xfrm>
          <a:off x="1739900" y="3000375"/>
          <a:ext cx="3200400" cy="182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99640" imgH="1254760" progId="ChemDraw.Document.5.0">
                  <p:embed/>
                </p:oleObj>
              </mc:Choice>
              <mc:Fallback>
                <p:oleObj r:id="rId2" imgW="2199640" imgH="1254760" progId="ChemDraw.Document.5.0">
                  <p:embed/>
                  <p:pic>
                    <p:nvPicPr>
                      <p:cNvPr id="0" name="对象 137239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3000375"/>
                        <a:ext cx="3200400" cy="182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1" name="对象 137240">
            <a:extLst>
              <a:ext uri="{FF2B5EF4-FFF2-40B4-BE49-F238E27FC236}">
                <a16:creationId xmlns:a16="http://schemas.microsoft.com/office/drawing/2014/main" id="{03C303F8-0F61-44E7-B570-847A8D0745DE}"/>
              </a:ext>
            </a:extLst>
          </p:cNvPr>
          <p:cNvGraphicFramePr>
            <a:graphicFrameLocks/>
          </p:cNvGraphicFramePr>
          <p:nvPr/>
        </p:nvGraphicFramePr>
        <p:xfrm>
          <a:off x="2120900" y="3381375"/>
          <a:ext cx="3762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69240" imgH="271780" progId="ChemDraw.Document.5.0">
                  <p:embed/>
                </p:oleObj>
              </mc:Choice>
              <mc:Fallback>
                <p:oleObj r:id="rId4" imgW="269240" imgH="271780" progId="ChemDraw.Document.5.0">
                  <p:embed/>
                  <p:pic>
                    <p:nvPicPr>
                      <p:cNvPr id="0" name="对象 13724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3381375"/>
                        <a:ext cx="37623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2" name="对象 137241">
            <a:extLst>
              <a:ext uri="{FF2B5EF4-FFF2-40B4-BE49-F238E27FC236}">
                <a16:creationId xmlns:a16="http://schemas.microsoft.com/office/drawing/2014/main" id="{2A75B797-87EC-4E5D-A082-57E474E48D55}"/>
              </a:ext>
            </a:extLst>
          </p:cNvPr>
          <p:cNvGraphicFramePr>
            <a:graphicFrameLocks/>
          </p:cNvGraphicFramePr>
          <p:nvPr/>
        </p:nvGraphicFramePr>
        <p:xfrm>
          <a:off x="2349500" y="3305175"/>
          <a:ext cx="174625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9220" imgH="139700" progId="ChemDraw.Document.5.0">
                  <p:embed/>
                </p:oleObj>
              </mc:Choice>
              <mc:Fallback>
                <p:oleObj r:id="rId6" imgW="109220" imgH="139700" progId="ChemDraw.Document.5.0">
                  <p:embed/>
                  <p:pic>
                    <p:nvPicPr>
                      <p:cNvPr id="0" name="对象 13724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3305175"/>
                        <a:ext cx="174625" cy="22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3" name="对象 137242">
            <a:extLst>
              <a:ext uri="{FF2B5EF4-FFF2-40B4-BE49-F238E27FC236}">
                <a16:creationId xmlns:a16="http://schemas.microsoft.com/office/drawing/2014/main" id="{83D68EE9-F7CE-406B-866E-4462982D89E0}"/>
              </a:ext>
            </a:extLst>
          </p:cNvPr>
          <p:cNvGraphicFramePr>
            <a:graphicFrameLocks/>
          </p:cNvGraphicFramePr>
          <p:nvPr/>
        </p:nvGraphicFramePr>
        <p:xfrm>
          <a:off x="2120900" y="3686175"/>
          <a:ext cx="36036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69240" imgH="271780" progId="ChemDraw.Document.5.0">
                  <p:embed/>
                </p:oleObj>
              </mc:Choice>
              <mc:Fallback>
                <p:oleObj r:id="rId8" imgW="269240" imgH="271780" progId="ChemDraw.Document.5.0">
                  <p:embed/>
                  <p:pic>
                    <p:nvPicPr>
                      <p:cNvPr id="0" name="对象 13724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3686175"/>
                        <a:ext cx="360363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4" name="对象 137243">
            <a:extLst>
              <a:ext uri="{FF2B5EF4-FFF2-40B4-BE49-F238E27FC236}">
                <a16:creationId xmlns:a16="http://schemas.microsoft.com/office/drawing/2014/main" id="{D7249991-D4C1-436C-B402-9D79A0783256}"/>
              </a:ext>
            </a:extLst>
          </p:cNvPr>
          <p:cNvGraphicFramePr>
            <a:graphicFrameLocks/>
          </p:cNvGraphicFramePr>
          <p:nvPr/>
        </p:nvGraphicFramePr>
        <p:xfrm>
          <a:off x="2349500" y="3686175"/>
          <a:ext cx="179388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09220" imgH="139700" progId="ChemDraw.Document.5.0">
                  <p:embed/>
                </p:oleObj>
              </mc:Choice>
              <mc:Fallback>
                <p:oleObj r:id="rId10" imgW="109220" imgH="139700" progId="ChemDraw.Document.5.0">
                  <p:embed/>
                  <p:pic>
                    <p:nvPicPr>
                      <p:cNvPr id="0" name="对象 13724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3686175"/>
                        <a:ext cx="179388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5" name="对象 137244">
            <a:extLst>
              <a:ext uri="{FF2B5EF4-FFF2-40B4-BE49-F238E27FC236}">
                <a16:creationId xmlns:a16="http://schemas.microsoft.com/office/drawing/2014/main" id="{F6EC7388-CEC3-44B7-BE4F-3D55DB38F66C}"/>
              </a:ext>
            </a:extLst>
          </p:cNvPr>
          <p:cNvGraphicFramePr>
            <a:graphicFrameLocks/>
          </p:cNvGraphicFramePr>
          <p:nvPr/>
        </p:nvGraphicFramePr>
        <p:xfrm>
          <a:off x="2120900" y="4067175"/>
          <a:ext cx="3810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89560" imgH="269240" progId="ChemDraw.Document.5.0">
                  <p:embed/>
                </p:oleObj>
              </mc:Choice>
              <mc:Fallback>
                <p:oleObj r:id="rId11" imgW="289560" imgH="269240" progId="ChemDraw.Document.5.0">
                  <p:embed/>
                  <p:pic>
                    <p:nvPicPr>
                      <p:cNvPr id="0" name="对象 13724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4067175"/>
                        <a:ext cx="381000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6" name="对象 137245">
            <a:extLst>
              <a:ext uri="{FF2B5EF4-FFF2-40B4-BE49-F238E27FC236}">
                <a16:creationId xmlns:a16="http://schemas.microsoft.com/office/drawing/2014/main" id="{C91910ED-3F9E-493B-89E7-2E462F292F6F}"/>
              </a:ext>
            </a:extLst>
          </p:cNvPr>
          <p:cNvGraphicFramePr>
            <a:graphicFrameLocks/>
          </p:cNvGraphicFramePr>
          <p:nvPr/>
        </p:nvGraphicFramePr>
        <p:xfrm>
          <a:off x="2349500" y="3990975"/>
          <a:ext cx="174625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09220" imgH="139700" progId="ChemDraw.Document.5.0">
                  <p:embed/>
                </p:oleObj>
              </mc:Choice>
              <mc:Fallback>
                <p:oleObj r:id="rId13" imgW="109220" imgH="139700" progId="ChemDraw.Document.5.0">
                  <p:embed/>
                  <p:pic>
                    <p:nvPicPr>
                      <p:cNvPr id="0" name="对象 13724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3990975"/>
                        <a:ext cx="174625" cy="22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7" name="对象 137246">
            <a:extLst>
              <a:ext uri="{FF2B5EF4-FFF2-40B4-BE49-F238E27FC236}">
                <a16:creationId xmlns:a16="http://schemas.microsoft.com/office/drawing/2014/main" id="{0E60607C-F251-42BF-9564-3630B402FBA9}"/>
              </a:ext>
            </a:extLst>
          </p:cNvPr>
          <p:cNvGraphicFramePr>
            <a:graphicFrameLocks/>
          </p:cNvGraphicFramePr>
          <p:nvPr/>
        </p:nvGraphicFramePr>
        <p:xfrm>
          <a:off x="4102100" y="3305175"/>
          <a:ext cx="4572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79400" imgH="269240" progId="ChemDraw.Document.5.0">
                  <p:embed/>
                </p:oleObj>
              </mc:Choice>
              <mc:Fallback>
                <p:oleObj r:id="rId14" imgW="279400" imgH="269240" progId="ChemDraw.Document.5.0">
                  <p:embed/>
                  <p:pic>
                    <p:nvPicPr>
                      <p:cNvPr id="0" name="对象 137246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00" y="3305175"/>
                        <a:ext cx="45720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8" name="对象 137247">
            <a:extLst>
              <a:ext uri="{FF2B5EF4-FFF2-40B4-BE49-F238E27FC236}">
                <a16:creationId xmlns:a16="http://schemas.microsoft.com/office/drawing/2014/main" id="{DAC1DCD6-7080-4B1B-9FC8-CAEE2A5E1A05}"/>
              </a:ext>
            </a:extLst>
          </p:cNvPr>
          <p:cNvGraphicFramePr>
            <a:graphicFrameLocks/>
          </p:cNvGraphicFramePr>
          <p:nvPr/>
        </p:nvGraphicFramePr>
        <p:xfrm>
          <a:off x="4102100" y="3305175"/>
          <a:ext cx="223838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42240" imgH="134620" progId="ChemDraw.Document.5.0">
                  <p:embed/>
                </p:oleObj>
              </mc:Choice>
              <mc:Fallback>
                <p:oleObj r:id="rId16" imgW="142240" imgH="134620" progId="ChemDraw.Document.5.0">
                  <p:embed/>
                  <p:pic>
                    <p:nvPicPr>
                      <p:cNvPr id="0" name="对象 137247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00" y="3305175"/>
                        <a:ext cx="223838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9" name="对象 137248">
            <a:extLst>
              <a:ext uri="{FF2B5EF4-FFF2-40B4-BE49-F238E27FC236}">
                <a16:creationId xmlns:a16="http://schemas.microsoft.com/office/drawing/2014/main" id="{F3CDA2F2-8D8E-4799-9B6A-5306F7D7AAFE}"/>
              </a:ext>
            </a:extLst>
          </p:cNvPr>
          <p:cNvGraphicFramePr>
            <a:graphicFrameLocks/>
          </p:cNvGraphicFramePr>
          <p:nvPr/>
        </p:nvGraphicFramePr>
        <p:xfrm>
          <a:off x="4102100" y="3686175"/>
          <a:ext cx="3762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269240" imgH="271780" progId="ChemDraw.Document.5.0">
                  <p:embed/>
                </p:oleObj>
              </mc:Choice>
              <mc:Fallback>
                <p:oleObj r:id="rId18" imgW="269240" imgH="271780" progId="ChemDraw.Document.5.0">
                  <p:embed/>
                  <p:pic>
                    <p:nvPicPr>
                      <p:cNvPr id="0" name="对象 13724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00" y="3686175"/>
                        <a:ext cx="37623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50" name="对象 137249">
            <a:extLst>
              <a:ext uri="{FF2B5EF4-FFF2-40B4-BE49-F238E27FC236}">
                <a16:creationId xmlns:a16="http://schemas.microsoft.com/office/drawing/2014/main" id="{7365CB94-E642-4989-B8D9-DF5A9FB24152}"/>
              </a:ext>
            </a:extLst>
          </p:cNvPr>
          <p:cNvGraphicFramePr>
            <a:graphicFrameLocks/>
          </p:cNvGraphicFramePr>
          <p:nvPr/>
        </p:nvGraphicFramePr>
        <p:xfrm>
          <a:off x="3995738" y="3573463"/>
          <a:ext cx="174625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09220" imgH="139700" progId="ChemDraw.Document.5.0">
                  <p:embed/>
                </p:oleObj>
              </mc:Choice>
              <mc:Fallback>
                <p:oleObj r:id="rId19" imgW="109220" imgH="139700" progId="ChemDraw.Document.5.0">
                  <p:embed/>
                  <p:pic>
                    <p:nvPicPr>
                      <p:cNvPr id="0" name="对象 13724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573463"/>
                        <a:ext cx="174625" cy="22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51" name="对象 137250">
            <a:extLst>
              <a:ext uri="{FF2B5EF4-FFF2-40B4-BE49-F238E27FC236}">
                <a16:creationId xmlns:a16="http://schemas.microsoft.com/office/drawing/2014/main" id="{80C3048D-0039-422B-BED3-16B490B3DAB7}"/>
              </a:ext>
            </a:extLst>
          </p:cNvPr>
          <p:cNvGraphicFramePr>
            <a:graphicFrameLocks/>
          </p:cNvGraphicFramePr>
          <p:nvPr/>
        </p:nvGraphicFramePr>
        <p:xfrm>
          <a:off x="4102100" y="4067175"/>
          <a:ext cx="3810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289560" imgH="269240" progId="ChemDraw.Document.5.0">
                  <p:embed/>
                </p:oleObj>
              </mc:Choice>
              <mc:Fallback>
                <p:oleObj r:id="rId20" imgW="289560" imgH="269240" progId="ChemDraw.Document.5.0">
                  <p:embed/>
                  <p:pic>
                    <p:nvPicPr>
                      <p:cNvPr id="0" name="对象 137250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00" y="4067175"/>
                        <a:ext cx="381000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52" name="对象 137251">
            <a:extLst>
              <a:ext uri="{FF2B5EF4-FFF2-40B4-BE49-F238E27FC236}">
                <a16:creationId xmlns:a16="http://schemas.microsoft.com/office/drawing/2014/main" id="{249E2309-CA0E-469D-A5D7-3D80C9B03A7C}"/>
              </a:ext>
            </a:extLst>
          </p:cNvPr>
          <p:cNvGraphicFramePr>
            <a:graphicFrameLocks/>
          </p:cNvGraphicFramePr>
          <p:nvPr/>
        </p:nvGraphicFramePr>
        <p:xfrm>
          <a:off x="4025900" y="3990975"/>
          <a:ext cx="174625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109220" imgH="139700" progId="ChemDraw.Document.5.0">
                  <p:embed/>
                </p:oleObj>
              </mc:Choice>
              <mc:Fallback>
                <p:oleObj r:id="rId21" imgW="109220" imgH="139700" progId="ChemDraw.Document.5.0">
                  <p:embed/>
                  <p:pic>
                    <p:nvPicPr>
                      <p:cNvPr id="0" name="对象 13725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5900" y="3990975"/>
                        <a:ext cx="174625" cy="22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53" name="文本框 137252">
            <a:extLst>
              <a:ext uri="{FF2B5EF4-FFF2-40B4-BE49-F238E27FC236}">
                <a16:creationId xmlns:a16="http://schemas.microsoft.com/office/drawing/2014/main" id="{519A6DC9-0A22-4AF9-855C-13B528746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5100" y="3609975"/>
            <a:ext cx="41148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互为差向异构体，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也是非对映体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37254" name="文本框 137253">
            <a:extLst>
              <a:ext uri="{FF2B5EF4-FFF2-40B4-BE49-F238E27FC236}">
                <a16:creationId xmlns:a16="http://schemas.microsoft.com/office/drawing/2014/main" id="{FF0470FC-EFD9-46CA-87C8-A501FEE6A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5084763"/>
            <a:ext cx="4572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是非对映体，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但不是差向异构体。</a:t>
            </a:r>
          </a:p>
        </p:txBody>
      </p:sp>
      <p:graphicFrame>
        <p:nvGraphicFramePr>
          <p:cNvPr id="137255" name="对象 137254">
            <a:extLst>
              <a:ext uri="{FF2B5EF4-FFF2-40B4-BE49-F238E27FC236}">
                <a16:creationId xmlns:a16="http://schemas.microsoft.com/office/drawing/2014/main" id="{5968C9A1-6AA3-4EBD-A034-2B1A35FD9D01}"/>
              </a:ext>
            </a:extLst>
          </p:cNvPr>
          <p:cNvGraphicFramePr>
            <a:graphicFrameLocks/>
          </p:cNvGraphicFramePr>
          <p:nvPr/>
        </p:nvGraphicFramePr>
        <p:xfrm>
          <a:off x="1295400" y="4868863"/>
          <a:ext cx="31242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2199640" imgH="1216660" progId="ChemDraw.Document.5.0">
                  <p:embed/>
                </p:oleObj>
              </mc:Choice>
              <mc:Fallback>
                <p:oleObj r:id="rId22" imgW="2199640" imgH="1216660" progId="ChemDraw.Document.5.0">
                  <p:embed/>
                  <p:pic>
                    <p:nvPicPr>
                      <p:cNvPr id="0" name="对象 137254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868863"/>
                        <a:ext cx="3124200" cy="172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48" name="灯片编号占位符 1">
            <a:extLst>
              <a:ext uri="{FF2B5EF4-FFF2-40B4-BE49-F238E27FC236}">
                <a16:creationId xmlns:a16="http://schemas.microsoft.com/office/drawing/2014/main" id="{5B2377BC-28FE-4E90-A897-AB0E7CA9F3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449E3620-34AA-4C6A-90E6-1D25C8FB0AE3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36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7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7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7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7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7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7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7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7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7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7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7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7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7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7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7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7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7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7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7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7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7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7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7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7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7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7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37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37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38" grpId="0"/>
      <p:bldP spid="137239" grpId="0"/>
      <p:bldP spid="137253" grpId="0"/>
      <p:bldP spid="13725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文本框 138241">
            <a:extLst>
              <a:ext uri="{FF2B5EF4-FFF2-40B4-BE49-F238E27FC236}">
                <a16:creationId xmlns:a16="http://schemas.microsoft.com/office/drawing/2014/main" id="{6E46CDC3-5AE6-42DA-8ADD-F0F4883C8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5" name="文本框 138242">
            <a:extLst>
              <a:ext uri="{FF2B5EF4-FFF2-40B4-BE49-F238E27FC236}">
                <a16:creationId xmlns:a16="http://schemas.microsoft.com/office/drawing/2014/main" id="{02832585-5748-4666-A60B-50D3B71CC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6" name="文本框 138256">
            <a:extLst>
              <a:ext uri="{FF2B5EF4-FFF2-40B4-BE49-F238E27FC236}">
                <a16:creationId xmlns:a16="http://schemas.microsoft.com/office/drawing/2014/main" id="{66E2296F-52D2-4946-9C70-FD9C8AEF1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933450"/>
            <a:ext cx="457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sz="20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7" name="文本框 138259">
            <a:extLst>
              <a:ext uri="{FF2B5EF4-FFF2-40B4-BE49-F238E27FC236}">
                <a16:creationId xmlns:a16="http://schemas.microsoft.com/office/drawing/2014/main" id="{CE4FFB6B-2985-40A8-A3FB-63954979B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7625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构象异构：</a:t>
            </a:r>
          </a:p>
        </p:txBody>
      </p:sp>
      <p:sp>
        <p:nvSpPr>
          <p:cNvPr id="74758" name="文本框 138260">
            <a:extLst>
              <a:ext uri="{FF2B5EF4-FFF2-40B4-BE49-F238E27FC236}">
                <a16:creationId xmlns:a16="http://schemas.microsoft.com/office/drawing/2014/main" id="{16ECB241-AC25-460B-864F-18116860B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51485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262" name="文本框 138261">
            <a:extLst>
              <a:ext uri="{FF2B5EF4-FFF2-40B4-BE49-F238E27FC236}">
                <a16:creationId xmlns:a16="http://schemas.microsoft.com/office/drawing/2014/main" id="{9EF77362-CF51-44DD-8D4A-E3D23FF21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009650"/>
            <a:ext cx="9144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一般是指同一构型分子中由于单键旋转而产生的原子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或基团在空间的不同排列形式，这种异构称为构象异构。</a:t>
            </a:r>
          </a:p>
        </p:txBody>
      </p:sp>
      <p:sp>
        <p:nvSpPr>
          <p:cNvPr id="138264" name="文本框 138263">
            <a:extLst>
              <a:ext uri="{FF2B5EF4-FFF2-40B4-BE49-F238E27FC236}">
                <a16:creationId xmlns:a16="http://schemas.microsoft.com/office/drawing/2014/main" id="{4E3A0859-4E52-4540-BF91-7C9CAC80B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228850"/>
            <a:ext cx="9144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在构型一定的分子的无数个构象中，其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优势构象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即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稳定构象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通常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是能量最低的构象。</a:t>
            </a:r>
          </a:p>
        </p:txBody>
      </p:sp>
      <p:sp>
        <p:nvSpPr>
          <p:cNvPr id="138266" name="文本框 138265">
            <a:extLst>
              <a:ext uri="{FF2B5EF4-FFF2-40B4-BE49-F238E27FC236}">
                <a16:creationId xmlns:a16="http://schemas.microsoft.com/office/drawing/2014/main" id="{CEC61721-5CAC-484A-AFA7-7083CE873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73463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(1)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直链烃及其衍生物：</a:t>
            </a:r>
          </a:p>
        </p:txBody>
      </p:sp>
      <p:sp>
        <p:nvSpPr>
          <p:cNvPr id="138267" name="文本框 138266">
            <a:extLst>
              <a:ext uri="{FF2B5EF4-FFF2-40B4-BE49-F238E27FC236}">
                <a16:creationId xmlns:a16="http://schemas.microsoft.com/office/drawing/2014/main" id="{14AFC7DF-42C8-4C68-9E5D-D613B3CB4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292600"/>
            <a:ext cx="91440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FF00FF"/>
                </a:solidFill>
                <a:latin typeface="Times New Roman" panose="02020603050405020304" pitchFamily="18" charset="0"/>
              </a:rPr>
              <a:t>从能量上看：</a:t>
            </a: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大的原子或基团处于对位交叉式是最稳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定的构象，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因为这样排布原子或基团彼此间的距离最远，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相互排斥力最小。</a:t>
            </a:r>
          </a:p>
        </p:txBody>
      </p:sp>
      <p:sp>
        <p:nvSpPr>
          <p:cNvPr id="74763" name="灯片编号占位符 1">
            <a:extLst>
              <a:ext uri="{FF2B5EF4-FFF2-40B4-BE49-F238E27FC236}">
                <a16:creationId xmlns:a16="http://schemas.microsoft.com/office/drawing/2014/main" id="{48DA3B0B-A8D8-4413-8FEC-307CCE22AA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6B107142-4808-4004-B39F-7CB9159DCDC3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37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8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8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8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build="p"/>
      <p:bldP spid="138262" grpId="0"/>
      <p:bldP spid="138264" grpId="0"/>
      <p:bldP spid="138266" grpId="0"/>
      <p:bldP spid="13826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文本框 139265">
            <a:extLst>
              <a:ext uri="{FF2B5EF4-FFF2-40B4-BE49-F238E27FC236}">
                <a16:creationId xmlns:a16="http://schemas.microsoft.com/office/drawing/2014/main" id="{D55DB915-6F5B-420C-B75F-650DF8D68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endParaRPr lang="en-US" altLang="zh-CN" sz="24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79" name="文本框 139266">
            <a:extLst>
              <a:ext uri="{FF2B5EF4-FFF2-40B4-BE49-F238E27FC236}">
                <a16:creationId xmlns:a16="http://schemas.microsoft.com/office/drawing/2014/main" id="{CADB2761-560F-4064-AF25-BE8118DFC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430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endParaRPr lang="en-US" altLang="zh-CN" sz="2400" b="1">
              <a:solidFill>
                <a:srgbClr val="FF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9270" name="文本框 139269">
            <a:extLst>
              <a:ext uri="{FF2B5EF4-FFF2-40B4-BE49-F238E27FC236}">
                <a16:creationId xmlns:a16="http://schemas.microsoft.com/office/drawing/2014/main" id="{2032F386-AE0B-42FA-92D4-6EDD875E6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00438"/>
            <a:ext cx="9144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处于邻位交叉的原子或基团，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若能形成分子内氢键，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则邻位交叉式是优势构象。</a:t>
            </a:r>
          </a:p>
        </p:txBody>
      </p:sp>
      <p:graphicFrame>
        <p:nvGraphicFramePr>
          <p:cNvPr id="139275" name="对象 139274">
            <a:extLst>
              <a:ext uri="{FF2B5EF4-FFF2-40B4-BE49-F238E27FC236}">
                <a16:creationId xmlns:a16="http://schemas.microsoft.com/office/drawing/2014/main" id="{ACB5651F-F18C-45CF-92C8-CF6A5F73FA2C}"/>
              </a:ext>
            </a:extLst>
          </p:cNvPr>
          <p:cNvGraphicFramePr>
            <a:graphicFrameLocks/>
          </p:cNvGraphicFramePr>
          <p:nvPr/>
        </p:nvGraphicFramePr>
        <p:xfrm>
          <a:off x="1187450" y="1052513"/>
          <a:ext cx="6629400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343400" imgH="810260" progId="ChemDraw.Document.5.0">
                  <p:embed/>
                </p:oleObj>
              </mc:Choice>
              <mc:Fallback>
                <p:oleObj r:id="rId2" imgW="4343400" imgH="810260" progId="ChemDraw.Document.5.0">
                  <p:embed/>
                  <p:pic>
                    <p:nvPicPr>
                      <p:cNvPr id="0" name="对象 13927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052513"/>
                        <a:ext cx="6629400" cy="123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6" name="对象 139275">
            <a:extLst>
              <a:ext uri="{FF2B5EF4-FFF2-40B4-BE49-F238E27FC236}">
                <a16:creationId xmlns:a16="http://schemas.microsoft.com/office/drawing/2014/main" id="{3E62F32E-54CA-4AD4-B4B4-0903BD954FD2}"/>
              </a:ext>
            </a:extLst>
          </p:cNvPr>
          <p:cNvGraphicFramePr>
            <a:graphicFrameLocks/>
          </p:cNvGraphicFramePr>
          <p:nvPr/>
        </p:nvGraphicFramePr>
        <p:xfrm>
          <a:off x="2557463" y="4865688"/>
          <a:ext cx="3962400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79880" imgH="883080" progId="ChemDraw.Document.6.0">
                  <p:embed/>
                </p:oleObj>
              </mc:Choice>
              <mc:Fallback>
                <p:oleObj r:id="rId4" imgW="2279880" imgH="883080" progId="ChemDraw.Document.6.0">
                  <p:embed/>
                  <p:pic>
                    <p:nvPicPr>
                      <p:cNvPr id="0" name="对象 13927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7463" y="4865688"/>
                        <a:ext cx="3962400" cy="154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38" name="文本框 244737">
            <a:extLst>
              <a:ext uri="{FF2B5EF4-FFF2-40B4-BE49-F238E27FC236}">
                <a16:creationId xmlns:a16="http://schemas.microsoft.com/office/drawing/2014/main" id="{623B2088-C04B-47BC-A937-95D2D4E1D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492375"/>
            <a:ext cx="1655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0000"/>
                </a:solidFill>
              </a:rPr>
              <a:t>对位交叉</a:t>
            </a:r>
          </a:p>
        </p:txBody>
      </p:sp>
      <p:sp>
        <p:nvSpPr>
          <p:cNvPr id="244739" name="文本框 244738">
            <a:extLst>
              <a:ext uri="{FF2B5EF4-FFF2-40B4-BE49-F238E27FC236}">
                <a16:creationId xmlns:a16="http://schemas.microsoft.com/office/drawing/2014/main" id="{12186388-DFBB-4354-99AB-71483C047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2492375"/>
            <a:ext cx="1655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0000"/>
                </a:solidFill>
              </a:rPr>
              <a:t>邻位交叉</a:t>
            </a:r>
          </a:p>
        </p:txBody>
      </p:sp>
      <p:sp>
        <p:nvSpPr>
          <p:cNvPr id="244740" name="文本框 244739">
            <a:extLst>
              <a:ext uri="{FF2B5EF4-FFF2-40B4-BE49-F238E27FC236}">
                <a16:creationId xmlns:a16="http://schemas.microsoft.com/office/drawing/2014/main" id="{9190EE1F-27DC-44EF-8D33-0CAA4BD3E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2492375"/>
            <a:ext cx="1655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0000"/>
                </a:solidFill>
              </a:rPr>
              <a:t>部分重叠</a:t>
            </a:r>
          </a:p>
        </p:txBody>
      </p:sp>
      <p:sp>
        <p:nvSpPr>
          <p:cNvPr id="244741" name="文本框 244740">
            <a:extLst>
              <a:ext uri="{FF2B5EF4-FFF2-40B4-BE49-F238E27FC236}">
                <a16:creationId xmlns:a16="http://schemas.microsoft.com/office/drawing/2014/main" id="{52E304A0-6EAF-4A1B-BE9F-31CBC7F77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2492375"/>
            <a:ext cx="1728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0000"/>
                </a:solidFill>
              </a:rPr>
              <a:t>完全重叠</a:t>
            </a:r>
          </a:p>
        </p:txBody>
      </p:sp>
      <p:sp>
        <p:nvSpPr>
          <p:cNvPr id="75787" name="灯片编号占位符 1">
            <a:extLst>
              <a:ext uri="{FF2B5EF4-FFF2-40B4-BE49-F238E27FC236}">
                <a16:creationId xmlns:a16="http://schemas.microsoft.com/office/drawing/2014/main" id="{F06A7E30-AA43-44C2-8BBE-CC5F6ADEAD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4873D19A-664A-489A-866D-54A5B06C6BA7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38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44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44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4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4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70" grpId="0"/>
      <p:bldP spid="244738" grpId="0"/>
      <p:bldP spid="244739" grpId="0"/>
      <p:bldP spid="244740" grpId="0"/>
      <p:bldP spid="24474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文本框 140289">
            <a:extLst>
              <a:ext uri="{FF2B5EF4-FFF2-40B4-BE49-F238E27FC236}">
                <a16:creationId xmlns:a16="http://schemas.microsoft.com/office/drawing/2014/main" id="{C920B5E3-862A-43DE-9142-E3E657389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环己烷及取代环己烷的优势构象：</a:t>
            </a:r>
          </a:p>
        </p:txBody>
      </p:sp>
      <p:sp>
        <p:nvSpPr>
          <p:cNvPr id="140304" name="文本框 140303">
            <a:extLst>
              <a:ext uri="{FF2B5EF4-FFF2-40B4-BE49-F238E27FC236}">
                <a16:creationId xmlns:a16="http://schemas.microsoft.com/office/drawing/2014/main" id="{4A55FB5A-67EB-4501-88AC-CD8B4C28B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192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优势构象</a:t>
            </a:r>
          </a:p>
        </p:txBody>
      </p:sp>
      <p:sp>
        <p:nvSpPr>
          <p:cNvPr id="140305" name="文本框 140304">
            <a:extLst>
              <a:ext uri="{FF2B5EF4-FFF2-40B4-BE49-F238E27FC236}">
                <a16:creationId xmlns:a16="http://schemas.microsoft.com/office/drawing/2014/main" id="{4690E685-892D-4AC7-8BBC-08C4489F6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916113"/>
            <a:ext cx="891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一取代环己烷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的优势构象：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</a:rPr>
              <a:t>取代基处于 </a:t>
            </a: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e  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</a:rPr>
              <a:t>键稳定。</a:t>
            </a:r>
          </a:p>
        </p:txBody>
      </p:sp>
      <p:sp>
        <p:nvSpPr>
          <p:cNvPr id="140313" name="文本框 140312">
            <a:extLst>
              <a:ext uri="{FF2B5EF4-FFF2-40B4-BE49-F238E27FC236}">
                <a16:creationId xmlns:a16="http://schemas.microsoft.com/office/drawing/2014/main" id="{4F3226DB-0DE1-4192-A64E-0B417C294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814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二取代环己烷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的优势构象：</a:t>
            </a:r>
          </a:p>
        </p:txBody>
      </p:sp>
      <p:sp>
        <p:nvSpPr>
          <p:cNvPr id="140314" name="文本框 140313">
            <a:extLst>
              <a:ext uri="{FF2B5EF4-FFF2-40B4-BE49-F238E27FC236}">
                <a16:creationId xmlns:a16="http://schemas.microsoft.com/office/drawing/2014/main" id="{312F37A8-5E6F-4EC4-ACC6-AE9D9B235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114800"/>
            <a:ext cx="9144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在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满足两个原子或基团的空间构型的前提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下：</a:t>
            </a: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处于 </a:t>
            </a:r>
            <a:r>
              <a:rPr lang="en-US" altLang="zh-CN" sz="28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e  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键的 取代基多者稳定；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大的取代基处于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e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键稳定。</a:t>
            </a:r>
          </a:p>
        </p:txBody>
      </p:sp>
      <p:grpSp>
        <p:nvGrpSpPr>
          <p:cNvPr id="140343" name="组合 140342">
            <a:extLst>
              <a:ext uri="{FF2B5EF4-FFF2-40B4-BE49-F238E27FC236}">
                <a16:creationId xmlns:a16="http://schemas.microsoft.com/office/drawing/2014/main" id="{F88CB0DA-D587-4092-8902-DF4687808F6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744538"/>
            <a:ext cx="1981200" cy="1101725"/>
            <a:chOff x="2160" y="469"/>
            <a:chExt cx="1248" cy="694"/>
          </a:xfrm>
        </p:grpSpPr>
        <p:graphicFrame>
          <p:nvGraphicFramePr>
            <p:cNvPr id="76815" name="对象 140322">
              <a:extLst>
                <a:ext uri="{FF2B5EF4-FFF2-40B4-BE49-F238E27FC236}">
                  <a16:creationId xmlns:a16="http://schemas.microsoft.com/office/drawing/2014/main" id="{9FB2F58B-21E3-44C3-A4CF-6A94C5C3FBD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304" y="624"/>
            <a:ext cx="96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005840" imgH="414020" progId="ChemDraw.Document.5.0">
                    <p:embed/>
                  </p:oleObj>
                </mc:Choice>
                <mc:Fallback>
                  <p:oleObj r:id="rId2" imgW="1005840" imgH="414020" progId="ChemDraw.Document.5.0">
                    <p:embed/>
                    <p:pic>
                      <p:nvPicPr>
                        <p:cNvPr id="0" name="对象 14032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624"/>
                          <a:ext cx="96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16" name="对象 140323">
              <a:extLst>
                <a:ext uri="{FF2B5EF4-FFF2-40B4-BE49-F238E27FC236}">
                  <a16:creationId xmlns:a16="http://schemas.microsoft.com/office/drawing/2014/main" id="{EC5847E1-F3B4-45E8-A38D-C4A401A74D6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89" y="469"/>
            <a:ext cx="102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47880" imgH="156240" progId="ChemDraw.Document.5.0">
                    <p:embed/>
                  </p:oleObj>
                </mc:Choice>
                <mc:Fallback>
                  <p:oleObj r:id="rId4" imgW="47880" imgH="156240" progId="ChemDraw.Document.5.0">
                    <p:embed/>
                    <p:pic>
                      <p:nvPicPr>
                        <p:cNvPr id="0" name="对象 14032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9" y="469"/>
                          <a:ext cx="102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17" name="对象 140324">
              <a:extLst>
                <a:ext uri="{FF2B5EF4-FFF2-40B4-BE49-F238E27FC236}">
                  <a16:creationId xmlns:a16="http://schemas.microsoft.com/office/drawing/2014/main" id="{5AED757C-5E1E-4CB8-A12D-D79DB7E2697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997" y="949"/>
            <a:ext cx="102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47880" imgH="156240" progId="ChemDraw.Document.5.0">
                    <p:embed/>
                  </p:oleObj>
                </mc:Choice>
                <mc:Fallback>
                  <p:oleObj r:id="rId6" imgW="47880" imgH="156240" progId="ChemDraw.Document.5.0">
                    <p:embed/>
                    <p:pic>
                      <p:nvPicPr>
                        <p:cNvPr id="0" name="对象 14032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7" y="949"/>
                          <a:ext cx="102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18" name="对象 140325">
              <a:extLst>
                <a:ext uri="{FF2B5EF4-FFF2-40B4-BE49-F238E27FC236}">
                  <a16:creationId xmlns:a16="http://schemas.microsoft.com/office/drawing/2014/main" id="{3166CE99-17ED-4A8A-887C-C70BA1C657D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277" y="949"/>
            <a:ext cx="102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7880" imgH="156240" progId="ChemDraw.Document.5.0">
                    <p:embed/>
                  </p:oleObj>
                </mc:Choice>
                <mc:Fallback>
                  <p:oleObj r:id="rId7" imgW="47880" imgH="156240" progId="ChemDraw.Document.5.0">
                    <p:embed/>
                    <p:pic>
                      <p:nvPicPr>
                        <p:cNvPr id="0" name="对象 14032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7" y="949"/>
                          <a:ext cx="102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19" name="对象 140326">
              <a:extLst>
                <a:ext uri="{FF2B5EF4-FFF2-40B4-BE49-F238E27FC236}">
                  <a16:creationId xmlns:a16="http://schemas.microsoft.com/office/drawing/2014/main" id="{1A3201E4-F335-4191-90D4-C0C5FF72678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613" y="709"/>
            <a:ext cx="102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47880" imgH="156240" progId="ChemDraw.Document.5.0">
                    <p:embed/>
                  </p:oleObj>
                </mc:Choice>
                <mc:Fallback>
                  <p:oleObj r:id="rId8" imgW="47880" imgH="156240" progId="ChemDraw.Document.5.0">
                    <p:embed/>
                    <p:pic>
                      <p:nvPicPr>
                        <p:cNvPr id="0" name="对象 14032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3" y="709"/>
                          <a:ext cx="102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20" name="对象 140327">
              <a:extLst>
                <a:ext uri="{FF2B5EF4-FFF2-40B4-BE49-F238E27FC236}">
                  <a16:creationId xmlns:a16="http://schemas.microsoft.com/office/drawing/2014/main" id="{E02E3FD6-C5B2-4DB9-B4B0-B2B5E4A2E3B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69" y="469"/>
            <a:ext cx="102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47880" imgH="156240" progId="ChemDraw.Document.5.0">
                    <p:embed/>
                  </p:oleObj>
                </mc:Choice>
                <mc:Fallback>
                  <p:oleObj r:id="rId9" imgW="47880" imgH="156240" progId="ChemDraw.Document.5.0">
                    <p:embed/>
                    <p:pic>
                      <p:nvPicPr>
                        <p:cNvPr id="0" name="对象 14032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9" y="469"/>
                          <a:ext cx="102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21" name="对象 140328">
              <a:extLst>
                <a:ext uri="{FF2B5EF4-FFF2-40B4-BE49-F238E27FC236}">
                  <a16:creationId xmlns:a16="http://schemas.microsoft.com/office/drawing/2014/main" id="{46D81006-F628-4549-80C6-7AC37F266A4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853" y="757"/>
            <a:ext cx="102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47880" imgH="156240" progId="ChemDraw.Document.5.0">
                    <p:embed/>
                  </p:oleObj>
                </mc:Choice>
                <mc:Fallback>
                  <p:oleObj r:id="rId11" imgW="47880" imgH="156240" progId="ChemDraw.Document.5.0">
                    <p:embed/>
                    <p:pic>
                      <p:nvPicPr>
                        <p:cNvPr id="0" name="对象 14032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3" y="757"/>
                          <a:ext cx="102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22" name="对象 140330">
              <a:extLst>
                <a:ext uri="{FF2B5EF4-FFF2-40B4-BE49-F238E27FC236}">
                  <a16:creationId xmlns:a16="http://schemas.microsoft.com/office/drawing/2014/main" id="{DCEA11E2-B107-492D-B3A2-03A810EC2F4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16" y="624"/>
            <a:ext cx="192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13360" imgH="157480" progId="ChemDraw.Document.5.0">
                    <p:embed/>
                  </p:oleObj>
                </mc:Choice>
                <mc:Fallback>
                  <p:oleObj r:id="rId12" imgW="213360" imgH="157480" progId="ChemDraw.Document.5.0">
                    <p:embed/>
                    <p:pic>
                      <p:nvPicPr>
                        <p:cNvPr id="0" name="对象 14033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624"/>
                          <a:ext cx="192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23" name="对象 140331">
              <a:extLst>
                <a:ext uri="{FF2B5EF4-FFF2-40B4-BE49-F238E27FC236}">
                  <a16:creationId xmlns:a16="http://schemas.microsoft.com/office/drawing/2014/main" id="{31CFA03A-A67C-4AB1-9DB3-C0401A90B4C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60" y="864"/>
            <a:ext cx="192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213360" imgH="157480" progId="ChemDraw.Document.5.0">
                    <p:embed/>
                  </p:oleObj>
                </mc:Choice>
                <mc:Fallback>
                  <p:oleObj r:id="rId14" imgW="213360" imgH="157480" progId="ChemDraw.Document.5.0">
                    <p:embed/>
                    <p:pic>
                      <p:nvPicPr>
                        <p:cNvPr id="0" name="对象 14033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864"/>
                          <a:ext cx="192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24" name="对象 140332">
              <a:extLst>
                <a:ext uri="{FF2B5EF4-FFF2-40B4-BE49-F238E27FC236}">
                  <a16:creationId xmlns:a16="http://schemas.microsoft.com/office/drawing/2014/main" id="{4C337AE2-2FC6-4E1B-81CF-EFA3D276DD7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832" y="576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208280" imgH="208280" progId="ChemDraw.Document.5.0">
                    <p:embed/>
                  </p:oleObj>
                </mc:Choice>
                <mc:Fallback>
                  <p:oleObj r:id="rId15" imgW="208280" imgH="208280" progId="ChemDraw.Document.5.0">
                    <p:embed/>
                    <p:pic>
                      <p:nvPicPr>
                        <p:cNvPr id="0" name="对象 14033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576"/>
                          <a:ext cx="2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25" name="对象 140333">
              <a:extLst>
                <a:ext uri="{FF2B5EF4-FFF2-40B4-BE49-F238E27FC236}">
                  <a16:creationId xmlns:a16="http://schemas.microsoft.com/office/drawing/2014/main" id="{796EE2FD-5C98-4AD7-AE3E-B0D0B682F30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96" y="816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208280" imgH="208280" progId="ChemDraw.Document.5.0">
                    <p:embed/>
                  </p:oleObj>
                </mc:Choice>
                <mc:Fallback>
                  <p:oleObj r:id="rId17" imgW="208280" imgH="208280" progId="ChemDraw.Document.5.0">
                    <p:embed/>
                    <p:pic>
                      <p:nvPicPr>
                        <p:cNvPr id="0" name="对象 14033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816"/>
                          <a:ext cx="2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26" name="对象 140334">
              <a:extLst>
                <a:ext uri="{FF2B5EF4-FFF2-40B4-BE49-F238E27FC236}">
                  <a16:creationId xmlns:a16="http://schemas.microsoft.com/office/drawing/2014/main" id="{D8EECA9C-D41B-4EB2-A377-E9815FCF173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024" y="864"/>
            <a:ext cx="288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273560" imgH="131714" progId="ChemDraw.Document.5.0">
                    <p:embed/>
                  </p:oleObj>
                </mc:Choice>
                <mc:Fallback>
                  <p:oleObj r:id="rId18" imgW="273560" imgH="131714" progId="ChemDraw.Document.5.0">
                    <p:embed/>
                    <p:pic>
                      <p:nvPicPr>
                        <p:cNvPr id="0" name="对象 14033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864"/>
                          <a:ext cx="288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27" name="对象 140335">
              <a:extLst>
                <a:ext uri="{FF2B5EF4-FFF2-40B4-BE49-F238E27FC236}">
                  <a16:creationId xmlns:a16="http://schemas.microsoft.com/office/drawing/2014/main" id="{0A902385-72CF-41E3-86E3-848FF65F995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256" y="624"/>
            <a:ext cx="288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273560" imgH="131714" progId="ChemDraw.Document.5.0">
                    <p:embed/>
                  </p:oleObj>
                </mc:Choice>
                <mc:Fallback>
                  <p:oleObj r:id="rId20" imgW="273560" imgH="131714" progId="ChemDraw.Document.5.0">
                    <p:embed/>
                    <p:pic>
                      <p:nvPicPr>
                        <p:cNvPr id="0" name="对象 14033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624"/>
                          <a:ext cx="288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0337" name="对象 140336">
            <a:extLst>
              <a:ext uri="{FF2B5EF4-FFF2-40B4-BE49-F238E27FC236}">
                <a16:creationId xmlns:a16="http://schemas.microsoft.com/office/drawing/2014/main" id="{F37D5D2F-8787-4020-AFEF-CBDDCE1B23A5}"/>
              </a:ext>
            </a:extLst>
          </p:cNvPr>
          <p:cNvGraphicFramePr>
            <a:graphicFrameLocks/>
          </p:cNvGraphicFramePr>
          <p:nvPr/>
        </p:nvGraphicFramePr>
        <p:xfrm>
          <a:off x="2411413" y="2420938"/>
          <a:ext cx="41910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3004820" imgH="662940" progId="ChemDraw.Document.5.0">
                  <p:embed/>
                </p:oleObj>
              </mc:Choice>
              <mc:Fallback>
                <p:oleObj r:id="rId21" imgW="3004820" imgH="662940" progId="ChemDraw.Document.5.0">
                  <p:embed/>
                  <p:pic>
                    <p:nvPicPr>
                      <p:cNvPr id="0" name="对象 140336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420938"/>
                        <a:ext cx="419100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38" name="对象 140337">
            <a:extLst>
              <a:ext uri="{FF2B5EF4-FFF2-40B4-BE49-F238E27FC236}">
                <a16:creationId xmlns:a16="http://schemas.microsoft.com/office/drawing/2014/main" id="{90C4F237-B914-41D9-AF41-A5C141E9BB49}"/>
              </a:ext>
            </a:extLst>
          </p:cNvPr>
          <p:cNvGraphicFramePr>
            <a:graphicFrameLocks/>
          </p:cNvGraphicFramePr>
          <p:nvPr/>
        </p:nvGraphicFramePr>
        <p:xfrm>
          <a:off x="611188" y="5300663"/>
          <a:ext cx="4824412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2143760" imgH="187960" progId="ChemDraw.Document.5.0">
                  <p:embed/>
                </p:oleObj>
              </mc:Choice>
              <mc:Fallback>
                <p:oleObj r:id="rId23" imgW="2143760" imgH="187960" progId="ChemDraw.Document.5.0">
                  <p:embed/>
                  <p:pic>
                    <p:nvPicPr>
                      <p:cNvPr id="0" name="对象 140337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300663"/>
                        <a:ext cx="4824412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0344" name="组合 140343">
            <a:extLst>
              <a:ext uri="{FF2B5EF4-FFF2-40B4-BE49-F238E27FC236}">
                <a16:creationId xmlns:a16="http://schemas.microsoft.com/office/drawing/2014/main" id="{6CA92E32-A4B0-44E3-A814-D5E9D39755D8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5229225"/>
            <a:ext cx="3095625" cy="1079500"/>
            <a:chOff x="1936" y="3566"/>
            <a:chExt cx="1440" cy="517"/>
          </a:xfrm>
        </p:grpSpPr>
        <p:graphicFrame>
          <p:nvGraphicFramePr>
            <p:cNvPr id="76812" name="对象 140338">
              <a:extLst>
                <a:ext uri="{FF2B5EF4-FFF2-40B4-BE49-F238E27FC236}">
                  <a16:creationId xmlns:a16="http://schemas.microsoft.com/office/drawing/2014/main" id="{77F4E90E-20B2-4A5C-BDF4-82778997C21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936" y="3758"/>
            <a:ext cx="768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5" imgW="1005840" imgH="414020" progId="ChemDraw.Document.5.0">
                    <p:embed/>
                  </p:oleObj>
                </mc:Choice>
                <mc:Fallback>
                  <p:oleObj r:id="rId25" imgW="1005840" imgH="414020" progId="ChemDraw.Document.5.0">
                    <p:embed/>
                    <p:pic>
                      <p:nvPicPr>
                        <p:cNvPr id="0" name="对象 14033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6" y="3758"/>
                          <a:ext cx="768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13" name="对象 140339">
              <a:extLst>
                <a:ext uri="{FF2B5EF4-FFF2-40B4-BE49-F238E27FC236}">
                  <a16:creationId xmlns:a16="http://schemas.microsoft.com/office/drawing/2014/main" id="{D779E46D-2FFF-4E8B-BAA0-3053E3C6088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12" y="3902"/>
            <a:ext cx="864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7" imgW="922020" imgH="193040" progId="ChemDraw.Document.5.0">
                    <p:embed/>
                  </p:oleObj>
                </mc:Choice>
                <mc:Fallback>
                  <p:oleObj r:id="rId27" imgW="922020" imgH="193040" progId="ChemDraw.Document.5.0">
                    <p:embed/>
                    <p:pic>
                      <p:nvPicPr>
                        <p:cNvPr id="0" name="对象 14033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2" y="3902"/>
                          <a:ext cx="864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14" name="对象 140340">
              <a:extLst>
                <a:ext uri="{FF2B5EF4-FFF2-40B4-BE49-F238E27FC236}">
                  <a16:creationId xmlns:a16="http://schemas.microsoft.com/office/drawing/2014/main" id="{5F772BB9-DF7A-4B19-9755-00575ADA4B9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608" y="3566"/>
            <a:ext cx="288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9" imgW="325120" imgH="314960" progId="ChemDraw.Document.5.0">
                    <p:embed/>
                  </p:oleObj>
                </mc:Choice>
                <mc:Fallback>
                  <p:oleObj r:id="rId29" imgW="325120" imgH="314960" progId="ChemDraw.Document.5.0">
                    <p:embed/>
                    <p:pic>
                      <p:nvPicPr>
                        <p:cNvPr id="0" name="对象 14034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3566"/>
                          <a:ext cx="288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6811" name="灯片编号占位符 1">
            <a:extLst>
              <a:ext uri="{FF2B5EF4-FFF2-40B4-BE49-F238E27FC236}">
                <a16:creationId xmlns:a16="http://schemas.microsoft.com/office/drawing/2014/main" id="{0CA25F8D-9E38-4C92-B336-75909F1F34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13C544E9-0A1E-4017-87F3-19DED09F1203}" type="slidenum">
              <a:rPr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39</a:t>
            </a:fld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40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0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0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0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0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0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0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0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0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0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0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0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0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0" grpId="0" build="p"/>
      <p:bldP spid="140304" grpId="0"/>
      <p:bldP spid="140305" grpId="0"/>
      <p:bldP spid="140313" grpId="0"/>
      <p:bldP spid="1403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283649">
            <a:extLst>
              <a:ext uri="{FF2B5EF4-FFF2-40B4-BE49-F238E27FC236}">
                <a16:creationId xmlns:a16="http://schemas.microsoft.com/office/drawing/2014/main" id="{CC2FA447-3446-4530-BD01-891DBDE918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609600"/>
          </a:xfrm>
        </p:spPr>
        <p:txBody>
          <a:bodyPr/>
          <a:lstStyle/>
          <a:p>
            <a:pPr eaLnBrk="1" hangingPunct="1"/>
            <a:r>
              <a:rPr lang="zh-CN" altLang="en-US" sz="2800" b="1">
                <a:solidFill>
                  <a:srgbClr val="0000FF"/>
                </a:solidFill>
                <a:ea typeface="华文新魏" panose="02010800040101010101" pitchFamily="2" charset="-122"/>
              </a:rPr>
              <a:t>完成反应式</a:t>
            </a:r>
          </a:p>
        </p:txBody>
      </p:sp>
      <p:sp>
        <p:nvSpPr>
          <p:cNvPr id="18435" name="文本框 283650">
            <a:extLst>
              <a:ext uri="{FF2B5EF4-FFF2-40B4-BE49-F238E27FC236}">
                <a16:creationId xmlns:a16="http://schemas.microsoft.com/office/drawing/2014/main" id="{5512CF1A-6D93-4A12-8138-D99674A20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341438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解答这类问题应该考虑以下几个方面：</a:t>
            </a:r>
          </a:p>
        </p:txBody>
      </p:sp>
      <p:sp>
        <p:nvSpPr>
          <p:cNvPr id="18436" name="文本框 283651">
            <a:extLst>
              <a:ext uri="{FF2B5EF4-FFF2-40B4-BE49-F238E27FC236}">
                <a16:creationId xmlns:a16="http://schemas.microsoft.com/office/drawing/2014/main" id="{51C3D2A4-D760-420F-ACF1-82E89885A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133600"/>
            <a:ext cx="9144000" cy="308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(1) </a:t>
            </a:r>
            <a:r>
              <a:rPr lang="zh-CN" altLang="en-US" sz="2800" b="1">
                <a:latin typeface="Times New Roman" panose="02020603050405020304" pitchFamily="18" charset="0"/>
              </a:rPr>
              <a:t>确定反应类型；</a:t>
            </a:r>
          </a:p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   </a:t>
            </a:r>
            <a:r>
              <a:rPr lang="en-US" altLang="zh-CN" sz="2800" b="1">
                <a:latin typeface="Times New Roman" panose="02020603050405020304" pitchFamily="18" charset="0"/>
              </a:rPr>
              <a:t>(2) </a:t>
            </a:r>
            <a:r>
              <a:rPr lang="zh-CN" altLang="en-US" sz="2800" b="1">
                <a:latin typeface="Times New Roman" panose="02020603050405020304" pitchFamily="18" charset="0"/>
              </a:rPr>
              <a:t>确定反应部位；</a:t>
            </a:r>
          </a:p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   </a:t>
            </a:r>
            <a:r>
              <a:rPr lang="en-US" altLang="zh-CN" sz="2800" b="1">
                <a:latin typeface="Times New Roman" panose="02020603050405020304" pitchFamily="18" charset="0"/>
              </a:rPr>
              <a:t>(3) </a:t>
            </a:r>
            <a:r>
              <a:rPr lang="zh-CN" altLang="en-US" sz="2800" b="1">
                <a:latin typeface="Times New Roman" panose="02020603050405020304" pitchFamily="18" charset="0"/>
              </a:rPr>
              <a:t>考虑反应的区域选择性；</a:t>
            </a:r>
          </a:p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   </a:t>
            </a:r>
            <a:r>
              <a:rPr lang="en-US" altLang="zh-CN" sz="2800" b="1">
                <a:latin typeface="Times New Roman" panose="02020603050405020304" pitchFamily="18" charset="0"/>
              </a:rPr>
              <a:t>(4) </a:t>
            </a:r>
            <a:r>
              <a:rPr lang="zh-CN" altLang="en-US" sz="2800" b="1">
                <a:latin typeface="Times New Roman" panose="02020603050405020304" pitchFamily="18" charset="0"/>
              </a:rPr>
              <a:t>考虑反应的立体化学问题；</a:t>
            </a:r>
          </a:p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   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8437" name="灯片编号占位符 1">
            <a:extLst>
              <a:ext uri="{FF2B5EF4-FFF2-40B4-BE49-F238E27FC236}">
                <a16:creationId xmlns:a16="http://schemas.microsoft.com/office/drawing/2014/main" id="{63FC4734-B4A7-4A7A-919F-CB6BC1583F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 noProof="1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  <a:defRPr/>
            </a:pPr>
            <a:fld id="{F629B81A-C61A-4C44-89B8-F61779D97192}" type="slidenum">
              <a:rPr lang="en-US" altLang="zh-CN" smtClean="0"/>
              <a:pPr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t>40</a:t>
            </a:fld>
            <a:endParaRPr lang="zh-CN" altLang="en-US" sz="1400"/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对象 284673">
            <a:extLst>
              <a:ext uri="{FF2B5EF4-FFF2-40B4-BE49-F238E27FC236}">
                <a16:creationId xmlns:a16="http://schemas.microsoft.com/office/drawing/2014/main" id="{EF96A2D7-742A-423D-ADD4-0589EE4921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3655921"/>
              </p:ext>
            </p:extLst>
          </p:nvPr>
        </p:nvGraphicFramePr>
        <p:xfrm>
          <a:off x="346691" y="2349922"/>
          <a:ext cx="8458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73700" imgH="515620" progId="ChemDraw.Document.6.0">
                  <p:embed/>
                </p:oleObj>
              </mc:Choice>
              <mc:Fallback>
                <p:oleObj r:id="rId2" imgW="5473700" imgH="515620" progId="ChemDraw.Document.6.0">
                  <p:embed/>
                  <p:pic>
                    <p:nvPicPr>
                      <p:cNvPr id="19458" name="对象 284673">
                        <a:extLst>
                          <a:ext uri="{FF2B5EF4-FFF2-40B4-BE49-F238E27FC236}">
                            <a16:creationId xmlns:a16="http://schemas.microsoft.com/office/drawing/2014/main" id="{EF96A2D7-742A-423D-ADD4-0589EE49213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691" y="2349922"/>
                        <a:ext cx="84582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75" name="文本框 284674">
            <a:extLst>
              <a:ext uri="{FF2B5EF4-FFF2-40B4-BE49-F238E27FC236}">
                <a16:creationId xmlns:a16="http://schemas.microsoft.com/office/drawing/2014/main" id="{1A760540-6A9A-4FFF-8FF4-A6C16AB42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41" y="3284960"/>
            <a:ext cx="9144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latin typeface="Times New Roman" panose="02020603050405020304" pitchFamily="18" charset="0"/>
              </a:rPr>
              <a:t>这是卤代烃的消除反应，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消除取向遵循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Saytzeff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规则</a:t>
            </a:r>
            <a:r>
              <a:rPr lang="zh-CN" altLang="en-US" sz="2800" b="1">
                <a:solidFill>
                  <a:srgbClr val="CC66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 b="1">
                <a:latin typeface="Times New Roman" panose="02020603050405020304" pitchFamily="18" charset="0"/>
              </a:rPr>
              <a:t>生成取代基多、热力学稳定的共 轭二烯烃。</a:t>
            </a:r>
          </a:p>
        </p:txBody>
      </p:sp>
      <p:graphicFrame>
        <p:nvGraphicFramePr>
          <p:cNvPr id="284676" name="对象 284675">
            <a:extLst>
              <a:ext uri="{FF2B5EF4-FFF2-40B4-BE49-F238E27FC236}">
                <a16:creationId xmlns:a16="http://schemas.microsoft.com/office/drawing/2014/main" id="{61B3F93A-6F8E-4F94-B99A-8CA20395A4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4983221"/>
              </p:ext>
            </p:extLst>
          </p:nvPr>
        </p:nvGraphicFramePr>
        <p:xfrm>
          <a:off x="5531466" y="2492797"/>
          <a:ext cx="2971800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61820" imgH="187960" progId="ChemDraw.Document.5.0">
                  <p:embed/>
                </p:oleObj>
              </mc:Choice>
              <mc:Fallback>
                <p:oleObj r:id="rId4" imgW="1861820" imgH="187960" progId="ChemDraw.Document.5.0">
                  <p:embed/>
                  <p:pic>
                    <p:nvPicPr>
                      <p:cNvPr id="284676" name="对象 284675">
                        <a:extLst>
                          <a:ext uri="{FF2B5EF4-FFF2-40B4-BE49-F238E27FC236}">
                            <a16:creationId xmlns:a16="http://schemas.microsoft.com/office/drawing/2014/main" id="{61B3F93A-6F8E-4F94-B99A-8CA20395A44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1466" y="2492797"/>
                        <a:ext cx="2971800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对象 284676">
            <a:extLst>
              <a:ext uri="{FF2B5EF4-FFF2-40B4-BE49-F238E27FC236}">
                <a16:creationId xmlns:a16="http://schemas.microsoft.com/office/drawing/2014/main" id="{E7AD34BD-6419-404B-A6F6-892C0EA965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854795"/>
              </p:ext>
            </p:extLst>
          </p:nvPr>
        </p:nvGraphicFramePr>
        <p:xfrm>
          <a:off x="346691" y="4581947"/>
          <a:ext cx="83820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184140" imgH="350520" progId="ChemDraw.Document.5.0">
                  <p:embed/>
                </p:oleObj>
              </mc:Choice>
              <mc:Fallback>
                <p:oleObj r:id="rId6" imgW="5184140" imgH="350520" progId="ChemDraw.Document.5.0">
                  <p:embed/>
                  <p:pic>
                    <p:nvPicPr>
                      <p:cNvPr id="19461" name="对象 284676">
                        <a:extLst>
                          <a:ext uri="{FF2B5EF4-FFF2-40B4-BE49-F238E27FC236}">
                            <a16:creationId xmlns:a16="http://schemas.microsoft.com/office/drawing/2014/main" id="{E7AD34BD-6419-404B-A6F6-892C0EA965B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691" y="4581947"/>
                        <a:ext cx="83820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78" name="文本框 284677">
            <a:extLst>
              <a:ext uri="{FF2B5EF4-FFF2-40B4-BE49-F238E27FC236}">
                <a16:creationId xmlns:a16="http://schemas.microsoft.com/office/drawing/2014/main" id="{969E198E-8C34-42E8-A3FB-3300F0AEE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41" y="5445547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    </a:t>
            </a:r>
            <a:r>
              <a:rPr lang="zh-CN" altLang="en-US" sz="2800" b="1">
                <a:latin typeface="宋体" panose="02010600030101010101" pitchFamily="2" charset="-122"/>
              </a:rPr>
              <a:t>这是卤代烃的亲核取代反应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graphicFrame>
        <p:nvGraphicFramePr>
          <p:cNvPr id="284679" name="对象 284678">
            <a:extLst>
              <a:ext uri="{FF2B5EF4-FFF2-40B4-BE49-F238E27FC236}">
                <a16:creationId xmlns:a16="http://schemas.microsoft.com/office/drawing/2014/main" id="{09C9DF5D-41DA-4C13-8FEF-26EB0961AC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8395086"/>
              </p:ext>
            </p:extLst>
          </p:nvPr>
        </p:nvGraphicFramePr>
        <p:xfrm>
          <a:off x="5531466" y="4869285"/>
          <a:ext cx="3124200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932940" imgH="187960" progId="ChemDraw.Document.5.0">
                  <p:embed/>
                </p:oleObj>
              </mc:Choice>
              <mc:Fallback>
                <p:oleObj r:id="rId8" imgW="1932940" imgH="187960" progId="ChemDraw.Document.5.0">
                  <p:embed/>
                  <p:pic>
                    <p:nvPicPr>
                      <p:cNvPr id="284679" name="对象 284678">
                        <a:extLst>
                          <a:ext uri="{FF2B5EF4-FFF2-40B4-BE49-F238E27FC236}">
                            <a16:creationId xmlns:a16="http://schemas.microsoft.com/office/drawing/2014/main" id="{09C9DF5D-41DA-4C13-8FEF-26EB0961ACF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1466" y="4869285"/>
                        <a:ext cx="3124200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对象 284679">
            <a:extLst>
              <a:ext uri="{FF2B5EF4-FFF2-40B4-BE49-F238E27FC236}">
                <a16:creationId xmlns:a16="http://schemas.microsoft.com/office/drawing/2014/main" id="{D27B7545-0098-4CD8-BF24-2D8B9F47EA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5242185"/>
              </p:ext>
            </p:extLst>
          </p:nvPr>
        </p:nvGraphicFramePr>
        <p:xfrm>
          <a:off x="346691" y="476672"/>
          <a:ext cx="8305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924600" imgH="452880" progId="ChemDraw.Document.6.0">
                  <p:embed/>
                </p:oleObj>
              </mc:Choice>
              <mc:Fallback>
                <p:oleObj r:id="rId10" imgW="6924600" imgH="452880" progId="ChemDraw.Document.6.0">
                  <p:embed/>
                  <p:pic>
                    <p:nvPicPr>
                      <p:cNvPr id="19464" name="对象 284679">
                        <a:extLst>
                          <a:ext uri="{FF2B5EF4-FFF2-40B4-BE49-F238E27FC236}">
                            <a16:creationId xmlns:a16="http://schemas.microsoft.com/office/drawing/2014/main" id="{D27B7545-0098-4CD8-BF24-2D8B9F47EA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691" y="476672"/>
                        <a:ext cx="83058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1" name="文本框 284680">
            <a:extLst>
              <a:ext uri="{FF2B5EF4-FFF2-40B4-BE49-F238E27FC236}">
                <a16:creationId xmlns:a16="http://schemas.microsoft.com/office/drawing/2014/main" id="{4CBC26BD-9CAF-4ECE-B8F4-1B879C6C2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41" y="1341860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latin typeface="Times New Roman" panose="02020603050405020304" pitchFamily="18" charset="0"/>
              </a:rPr>
              <a:t>该反应是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卤代烃的醇解反应，</a:t>
            </a:r>
            <a:r>
              <a:rPr lang="zh-CN" altLang="en-US" sz="2800" b="1">
                <a:latin typeface="Times New Roman" panose="02020603050405020304" pitchFamily="18" charset="0"/>
              </a:rPr>
              <a:t>反应产物为醚。</a:t>
            </a:r>
          </a:p>
        </p:txBody>
      </p:sp>
      <p:graphicFrame>
        <p:nvGraphicFramePr>
          <p:cNvPr id="284682" name="对象 284681">
            <a:extLst>
              <a:ext uri="{FF2B5EF4-FFF2-40B4-BE49-F238E27FC236}">
                <a16:creationId xmlns:a16="http://schemas.microsoft.com/office/drawing/2014/main" id="{360441A9-9642-4BD0-982D-7B4BCFAE7A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4909906"/>
              </p:ext>
            </p:extLst>
          </p:nvPr>
        </p:nvGraphicFramePr>
        <p:xfrm>
          <a:off x="5171104" y="621135"/>
          <a:ext cx="3084512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054860" imgH="187960" progId="ChemDraw.Document.5.0">
                  <p:embed/>
                </p:oleObj>
              </mc:Choice>
              <mc:Fallback>
                <p:oleObj r:id="rId12" imgW="2054860" imgH="187960" progId="ChemDraw.Document.5.0">
                  <p:embed/>
                  <p:pic>
                    <p:nvPicPr>
                      <p:cNvPr id="284682" name="对象 284681">
                        <a:extLst>
                          <a:ext uri="{FF2B5EF4-FFF2-40B4-BE49-F238E27FC236}">
                            <a16:creationId xmlns:a16="http://schemas.microsoft.com/office/drawing/2014/main" id="{360441A9-9642-4BD0-982D-7B4BCFAE7A5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1104" y="621135"/>
                        <a:ext cx="3084512" cy="28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灯片编号占位符 1">
            <a:extLst>
              <a:ext uri="{FF2B5EF4-FFF2-40B4-BE49-F238E27FC236}">
                <a16:creationId xmlns:a16="http://schemas.microsoft.com/office/drawing/2014/main" id="{7765FBA8-5D02-470D-AFD1-0A15AEC15E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164288" y="623686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8602D38A-28A9-46D3-9942-43DEA83F58AE}" type="slidenum">
              <a:rPr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41</a:t>
            </a:fld>
            <a:endParaRPr lang="zh-CN" altLang="en-US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4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4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5" grpId="0"/>
      <p:bldP spid="284678" grpId="0"/>
      <p:bldP spid="28468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对象 285697">
            <a:extLst>
              <a:ext uri="{FF2B5EF4-FFF2-40B4-BE49-F238E27FC236}">
                <a16:creationId xmlns:a16="http://schemas.microsoft.com/office/drawing/2014/main" id="{22D68229-993E-49AA-8AAB-0AA6ACD41007}"/>
              </a:ext>
            </a:extLst>
          </p:cNvPr>
          <p:cNvGraphicFramePr>
            <a:graphicFrameLocks/>
          </p:cNvGraphicFramePr>
          <p:nvPr/>
        </p:nvGraphicFramePr>
        <p:xfrm>
          <a:off x="395288" y="260350"/>
          <a:ext cx="8305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080000" imgH="381000" progId="ChemDraw.Document.5.0">
                  <p:embed/>
                </p:oleObj>
              </mc:Choice>
              <mc:Fallback>
                <p:oleObj r:id="rId2" imgW="5080000" imgH="381000" progId="ChemDraw.Document.5.0">
                  <p:embed/>
                  <p:pic>
                    <p:nvPicPr>
                      <p:cNvPr id="20482" name="对象 285697">
                        <a:extLst>
                          <a:ext uri="{FF2B5EF4-FFF2-40B4-BE49-F238E27FC236}">
                            <a16:creationId xmlns:a16="http://schemas.microsoft.com/office/drawing/2014/main" id="{22D68229-993E-49AA-8AAB-0AA6ACD4100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60350"/>
                        <a:ext cx="83058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699" name="对象 285698">
            <a:extLst>
              <a:ext uri="{FF2B5EF4-FFF2-40B4-BE49-F238E27FC236}">
                <a16:creationId xmlns:a16="http://schemas.microsoft.com/office/drawing/2014/main" id="{B1F4E3D8-F89B-4DE4-A0DB-E7CDC1BD54CE}"/>
              </a:ext>
            </a:extLst>
          </p:cNvPr>
          <p:cNvGraphicFramePr>
            <a:graphicFrameLocks/>
          </p:cNvGraphicFramePr>
          <p:nvPr/>
        </p:nvGraphicFramePr>
        <p:xfrm>
          <a:off x="5219700" y="0"/>
          <a:ext cx="29718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22780" imgH="721360" progId="ChemDraw.Document.5.0">
                  <p:embed/>
                </p:oleObj>
              </mc:Choice>
              <mc:Fallback>
                <p:oleObj r:id="rId4" imgW="1922780" imgH="721360" progId="ChemDraw.Document.5.0">
                  <p:embed/>
                  <p:pic>
                    <p:nvPicPr>
                      <p:cNvPr id="285699" name="对象 285698">
                        <a:extLst>
                          <a:ext uri="{FF2B5EF4-FFF2-40B4-BE49-F238E27FC236}">
                            <a16:creationId xmlns:a16="http://schemas.microsoft.com/office/drawing/2014/main" id="{B1F4E3D8-F89B-4DE4-A0DB-E7CDC1BD54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0"/>
                        <a:ext cx="2971800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00" name="文本框 285699">
            <a:extLst>
              <a:ext uri="{FF2B5EF4-FFF2-40B4-BE49-F238E27FC236}">
                <a16:creationId xmlns:a16="http://schemas.microsoft.com/office/drawing/2014/main" id="{67BE4295-959C-4DDB-8FEB-D140C2CC9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5538"/>
            <a:ext cx="91440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latin typeface="Times New Roman" panose="02020603050405020304" pitchFamily="18" charset="0"/>
              </a:rPr>
              <a:t>这是含有</a:t>
            </a:r>
            <a:r>
              <a:rPr lang="en-US" altLang="zh-CN" sz="2800" b="1" i="1">
                <a:latin typeface="Times New Roman" panose="02020603050405020304" pitchFamily="18" charset="0"/>
              </a:rPr>
              <a:t>α</a:t>
            </a:r>
            <a:r>
              <a:rPr lang="en-US" altLang="zh-CN" sz="2800" b="1">
                <a:latin typeface="Times New Roman" panose="02020603050405020304" pitchFamily="18" charset="0"/>
              </a:rPr>
              <a:t>- H</a:t>
            </a:r>
            <a:r>
              <a:rPr lang="zh-CN" altLang="en-US" sz="2800" b="1">
                <a:latin typeface="Times New Roman" panose="02020603050405020304" pitchFamily="18" charset="0"/>
              </a:rPr>
              <a:t>的酯在强碱条件下的</a:t>
            </a:r>
            <a:r>
              <a:rPr lang="en-US" altLang="zh-CN" sz="2800" b="1">
                <a:latin typeface="Times New Roman" panose="02020603050405020304" pitchFamily="18" charset="0"/>
              </a:rPr>
              <a:t>Claisen</a:t>
            </a:r>
            <a:r>
              <a:rPr lang="zh-CN" altLang="en-US" sz="2800" b="1">
                <a:latin typeface="Times New Roman" panose="02020603050405020304" pitchFamily="18" charset="0"/>
              </a:rPr>
              <a:t>酯缩合反应，产物的结构特点是：</a:t>
            </a:r>
            <a:r>
              <a:rPr lang="zh-CN" altLang="en-US" sz="2800" b="1">
                <a:solidFill>
                  <a:srgbClr val="0066FF"/>
                </a:solidFill>
                <a:latin typeface="Times New Roman" panose="02020603050405020304" pitchFamily="18" charset="0"/>
              </a:rPr>
              <a:t>除乙酸乙酯外，其它含</a:t>
            </a:r>
            <a:r>
              <a:rPr lang="en-US" altLang="zh-CN" sz="2800" b="1" i="1">
                <a:solidFill>
                  <a:srgbClr val="0066FF"/>
                </a:solidFill>
                <a:latin typeface="Times New Roman" panose="02020603050405020304" pitchFamily="18" charset="0"/>
              </a:rPr>
              <a:t>α</a:t>
            </a:r>
            <a:r>
              <a:rPr lang="en-US" altLang="zh-CN" sz="2800" b="1">
                <a:solidFill>
                  <a:srgbClr val="0066FF"/>
                </a:solidFill>
                <a:latin typeface="Times New Roman" panose="02020603050405020304" pitchFamily="18" charset="0"/>
              </a:rPr>
              <a:t>- H</a:t>
            </a:r>
            <a:r>
              <a:rPr lang="zh-CN" altLang="en-US" sz="2800" b="1">
                <a:solidFill>
                  <a:srgbClr val="0066FF"/>
                </a:solidFill>
                <a:latin typeface="Times New Roman" panose="02020603050405020304" pitchFamily="18" charset="0"/>
              </a:rPr>
              <a:t>的酯都将得到在</a:t>
            </a:r>
            <a:r>
              <a:rPr lang="en-US" altLang="zh-CN" sz="2800" b="1" i="1">
                <a:solidFill>
                  <a:srgbClr val="0066FF"/>
                </a:solidFill>
                <a:latin typeface="Times New Roman" panose="02020603050405020304" pitchFamily="18" charset="0"/>
              </a:rPr>
              <a:t>α</a:t>
            </a:r>
            <a:r>
              <a:rPr lang="en-US" altLang="zh-CN" sz="2800" b="1">
                <a:solidFill>
                  <a:srgbClr val="0066FF"/>
                </a:solidFill>
                <a:latin typeface="Times New Roman" panose="02020603050405020304" pitchFamily="18" charset="0"/>
              </a:rPr>
              <a:t>- </a:t>
            </a:r>
            <a:r>
              <a:rPr lang="zh-CN" altLang="en-US" sz="2800" b="1">
                <a:solidFill>
                  <a:srgbClr val="0066FF"/>
                </a:solidFill>
                <a:latin typeface="Times New Roman" panose="02020603050405020304" pitchFamily="18" charset="0"/>
              </a:rPr>
              <a:t>位上有支链的</a:t>
            </a:r>
            <a:r>
              <a:rPr lang="en-US" altLang="zh-CN" sz="2800" b="1" i="1">
                <a:solidFill>
                  <a:srgbClr val="0066FF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2800" b="1">
                <a:solidFill>
                  <a:srgbClr val="0066FF"/>
                </a:solidFill>
                <a:latin typeface="Times New Roman" panose="02020603050405020304" pitchFamily="18" charset="0"/>
              </a:rPr>
              <a:t>- </a:t>
            </a:r>
            <a:r>
              <a:rPr lang="zh-CN" altLang="en-US" sz="2800" b="1">
                <a:solidFill>
                  <a:srgbClr val="0066FF"/>
                </a:solidFill>
                <a:latin typeface="Times New Roman" panose="02020603050405020304" pitchFamily="18" charset="0"/>
              </a:rPr>
              <a:t>酮酸酯。</a:t>
            </a:r>
          </a:p>
        </p:txBody>
      </p:sp>
      <p:graphicFrame>
        <p:nvGraphicFramePr>
          <p:cNvPr id="20485" name="对象 285700">
            <a:extLst>
              <a:ext uri="{FF2B5EF4-FFF2-40B4-BE49-F238E27FC236}">
                <a16:creationId xmlns:a16="http://schemas.microsoft.com/office/drawing/2014/main" id="{1E1895E1-5FF7-443F-86FF-F1F7DF1B24B7}"/>
              </a:ext>
            </a:extLst>
          </p:cNvPr>
          <p:cNvGraphicFramePr>
            <a:graphicFrameLocks/>
          </p:cNvGraphicFramePr>
          <p:nvPr/>
        </p:nvGraphicFramePr>
        <p:xfrm>
          <a:off x="457200" y="2624138"/>
          <a:ext cx="6564313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563640" imgH="348480" progId="ChemDraw.Document.6.0">
                  <p:embed/>
                </p:oleObj>
              </mc:Choice>
              <mc:Fallback>
                <p:oleObj r:id="rId6" imgW="3563640" imgH="348480" progId="ChemDraw.Document.6.0">
                  <p:embed/>
                  <p:pic>
                    <p:nvPicPr>
                      <p:cNvPr id="20485" name="对象 285700">
                        <a:extLst>
                          <a:ext uri="{FF2B5EF4-FFF2-40B4-BE49-F238E27FC236}">
                            <a16:creationId xmlns:a16="http://schemas.microsoft.com/office/drawing/2014/main" id="{1E1895E1-5FF7-443F-86FF-F1F7DF1B24B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624138"/>
                        <a:ext cx="6564313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02" name="文本框 285701">
            <a:extLst>
              <a:ext uri="{FF2B5EF4-FFF2-40B4-BE49-F238E27FC236}">
                <a16:creationId xmlns:a16="http://schemas.microsoft.com/office/drawing/2014/main" id="{F824EBB7-936F-47A5-91CA-FAAD17FC5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140075"/>
            <a:ext cx="9144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该反应是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含有活泼氢的醛</a:t>
            </a:r>
            <a:r>
              <a:rPr lang="zh-CN" altLang="en-US" sz="2800" b="1" dirty="0">
                <a:latin typeface="Times New Roman" panose="02020603050405020304" pitchFamily="18" charset="0"/>
              </a:rPr>
              <a:t>与</a:t>
            </a: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不含</a:t>
            </a:r>
            <a:r>
              <a:rPr lang="en-US" altLang="zh-CN" sz="2800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α</a:t>
            </a:r>
            <a:r>
              <a:rPr lang="en-US" altLang="zh-CN" sz="28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- H</a:t>
            </a: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的醛的缩合反应，</a:t>
            </a:r>
            <a:r>
              <a:rPr lang="zh-CN" altLang="en-US" sz="2800" b="1" dirty="0"/>
              <a:t>生成</a:t>
            </a:r>
            <a:r>
              <a:rPr lang="en-US" altLang="zh-CN" sz="2800" b="1" i="1" dirty="0">
                <a:solidFill>
                  <a:srgbClr val="0066FF"/>
                </a:solidFill>
              </a:rPr>
              <a:t>β</a:t>
            </a:r>
            <a:r>
              <a:rPr lang="en-US" altLang="zh-CN" sz="2800" b="1" dirty="0">
                <a:solidFill>
                  <a:srgbClr val="0066FF"/>
                </a:solidFill>
              </a:rPr>
              <a:t>- </a:t>
            </a:r>
            <a:r>
              <a:rPr lang="zh-CN" altLang="en-US" sz="2800" b="1" dirty="0">
                <a:solidFill>
                  <a:srgbClr val="0066FF"/>
                </a:solidFill>
              </a:rPr>
              <a:t>羟基化合物。</a:t>
            </a:r>
          </a:p>
        </p:txBody>
      </p:sp>
      <p:graphicFrame>
        <p:nvGraphicFramePr>
          <p:cNvPr id="285703" name="对象 285702">
            <a:extLst>
              <a:ext uri="{FF2B5EF4-FFF2-40B4-BE49-F238E27FC236}">
                <a16:creationId xmlns:a16="http://schemas.microsoft.com/office/drawing/2014/main" id="{F1AF0F91-F1DF-4F38-BD9D-30DB647D4EED}"/>
              </a:ext>
            </a:extLst>
          </p:cNvPr>
          <p:cNvGraphicFramePr>
            <a:graphicFrameLocks/>
          </p:cNvGraphicFramePr>
          <p:nvPr/>
        </p:nvGraphicFramePr>
        <p:xfrm>
          <a:off x="4572000" y="2708275"/>
          <a:ext cx="24447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720800" imgH="374400" progId="ChemDraw.Document.6.0">
                  <p:embed/>
                </p:oleObj>
              </mc:Choice>
              <mc:Fallback>
                <p:oleObj r:id="rId8" imgW="1720800" imgH="374400" progId="ChemDraw.Document.6.0">
                  <p:embed/>
                  <p:pic>
                    <p:nvPicPr>
                      <p:cNvPr id="285703" name="对象 285702">
                        <a:extLst>
                          <a:ext uri="{FF2B5EF4-FFF2-40B4-BE49-F238E27FC236}">
                            <a16:creationId xmlns:a16="http://schemas.microsoft.com/office/drawing/2014/main" id="{F1AF0F91-F1DF-4F38-BD9D-30DB647D4EE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708275"/>
                        <a:ext cx="24447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文本框 285703">
            <a:extLst>
              <a:ext uri="{FF2B5EF4-FFF2-40B4-BE49-F238E27FC236}">
                <a16:creationId xmlns:a16="http://schemas.microsoft.com/office/drawing/2014/main" id="{09C815DC-42A2-481A-834B-83B0B3691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2578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20489" name="对象 285704">
            <a:extLst>
              <a:ext uri="{FF2B5EF4-FFF2-40B4-BE49-F238E27FC236}">
                <a16:creationId xmlns:a16="http://schemas.microsoft.com/office/drawing/2014/main" id="{A7B8A037-9A8F-4C00-AB89-AF5F395AF397}"/>
              </a:ext>
            </a:extLst>
          </p:cNvPr>
          <p:cNvGraphicFramePr>
            <a:graphicFrameLocks/>
          </p:cNvGraphicFramePr>
          <p:nvPr/>
        </p:nvGraphicFramePr>
        <p:xfrm>
          <a:off x="522288" y="4354513"/>
          <a:ext cx="595471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605400" imgH="295920" progId="ChemDraw.Document.6.0">
                  <p:embed/>
                </p:oleObj>
              </mc:Choice>
              <mc:Fallback>
                <p:oleObj r:id="rId10" imgW="3605400" imgH="295920" progId="ChemDraw.Document.6.0">
                  <p:embed/>
                  <p:pic>
                    <p:nvPicPr>
                      <p:cNvPr id="20489" name="对象 285704">
                        <a:extLst>
                          <a:ext uri="{FF2B5EF4-FFF2-40B4-BE49-F238E27FC236}">
                            <a16:creationId xmlns:a16="http://schemas.microsoft.com/office/drawing/2014/main" id="{A7B8A037-9A8F-4C00-AB89-AF5F395AF39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88" y="4354513"/>
                        <a:ext cx="5954712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6" name="对象 285705">
            <a:extLst>
              <a:ext uri="{FF2B5EF4-FFF2-40B4-BE49-F238E27FC236}">
                <a16:creationId xmlns:a16="http://schemas.microsoft.com/office/drawing/2014/main" id="{C1A3797E-D821-4AD4-8C1C-840683D1F2DB}"/>
              </a:ext>
            </a:extLst>
          </p:cNvPr>
          <p:cNvGraphicFramePr>
            <a:graphicFrameLocks/>
          </p:cNvGraphicFramePr>
          <p:nvPr/>
        </p:nvGraphicFramePr>
        <p:xfrm>
          <a:off x="4716463" y="4365625"/>
          <a:ext cx="17526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099820" imgH="332740" progId="ChemDraw.Document.5.0">
                  <p:embed/>
                </p:oleObj>
              </mc:Choice>
              <mc:Fallback>
                <p:oleObj r:id="rId12" imgW="1099820" imgH="332740" progId="ChemDraw.Document.5.0">
                  <p:embed/>
                  <p:pic>
                    <p:nvPicPr>
                      <p:cNvPr id="285706" name="对象 285705">
                        <a:extLst>
                          <a:ext uri="{FF2B5EF4-FFF2-40B4-BE49-F238E27FC236}">
                            <a16:creationId xmlns:a16="http://schemas.microsoft.com/office/drawing/2014/main" id="{C1A3797E-D821-4AD4-8C1C-840683D1F2D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365625"/>
                        <a:ext cx="17526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07" name="文本框 285706">
            <a:extLst>
              <a:ext uri="{FF2B5EF4-FFF2-40B4-BE49-F238E27FC236}">
                <a16:creationId xmlns:a16="http://schemas.microsoft.com/office/drawing/2014/main" id="{E7315893-AA6E-41AE-9630-83F507778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157788"/>
            <a:ext cx="9144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    </a:t>
            </a:r>
            <a:r>
              <a:rPr lang="zh-CN" altLang="en-US" sz="2800" b="1">
                <a:latin typeface="宋体" panose="02010600030101010101" pitchFamily="2" charset="-122"/>
              </a:rPr>
              <a:t>这是酰胺的</a:t>
            </a:r>
            <a:r>
              <a:rPr lang="en-US" altLang="zh-CN" sz="2800" b="1">
                <a:latin typeface="Times New Roman" panose="02020603050405020304" pitchFamily="18" charset="0"/>
              </a:rPr>
              <a:t>Hofmann</a:t>
            </a:r>
            <a:r>
              <a:rPr lang="zh-CN" altLang="en-US" sz="2800" b="1">
                <a:latin typeface="宋体" panose="02010600030101010101" pitchFamily="2" charset="-122"/>
              </a:rPr>
              <a:t>降解反应；其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产物特点</a:t>
            </a:r>
            <a:r>
              <a:rPr lang="zh-CN" altLang="en-US" sz="2800" b="1">
                <a:latin typeface="宋体" panose="02010600030101010101" pitchFamily="2" charset="-122"/>
              </a:rPr>
              <a:t>是：生成</a:t>
            </a: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减少一个碳原子的有机胺</a:t>
            </a:r>
            <a:r>
              <a:rPr lang="zh-CN" altLang="en-US" sz="2800" b="1">
                <a:solidFill>
                  <a:srgbClr val="CC6600"/>
                </a:solidFill>
                <a:latin typeface="宋体" panose="02010600030101010101" pitchFamily="2" charset="-122"/>
              </a:rPr>
              <a:t>。</a:t>
            </a:r>
            <a:r>
              <a:rPr lang="zh-CN" altLang="en-US" sz="2800" b="1">
                <a:solidFill>
                  <a:srgbClr val="CC66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0492" name="灯片编号占位符 1">
            <a:extLst>
              <a:ext uri="{FF2B5EF4-FFF2-40B4-BE49-F238E27FC236}">
                <a16:creationId xmlns:a16="http://schemas.microsoft.com/office/drawing/2014/main" id="{0F3D12CB-2CA3-422B-8138-6F6E21A932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91F6624F-9382-4F8A-A4D4-564D7FA37761}" type="slidenum">
              <a:rPr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42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5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5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5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5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0" grpId="0"/>
      <p:bldP spid="285702" grpId="0"/>
      <p:bldP spid="28570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对象 286721">
            <a:extLst>
              <a:ext uri="{FF2B5EF4-FFF2-40B4-BE49-F238E27FC236}">
                <a16:creationId xmlns:a16="http://schemas.microsoft.com/office/drawing/2014/main" id="{3E1AE51A-0114-467B-9A80-409455057D7D}"/>
              </a:ext>
            </a:extLst>
          </p:cNvPr>
          <p:cNvGraphicFramePr>
            <a:graphicFrameLocks/>
          </p:cNvGraphicFramePr>
          <p:nvPr/>
        </p:nvGraphicFramePr>
        <p:xfrm>
          <a:off x="457200" y="576263"/>
          <a:ext cx="8088313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592600" imgH="450720" progId="ChemDraw.Document.6.0">
                  <p:embed/>
                </p:oleObj>
              </mc:Choice>
              <mc:Fallback>
                <p:oleObj r:id="rId2" imgW="5592600" imgH="450720" progId="ChemDraw.Document.6.0">
                  <p:embed/>
                  <p:pic>
                    <p:nvPicPr>
                      <p:cNvPr id="21506" name="对象 286721">
                        <a:extLst>
                          <a:ext uri="{FF2B5EF4-FFF2-40B4-BE49-F238E27FC236}">
                            <a16:creationId xmlns:a16="http://schemas.microsoft.com/office/drawing/2014/main" id="{3E1AE51A-0114-467B-9A80-409455057D7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76263"/>
                        <a:ext cx="8088313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23" name="文本框 286722">
            <a:extLst>
              <a:ext uri="{FF2B5EF4-FFF2-40B4-BE49-F238E27FC236}">
                <a16:creationId xmlns:a16="http://schemas.microsoft.com/office/drawing/2014/main" id="{6D258B69-27D8-49A3-AEAB-24FD5EA3F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84313"/>
            <a:ext cx="9144000" cy="188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这是一个氧化反应，值得注意的是：</a:t>
            </a:r>
            <a:r>
              <a:rPr lang="zh-CN" altLang="en-US" sz="2800" b="1" dirty="0">
                <a:solidFill>
                  <a:srgbClr val="CC6600"/>
                </a:solidFill>
                <a:latin typeface="Times New Roman" panose="02020603050405020304" pitchFamily="18" charset="0"/>
              </a:rPr>
              <a:t>三元环对氧化剂是稳定的</a:t>
            </a:r>
            <a:r>
              <a:rPr lang="zh-CN" altLang="en-US" sz="2800" b="1" dirty="0">
                <a:latin typeface="Times New Roman" panose="02020603050405020304" pitchFamily="18" charset="0"/>
              </a:rPr>
              <a:t>，这里</a:t>
            </a: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仅仅氧化碳碳双键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，因该氧化剂较为温和，故氧化为</a:t>
            </a:r>
            <a:r>
              <a:rPr lang="zh-CN" altLang="en-US" sz="28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顺式</a:t>
            </a:r>
            <a:r>
              <a:rPr lang="en-US" altLang="zh-CN" sz="2800" b="1" i="1" dirty="0">
                <a:solidFill>
                  <a:srgbClr val="009900"/>
                </a:solidFill>
                <a:latin typeface="Times New Roman" panose="02020603050405020304" pitchFamily="18" charset="0"/>
              </a:rPr>
              <a:t>α</a:t>
            </a: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sz="28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二醇。</a:t>
            </a:r>
          </a:p>
        </p:txBody>
      </p:sp>
      <p:graphicFrame>
        <p:nvGraphicFramePr>
          <p:cNvPr id="286724" name="对象 286723">
            <a:extLst>
              <a:ext uri="{FF2B5EF4-FFF2-40B4-BE49-F238E27FC236}">
                <a16:creationId xmlns:a16="http://schemas.microsoft.com/office/drawing/2014/main" id="{80C1E99B-987A-4960-9FDC-7FD48C0978CF}"/>
              </a:ext>
            </a:extLst>
          </p:cNvPr>
          <p:cNvGraphicFramePr>
            <a:graphicFrameLocks/>
          </p:cNvGraphicFramePr>
          <p:nvPr/>
        </p:nvGraphicFramePr>
        <p:xfrm>
          <a:off x="5003800" y="549275"/>
          <a:ext cx="311785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68500" imgH="462280" progId="ChemDraw.Document.5.0">
                  <p:embed/>
                </p:oleObj>
              </mc:Choice>
              <mc:Fallback>
                <p:oleObj r:id="rId4" imgW="1968500" imgH="462280" progId="ChemDraw.Document.5.0">
                  <p:embed/>
                  <p:pic>
                    <p:nvPicPr>
                      <p:cNvPr id="286724" name="对象 286723">
                        <a:extLst>
                          <a:ext uri="{FF2B5EF4-FFF2-40B4-BE49-F238E27FC236}">
                            <a16:creationId xmlns:a16="http://schemas.microsoft.com/office/drawing/2014/main" id="{80C1E99B-987A-4960-9FDC-7FD48C0978C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549275"/>
                        <a:ext cx="3117850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对象 286724">
            <a:extLst>
              <a:ext uri="{FF2B5EF4-FFF2-40B4-BE49-F238E27FC236}">
                <a16:creationId xmlns:a16="http://schemas.microsoft.com/office/drawing/2014/main" id="{23E3B8AD-A8D3-470B-9044-A1AA063092D4}"/>
              </a:ext>
            </a:extLst>
          </p:cNvPr>
          <p:cNvGraphicFramePr>
            <a:graphicFrameLocks/>
          </p:cNvGraphicFramePr>
          <p:nvPr/>
        </p:nvGraphicFramePr>
        <p:xfrm>
          <a:off x="250825" y="3500438"/>
          <a:ext cx="74437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260240" imgH="340200" progId="ChemDraw.Document.6.0">
                  <p:embed/>
                </p:oleObj>
              </mc:Choice>
              <mc:Fallback>
                <p:oleObj r:id="rId6" imgW="4260240" imgH="340200" progId="ChemDraw.Document.6.0">
                  <p:embed/>
                  <p:pic>
                    <p:nvPicPr>
                      <p:cNvPr id="21509" name="对象 286724">
                        <a:extLst>
                          <a:ext uri="{FF2B5EF4-FFF2-40B4-BE49-F238E27FC236}">
                            <a16:creationId xmlns:a16="http://schemas.microsoft.com/office/drawing/2014/main" id="{23E3B8AD-A8D3-470B-9044-A1AA063092D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500438"/>
                        <a:ext cx="744378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6" name="对象 286725">
            <a:extLst>
              <a:ext uri="{FF2B5EF4-FFF2-40B4-BE49-F238E27FC236}">
                <a16:creationId xmlns:a16="http://schemas.microsoft.com/office/drawing/2014/main" id="{4DCAF613-2C2D-4EDB-8D59-479354257A23}"/>
              </a:ext>
            </a:extLst>
          </p:cNvPr>
          <p:cNvGraphicFramePr>
            <a:graphicFrameLocks/>
          </p:cNvGraphicFramePr>
          <p:nvPr/>
        </p:nvGraphicFramePr>
        <p:xfrm>
          <a:off x="4716463" y="3500438"/>
          <a:ext cx="24606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567180" imgH="327660" progId="ChemDraw.Document.5.0">
                  <p:embed/>
                </p:oleObj>
              </mc:Choice>
              <mc:Fallback>
                <p:oleObj r:id="rId8" imgW="1567180" imgH="327660" progId="ChemDraw.Document.5.0">
                  <p:embed/>
                  <p:pic>
                    <p:nvPicPr>
                      <p:cNvPr id="286726" name="对象 286725">
                        <a:extLst>
                          <a:ext uri="{FF2B5EF4-FFF2-40B4-BE49-F238E27FC236}">
                            <a16:creationId xmlns:a16="http://schemas.microsoft.com/office/drawing/2014/main" id="{4DCAF613-2C2D-4EDB-8D59-479354257A2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500438"/>
                        <a:ext cx="246062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27" name="文本框 286726">
            <a:extLst>
              <a:ext uri="{FF2B5EF4-FFF2-40B4-BE49-F238E27FC236}">
                <a16:creationId xmlns:a16="http://schemas.microsoft.com/office/drawing/2014/main" id="{F7619403-B3E7-42EA-86DB-692CE4594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508500"/>
            <a:ext cx="86407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这是一个还原反应，该还原剂为选择性还原剂，它只还原羰基而不影响</a:t>
            </a:r>
            <a:r>
              <a:rPr lang="zh-CN" altLang="en-US" sz="2800" b="1" dirty="0">
                <a:latin typeface="宋体" panose="02010600030101010101" pitchFamily="2" charset="-122"/>
              </a:rPr>
              <a:t>酯基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21512" name="灯片编号占位符 1">
            <a:extLst>
              <a:ext uri="{FF2B5EF4-FFF2-40B4-BE49-F238E27FC236}">
                <a16:creationId xmlns:a16="http://schemas.microsoft.com/office/drawing/2014/main" id="{8CE39DC4-B3F7-468E-A44D-798C7E90CF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CA335A32-E2B9-4A77-ACB7-A0979C9CA171}" type="slidenum">
              <a:rPr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43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3" grpId="0"/>
      <p:bldP spid="28672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文本框 262145">
            <a:extLst>
              <a:ext uri="{FF2B5EF4-FFF2-40B4-BE49-F238E27FC236}">
                <a16:creationId xmlns:a16="http://schemas.microsoft.com/office/drawing/2014/main" id="{F54AE38C-4483-4D57-8DAE-96631FDC3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89138"/>
            <a:ext cx="7848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6000" b="1">
                <a:solidFill>
                  <a:srgbClr val="0000FF"/>
                </a:solidFill>
                <a:ea typeface="楷体_GB2312" pitchFamily="49" charset="-122"/>
              </a:rPr>
              <a:t>有机化合物化学鉴别</a:t>
            </a:r>
          </a:p>
        </p:txBody>
      </p:sp>
      <p:sp>
        <p:nvSpPr>
          <p:cNvPr id="22531" name="灯片编号占位符 1">
            <a:extLst>
              <a:ext uri="{FF2B5EF4-FFF2-40B4-BE49-F238E27FC236}">
                <a16:creationId xmlns:a16="http://schemas.microsoft.com/office/drawing/2014/main" id="{74F6490E-3E68-478B-8763-AE9B5D180B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B237625F-668C-4D43-84F7-FD55B88F4859}" type="slidenum">
              <a:rPr altLang="en-US" sz="1400"/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44</a:t>
            </a:fld>
            <a:endParaRPr lang="zh-CN" altLang="en-US" sz="1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矩形 263169">
            <a:extLst>
              <a:ext uri="{FF2B5EF4-FFF2-40B4-BE49-F238E27FC236}">
                <a16:creationId xmlns:a16="http://schemas.microsoft.com/office/drawing/2014/main" id="{BD6CA2E1-7B0E-43F9-93F8-3D460C372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77300"/>
            <a:ext cx="82804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ea typeface="楷体_GB2312" pitchFamily="49" charset="-122"/>
              </a:rPr>
              <a:t>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做鉴别题时要注意，并不是化合物的所有化学性质都可以用于鉴别，必须具备一定的条件： </a:t>
            </a:r>
          </a:p>
        </p:txBody>
      </p:sp>
      <p:sp>
        <p:nvSpPr>
          <p:cNvPr id="263171" name="矩形 263170">
            <a:extLst>
              <a:ext uri="{FF2B5EF4-FFF2-40B4-BE49-F238E27FC236}">
                <a16:creationId xmlns:a16="http://schemas.microsoft.com/office/drawing/2014/main" id="{2292D0B6-D950-48C6-A677-07A786DDB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2348880"/>
            <a:ext cx="7704856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8001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8001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8001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8001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8001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8001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8001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8001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8001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化学反应中有颜色变化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反应产物有气体产生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反应产物有沉淀生成或反应过程中沉淀溶解、产物分层等。</a:t>
            </a:r>
          </a:p>
        </p:txBody>
      </p:sp>
      <p:sp>
        <p:nvSpPr>
          <p:cNvPr id="23556" name="灯片编号占位符 1">
            <a:extLst>
              <a:ext uri="{FF2B5EF4-FFF2-40B4-BE49-F238E27FC236}">
                <a16:creationId xmlns:a16="http://schemas.microsoft.com/office/drawing/2014/main" id="{A3AF31C2-4504-45E1-B6F7-153504C756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28FD90FA-DAAE-424F-949B-EB04A16D6A06}" type="slidenum">
              <a:rPr altLang="en-US" sz="1400"/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45</a:t>
            </a:fld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6317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6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0" grpId="0"/>
      <p:bldP spid="26317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文本框 264193">
            <a:extLst>
              <a:ext uri="{FF2B5EF4-FFF2-40B4-BE49-F238E27FC236}">
                <a16:creationId xmlns:a16="http://schemas.microsoft.com/office/drawing/2014/main" id="{5C6A7DA4-0117-43C0-9FF3-5D2ABBBDE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052513"/>
            <a:ext cx="85693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ea typeface="楷体_GB2312" pitchFamily="49" charset="-122"/>
              </a:rPr>
              <a:t>烷烃：</a:t>
            </a: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化学性质稳定，一般没有特殊反应，一般在鉴别中是剩余物质。</a:t>
            </a:r>
          </a:p>
        </p:txBody>
      </p:sp>
      <p:sp>
        <p:nvSpPr>
          <p:cNvPr id="264195" name="文本框 264194">
            <a:extLst>
              <a:ext uri="{FF2B5EF4-FFF2-40B4-BE49-F238E27FC236}">
                <a16:creationId xmlns:a16="http://schemas.microsoft.com/office/drawing/2014/main" id="{5DEC4BE3-34D3-4725-9BC8-CA6362A78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349500"/>
            <a:ext cx="8280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  <a:ea typeface="楷体_GB2312" pitchFamily="49" charset="-122"/>
              </a:rPr>
              <a:t>环烷烃</a:t>
            </a:r>
            <a: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b="1">
                <a:latin typeface="Times New Roman" panose="02020603050405020304" pitchFamily="18" charset="0"/>
                <a:ea typeface="楷体_GB2312" pitchFamily="49" charset="-122"/>
              </a:rPr>
              <a:t>三元环、四元环）：</a:t>
            </a:r>
            <a:r>
              <a:rPr lang="zh-CN" altLang="en-US" b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Br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/CCl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红色褪色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264196" name="文本框 264195">
            <a:extLst>
              <a:ext uri="{FF2B5EF4-FFF2-40B4-BE49-F238E27FC236}">
                <a16:creationId xmlns:a16="http://schemas.microsoft.com/office/drawing/2014/main" id="{EA6F9B06-BCCB-448C-904B-00B3CF9D8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789363"/>
            <a:ext cx="7559675" cy="204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  <a:ea typeface="楷体_GB2312" pitchFamily="49" charset="-122"/>
              </a:rPr>
              <a:t>烯烃，二烯烃，炔烃：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Br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/CCl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b="1">
                <a:solidFill>
                  <a:srgbClr val="FF0066"/>
                </a:solidFill>
                <a:ea typeface="楷体_GB2312" pitchFamily="49" charset="-122"/>
              </a:rPr>
              <a:t>红色褪去</a:t>
            </a:r>
            <a:r>
              <a:rPr lang="zh-CN" altLang="en-US">
                <a:solidFill>
                  <a:srgbClr val="0000FF"/>
                </a:solidFill>
              </a:rPr>
              <a:t> </a:t>
            </a:r>
            <a:endParaRPr lang="zh-CN" altLang="en-US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KMnO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/H</a:t>
            </a:r>
            <a:r>
              <a:rPr lang="zh-CN" altLang="en-US" b="1" baseline="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＋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紫色褪去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24581" name="灯片编号占位符 1">
            <a:extLst>
              <a:ext uri="{FF2B5EF4-FFF2-40B4-BE49-F238E27FC236}">
                <a16:creationId xmlns:a16="http://schemas.microsoft.com/office/drawing/2014/main" id="{C757C7BB-3EB1-498A-9C8E-BF3E501D25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F9E79EFC-1638-4BFC-9919-978484671C8D}" type="slidenum">
              <a:rPr altLang="en-US" sz="1400"/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46</a:t>
            </a:fld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4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4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4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4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4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4" grpId="0"/>
      <p:bldP spid="264195" grpId="0"/>
      <p:bldP spid="26419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矩形 265217">
            <a:extLst>
              <a:ext uri="{FF2B5EF4-FFF2-40B4-BE49-F238E27FC236}">
                <a16:creationId xmlns:a16="http://schemas.microsoft.com/office/drawing/2014/main" id="{9F8886A5-E539-4CA8-8E8F-E966717E6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63563"/>
            <a:ext cx="31416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>
                <a:ea typeface="楷体_GB2312" pitchFamily="49" charset="-122"/>
              </a:rPr>
              <a:t>含有炔氢的炔烃</a:t>
            </a:r>
            <a:r>
              <a:rPr lang="zh-CN" altLang="en-US"/>
              <a:t> </a:t>
            </a:r>
          </a:p>
        </p:txBody>
      </p:sp>
      <p:sp>
        <p:nvSpPr>
          <p:cNvPr id="265219" name="矩形 265218">
            <a:extLst>
              <a:ext uri="{FF2B5EF4-FFF2-40B4-BE49-F238E27FC236}">
                <a16:creationId xmlns:a16="http://schemas.microsoft.com/office/drawing/2014/main" id="{9F060D8C-EB3D-4F7B-B11C-827051C66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19200"/>
            <a:ext cx="8675688" cy="1555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Ag(NH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NO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——R-C≡CAg↓(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灰白色沉淀）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Cu(NH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Cl——R-C≡CCu↓(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砖红色沉淀）</a:t>
            </a:r>
          </a:p>
        </p:txBody>
      </p:sp>
      <p:sp>
        <p:nvSpPr>
          <p:cNvPr id="265220" name="文本框 265219">
            <a:extLst>
              <a:ext uri="{FF2B5EF4-FFF2-40B4-BE49-F238E27FC236}">
                <a16:creationId xmlns:a16="http://schemas.microsoft.com/office/drawing/2014/main" id="{193A3585-959F-477D-869E-6C5FE9C64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819400"/>
            <a:ext cx="9599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卤代烃：用其与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AgNO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/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乙醇反应，生成沉淀。</a:t>
            </a:r>
          </a:p>
        </p:txBody>
      </p:sp>
      <p:graphicFrame>
        <p:nvGraphicFramePr>
          <p:cNvPr id="265222" name="对象 265221">
            <a:extLst>
              <a:ext uri="{FF2B5EF4-FFF2-40B4-BE49-F238E27FC236}">
                <a16:creationId xmlns:a16="http://schemas.microsoft.com/office/drawing/2014/main" id="{1573683E-8EE0-4599-B245-A916CEB24817}"/>
              </a:ext>
            </a:extLst>
          </p:cNvPr>
          <p:cNvGraphicFramePr>
            <a:graphicFrameLocks/>
          </p:cNvGraphicFramePr>
          <p:nvPr/>
        </p:nvGraphicFramePr>
        <p:xfrm>
          <a:off x="287338" y="3573463"/>
          <a:ext cx="8856662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826933" imgH="1604398" progId="ChemDraw.Document.6.0">
                  <p:embed/>
                </p:oleObj>
              </mc:Choice>
              <mc:Fallback>
                <p:oleObj r:id="rId2" imgW="4826933" imgH="1604398" progId="ChemDraw.Document.6.0">
                  <p:embed/>
                  <p:pic>
                    <p:nvPicPr>
                      <p:cNvPr id="265222" name="对象 265221">
                        <a:extLst>
                          <a:ext uri="{FF2B5EF4-FFF2-40B4-BE49-F238E27FC236}">
                            <a16:creationId xmlns:a16="http://schemas.microsoft.com/office/drawing/2014/main" id="{1573683E-8EE0-4599-B245-A916CEB248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8" y="3573463"/>
                        <a:ext cx="8856662" cy="295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灯片编号占位符 1">
            <a:extLst>
              <a:ext uri="{FF2B5EF4-FFF2-40B4-BE49-F238E27FC236}">
                <a16:creationId xmlns:a16="http://schemas.microsoft.com/office/drawing/2014/main" id="{1783048D-F497-4DF3-AC94-2B467B4C09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CC6B20AE-6C0F-4E69-917D-1A032C0F2880}" type="slidenum">
              <a:rPr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47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5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5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5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5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8" grpId="0"/>
      <p:bldP spid="265219" grpId="0" animBg="1"/>
      <p:bldP spid="26522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文本框 266241">
            <a:extLst>
              <a:ext uri="{FF2B5EF4-FFF2-40B4-BE49-F238E27FC236}">
                <a16:creationId xmlns:a16="http://schemas.microsoft.com/office/drawing/2014/main" id="{5B8FB973-C2BA-457A-B473-36CBB8804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908050"/>
            <a:ext cx="1152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ea typeface="楷体_GB2312" pitchFamily="49" charset="-122"/>
              </a:rPr>
              <a:t>醇：</a:t>
            </a:r>
          </a:p>
        </p:txBody>
      </p:sp>
      <p:sp>
        <p:nvSpPr>
          <p:cNvPr id="266243" name="矩形 266242">
            <a:extLst>
              <a:ext uri="{FF2B5EF4-FFF2-40B4-BE49-F238E27FC236}">
                <a16:creationId xmlns:a16="http://schemas.microsoft.com/office/drawing/2014/main" id="{1026DA54-FE2D-499A-A0A2-C7A0E3203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28775"/>
            <a:ext cx="8280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239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239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23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23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23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23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23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23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23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1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）重铬酸钾的酸溶液，鉴别伯仲醇，橙红色变为亮绿色，叔醇无变化。</a:t>
            </a:r>
          </a:p>
        </p:txBody>
      </p:sp>
      <p:sp>
        <p:nvSpPr>
          <p:cNvPr id="266244" name="文本框 266243">
            <a:extLst>
              <a:ext uri="{FF2B5EF4-FFF2-40B4-BE49-F238E27FC236}">
                <a16:creationId xmlns:a16="http://schemas.microsoft.com/office/drawing/2014/main" id="{1DCF636A-B83E-491F-BB90-4B4336BB1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924175"/>
            <a:ext cx="80645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）卢卡斯试剂（浓盐酸＋无水氯化锌）</a:t>
            </a:r>
          </a:p>
        </p:txBody>
      </p:sp>
      <p:graphicFrame>
        <p:nvGraphicFramePr>
          <p:cNvPr id="266245" name="对象 266244">
            <a:extLst>
              <a:ext uri="{FF2B5EF4-FFF2-40B4-BE49-F238E27FC236}">
                <a16:creationId xmlns:a16="http://schemas.microsoft.com/office/drawing/2014/main" id="{834823C0-F8A7-4513-939F-062872E61C8F}"/>
              </a:ext>
            </a:extLst>
          </p:cNvPr>
          <p:cNvGraphicFramePr>
            <a:graphicFrameLocks/>
          </p:cNvGraphicFramePr>
          <p:nvPr/>
        </p:nvGraphicFramePr>
        <p:xfrm>
          <a:off x="900113" y="3933825"/>
          <a:ext cx="7469187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55669" imgH="616096" progId="ChemWindow.Document">
                  <p:embed/>
                </p:oleObj>
              </mc:Choice>
              <mc:Fallback>
                <p:oleObj r:id="rId2" imgW="2755669" imgH="616096" progId="ChemWindow.Document">
                  <p:embed/>
                  <p:pic>
                    <p:nvPicPr>
                      <p:cNvPr id="266245" name="对象 266244">
                        <a:extLst>
                          <a:ext uri="{FF2B5EF4-FFF2-40B4-BE49-F238E27FC236}">
                            <a16:creationId xmlns:a16="http://schemas.microsoft.com/office/drawing/2014/main" id="{834823C0-F8A7-4513-939F-062872E61C8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933825"/>
                        <a:ext cx="7469187" cy="188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灯片编号占位符 1">
            <a:extLst>
              <a:ext uri="{FF2B5EF4-FFF2-40B4-BE49-F238E27FC236}">
                <a16:creationId xmlns:a16="http://schemas.microsoft.com/office/drawing/2014/main" id="{040F0AA4-004F-4B71-83BA-7D58AF47BD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77142A0D-117E-4654-9F04-5256DB2667E6}" type="slidenum">
              <a:rPr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48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66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66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6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66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2" grpId="0"/>
      <p:bldP spid="266243" grpId="0"/>
      <p:bldP spid="26624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文本框 267265">
            <a:extLst>
              <a:ext uri="{FF2B5EF4-FFF2-40B4-BE49-F238E27FC236}">
                <a16:creationId xmlns:a16="http://schemas.microsoft.com/office/drawing/2014/main" id="{825BC26E-6312-45B9-A419-8EE6B5541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052513"/>
            <a:ext cx="53292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  <a:ea typeface="楷体_GB2312" pitchFamily="49" charset="-122"/>
              </a:rPr>
              <a:t>酚</a:t>
            </a:r>
            <a:r>
              <a:rPr lang="zh-CN" altLang="en-US" b="1">
                <a:ea typeface="楷体_GB2312" pitchFamily="49" charset="-122"/>
              </a:rPr>
              <a:t>或烯醇类化合物</a:t>
            </a:r>
            <a:r>
              <a:rPr lang="zh-CN" altLang="en-US"/>
              <a:t> </a:t>
            </a:r>
            <a:r>
              <a:rPr lang="zh-CN" altLang="en-US" b="1"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sp>
        <p:nvSpPr>
          <p:cNvPr id="267267" name="文本框 267266">
            <a:extLst>
              <a:ext uri="{FF2B5EF4-FFF2-40B4-BE49-F238E27FC236}">
                <a16:creationId xmlns:a16="http://schemas.microsoft.com/office/drawing/2014/main" id="{60F31E19-D599-4A94-A566-CD67C4B59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205038"/>
            <a:ext cx="8929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）酚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烯醇类化合物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＋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FeCl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→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显紫色溶液</a:t>
            </a:r>
          </a:p>
        </p:txBody>
      </p:sp>
      <p:sp>
        <p:nvSpPr>
          <p:cNvPr id="267268" name="矩形 267267">
            <a:extLst>
              <a:ext uri="{FF2B5EF4-FFF2-40B4-BE49-F238E27FC236}">
                <a16:creationId xmlns:a16="http://schemas.microsoft.com/office/drawing/2014/main" id="{653D7DFC-CDF4-4E4F-A2EF-44EE9A5FC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2997200"/>
            <a:ext cx="7529512" cy="228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）苯酚与溴水生成三溴苯酚白色沉淀。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注意</a:t>
            </a: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：苯胺也与溴水生成三溴苯胺白色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沉淀</a:t>
            </a:r>
          </a:p>
        </p:txBody>
      </p:sp>
      <p:sp>
        <p:nvSpPr>
          <p:cNvPr id="27653" name="灯片编号占位符 1">
            <a:extLst>
              <a:ext uri="{FF2B5EF4-FFF2-40B4-BE49-F238E27FC236}">
                <a16:creationId xmlns:a16="http://schemas.microsoft.com/office/drawing/2014/main" id="{BA0D55B4-C2E9-4B9C-918A-0CF15AAE80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91EB3438-93D3-495C-9E79-872E0B6E4F12}" type="slidenum">
              <a:rPr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49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6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6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6" grpId="0"/>
      <p:bldP spid="267267" grpId="0"/>
      <p:bldP spid="26726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文本框 268289">
            <a:extLst>
              <a:ext uri="{FF2B5EF4-FFF2-40B4-BE49-F238E27FC236}">
                <a16:creationId xmlns:a16="http://schemas.microsoft.com/office/drawing/2014/main" id="{BC87EC5E-3285-489C-9E5F-6D9CEE769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60350"/>
            <a:ext cx="33115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000" b="1">
                <a:ea typeface="楷体_GB2312" pitchFamily="49" charset="-122"/>
              </a:rPr>
              <a:t>醛、酮：</a:t>
            </a:r>
          </a:p>
        </p:txBody>
      </p:sp>
      <p:sp>
        <p:nvSpPr>
          <p:cNvPr id="268293" name="文本框 268292">
            <a:extLst>
              <a:ext uri="{FF2B5EF4-FFF2-40B4-BE49-F238E27FC236}">
                <a16:creationId xmlns:a16="http://schemas.microsoft.com/office/drawing/2014/main" id="{FFE70AAA-658A-4E97-BDAB-305684656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993775"/>
            <a:ext cx="76898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）饱和亚硫酸氢钠溶液－</a:t>
            </a:r>
            <a:r>
              <a:rPr lang="zh-CN" altLang="en-US" b="1">
                <a:latin typeface="Times New Roman" panose="02020603050405020304" pitchFamily="18" charset="0"/>
                <a:ea typeface="楷体_GB2312" pitchFamily="49" charset="-122"/>
              </a:rPr>
              <a:t>鉴别醛，甲基酮，</a:t>
            </a:r>
            <a:r>
              <a:rPr lang="zh-CN" altLang="en-US" b="1">
                <a:ea typeface="楷体_GB2312" pitchFamily="49" charset="-122"/>
              </a:rPr>
              <a:t>八个碳以下环酮。</a:t>
            </a:r>
          </a:p>
        </p:txBody>
      </p:sp>
      <p:sp>
        <p:nvSpPr>
          <p:cNvPr id="268294" name="文本框 268293">
            <a:extLst>
              <a:ext uri="{FF2B5EF4-FFF2-40B4-BE49-F238E27FC236}">
                <a16:creationId xmlns:a16="http://schemas.microsoft.com/office/drawing/2014/main" id="{EBB12A58-D52A-4126-AEB0-827F0C3F0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2219325"/>
            <a:ext cx="82089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现象：白色结晶析出（</a:t>
            </a:r>
            <a:r>
              <a:rPr lang="el-GR" altLang="zh-CN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α</a:t>
            </a: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－羟基磺酸钠</a:t>
            </a: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） 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87648B-D011-47E0-B9AA-F0E90F1A6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457700"/>
            <a:ext cx="34559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试剂：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+NaOH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1337DC-B0AA-4505-A2A8-1CC11B0683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4413250"/>
            <a:ext cx="4968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现象：黄色结晶（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CHI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CF1397-111A-4981-96FE-1FF292398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38" y="5072063"/>
            <a:ext cx="86423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）羰基试剂－</a:t>
            </a:r>
            <a:r>
              <a:rPr lang="zh-CN" altLang="en-US" b="1">
                <a:latin typeface="Times New Roman" panose="02020603050405020304" pitchFamily="18" charset="0"/>
                <a:ea typeface="楷体_GB2312" pitchFamily="49" charset="-122"/>
              </a:rPr>
              <a:t>鉴别醛酮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如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4-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二硝基苯肼</a:t>
            </a:r>
            <a:endParaRPr lang="zh-CN" altLang="en-US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82EA54-98C0-493E-B008-8FCB59ACA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9263" y="5805488"/>
            <a:ext cx="63373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现象：产生黄色沉淀 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2CC8F16-B453-478E-ADE4-7A202BF57A69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2798763"/>
            <a:ext cx="8367712" cy="1798637"/>
            <a:chOff x="384" y="192"/>
            <a:chExt cx="5271" cy="1133"/>
          </a:xfrm>
        </p:grpSpPr>
        <p:sp>
          <p:nvSpPr>
            <p:cNvPr id="28682" name="文本框 269318">
              <a:extLst>
                <a:ext uri="{FF2B5EF4-FFF2-40B4-BE49-F238E27FC236}">
                  <a16:creationId xmlns:a16="http://schemas.microsoft.com/office/drawing/2014/main" id="{2910EE1B-E2BC-48C5-B6AC-96AD544F45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92"/>
              <a:ext cx="5271" cy="1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）碘仿反应－</a:t>
              </a:r>
              <a:r>
                <a:rPr lang="zh-CN" altLang="en-US" b="1">
                  <a:latin typeface="Times New Roman" panose="02020603050405020304" pitchFamily="18" charset="0"/>
                  <a:ea typeface="楷体_GB2312" pitchFamily="49" charset="-122"/>
                </a:rPr>
                <a:t>鉴别甲基酮，乙醛，乙醇，</a:t>
              </a:r>
              <a:r>
                <a:rPr lang="en-US" altLang="zh-CN" b="1">
                  <a:latin typeface="Times New Roman" panose="02020603050405020304" pitchFamily="18" charset="0"/>
                  <a:ea typeface="楷体_GB2312" pitchFamily="49" charset="-122"/>
                </a:rPr>
                <a:t>CH</a:t>
              </a:r>
              <a:r>
                <a:rPr lang="en-US" altLang="zh-CN" b="1" baseline="-2500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r>
                <a:rPr lang="en-US" altLang="zh-CN" b="1">
                  <a:latin typeface="Times New Roman" panose="02020603050405020304" pitchFamily="18" charset="0"/>
                  <a:ea typeface="楷体_GB2312" pitchFamily="49" charset="-122"/>
                </a:rPr>
                <a:t>CHR</a:t>
              </a:r>
              <a:r>
                <a:rPr lang="zh-CN" altLang="en-US" b="1">
                  <a:latin typeface="Times New Roman" panose="02020603050405020304" pitchFamily="18" charset="0"/>
                  <a:ea typeface="楷体_GB2312" pitchFamily="49" charset="-122"/>
                </a:rPr>
                <a:t>结构的仲醇。</a:t>
              </a:r>
            </a:p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b="1">
                  <a:latin typeface="Times New Roman" panose="02020603050405020304" pitchFamily="18" charset="0"/>
                  <a:ea typeface="楷体_GB2312" pitchFamily="49" charset="-122"/>
                </a:rPr>
                <a:t>       </a:t>
              </a:r>
              <a:r>
                <a:rPr lang="en-US" altLang="zh-CN" b="1">
                  <a:latin typeface="Times New Roman" panose="02020603050405020304" pitchFamily="18" charset="0"/>
                  <a:ea typeface="楷体_GB2312" pitchFamily="49" charset="-122"/>
                </a:rPr>
                <a:t>OH</a:t>
              </a:r>
            </a:p>
          </p:txBody>
        </p:sp>
        <p:sp>
          <p:nvSpPr>
            <p:cNvPr id="28683" name="直接连接符 269319">
              <a:extLst>
                <a:ext uri="{FF2B5EF4-FFF2-40B4-BE49-F238E27FC236}">
                  <a16:creationId xmlns:a16="http://schemas.microsoft.com/office/drawing/2014/main" id="{A482A3A7-73E5-42BD-8205-4654049A99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768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8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68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6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0" grpId="0"/>
      <p:bldP spid="268293" grpId="0"/>
      <p:bldP spid="268294" grpId="0"/>
      <p:bldP spid="8" grpId="0"/>
      <p:bldP spid="9" grpId="0"/>
      <p:bldP spid="10" grpId="0"/>
      <p:bldP spid="1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文本框 270337">
            <a:extLst>
              <a:ext uri="{FF2B5EF4-FFF2-40B4-BE49-F238E27FC236}">
                <a16:creationId xmlns:a16="http://schemas.microsoft.com/office/drawing/2014/main" id="{5CFD3D56-2A4C-4527-8C90-92A601A65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60350"/>
            <a:ext cx="76977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）托伦试剂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[Ag(NH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NO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]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zh-CN" altLang="en-US" b="1">
                <a:latin typeface="Times New Roman" panose="02020603050405020304" pitchFamily="18" charset="0"/>
                <a:ea typeface="楷体_GB2312" pitchFamily="49" charset="-122"/>
              </a:rPr>
              <a:t>区别醛与酮</a:t>
            </a:r>
          </a:p>
        </p:txBody>
      </p:sp>
      <p:sp>
        <p:nvSpPr>
          <p:cNvPr id="270339" name="文本框 270338">
            <a:extLst>
              <a:ext uri="{FF2B5EF4-FFF2-40B4-BE49-F238E27FC236}">
                <a16:creationId xmlns:a16="http://schemas.microsoft.com/office/drawing/2014/main" id="{CCFFDCAC-0B7B-49A8-8BE9-ECD95136A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066800"/>
            <a:ext cx="83883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实验现象：所有的醛都能生成银镜，而酮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               不能</a:t>
            </a:r>
          </a:p>
        </p:txBody>
      </p:sp>
      <p:sp>
        <p:nvSpPr>
          <p:cNvPr id="270340" name="文本框 270339">
            <a:extLst>
              <a:ext uri="{FF2B5EF4-FFF2-40B4-BE49-F238E27FC236}">
                <a16:creationId xmlns:a16="http://schemas.microsoft.com/office/drawing/2014/main" id="{2E8EC023-7CA5-4AE6-9C5C-A23B78364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514600"/>
            <a:ext cx="76962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）费林试剂、本尼迪特试剂－</a:t>
            </a:r>
            <a:r>
              <a:rPr lang="zh-CN" altLang="en-US" b="1">
                <a:latin typeface="Times New Roman" panose="02020603050405020304" pitchFamily="18" charset="0"/>
                <a:ea typeface="楷体_GB2312" pitchFamily="49" charset="-122"/>
              </a:rPr>
              <a:t>区别酮与脂肪醛；芳香醛与脂肪醛</a:t>
            </a:r>
          </a:p>
        </p:txBody>
      </p:sp>
      <p:sp>
        <p:nvSpPr>
          <p:cNvPr id="270341" name="文本框 270340">
            <a:extLst>
              <a:ext uri="{FF2B5EF4-FFF2-40B4-BE49-F238E27FC236}">
                <a16:creationId xmlns:a16="http://schemas.microsoft.com/office/drawing/2014/main" id="{9143D77F-2815-46F3-8FB1-DEF23D5E5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191000"/>
            <a:ext cx="7770813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实验现象：脂肪醛能生成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Cu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砖红色沉淀，而酮和芳香醛不能</a:t>
            </a:r>
          </a:p>
        </p:txBody>
      </p:sp>
      <p:sp>
        <p:nvSpPr>
          <p:cNvPr id="29702" name="灯片编号占位符 1">
            <a:extLst>
              <a:ext uri="{FF2B5EF4-FFF2-40B4-BE49-F238E27FC236}">
                <a16:creationId xmlns:a16="http://schemas.microsoft.com/office/drawing/2014/main" id="{F923EB05-9B4B-4179-AE8E-182F31A9B1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147004C4-6A38-4A67-B145-04FEBA3F01F1}" type="slidenum">
              <a:rPr altLang="en-US" sz="1400"/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51</a:t>
            </a:fld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0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7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7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7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8" grpId="0"/>
      <p:bldP spid="270339" grpId="0"/>
      <p:bldP spid="270340" grpId="0"/>
      <p:bldP spid="27034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文本框 271361">
            <a:extLst>
              <a:ext uri="{FF2B5EF4-FFF2-40B4-BE49-F238E27FC236}">
                <a16:creationId xmlns:a16="http://schemas.microsoft.com/office/drawing/2014/main" id="{03F5A7EE-A21A-41AE-86B9-C4E1FAD71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60350"/>
            <a:ext cx="59055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000" b="1">
                <a:latin typeface="Times New Roman" panose="02020603050405020304" pitchFamily="18" charset="0"/>
                <a:ea typeface="楷体_GB2312" pitchFamily="49" charset="-122"/>
              </a:rPr>
              <a:t>羧酸：</a:t>
            </a:r>
          </a:p>
        </p:txBody>
      </p:sp>
      <p:sp>
        <p:nvSpPr>
          <p:cNvPr id="271363" name="文本框 271362">
            <a:extLst>
              <a:ext uri="{FF2B5EF4-FFF2-40B4-BE49-F238E27FC236}">
                <a16:creationId xmlns:a16="http://schemas.microsoft.com/office/drawing/2014/main" id="{01B5FAF9-FC2D-49CA-81BE-124D441DB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43000"/>
            <a:ext cx="8569325" cy="218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鉴别：和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NaHCO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Na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CO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反应，生成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CO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ct val="14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  <a:ea typeface="楷体_GB2312" pitchFamily="49" charset="-122"/>
              </a:rPr>
              <a:t>   草酸（乙二酸）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KMnO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/H</a:t>
            </a:r>
            <a:r>
              <a:rPr lang="zh-CN" altLang="en-US" b="1" baseline="30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＋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反应，生成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CO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271364" name="矩形 271363">
            <a:extLst>
              <a:ext uri="{FF2B5EF4-FFF2-40B4-BE49-F238E27FC236}">
                <a16:creationId xmlns:a16="http://schemas.microsoft.com/office/drawing/2014/main" id="{2A08E462-1765-4D6D-B9A2-0BE33B518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76600"/>
            <a:ext cx="7993063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>
                <a:ea typeface="楷体_GB2312" pitchFamily="49" charset="-122"/>
              </a:rPr>
              <a:t>甲酸：</a:t>
            </a:r>
            <a:r>
              <a:rPr lang="zh-CN" altLang="en-US" b="1">
                <a:solidFill>
                  <a:srgbClr val="0000FF"/>
                </a:solidFill>
                <a:ea typeface="楷体_GB2312" pitchFamily="49" charset="-122"/>
              </a:rPr>
              <a:t>用托伦试剂，甲酸能生成银镜，而其他酸不能。</a:t>
            </a:r>
            <a:r>
              <a:rPr lang="zh-CN" altLang="en-US" sz="180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30725" name="灯片编号占位符 1">
            <a:extLst>
              <a:ext uri="{FF2B5EF4-FFF2-40B4-BE49-F238E27FC236}">
                <a16:creationId xmlns:a16="http://schemas.microsoft.com/office/drawing/2014/main" id="{08F1337C-DD72-495C-B1B5-4E55703923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D9841604-8FEC-4CA2-94DB-57890EDE1D09}" type="slidenum">
              <a:rPr altLang="en-US" sz="1400"/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52</a:t>
            </a:fld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7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7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2" grpId="0"/>
      <p:bldP spid="271363" grpId="0"/>
      <p:bldP spid="27136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文本框 272385">
            <a:extLst>
              <a:ext uri="{FF2B5EF4-FFF2-40B4-BE49-F238E27FC236}">
                <a16:creationId xmlns:a16="http://schemas.microsoft.com/office/drawing/2014/main" id="{A8F9CD29-0CA4-439C-A41A-FA71B2A44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60350"/>
            <a:ext cx="1511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000" b="1">
                <a:ea typeface="楷体_GB2312" pitchFamily="49" charset="-122"/>
              </a:rPr>
              <a:t>胺：</a:t>
            </a:r>
          </a:p>
        </p:txBody>
      </p:sp>
      <p:sp>
        <p:nvSpPr>
          <p:cNvPr id="272387" name="文本框 272386">
            <a:extLst>
              <a:ext uri="{FF2B5EF4-FFF2-40B4-BE49-F238E27FC236}">
                <a16:creationId xmlns:a16="http://schemas.microsoft.com/office/drawing/2014/main" id="{49083FF9-BCD8-4992-BBED-0EB2CE553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268413"/>
            <a:ext cx="45370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）兴斯堡反应</a:t>
            </a:r>
          </a:p>
        </p:txBody>
      </p:sp>
      <p:sp>
        <p:nvSpPr>
          <p:cNvPr id="31748" name="矩形 272387">
            <a:extLst>
              <a:ext uri="{FF2B5EF4-FFF2-40B4-BE49-F238E27FC236}">
                <a16:creationId xmlns:a16="http://schemas.microsoft.com/office/drawing/2014/main" id="{58369905-C9B6-4BA4-8244-2EA7D9FAA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33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Times New Roman" panose="02020603050405020304" pitchFamily="18" charset="0"/>
            </a:endParaRPr>
          </a:p>
        </p:txBody>
      </p:sp>
      <p:graphicFrame>
        <p:nvGraphicFramePr>
          <p:cNvPr id="272389" name="对象 272388">
            <a:extLst>
              <a:ext uri="{FF2B5EF4-FFF2-40B4-BE49-F238E27FC236}">
                <a16:creationId xmlns:a16="http://schemas.microsoft.com/office/drawing/2014/main" id="{651E06C6-8015-4905-94FC-C9A84B1AB6FA}"/>
              </a:ext>
            </a:extLst>
          </p:cNvPr>
          <p:cNvGraphicFramePr>
            <a:graphicFrameLocks/>
          </p:cNvGraphicFramePr>
          <p:nvPr/>
        </p:nvGraphicFramePr>
        <p:xfrm>
          <a:off x="468313" y="2416175"/>
          <a:ext cx="841375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975146" imgH="1066800" progId="ChemDraw.Document.6.0">
                  <p:embed/>
                </p:oleObj>
              </mc:Choice>
              <mc:Fallback>
                <p:oleObj r:id="rId2" imgW="3975146" imgH="1066800" progId="ChemDraw.Document.6.0">
                  <p:embed/>
                  <p:pic>
                    <p:nvPicPr>
                      <p:cNvPr id="272389" name="对象 272388">
                        <a:extLst>
                          <a:ext uri="{FF2B5EF4-FFF2-40B4-BE49-F238E27FC236}">
                            <a16:creationId xmlns:a16="http://schemas.microsoft.com/office/drawing/2014/main" id="{651E06C6-8015-4905-94FC-C9A84B1AB6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416175"/>
                        <a:ext cx="841375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90" name="矩形 272389">
            <a:extLst>
              <a:ext uri="{FF2B5EF4-FFF2-40B4-BE49-F238E27FC236}">
                <a16:creationId xmlns:a16="http://schemas.microsoft.com/office/drawing/2014/main" id="{F33E0480-26BA-4844-BDF1-D15A5CC12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0"/>
            <a:ext cx="5283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可用于鉴别伯、仲、叔胺。</a:t>
            </a:r>
            <a:r>
              <a:rPr lang="zh-CN" altLang="en-US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31751" name="灯片编号占位符 1">
            <a:extLst>
              <a:ext uri="{FF2B5EF4-FFF2-40B4-BE49-F238E27FC236}">
                <a16:creationId xmlns:a16="http://schemas.microsoft.com/office/drawing/2014/main" id="{1B57A114-1BEE-42EB-BF2C-CD8549ECEB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BEEF502E-7189-432C-A639-11BDA15FCD4A}" type="slidenum">
              <a:rPr altLang="en-US" sz="1400"/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53</a:t>
            </a:fld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7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7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7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6" grpId="0"/>
      <p:bldP spid="272387" grpId="0"/>
      <p:bldP spid="27239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文本框 273409">
            <a:extLst>
              <a:ext uri="{FF2B5EF4-FFF2-40B4-BE49-F238E27FC236}">
                <a16:creationId xmlns:a16="http://schemas.microsoft.com/office/drawing/2014/main" id="{FF17E736-044E-41F3-BBDB-6179D0BBD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4813"/>
            <a:ext cx="9144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</a:rPr>
              <a:t>HNO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</a:rPr>
              <a:t>NaNO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＋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</a:rPr>
              <a:t>HCl</a:t>
            </a:r>
            <a:r>
              <a:rPr lang="en-US" altLang="zh-CN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）－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鉴别伯、仲、叔胺</a:t>
            </a:r>
          </a:p>
        </p:txBody>
      </p:sp>
      <p:sp>
        <p:nvSpPr>
          <p:cNvPr id="32773" name="灯片编号占位符 1">
            <a:extLst>
              <a:ext uri="{FF2B5EF4-FFF2-40B4-BE49-F238E27FC236}">
                <a16:creationId xmlns:a16="http://schemas.microsoft.com/office/drawing/2014/main" id="{B03C21C8-4D2A-44D5-B917-6C051608CE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D401E15E-8BE0-4179-B9D9-8F62A4588A95}" type="slidenum">
              <a:rPr altLang="en-US" sz="1400"/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54</a:t>
            </a:fld>
            <a:endParaRPr lang="zh-CN" altLang="en-US" sz="1400"/>
          </a:p>
        </p:txBody>
      </p:sp>
      <p:graphicFrame>
        <p:nvGraphicFramePr>
          <p:cNvPr id="273412" name="内容占位符 273411">
            <a:extLst>
              <a:ext uri="{FF2B5EF4-FFF2-40B4-BE49-F238E27FC236}">
                <a16:creationId xmlns:a16="http://schemas.microsoft.com/office/drawing/2014/main" id="{C249E43C-E022-470E-A377-C7D7E40B5545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008073450"/>
              </p:ext>
            </p:extLst>
          </p:nvPr>
        </p:nvGraphicFramePr>
        <p:xfrm>
          <a:off x="973138" y="3284538"/>
          <a:ext cx="8170862" cy="322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381639" imgH="1669904" progId="ChemWindow.Document">
                  <p:embed/>
                </p:oleObj>
              </mc:Choice>
              <mc:Fallback>
                <p:oleObj r:id="rId2" imgW="4381639" imgH="1669904" progId="ChemWindow.Document">
                  <p:embed/>
                  <p:pic>
                    <p:nvPicPr>
                      <p:cNvPr id="273412" name="内容占位符 273411">
                        <a:extLst>
                          <a:ext uri="{FF2B5EF4-FFF2-40B4-BE49-F238E27FC236}">
                            <a16:creationId xmlns:a16="http://schemas.microsoft.com/office/drawing/2014/main" id="{C249E43C-E022-470E-A377-C7D7E40B5545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138" y="3284538"/>
                        <a:ext cx="8170862" cy="322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3414" name="组合 273413">
            <a:extLst>
              <a:ext uri="{FF2B5EF4-FFF2-40B4-BE49-F238E27FC236}">
                <a16:creationId xmlns:a16="http://schemas.microsoft.com/office/drawing/2014/main" id="{CBA170CF-3BD8-41DD-9BD5-EAA0E32AEF65}"/>
              </a:ext>
            </a:extLst>
          </p:cNvPr>
          <p:cNvGrpSpPr>
            <a:grpSpLocks/>
          </p:cNvGrpSpPr>
          <p:nvPr/>
        </p:nvGrpSpPr>
        <p:grpSpPr bwMode="auto">
          <a:xfrm>
            <a:off x="647700" y="1196975"/>
            <a:ext cx="8496300" cy="2100263"/>
            <a:chOff x="158" y="1525"/>
            <a:chExt cx="5352" cy="1323"/>
          </a:xfrm>
        </p:grpSpPr>
        <p:sp>
          <p:nvSpPr>
            <p:cNvPr id="32774" name="文本框 273414">
              <a:extLst>
                <a:ext uri="{FF2B5EF4-FFF2-40B4-BE49-F238E27FC236}">
                  <a16:creationId xmlns:a16="http://schemas.microsoft.com/office/drawing/2014/main" id="{56D773B1-3085-441C-9FB4-FAA3651C9A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" y="1525"/>
              <a:ext cx="843" cy="1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R</a:t>
              </a:r>
              <a:r>
                <a:rPr lang="zh-CN" altLang="en-US" sz="2400" b="1">
                  <a:latin typeface="Times New Roman" panose="02020603050405020304" pitchFamily="18" charset="0"/>
                </a:rPr>
                <a:t>－</a:t>
              </a:r>
              <a:r>
                <a:rPr lang="en-US" altLang="zh-CN" sz="2400" b="1">
                  <a:latin typeface="Times New Roman" panose="02020603050405020304" pitchFamily="18" charset="0"/>
                </a:rPr>
                <a:t>NH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5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</a:rPr>
                <a:t>NH</a:t>
              </a:r>
            </a:p>
            <a:p>
              <a:pPr eaLnBrk="1" hangingPunct="1">
                <a:lnSpc>
                  <a:spcPct val="15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3</a:t>
              </a:r>
              <a:r>
                <a:rPr lang="en-US" altLang="zh-CN" sz="2400" b="1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2775" name="文本框 273415">
              <a:extLst>
                <a:ext uri="{FF2B5EF4-FFF2-40B4-BE49-F238E27FC236}">
                  <a16:creationId xmlns:a16="http://schemas.microsoft.com/office/drawing/2014/main" id="{3F2725DA-9613-440D-9332-C881B5D32C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" y="2057"/>
              <a:ext cx="7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+ HNO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2776" name="直接连接符 273416">
              <a:extLst>
                <a:ext uri="{FF2B5EF4-FFF2-40B4-BE49-F238E27FC236}">
                  <a16:creationId xmlns:a16="http://schemas.microsoft.com/office/drawing/2014/main" id="{4BC61FEC-EB93-434B-B47C-B7B283CD9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3" y="2205"/>
              <a:ext cx="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7" name="直接连接符 273417">
              <a:extLst>
                <a:ext uri="{FF2B5EF4-FFF2-40B4-BE49-F238E27FC236}">
                  <a16:creationId xmlns:a16="http://schemas.microsoft.com/office/drawing/2014/main" id="{AA1DF945-8788-4311-9781-9F33174298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10" y="1752"/>
              <a:ext cx="0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8" name="直接连接符 273418">
              <a:extLst>
                <a:ext uri="{FF2B5EF4-FFF2-40B4-BE49-F238E27FC236}">
                  <a16:creationId xmlns:a16="http://schemas.microsoft.com/office/drawing/2014/main" id="{A0BCA5AD-10DF-4966-A6C6-0718CCD733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739"/>
              <a:ext cx="181" cy="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9" name="直接连接符 273419">
              <a:extLst>
                <a:ext uri="{FF2B5EF4-FFF2-40B4-BE49-F238E27FC236}">
                  <a16:creationId xmlns:a16="http://schemas.microsoft.com/office/drawing/2014/main" id="{8EE9D32B-7B28-4EA8-8E26-260E50269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2205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0" name="直接连接符 273420">
              <a:extLst>
                <a:ext uri="{FF2B5EF4-FFF2-40B4-BE49-F238E27FC236}">
                  <a16:creationId xmlns:a16="http://schemas.microsoft.com/office/drawing/2014/main" id="{89C11569-4F72-4E12-912C-1484D31A66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2704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1" name="文本框 273421">
              <a:extLst>
                <a:ext uri="{FF2B5EF4-FFF2-40B4-BE49-F238E27FC236}">
                  <a16:creationId xmlns:a16="http://schemas.microsoft.com/office/drawing/2014/main" id="{CE01E016-9723-4906-A591-6EF6457236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1570"/>
              <a:ext cx="33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ROH + H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</a:rPr>
                <a:t>O + N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</a:rPr>
                <a:t>↑  </a:t>
              </a:r>
              <a:r>
                <a:rPr lang="zh-CN" altLang="en-US" sz="2400" b="1">
                  <a:solidFill>
                    <a:srgbClr val="8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醇（气体</a:t>
              </a:r>
              <a:r>
                <a:rPr lang="en-US" altLang="zh-CN" sz="2400" b="1">
                  <a:solidFill>
                    <a:srgbClr val="8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↑</a:t>
              </a:r>
              <a:r>
                <a:rPr lang="zh-CN" altLang="en-US" sz="2400" b="1">
                  <a:solidFill>
                    <a:srgbClr val="8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）</a:t>
              </a:r>
            </a:p>
          </p:txBody>
        </p:sp>
        <p:sp>
          <p:nvSpPr>
            <p:cNvPr id="32782" name="文本框 273422">
              <a:extLst>
                <a:ext uri="{FF2B5EF4-FFF2-40B4-BE49-F238E27FC236}">
                  <a16:creationId xmlns:a16="http://schemas.microsoft.com/office/drawing/2014/main" id="{59B26B25-D5D5-4D42-9106-34D74FB790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1" y="2069"/>
              <a:ext cx="14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</a:rPr>
                <a:t>N</a:t>
              </a:r>
              <a:r>
                <a:rPr lang="zh-CN" altLang="en-US" sz="2400" b="1">
                  <a:latin typeface="Times New Roman" panose="02020603050405020304" pitchFamily="18" charset="0"/>
                </a:rPr>
                <a:t>－ </a:t>
              </a:r>
              <a:r>
                <a:rPr lang="en-US" altLang="zh-CN" sz="2400" b="1">
                  <a:latin typeface="Times New Roman" panose="02020603050405020304" pitchFamily="18" charset="0"/>
                </a:rPr>
                <a:t>NO + H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</a:rPr>
                <a:t>O</a:t>
              </a:r>
              <a:endPara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2783" name="文本框 273423">
              <a:extLst>
                <a:ext uri="{FF2B5EF4-FFF2-40B4-BE49-F238E27FC236}">
                  <a16:creationId xmlns:a16="http://schemas.microsoft.com/office/drawing/2014/main" id="{312DAEA4-A581-4DAE-B1C9-A4D1A372E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1" y="2523"/>
              <a:ext cx="37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3</a:t>
              </a:r>
              <a:r>
                <a:rPr lang="en-US" altLang="zh-CN" sz="2400" b="1">
                  <a:latin typeface="Times New Roman" panose="02020603050405020304" pitchFamily="18" charset="0"/>
                </a:rPr>
                <a:t>N · HNO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                     </a:t>
              </a:r>
              <a:r>
                <a:rPr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盐（无特异现象）</a:t>
              </a:r>
            </a:p>
          </p:txBody>
        </p:sp>
        <p:sp>
          <p:nvSpPr>
            <p:cNvPr id="32784" name="矩形 273424">
              <a:extLst>
                <a:ext uri="{FF2B5EF4-FFF2-40B4-BE49-F238E27FC236}">
                  <a16:creationId xmlns:a16="http://schemas.microsoft.com/office/drawing/2014/main" id="{A71BF5FD-4253-4DB5-9D27-BB57B9D1F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1933"/>
              <a:ext cx="1883" cy="519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75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N-</a:t>
              </a:r>
              <a:r>
                <a:rPr lang="zh-CN" altLang="en-US" sz="2400" b="1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亚硝基胺</a:t>
              </a: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zh-CN" altLang="en-US" sz="2400" b="1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黄色油状液体</a:t>
              </a:r>
              <a:r>
                <a:rPr lang="en-US" altLang="zh-CN" sz="2400" b="1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73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7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文本框 274433">
            <a:extLst>
              <a:ext uri="{FF2B5EF4-FFF2-40B4-BE49-F238E27FC236}">
                <a16:creationId xmlns:a16="http://schemas.microsoft.com/office/drawing/2014/main" id="{6A7C831B-9E42-4EB7-B9BD-010BB6599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908050"/>
            <a:ext cx="47529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000" b="1">
                <a:ea typeface="楷体_GB2312" pitchFamily="49" charset="-122"/>
              </a:rPr>
              <a:t>杂环化合物：</a:t>
            </a:r>
          </a:p>
        </p:txBody>
      </p:sp>
      <p:grpSp>
        <p:nvGrpSpPr>
          <p:cNvPr id="274435" name="组合 274434">
            <a:extLst>
              <a:ext uri="{FF2B5EF4-FFF2-40B4-BE49-F238E27FC236}">
                <a16:creationId xmlns:a16="http://schemas.microsoft.com/office/drawing/2014/main" id="{38939850-A1AA-4168-BCA9-C54A174AE503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2133600"/>
            <a:ext cx="6840538" cy="2865438"/>
            <a:chOff x="624" y="912"/>
            <a:chExt cx="3898" cy="1805"/>
          </a:xfrm>
        </p:grpSpPr>
        <p:sp>
          <p:nvSpPr>
            <p:cNvPr id="33797" name="文本框 274435">
              <a:extLst>
                <a:ext uri="{FF2B5EF4-FFF2-40B4-BE49-F238E27FC236}">
                  <a16:creationId xmlns:a16="http://schemas.microsoft.com/office/drawing/2014/main" id="{EE957B48-FE75-4F42-89F9-032B2C9925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960"/>
              <a:ext cx="389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b="1"/>
                <a:t>呋喃（气）</a:t>
              </a:r>
              <a:endParaRPr lang="zh-CN" altLang="en-US" sz="1800" b="1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3798" name="直接连接符 274436">
              <a:extLst>
                <a:ext uri="{FF2B5EF4-FFF2-40B4-BE49-F238E27FC236}">
                  <a16:creationId xmlns:a16="http://schemas.microsoft.com/office/drawing/2014/main" id="{323E1D26-D352-4C34-BB60-9654FAC0A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152"/>
              <a:ext cx="9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9" name="文本框 274437">
              <a:extLst>
                <a:ext uri="{FF2B5EF4-FFF2-40B4-BE49-F238E27FC236}">
                  <a16:creationId xmlns:a16="http://schemas.microsoft.com/office/drawing/2014/main" id="{0B6C1353-70E5-418E-8939-15163DA95D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912"/>
              <a:ext cx="9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1800" b="1">
                  <a:latin typeface="Times New Roman" panose="02020603050405020304" pitchFamily="18" charset="0"/>
                </a:rPr>
                <a:t>松木片</a:t>
              </a:r>
              <a:r>
                <a:rPr lang="en-US" altLang="zh-CN" sz="1800" b="1">
                  <a:latin typeface="Times New Roman" panose="02020603050405020304" pitchFamily="18" charset="0"/>
                </a:rPr>
                <a:t>/HCl</a:t>
              </a:r>
            </a:p>
          </p:txBody>
        </p:sp>
        <p:sp>
          <p:nvSpPr>
            <p:cNvPr id="33800" name="矩形 274438">
              <a:extLst>
                <a:ext uri="{FF2B5EF4-FFF2-40B4-BE49-F238E27FC236}">
                  <a16:creationId xmlns:a16="http://schemas.microsoft.com/office/drawing/2014/main" id="{43BFC1C4-0D38-4572-8A62-58627E97D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912"/>
              <a:ext cx="99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b="1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绿色</a:t>
              </a:r>
            </a:p>
          </p:txBody>
        </p:sp>
        <p:sp>
          <p:nvSpPr>
            <p:cNvPr id="33801" name="矩形 274439">
              <a:extLst>
                <a:ext uri="{FF2B5EF4-FFF2-40B4-BE49-F238E27FC236}">
                  <a16:creationId xmlns:a16="http://schemas.microsoft.com/office/drawing/2014/main" id="{6FE27742-824F-46B4-B7C2-5992CA6AB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680"/>
              <a:ext cx="126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b="1"/>
                <a:t>吡咯（气）</a:t>
              </a:r>
            </a:p>
          </p:txBody>
        </p:sp>
        <p:sp>
          <p:nvSpPr>
            <p:cNvPr id="33802" name="文本框 274440">
              <a:extLst>
                <a:ext uri="{FF2B5EF4-FFF2-40B4-BE49-F238E27FC236}">
                  <a16:creationId xmlns:a16="http://schemas.microsoft.com/office/drawing/2014/main" id="{72DBE5C7-208E-40B9-A0E2-15BA62D93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584"/>
              <a:ext cx="9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1800" b="1">
                  <a:latin typeface="Times New Roman" panose="02020603050405020304" pitchFamily="18" charset="0"/>
                </a:rPr>
                <a:t>松木片</a:t>
              </a:r>
              <a:r>
                <a:rPr lang="en-US" altLang="zh-CN" sz="1800" b="1">
                  <a:latin typeface="Times New Roman" panose="02020603050405020304" pitchFamily="18" charset="0"/>
                </a:rPr>
                <a:t>/HCl</a:t>
              </a:r>
            </a:p>
          </p:txBody>
        </p:sp>
        <p:sp>
          <p:nvSpPr>
            <p:cNvPr id="33803" name="直接连接符 274441">
              <a:extLst>
                <a:ext uri="{FF2B5EF4-FFF2-40B4-BE49-F238E27FC236}">
                  <a16:creationId xmlns:a16="http://schemas.microsoft.com/office/drawing/2014/main" id="{A732D753-2F17-4CD0-9426-736B560D6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872"/>
              <a:ext cx="9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4" name="矩形 274442">
              <a:extLst>
                <a:ext uri="{FF2B5EF4-FFF2-40B4-BE49-F238E27FC236}">
                  <a16:creationId xmlns:a16="http://schemas.microsoft.com/office/drawing/2014/main" id="{1E259FFE-490E-44BA-9255-3DFE40162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728"/>
              <a:ext cx="57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b="1">
                  <a:solidFill>
                    <a:srgbClr val="FF0066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红色</a:t>
              </a:r>
            </a:p>
          </p:txBody>
        </p:sp>
        <p:sp>
          <p:nvSpPr>
            <p:cNvPr id="33805" name="矩形 274443">
              <a:extLst>
                <a:ext uri="{FF2B5EF4-FFF2-40B4-BE49-F238E27FC236}">
                  <a16:creationId xmlns:a16="http://schemas.microsoft.com/office/drawing/2014/main" id="{A19C404B-8B32-4FF3-AA9D-BADBE1A5D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352"/>
              <a:ext cx="6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b="1"/>
                <a:t>糠醛</a:t>
              </a:r>
            </a:p>
          </p:txBody>
        </p:sp>
        <p:sp>
          <p:nvSpPr>
            <p:cNvPr id="33806" name="直接连接符 274444">
              <a:extLst>
                <a:ext uri="{FF2B5EF4-FFF2-40B4-BE49-F238E27FC236}">
                  <a16:creationId xmlns:a16="http://schemas.microsoft.com/office/drawing/2014/main" id="{12319A2F-5F9C-420B-B0CC-03A407C5C1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544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7" name="矩形 274445">
              <a:extLst>
                <a:ext uri="{FF2B5EF4-FFF2-40B4-BE49-F238E27FC236}">
                  <a16:creationId xmlns:a16="http://schemas.microsoft.com/office/drawing/2014/main" id="{732C908B-CAE3-4339-A1B8-43B99A87C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208"/>
              <a:ext cx="10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1800" b="1">
                  <a:latin typeface="Times New Roman" panose="02020603050405020304" pitchFamily="18" charset="0"/>
                </a:rPr>
                <a:t>苯胺</a:t>
              </a:r>
              <a:r>
                <a:rPr lang="en-US" altLang="zh-CN" sz="1800" b="1">
                  <a:latin typeface="Times New Roman" panose="02020603050405020304" pitchFamily="18" charset="0"/>
                </a:rPr>
                <a:t>/CH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3</a:t>
              </a:r>
              <a:r>
                <a:rPr lang="en-US" altLang="zh-CN" sz="1800" b="1">
                  <a:latin typeface="Times New Roman" panose="02020603050405020304" pitchFamily="18" charset="0"/>
                </a:rPr>
                <a:t>COOH</a:t>
              </a:r>
            </a:p>
          </p:txBody>
        </p:sp>
        <p:sp>
          <p:nvSpPr>
            <p:cNvPr id="33808" name="矩形 274446">
              <a:extLst>
                <a:ext uri="{FF2B5EF4-FFF2-40B4-BE49-F238E27FC236}">
                  <a16:creationId xmlns:a16="http://schemas.microsoft.com/office/drawing/2014/main" id="{33F42C10-A1FA-4873-86C4-03D569E70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352"/>
              <a:ext cx="10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b="1">
                  <a:solidFill>
                    <a:srgbClr val="FF0066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红色</a:t>
              </a:r>
            </a:p>
          </p:txBody>
        </p:sp>
      </p:grpSp>
      <p:sp>
        <p:nvSpPr>
          <p:cNvPr id="33796" name="灯片编号占位符 1">
            <a:extLst>
              <a:ext uri="{FF2B5EF4-FFF2-40B4-BE49-F238E27FC236}">
                <a16:creationId xmlns:a16="http://schemas.microsoft.com/office/drawing/2014/main" id="{D6DB533D-574F-4A9A-8FBA-03AB34A779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0B8F72DB-BF23-4107-AD85-558395FA3D4F}" type="slidenum">
              <a:rPr lang="zh-CN" altLang="en-US" sz="1800">
                <a:latin typeface="Times New Roman" panose="02020603050405020304" pitchFamily="18" charset="0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55</a:t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4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74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文本框 280578">
            <a:extLst>
              <a:ext uri="{FF2B5EF4-FFF2-40B4-BE49-F238E27FC236}">
                <a16:creationId xmlns:a16="http://schemas.microsoft.com/office/drawing/2014/main" id="{F52488CD-FA39-4526-8E59-7F3C1C4A7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181600"/>
            <a:ext cx="2514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  </a:t>
            </a:r>
            <a:endParaRPr lang="en-US" altLang="zh-CN" b="1">
              <a:solidFill>
                <a:schemeClr val="accent2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34819" name="矩形 280579">
            <a:extLst>
              <a:ext uri="{FF2B5EF4-FFF2-40B4-BE49-F238E27FC236}">
                <a16:creationId xmlns:a16="http://schemas.microsoft.com/office/drawing/2014/main" id="{43EDF6D5-6794-450B-895B-BB09AD42F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8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有机化合物的合成</a:t>
            </a:r>
          </a:p>
        </p:txBody>
      </p:sp>
      <p:sp>
        <p:nvSpPr>
          <p:cNvPr id="34820" name="文本框 280580">
            <a:extLst>
              <a:ext uri="{FF2B5EF4-FFF2-40B4-BE49-F238E27FC236}">
                <a16:creationId xmlns:a16="http://schemas.microsoft.com/office/drawing/2014/main" id="{57C64A44-41C4-4554-B64F-470879C9E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052513"/>
            <a:ext cx="8675688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latin typeface="Times New Roman" panose="02020603050405020304" pitchFamily="18" charset="0"/>
              </a:rPr>
              <a:t>解好有机合成题的基础是将有机反应按官能团转化、增长碳链、减少碳链、重组碳架、环扩大、环缩小、开环、关环等进行归纳、熟记、灵活应用。</a:t>
            </a:r>
          </a:p>
        </p:txBody>
      </p:sp>
      <p:sp>
        <p:nvSpPr>
          <p:cNvPr id="34821" name="文本框 280581">
            <a:extLst>
              <a:ext uri="{FF2B5EF4-FFF2-40B4-BE49-F238E27FC236}">
                <a16:creationId xmlns:a16="http://schemas.microsoft.com/office/drawing/2014/main" id="{151E6BD4-8EB5-44C9-A77F-66F5B240F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194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latin typeface="Times New Roman" panose="02020603050405020304" pitchFamily="18" charset="0"/>
              </a:rPr>
              <a:t>解合成题通常分两步进行：</a:t>
            </a:r>
          </a:p>
        </p:txBody>
      </p:sp>
      <p:sp>
        <p:nvSpPr>
          <p:cNvPr id="34822" name="文本框 280582">
            <a:extLst>
              <a:ext uri="{FF2B5EF4-FFF2-40B4-BE49-F238E27FC236}">
                <a16:creationId xmlns:a16="http://schemas.microsoft.com/office/drawing/2014/main" id="{F60F3DD3-4028-4F0A-8F9F-2334536BE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429000"/>
            <a:ext cx="9144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1. </a:t>
            </a:r>
            <a:r>
              <a:rPr lang="zh-CN" altLang="en-US" sz="2800" b="1">
                <a:latin typeface="Times New Roman" panose="02020603050405020304" pitchFamily="18" charset="0"/>
              </a:rPr>
              <a:t>运用逆合成法对目标分子进行剖析，最终确定合成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所需的起始原料。这就要求掌握各类化合物的拆分方法。</a:t>
            </a:r>
          </a:p>
        </p:txBody>
      </p:sp>
      <p:sp>
        <p:nvSpPr>
          <p:cNvPr id="34823" name="文本框 280583">
            <a:extLst>
              <a:ext uri="{FF2B5EF4-FFF2-40B4-BE49-F238E27FC236}">
                <a16:creationId xmlns:a16="http://schemas.microsoft.com/office/drawing/2014/main" id="{BFA8DEAA-7689-4FBC-A956-0B425CC7E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24400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2. </a:t>
            </a:r>
            <a:r>
              <a:rPr lang="zh-CN" altLang="en-US" sz="2800" b="1">
                <a:latin typeface="Times New Roman" panose="02020603050405020304" pitchFamily="18" charset="0"/>
              </a:rPr>
              <a:t>以剖析为依据，写出合成方案。</a:t>
            </a:r>
          </a:p>
        </p:txBody>
      </p:sp>
      <p:sp>
        <p:nvSpPr>
          <p:cNvPr id="34824" name="灯片编号占位符 1">
            <a:extLst>
              <a:ext uri="{FF2B5EF4-FFF2-40B4-BE49-F238E27FC236}">
                <a16:creationId xmlns:a16="http://schemas.microsoft.com/office/drawing/2014/main" id="{FA3F8500-509E-476C-AB5B-C8823368C3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D6A05F78-5BB7-4821-AFC6-449AFD9F6B61}" type="slidenum">
              <a:rPr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56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文本框 249857">
            <a:extLst>
              <a:ext uri="{FF2B5EF4-FFF2-40B4-BE49-F238E27FC236}">
                <a16:creationId xmlns:a16="http://schemas.microsoft.com/office/drawing/2014/main" id="{58451183-A1AE-4B36-8FAF-DAB5A298B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609600"/>
            <a:ext cx="5562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ea typeface="黑体" panose="02010609060101010101" pitchFamily="49" charset="-122"/>
              </a:rPr>
              <a:t>一、合成合适的碳骨架</a:t>
            </a:r>
          </a:p>
        </p:txBody>
      </p:sp>
      <p:sp>
        <p:nvSpPr>
          <p:cNvPr id="249859" name="文本框 249858">
            <a:extLst>
              <a:ext uri="{FF2B5EF4-FFF2-40B4-BE49-F238E27FC236}">
                <a16:creationId xmlns:a16="http://schemas.microsoft.com/office/drawing/2014/main" id="{8A474E06-DCC1-4EDB-B26A-96B25F017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447800"/>
            <a:ext cx="495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</a:rPr>
              <a:t>、碳链的增长</a:t>
            </a:r>
          </a:p>
        </p:txBody>
      </p:sp>
      <p:sp>
        <p:nvSpPr>
          <p:cNvPr id="249860" name="文本框 249859">
            <a:extLst>
              <a:ext uri="{FF2B5EF4-FFF2-40B4-BE49-F238E27FC236}">
                <a16:creationId xmlns:a16="http://schemas.microsoft.com/office/drawing/2014/main" id="{63D4ABFF-4D3C-4317-AAE2-EAE7953FD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133600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①</a:t>
            </a: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</a:rPr>
              <a:t>卤代烃氰解</a:t>
            </a:r>
          </a:p>
        </p:txBody>
      </p:sp>
      <p:grpSp>
        <p:nvGrpSpPr>
          <p:cNvPr id="249861" name="组合 249860">
            <a:extLst>
              <a:ext uri="{FF2B5EF4-FFF2-40B4-BE49-F238E27FC236}">
                <a16:creationId xmlns:a16="http://schemas.microsoft.com/office/drawing/2014/main" id="{02475EEC-A49F-4B19-A7B6-38C0366237D1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2743200"/>
            <a:ext cx="4191000" cy="990600"/>
            <a:chOff x="1200" y="2016"/>
            <a:chExt cx="2640" cy="624"/>
          </a:xfrm>
        </p:grpSpPr>
        <p:sp>
          <p:nvSpPr>
            <p:cNvPr id="35849" name="文本框 249861">
              <a:extLst>
                <a:ext uri="{FF2B5EF4-FFF2-40B4-BE49-F238E27FC236}">
                  <a16:creationId xmlns:a16="http://schemas.microsoft.com/office/drawing/2014/main" id="{2B889053-0179-4758-BED8-9065E3500D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160"/>
              <a:ext cx="5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RX</a:t>
              </a:r>
            </a:p>
          </p:txBody>
        </p:sp>
        <p:sp>
          <p:nvSpPr>
            <p:cNvPr id="35850" name="直接连接符 249862">
              <a:extLst>
                <a:ext uri="{FF2B5EF4-FFF2-40B4-BE49-F238E27FC236}">
                  <a16:creationId xmlns:a16="http://schemas.microsoft.com/office/drawing/2014/main" id="{D8A11091-5F57-4A41-AB78-1D222D6C21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30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1" name="文本框 249863">
              <a:extLst>
                <a:ext uri="{FF2B5EF4-FFF2-40B4-BE49-F238E27FC236}">
                  <a16:creationId xmlns:a16="http://schemas.microsoft.com/office/drawing/2014/main" id="{156EBBF2-0B7E-46D4-A29C-583BAE278E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016"/>
              <a:ext cx="9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NaCN</a:t>
              </a:r>
            </a:p>
          </p:txBody>
        </p:sp>
        <p:sp>
          <p:nvSpPr>
            <p:cNvPr id="35852" name="文本框 249864">
              <a:extLst>
                <a:ext uri="{FF2B5EF4-FFF2-40B4-BE49-F238E27FC236}">
                  <a16:creationId xmlns:a16="http://schemas.microsoft.com/office/drawing/2014/main" id="{50C56C0C-F6DF-4DD0-8210-A5F44F25C6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352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 b="1"/>
                <a:t>乙醇</a:t>
              </a:r>
            </a:p>
          </p:txBody>
        </p:sp>
        <p:sp>
          <p:nvSpPr>
            <p:cNvPr id="35853" name="文本框 249865">
              <a:extLst>
                <a:ext uri="{FF2B5EF4-FFF2-40B4-BE49-F238E27FC236}">
                  <a16:creationId xmlns:a16="http://schemas.microsoft.com/office/drawing/2014/main" id="{B7770164-EA1C-4BFB-9DF2-5CBB8698CF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160"/>
              <a:ext cx="10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RCN</a:t>
              </a:r>
            </a:p>
          </p:txBody>
        </p:sp>
      </p:grpSp>
      <p:sp>
        <p:nvSpPr>
          <p:cNvPr id="249867" name="文本框 249866">
            <a:extLst>
              <a:ext uri="{FF2B5EF4-FFF2-40B4-BE49-F238E27FC236}">
                <a16:creationId xmlns:a16="http://schemas.microsoft.com/office/drawing/2014/main" id="{67FE128B-D822-45B4-9A3E-F05932DB3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962400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ea typeface="黑体" panose="02010609060101010101" pitchFamily="49" charset="-122"/>
              </a:rPr>
              <a:t>②</a:t>
            </a:r>
            <a:r>
              <a:rPr lang="zh-CN" altLang="en-US" b="1">
                <a:ea typeface="黑体" panose="02010609060101010101" pitchFamily="49" charset="-122"/>
              </a:rPr>
              <a:t>醛酮加成</a:t>
            </a:r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49868" name="对象 249867">
            <a:extLst>
              <a:ext uri="{FF2B5EF4-FFF2-40B4-BE49-F238E27FC236}">
                <a16:creationId xmlns:a16="http://schemas.microsoft.com/office/drawing/2014/main" id="{7420EA61-A8F7-4807-A321-8AB309343B2F}"/>
              </a:ext>
            </a:extLst>
          </p:cNvPr>
          <p:cNvGraphicFramePr>
            <a:graphicFrameLocks/>
          </p:cNvGraphicFramePr>
          <p:nvPr/>
        </p:nvGraphicFramePr>
        <p:xfrm>
          <a:off x="1828800" y="4876800"/>
          <a:ext cx="6248400" cy="157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19400" imgH="711200" progId="ChemDraw.Document.6.0">
                  <p:embed/>
                </p:oleObj>
              </mc:Choice>
              <mc:Fallback>
                <p:oleObj r:id="rId2" imgW="2819400" imgH="711200" progId="ChemDraw.Document.6.0">
                  <p:embed/>
                  <p:pic>
                    <p:nvPicPr>
                      <p:cNvPr id="249868" name="对象 249867">
                        <a:extLst>
                          <a:ext uri="{FF2B5EF4-FFF2-40B4-BE49-F238E27FC236}">
                            <a16:creationId xmlns:a16="http://schemas.microsoft.com/office/drawing/2014/main" id="{7420EA61-A8F7-4807-A321-8AB309343B2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876800"/>
                        <a:ext cx="6248400" cy="157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8" name="灯片编号占位符 1">
            <a:extLst>
              <a:ext uri="{FF2B5EF4-FFF2-40B4-BE49-F238E27FC236}">
                <a16:creationId xmlns:a16="http://schemas.microsoft.com/office/drawing/2014/main" id="{FC633A87-B71E-44EC-9A0E-924E9E4F0F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9DA2A10B-C0C0-4A63-87A3-79708E6526A8}" type="slidenum">
              <a:rPr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57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49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4985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4986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4986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4986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4986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58" grpId="0"/>
      <p:bldP spid="249859" grpId="0"/>
      <p:bldP spid="249860" grpId="0"/>
      <p:bldP spid="24986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文本框 250881">
            <a:extLst>
              <a:ext uri="{FF2B5EF4-FFF2-40B4-BE49-F238E27FC236}">
                <a16:creationId xmlns:a16="http://schemas.microsoft.com/office/drawing/2014/main" id="{B9781615-AB05-4A65-BF69-D2D0ABE3E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81000"/>
            <a:ext cx="3962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zh-CN" b="1"/>
              <a:t>③</a:t>
            </a:r>
            <a:r>
              <a:rPr lang="zh-CN" altLang="en-US" b="1">
                <a:ea typeface="黑体" panose="02010609060101010101" pitchFamily="49" charset="-122"/>
              </a:rPr>
              <a:t>羟醛缩合</a:t>
            </a:r>
          </a:p>
        </p:txBody>
      </p:sp>
      <p:graphicFrame>
        <p:nvGraphicFramePr>
          <p:cNvPr id="250883" name="对象 250882">
            <a:extLst>
              <a:ext uri="{FF2B5EF4-FFF2-40B4-BE49-F238E27FC236}">
                <a16:creationId xmlns:a16="http://schemas.microsoft.com/office/drawing/2014/main" id="{3F6C5675-3544-4FA5-AA64-9DE082E63B39}"/>
              </a:ext>
            </a:extLst>
          </p:cNvPr>
          <p:cNvGraphicFramePr>
            <a:graphicFrameLocks/>
          </p:cNvGraphicFramePr>
          <p:nvPr/>
        </p:nvGraphicFramePr>
        <p:xfrm>
          <a:off x="1447800" y="1154113"/>
          <a:ext cx="8458200" cy="309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932280" imgH="1429560" progId="ChemDraw.Document.6.0">
                  <p:embed/>
                </p:oleObj>
              </mc:Choice>
              <mc:Fallback>
                <p:oleObj r:id="rId2" imgW="3932280" imgH="1429560" progId="ChemDraw.Document.6.0">
                  <p:embed/>
                  <p:pic>
                    <p:nvPicPr>
                      <p:cNvPr id="250883" name="对象 250882">
                        <a:extLst>
                          <a:ext uri="{FF2B5EF4-FFF2-40B4-BE49-F238E27FC236}">
                            <a16:creationId xmlns:a16="http://schemas.microsoft.com/office/drawing/2014/main" id="{3F6C5675-3544-4FA5-AA64-9DE082E63B3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154113"/>
                        <a:ext cx="8458200" cy="309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84" name="文本框 250883">
            <a:extLst>
              <a:ext uri="{FF2B5EF4-FFF2-40B4-BE49-F238E27FC236}">
                <a16:creationId xmlns:a16="http://schemas.microsoft.com/office/drawing/2014/main" id="{ED0A9D99-6442-41F6-A772-65F1AC271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971800"/>
            <a:ext cx="2743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zh-CN" b="1">
                <a:ea typeface="黑体" panose="02010609060101010101" pitchFamily="49" charset="-122"/>
              </a:rPr>
              <a:t>④</a:t>
            </a:r>
            <a:r>
              <a:rPr lang="zh-CN" altLang="en-US" b="1">
                <a:ea typeface="黑体" panose="02010609060101010101" pitchFamily="49" charset="-122"/>
              </a:rPr>
              <a:t>酯的缩合</a:t>
            </a:r>
          </a:p>
        </p:txBody>
      </p:sp>
      <p:grpSp>
        <p:nvGrpSpPr>
          <p:cNvPr id="250885" name="组合 250884">
            <a:extLst>
              <a:ext uri="{FF2B5EF4-FFF2-40B4-BE49-F238E27FC236}">
                <a16:creationId xmlns:a16="http://schemas.microsoft.com/office/drawing/2014/main" id="{DC255F8A-B3D0-473D-AC46-AA812D4C5687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581400"/>
            <a:ext cx="7874000" cy="1905000"/>
            <a:chOff x="576" y="2208"/>
            <a:chExt cx="4960" cy="1200"/>
          </a:xfrm>
        </p:grpSpPr>
        <p:sp>
          <p:nvSpPr>
            <p:cNvPr id="36871" name="文本框 250885">
              <a:extLst>
                <a:ext uri="{FF2B5EF4-FFF2-40B4-BE49-F238E27FC236}">
                  <a16:creationId xmlns:a16="http://schemas.microsoft.com/office/drawing/2014/main" id="{B65FB598-A20C-4A48-8E53-826E49857D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976"/>
              <a:ext cx="11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C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000" b="1">
                  <a:latin typeface="Times New Roman" panose="02020603050405020304" pitchFamily="18" charset="0"/>
                </a:rPr>
                <a:t>H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5</a:t>
              </a:r>
              <a:r>
                <a:rPr lang="en-US" altLang="zh-CN" sz="2000" b="1">
                  <a:latin typeface="Times New Roman" panose="02020603050405020304" pitchFamily="18" charset="0"/>
                </a:rPr>
                <a:t>ONa</a:t>
              </a:r>
            </a:p>
          </p:txBody>
        </p:sp>
        <p:sp>
          <p:nvSpPr>
            <p:cNvPr id="36872" name="直接连接符 250886">
              <a:extLst>
                <a:ext uri="{FF2B5EF4-FFF2-40B4-BE49-F238E27FC236}">
                  <a16:creationId xmlns:a16="http://schemas.microsoft.com/office/drawing/2014/main" id="{E12E0396-9022-40E5-9FCE-D5B2CD5417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4" y="326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3" name="文本框 250887">
              <a:extLst>
                <a:ext uri="{FF2B5EF4-FFF2-40B4-BE49-F238E27FC236}">
                  <a16:creationId xmlns:a16="http://schemas.microsoft.com/office/drawing/2014/main" id="{F273ED6F-22EC-4DAB-80A9-1A00E6D969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2" y="3120"/>
              <a:ext cx="38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RCH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</a:rPr>
                <a:t>— C— CHC—OC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</a:rPr>
                <a:t>H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5</a:t>
              </a:r>
              <a:r>
                <a:rPr lang="en-US" altLang="zh-CN" sz="2400" b="1">
                  <a:latin typeface="Times New Roman" panose="02020603050405020304" pitchFamily="18" charset="0"/>
                </a:rPr>
                <a:t> + CH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3</a:t>
              </a:r>
              <a:r>
                <a:rPr lang="en-US" altLang="zh-CN" sz="2400" b="1">
                  <a:latin typeface="Times New Roman" panose="02020603050405020304" pitchFamily="18" charset="0"/>
                </a:rPr>
                <a:t>CH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</a:rPr>
                <a:t>OH</a:t>
              </a:r>
              <a:endParaRPr lang="en-US" altLang="zh-CN" sz="24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6874" name="文本框 250888">
              <a:extLst>
                <a:ext uri="{FF2B5EF4-FFF2-40B4-BE49-F238E27FC236}">
                  <a16:creationId xmlns:a16="http://schemas.microsoft.com/office/drawing/2014/main" id="{3A131612-84FD-4D47-9980-3522C6885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88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O</a:t>
              </a:r>
            </a:p>
          </p:txBody>
        </p:sp>
        <p:grpSp>
          <p:nvGrpSpPr>
            <p:cNvPr id="36875" name="组合 250889">
              <a:extLst>
                <a:ext uri="{FF2B5EF4-FFF2-40B4-BE49-F238E27FC236}">
                  <a16:creationId xmlns:a16="http://schemas.microsoft.com/office/drawing/2014/main" id="{9797C653-8B3E-4DC4-B3C0-BBEA0FCE9F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3072"/>
              <a:ext cx="32" cy="144"/>
              <a:chOff x="3984" y="2688"/>
              <a:chExt cx="32" cy="144"/>
            </a:xfrm>
          </p:grpSpPr>
          <p:sp>
            <p:nvSpPr>
              <p:cNvPr id="36894" name="直接连接符 250890">
                <a:extLst>
                  <a:ext uri="{FF2B5EF4-FFF2-40B4-BE49-F238E27FC236}">
                    <a16:creationId xmlns:a16="http://schemas.microsoft.com/office/drawing/2014/main" id="{A963D2DC-1DBF-41C8-9734-1759BF262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5" name="直接连接符 250891">
                <a:extLst>
                  <a:ext uri="{FF2B5EF4-FFF2-40B4-BE49-F238E27FC236}">
                    <a16:creationId xmlns:a16="http://schemas.microsoft.com/office/drawing/2014/main" id="{034E8D5E-3441-4681-B9A9-B1AAFEE4B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6" y="268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876" name="文本框 250892">
              <a:extLst>
                <a:ext uri="{FF2B5EF4-FFF2-40B4-BE49-F238E27FC236}">
                  <a16:creationId xmlns:a16="http://schemas.microsoft.com/office/drawing/2014/main" id="{F87A41C8-E898-4A2A-BBBD-41B1D64FBE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83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O</a:t>
              </a:r>
            </a:p>
          </p:txBody>
        </p:sp>
        <p:grpSp>
          <p:nvGrpSpPr>
            <p:cNvPr id="36877" name="组合 250893">
              <a:extLst>
                <a:ext uri="{FF2B5EF4-FFF2-40B4-BE49-F238E27FC236}">
                  <a16:creationId xmlns:a16="http://schemas.microsoft.com/office/drawing/2014/main" id="{6E090BCA-9416-42E9-95D1-C85F25188A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3024"/>
              <a:ext cx="32" cy="144"/>
              <a:chOff x="3984" y="2688"/>
              <a:chExt cx="32" cy="144"/>
            </a:xfrm>
          </p:grpSpPr>
          <p:sp>
            <p:nvSpPr>
              <p:cNvPr id="36892" name="直接连接符 250894">
                <a:extLst>
                  <a:ext uri="{FF2B5EF4-FFF2-40B4-BE49-F238E27FC236}">
                    <a16:creationId xmlns:a16="http://schemas.microsoft.com/office/drawing/2014/main" id="{4BB48B27-2A2E-4BB4-A7E2-F86228D088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3" name="直接连接符 250895">
                <a:extLst>
                  <a:ext uri="{FF2B5EF4-FFF2-40B4-BE49-F238E27FC236}">
                    <a16:creationId xmlns:a16="http://schemas.microsoft.com/office/drawing/2014/main" id="{FF250D44-CFFA-4499-9EB3-B708CCCF9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6" y="268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878" name="文本框 250896">
              <a:extLst>
                <a:ext uri="{FF2B5EF4-FFF2-40B4-BE49-F238E27FC236}">
                  <a16:creationId xmlns:a16="http://schemas.microsoft.com/office/drawing/2014/main" id="{74D20B35-00A6-4128-A8B4-4EE04ED2A9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6" y="2448"/>
              <a:ext cx="1154" cy="324"/>
            </a:xfrm>
            <a:prstGeom prst="rect">
              <a:avLst/>
            </a:prstGeom>
            <a:noFill/>
            <a:ln w="57150">
              <a:solidFill>
                <a:srgbClr val="FF99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6879" name="文本框 250897">
              <a:extLst>
                <a:ext uri="{FF2B5EF4-FFF2-40B4-BE49-F238E27FC236}">
                  <a16:creationId xmlns:a16="http://schemas.microsoft.com/office/drawing/2014/main" id="{9FA8BDE2-F625-444A-8424-9FE6E18112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544"/>
              <a:ext cx="49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RCH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</a:rPr>
                <a:t> — C — OC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</a:rPr>
                <a:t>H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5</a:t>
              </a:r>
              <a:r>
                <a:rPr lang="en-US" altLang="zh-CN" sz="2400" b="1">
                  <a:latin typeface="Times New Roman" panose="02020603050405020304" pitchFamily="18" charset="0"/>
                </a:rPr>
                <a:t> +     H CH — C — OC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</a:rPr>
                <a:t>H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6880" name="文本框 250898">
              <a:extLst>
                <a:ext uri="{FF2B5EF4-FFF2-40B4-BE49-F238E27FC236}">
                  <a16:creationId xmlns:a16="http://schemas.microsoft.com/office/drawing/2014/main" id="{78CE1984-FF3C-4231-9BDB-3101A9ED53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225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O</a:t>
              </a:r>
            </a:p>
          </p:txBody>
        </p:sp>
        <p:grpSp>
          <p:nvGrpSpPr>
            <p:cNvPr id="36881" name="组合 250899">
              <a:extLst>
                <a:ext uri="{FF2B5EF4-FFF2-40B4-BE49-F238E27FC236}">
                  <a16:creationId xmlns:a16="http://schemas.microsoft.com/office/drawing/2014/main" id="{03C0D9F7-79DC-4E0A-B8A3-575D701037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2448"/>
              <a:ext cx="32" cy="144"/>
              <a:chOff x="3984" y="2688"/>
              <a:chExt cx="32" cy="144"/>
            </a:xfrm>
          </p:grpSpPr>
          <p:sp>
            <p:nvSpPr>
              <p:cNvPr id="36890" name="直接连接符 250900">
                <a:extLst>
                  <a:ext uri="{FF2B5EF4-FFF2-40B4-BE49-F238E27FC236}">
                    <a16:creationId xmlns:a16="http://schemas.microsoft.com/office/drawing/2014/main" id="{0F9F142B-FF9F-4966-BC17-3D7874A054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1" name="直接连接符 250901">
                <a:extLst>
                  <a:ext uri="{FF2B5EF4-FFF2-40B4-BE49-F238E27FC236}">
                    <a16:creationId xmlns:a16="http://schemas.microsoft.com/office/drawing/2014/main" id="{EB5DCC49-C7A4-4B1E-8163-B2DC886A33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6" y="268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882" name="文本框 250902">
              <a:extLst>
                <a:ext uri="{FF2B5EF4-FFF2-40B4-BE49-F238E27FC236}">
                  <a16:creationId xmlns:a16="http://schemas.microsoft.com/office/drawing/2014/main" id="{20F1B5EA-1776-4DBA-B0C0-E21B5F2574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208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  O </a:t>
              </a:r>
            </a:p>
          </p:txBody>
        </p:sp>
        <p:grpSp>
          <p:nvGrpSpPr>
            <p:cNvPr id="36883" name="组合 250903">
              <a:extLst>
                <a:ext uri="{FF2B5EF4-FFF2-40B4-BE49-F238E27FC236}">
                  <a16:creationId xmlns:a16="http://schemas.microsoft.com/office/drawing/2014/main" id="{A7DD4DC8-E126-46F8-A05B-AB43B823E1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2448"/>
              <a:ext cx="32" cy="144"/>
              <a:chOff x="2496" y="1440"/>
              <a:chExt cx="32" cy="144"/>
            </a:xfrm>
          </p:grpSpPr>
          <p:sp>
            <p:nvSpPr>
              <p:cNvPr id="36888" name="直接连接符 250904">
                <a:extLst>
                  <a:ext uri="{FF2B5EF4-FFF2-40B4-BE49-F238E27FC236}">
                    <a16:creationId xmlns:a16="http://schemas.microsoft.com/office/drawing/2014/main" id="{06446F84-C119-4598-A928-C6D0891BF0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6" y="14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89" name="直接连接符 250905">
                <a:extLst>
                  <a:ext uri="{FF2B5EF4-FFF2-40B4-BE49-F238E27FC236}">
                    <a16:creationId xmlns:a16="http://schemas.microsoft.com/office/drawing/2014/main" id="{7DD959D7-9555-4078-8806-FCBABF4D24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8" y="14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884" name="直接连接符 250906">
              <a:extLst>
                <a:ext uri="{FF2B5EF4-FFF2-40B4-BE49-F238E27FC236}">
                  <a16:creationId xmlns:a16="http://schemas.microsoft.com/office/drawing/2014/main" id="{C007F4ED-E0DB-41A8-B047-72AAEADFED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24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5" name="文本框 250907">
              <a:extLst>
                <a:ext uri="{FF2B5EF4-FFF2-40B4-BE49-F238E27FC236}">
                  <a16:creationId xmlns:a16="http://schemas.microsoft.com/office/drawing/2014/main" id="{2851E4D0-573A-445D-A62B-6C07CB6766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20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R</a:t>
              </a:r>
            </a:p>
          </p:txBody>
        </p:sp>
        <p:sp>
          <p:nvSpPr>
            <p:cNvPr id="36886" name="直接连接符 250908">
              <a:extLst>
                <a:ext uri="{FF2B5EF4-FFF2-40B4-BE49-F238E27FC236}">
                  <a16:creationId xmlns:a16="http://schemas.microsoft.com/office/drawing/2014/main" id="{37E94FE8-BA40-467C-AE51-51B0515F6C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7" name="文本框 250909">
              <a:extLst>
                <a:ext uri="{FF2B5EF4-FFF2-40B4-BE49-F238E27FC236}">
                  <a16:creationId xmlns:a16="http://schemas.microsoft.com/office/drawing/2014/main" id="{80A3E957-DD5B-4B6F-8D3D-E4DA1A4312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83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R</a:t>
              </a:r>
            </a:p>
          </p:txBody>
        </p:sp>
      </p:grpSp>
      <p:sp>
        <p:nvSpPr>
          <p:cNvPr id="36870" name="灯片编号占位符 1">
            <a:extLst>
              <a:ext uri="{FF2B5EF4-FFF2-40B4-BE49-F238E27FC236}">
                <a16:creationId xmlns:a16="http://schemas.microsoft.com/office/drawing/2014/main" id="{E3C573FB-9117-4BD4-8084-B0A97C8FCA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DD923B6B-330D-4A10-A982-418E4C757598}" type="slidenum">
              <a:rPr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58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5088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5088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5088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5088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2" grpId="0"/>
      <p:bldP spid="25088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1906" name="对象 251905">
            <a:extLst>
              <a:ext uri="{FF2B5EF4-FFF2-40B4-BE49-F238E27FC236}">
                <a16:creationId xmlns:a16="http://schemas.microsoft.com/office/drawing/2014/main" id="{7E3104F8-A8B9-464A-BB93-CF6E0F800F9A}"/>
              </a:ext>
            </a:extLst>
          </p:cNvPr>
          <p:cNvGraphicFramePr>
            <a:graphicFrameLocks/>
          </p:cNvGraphicFramePr>
          <p:nvPr/>
        </p:nvGraphicFramePr>
        <p:xfrm>
          <a:off x="228600" y="1676400"/>
          <a:ext cx="8610600" cy="391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907280" imgH="2235200" progId="ChemDraw.Document.6.0">
                  <p:embed/>
                </p:oleObj>
              </mc:Choice>
              <mc:Fallback>
                <p:oleObj r:id="rId2" imgW="4907280" imgH="2235200" progId="ChemDraw.Document.6.0">
                  <p:embed/>
                  <p:pic>
                    <p:nvPicPr>
                      <p:cNvPr id="251906" name="对象 251905">
                        <a:extLst>
                          <a:ext uri="{FF2B5EF4-FFF2-40B4-BE49-F238E27FC236}">
                            <a16:creationId xmlns:a16="http://schemas.microsoft.com/office/drawing/2014/main" id="{7E3104F8-A8B9-464A-BB93-CF6E0F800F9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676400"/>
                        <a:ext cx="8610600" cy="391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07" name="文本框 251906">
            <a:extLst>
              <a:ext uri="{FF2B5EF4-FFF2-40B4-BE49-F238E27FC236}">
                <a16:creationId xmlns:a16="http://schemas.microsoft.com/office/drawing/2014/main" id="{63742C61-CB16-4F94-B22B-F852AD0FA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762000"/>
            <a:ext cx="2743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zh-CN" b="1"/>
              <a:t>⑤</a:t>
            </a:r>
            <a:r>
              <a:rPr lang="zh-CN" altLang="en-US" b="1">
                <a:ea typeface="黑体" panose="02010609060101010101" pitchFamily="49" charset="-122"/>
              </a:rPr>
              <a:t>格氏试剂</a:t>
            </a:r>
          </a:p>
        </p:txBody>
      </p:sp>
      <p:sp>
        <p:nvSpPr>
          <p:cNvPr id="37892" name="灯片编号占位符 1">
            <a:extLst>
              <a:ext uri="{FF2B5EF4-FFF2-40B4-BE49-F238E27FC236}">
                <a16:creationId xmlns:a16="http://schemas.microsoft.com/office/drawing/2014/main" id="{532CDFB6-A151-4208-A2C9-0177BC1C8C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D5CFAB11-9868-44D3-BAE0-A46FD65327DF}" type="slidenum">
              <a:rPr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59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5190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5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文本框 252929">
            <a:extLst>
              <a:ext uri="{FF2B5EF4-FFF2-40B4-BE49-F238E27FC236}">
                <a16:creationId xmlns:a16="http://schemas.microsoft.com/office/drawing/2014/main" id="{9EEE78EE-7871-4611-9825-EFBE884A4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38200"/>
            <a:ext cx="2743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zh-CN" b="1"/>
              <a:t>⑥</a:t>
            </a:r>
            <a:r>
              <a:rPr lang="zh-CN" altLang="en-US" b="1">
                <a:ea typeface="黑体" panose="02010609060101010101" pitchFamily="49" charset="-122"/>
              </a:rPr>
              <a:t>武兹反应</a:t>
            </a:r>
          </a:p>
        </p:txBody>
      </p:sp>
      <p:grpSp>
        <p:nvGrpSpPr>
          <p:cNvPr id="252931" name="组合 252930">
            <a:extLst>
              <a:ext uri="{FF2B5EF4-FFF2-40B4-BE49-F238E27FC236}">
                <a16:creationId xmlns:a16="http://schemas.microsoft.com/office/drawing/2014/main" id="{5DAF2479-FDA0-4E92-9C56-9437845276DD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600200"/>
            <a:ext cx="5334000" cy="519113"/>
            <a:chOff x="657" y="1312"/>
            <a:chExt cx="2735" cy="327"/>
          </a:xfrm>
        </p:grpSpPr>
        <p:sp>
          <p:nvSpPr>
            <p:cNvPr id="38931" name="矩形 252931">
              <a:extLst>
                <a:ext uri="{FF2B5EF4-FFF2-40B4-BE49-F238E27FC236}">
                  <a16:creationId xmlns:a16="http://schemas.microsoft.com/office/drawing/2014/main" id="{579A13F9-1FCB-4F89-89BD-F2C426061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1312"/>
              <a:ext cx="273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800" b="1">
                  <a:latin typeface="Times New Roman" panose="02020603050405020304" pitchFamily="18" charset="0"/>
                  <a:sym typeface="Wingdings" panose="05000000000000000000" pitchFamily="2" charset="2"/>
                </a:rPr>
                <a:t>              RX + Na              R</a:t>
              </a:r>
              <a:r>
                <a:rPr lang="zh-CN" altLang="en-US" sz="2800" b="1">
                  <a:latin typeface="Times New Roman" panose="02020603050405020304" pitchFamily="18" charset="0"/>
                  <a:sym typeface="Wingdings" panose="05000000000000000000" pitchFamily="2" charset="2"/>
                </a:rPr>
                <a:t>－</a:t>
              </a:r>
              <a:r>
                <a:rPr lang="en-US" altLang="zh-CN" sz="2800" b="1">
                  <a:latin typeface="Times New Roman" panose="02020603050405020304" pitchFamily="18" charset="0"/>
                  <a:sym typeface="Wingdings" panose="05000000000000000000" pitchFamily="2" charset="2"/>
                </a:rPr>
                <a:t>R</a:t>
              </a:r>
            </a:p>
          </p:txBody>
        </p:sp>
        <p:sp>
          <p:nvSpPr>
            <p:cNvPr id="38932" name="直接连接符 252932">
              <a:extLst>
                <a:ext uri="{FF2B5EF4-FFF2-40B4-BE49-F238E27FC236}">
                  <a16:creationId xmlns:a16="http://schemas.microsoft.com/office/drawing/2014/main" id="{1144D532-A082-4FFC-81EE-53E2951543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480"/>
              <a:ext cx="5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2934" name="文本框 252933">
            <a:extLst>
              <a:ext uri="{FF2B5EF4-FFF2-40B4-BE49-F238E27FC236}">
                <a16:creationId xmlns:a16="http://schemas.microsoft.com/office/drawing/2014/main" id="{46C55681-9619-4608-B71B-6E4A24FBD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514600"/>
            <a:ext cx="5943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zh-CN" b="1">
                <a:latin typeface="Times New Roman" panose="02020603050405020304" pitchFamily="18" charset="0"/>
              </a:rPr>
              <a:t>⑦</a:t>
            </a: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F-C</a:t>
            </a: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</a:rPr>
              <a:t>反应</a:t>
            </a:r>
          </a:p>
        </p:txBody>
      </p:sp>
      <p:grpSp>
        <p:nvGrpSpPr>
          <p:cNvPr id="252935" name="组合 252934">
            <a:extLst>
              <a:ext uri="{FF2B5EF4-FFF2-40B4-BE49-F238E27FC236}">
                <a16:creationId xmlns:a16="http://schemas.microsoft.com/office/drawing/2014/main" id="{C6B88B67-F547-4585-AA65-4C47E667EE5E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3200400"/>
            <a:ext cx="6470650" cy="985838"/>
            <a:chOff x="912" y="2016"/>
            <a:chExt cx="4076" cy="621"/>
          </a:xfrm>
        </p:grpSpPr>
        <p:grpSp>
          <p:nvGrpSpPr>
            <p:cNvPr id="38920" name="组合 252935">
              <a:extLst>
                <a:ext uri="{FF2B5EF4-FFF2-40B4-BE49-F238E27FC236}">
                  <a16:creationId xmlns:a16="http://schemas.microsoft.com/office/drawing/2014/main" id="{B2162959-9DDB-4685-A696-FB05CBB46D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2016"/>
              <a:ext cx="3909" cy="621"/>
              <a:chOff x="884" y="391"/>
              <a:chExt cx="3909" cy="621"/>
            </a:xfrm>
          </p:grpSpPr>
          <p:pic>
            <p:nvPicPr>
              <p:cNvPr id="38922" name="图片 252936">
                <a:extLst>
                  <a:ext uri="{FF2B5EF4-FFF2-40B4-BE49-F238E27FC236}">
                    <a16:creationId xmlns:a16="http://schemas.microsoft.com/office/drawing/2014/main" id="{89BFB590-CC85-4FA6-ADAD-317234468C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4" y="391"/>
                <a:ext cx="492" cy="5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8923" name="组合 252937">
                <a:extLst>
                  <a:ext uri="{FF2B5EF4-FFF2-40B4-BE49-F238E27FC236}">
                    <a16:creationId xmlns:a16="http://schemas.microsoft.com/office/drawing/2014/main" id="{7D234348-92CD-4689-A2FC-A22F43E277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7" y="436"/>
                <a:ext cx="792" cy="576"/>
                <a:chOff x="2804" y="439"/>
                <a:chExt cx="792" cy="576"/>
              </a:xfrm>
            </p:grpSpPr>
            <p:pic>
              <p:nvPicPr>
                <p:cNvPr id="38928" name="图片 252938">
                  <a:extLst>
                    <a:ext uri="{FF2B5EF4-FFF2-40B4-BE49-F238E27FC236}">
                      <a16:creationId xmlns:a16="http://schemas.microsoft.com/office/drawing/2014/main" id="{5E4515A1-111E-4DF2-8DCB-99ADA6A6B51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04" y="439"/>
                  <a:ext cx="492" cy="5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8929" name="直接连接符 252939">
                  <a:extLst>
                    <a:ext uri="{FF2B5EF4-FFF2-40B4-BE49-F238E27FC236}">
                      <a16:creationId xmlns:a16="http://schemas.microsoft.com/office/drawing/2014/main" id="{17FE8B52-956D-4721-B999-7EF6DB47C5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2" y="631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930" name="文本框 252940">
                  <a:extLst>
                    <a:ext uri="{FF2B5EF4-FFF2-40B4-BE49-F238E27FC236}">
                      <a16:creationId xmlns:a16="http://schemas.microsoft.com/office/drawing/2014/main" id="{507B492D-AD2F-42D4-89AC-2DB98874DB8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56" y="511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2400" b="1">
                      <a:solidFill>
                        <a:srgbClr val="CC3300"/>
                      </a:solidFill>
                      <a:latin typeface="Times New Roman" panose="02020603050405020304" pitchFamily="18" charset="0"/>
                    </a:rPr>
                    <a:t>R</a:t>
                  </a:r>
                </a:p>
              </p:txBody>
            </p:sp>
          </p:grpSp>
          <p:sp>
            <p:nvSpPr>
              <p:cNvPr id="38924" name="文本框 252941">
                <a:extLst>
                  <a:ext uri="{FF2B5EF4-FFF2-40B4-BE49-F238E27FC236}">
                    <a16:creationId xmlns:a16="http://schemas.microsoft.com/office/drawing/2014/main" id="{9ED59348-19A0-4318-AB79-AB862282B3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0" y="547"/>
                <a:ext cx="9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+ </a:t>
                </a:r>
                <a:r>
                  <a:rPr lang="en-US" altLang="zh-CN" sz="2400" b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2400" b="1">
                    <a:solidFill>
                      <a:srgbClr val="CC3300"/>
                    </a:solidFill>
                    <a:latin typeface="Times New Roman" panose="02020603050405020304" pitchFamily="18" charset="0"/>
                  </a:rPr>
                  <a:t>RCl</a:t>
                </a:r>
              </a:p>
            </p:txBody>
          </p:sp>
          <p:sp>
            <p:nvSpPr>
              <p:cNvPr id="38925" name="直接连接符 252942">
                <a:extLst>
                  <a:ext uri="{FF2B5EF4-FFF2-40B4-BE49-F238E27FC236}">
                    <a16:creationId xmlns:a16="http://schemas.microsoft.com/office/drawing/2014/main" id="{342F44B8-A4CC-4A5E-B197-87DE870038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0" y="709"/>
                <a:ext cx="956" cy="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26" name="文本框 252943">
                <a:extLst>
                  <a:ext uri="{FF2B5EF4-FFF2-40B4-BE49-F238E27FC236}">
                    <a16:creationId xmlns:a16="http://schemas.microsoft.com/office/drawing/2014/main" id="{4DEED207-497D-4C7F-A4DB-D116A52120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8" y="391"/>
                <a:ext cx="110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zh-CN" altLang="en-US" sz="2400" b="1">
                    <a:solidFill>
                      <a:srgbClr val="CC3300"/>
                    </a:solidFill>
                    <a:latin typeface="Times New Roman" panose="02020603050405020304" pitchFamily="18" charset="0"/>
                  </a:rPr>
                  <a:t>无水</a:t>
                </a:r>
                <a:r>
                  <a:rPr lang="en-US" altLang="zh-CN" sz="2400" b="1">
                    <a:solidFill>
                      <a:srgbClr val="CC3300"/>
                    </a:solidFill>
                    <a:latin typeface="Times New Roman" panose="02020603050405020304" pitchFamily="18" charset="0"/>
                  </a:rPr>
                  <a:t>AlCl</a:t>
                </a:r>
                <a:r>
                  <a:rPr lang="en-US" altLang="zh-CN" sz="2400" b="1" baseline="-25000">
                    <a:solidFill>
                      <a:srgbClr val="CC33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8927" name="文本框 252944">
                <a:extLst>
                  <a:ext uri="{FF2B5EF4-FFF2-40B4-BE49-F238E27FC236}">
                    <a16:creationId xmlns:a16="http://schemas.microsoft.com/office/drawing/2014/main" id="{CB789CB3-2063-4D0C-B388-3FEA28B220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33" y="572"/>
                <a:ext cx="9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endParaRPr lang="zh-CN" altLang="en-US" sz="2400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8921" name="矩形 252945">
              <a:extLst>
                <a:ext uri="{FF2B5EF4-FFF2-40B4-BE49-F238E27FC236}">
                  <a16:creationId xmlns:a16="http://schemas.microsoft.com/office/drawing/2014/main" id="{13AEAAD4-7F31-4F67-AF41-6D0C61DEE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112"/>
              <a:ext cx="6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800" b="1">
                  <a:solidFill>
                    <a:srgbClr val="CC3300"/>
                  </a:solidFill>
                  <a:latin typeface="Times New Roman" panose="02020603050405020304" pitchFamily="18" charset="0"/>
                </a:rPr>
                <a:t>(R&lt;3)</a:t>
              </a:r>
            </a:p>
          </p:txBody>
        </p:sp>
      </p:grpSp>
      <p:graphicFrame>
        <p:nvGraphicFramePr>
          <p:cNvPr id="252947" name="对象 252946">
            <a:extLst>
              <a:ext uri="{FF2B5EF4-FFF2-40B4-BE49-F238E27FC236}">
                <a16:creationId xmlns:a16="http://schemas.microsoft.com/office/drawing/2014/main" id="{46EC12D7-4CCA-4360-B884-CDEB5A805CB3}"/>
              </a:ext>
            </a:extLst>
          </p:cNvPr>
          <p:cNvGraphicFramePr>
            <a:graphicFrameLocks/>
          </p:cNvGraphicFramePr>
          <p:nvPr/>
        </p:nvGraphicFramePr>
        <p:xfrm>
          <a:off x="1524000" y="4419600"/>
          <a:ext cx="525780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804160" imgH="640080" progId="ChemDraw.Document.6.0">
                  <p:embed/>
                </p:oleObj>
              </mc:Choice>
              <mc:Fallback>
                <p:oleObj r:id="rId3" imgW="2804160" imgH="640080" progId="ChemDraw.Document.6.0">
                  <p:embed/>
                  <p:pic>
                    <p:nvPicPr>
                      <p:cNvPr id="252947" name="对象 252946">
                        <a:extLst>
                          <a:ext uri="{FF2B5EF4-FFF2-40B4-BE49-F238E27FC236}">
                            <a16:creationId xmlns:a16="http://schemas.microsoft.com/office/drawing/2014/main" id="{46EC12D7-4CCA-4360-B884-CDEB5A805CB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419600"/>
                        <a:ext cx="5257800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灯片编号占位符 1">
            <a:extLst>
              <a:ext uri="{FF2B5EF4-FFF2-40B4-BE49-F238E27FC236}">
                <a16:creationId xmlns:a16="http://schemas.microsoft.com/office/drawing/2014/main" id="{2DA931D0-811B-4AFF-8FC6-815016DA53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8DA37BCB-74E8-457F-9191-796D46ADAE77}" type="slidenum">
              <a:rPr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60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5293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5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5293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5293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5294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0" grpId="0"/>
      <p:bldP spid="25293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文本框 253953">
            <a:extLst>
              <a:ext uri="{FF2B5EF4-FFF2-40B4-BE49-F238E27FC236}">
                <a16:creationId xmlns:a16="http://schemas.microsoft.com/office/drawing/2014/main" id="{B8634CF8-ED4E-4BDA-BEED-F1EA43310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990600"/>
            <a:ext cx="7239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</a:rPr>
              <a:t>增加一个</a:t>
            </a: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</a:rPr>
              <a:t>的反应：</a:t>
            </a:r>
          </a:p>
        </p:txBody>
      </p:sp>
      <p:grpSp>
        <p:nvGrpSpPr>
          <p:cNvPr id="253955" name="组合 253954">
            <a:extLst>
              <a:ext uri="{FF2B5EF4-FFF2-40B4-BE49-F238E27FC236}">
                <a16:creationId xmlns:a16="http://schemas.microsoft.com/office/drawing/2014/main" id="{54DC0DEA-13F9-4C0C-9C18-B797C3A1C128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905000"/>
            <a:ext cx="7391400" cy="1160463"/>
            <a:chOff x="576" y="1200"/>
            <a:chExt cx="4656" cy="731"/>
          </a:xfrm>
        </p:grpSpPr>
        <p:sp>
          <p:nvSpPr>
            <p:cNvPr id="39945" name="文本框 253955">
              <a:extLst>
                <a:ext uri="{FF2B5EF4-FFF2-40B4-BE49-F238E27FC236}">
                  <a16:creationId xmlns:a16="http://schemas.microsoft.com/office/drawing/2014/main" id="{E04AC266-D734-4DEF-849B-0EA537E655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200"/>
              <a:ext cx="4656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RX + NaCN;  RMgX + HCHO;  RMgX+CO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>
                  <a:latin typeface="Times New Roman" panose="02020603050405020304" pitchFamily="18" charset="0"/>
                </a:rPr>
                <a:t>;</a:t>
              </a:r>
            </a:p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      C=O+HCN;          C=O+CH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3</a:t>
              </a:r>
              <a:r>
                <a:rPr lang="en-US" altLang="zh-CN" sz="2800" b="1">
                  <a:latin typeface="Times New Roman" panose="02020603050405020304" pitchFamily="18" charset="0"/>
                </a:rPr>
                <a:t>MgX</a:t>
              </a:r>
            </a:p>
          </p:txBody>
        </p:sp>
        <p:sp>
          <p:nvSpPr>
            <p:cNvPr id="39946" name="直接连接符 253956">
              <a:extLst>
                <a:ext uri="{FF2B5EF4-FFF2-40B4-BE49-F238E27FC236}">
                  <a16:creationId xmlns:a16="http://schemas.microsoft.com/office/drawing/2014/main" id="{F0D445C9-C8FD-4460-A6D1-D1297EDA33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680"/>
              <a:ext cx="24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7" name="直接连接符 253957">
              <a:extLst>
                <a:ext uri="{FF2B5EF4-FFF2-40B4-BE49-F238E27FC236}">
                  <a16:creationId xmlns:a16="http://schemas.microsoft.com/office/drawing/2014/main" id="{708D2C71-7550-4578-BB97-2F91B6CA22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" y="1776"/>
              <a:ext cx="24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8" name="直接连接符 253958">
              <a:extLst>
                <a:ext uri="{FF2B5EF4-FFF2-40B4-BE49-F238E27FC236}">
                  <a16:creationId xmlns:a16="http://schemas.microsoft.com/office/drawing/2014/main" id="{AEF3BF5D-CA41-461D-9236-13B0364DBC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1776"/>
              <a:ext cx="24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9" name="直接连接符 253959">
              <a:extLst>
                <a:ext uri="{FF2B5EF4-FFF2-40B4-BE49-F238E27FC236}">
                  <a16:creationId xmlns:a16="http://schemas.microsoft.com/office/drawing/2014/main" id="{543C0BBB-CCD1-43BD-8306-911394A01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680"/>
              <a:ext cx="24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3961" name="文本框 253960">
            <a:extLst>
              <a:ext uri="{FF2B5EF4-FFF2-40B4-BE49-F238E27FC236}">
                <a16:creationId xmlns:a16="http://schemas.microsoft.com/office/drawing/2014/main" id="{7E764339-6893-4D83-9B14-664DCD988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352800"/>
            <a:ext cx="495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</a:rPr>
              <a:t>、碳链的缩短</a:t>
            </a:r>
          </a:p>
        </p:txBody>
      </p:sp>
      <p:sp>
        <p:nvSpPr>
          <p:cNvPr id="253962" name="文本框 253961">
            <a:extLst>
              <a:ext uri="{FF2B5EF4-FFF2-40B4-BE49-F238E27FC236}">
                <a16:creationId xmlns:a16="http://schemas.microsoft.com/office/drawing/2014/main" id="{85ADCF6C-1D61-44B8-B0A3-3C02A1F82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038600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①</a:t>
            </a: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</a:rPr>
              <a:t>烯烃氧化</a:t>
            </a:r>
          </a:p>
        </p:txBody>
      </p:sp>
      <p:sp>
        <p:nvSpPr>
          <p:cNvPr id="253963" name="文本框 253962">
            <a:extLst>
              <a:ext uri="{FF2B5EF4-FFF2-40B4-BE49-F238E27FC236}">
                <a16:creationId xmlns:a16="http://schemas.microsoft.com/office/drawing/2014/main" id="{22A8E7F4-E139-401A-A89D-4241CB0A9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724400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ea typeface="黑体" panose="02010609060101010101" pitchFamily="49" charset="-122"/>
              </a:rPr>
              <a:t>②</a:t>
            </a:r>
            <a:r>
              <a:rPr lang="zh-CN" altLang="en-US" b="1">
                <a:ea typeface="黑体" panose="02010609060101010101" pitchFamily="49" charset="-122"/>
              </a:rPr>
              <a:t>卤仿反应</a:t>
            </a:r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53964" name="对象 253963">
            <a:extLst>
              <a:ext uri="{FF2B5EF4-FFF2-40B4-BE49-F238E27FC236}">
                <a16:creationId xmlns:a16="http://schemas.microsoft.com/office/drawing/2014/main" id="{587E5DA5-EE16-4BE7-BB4A-D3C2F259E009}"/>
              </a:ext>
            </a:extLst>
          </p:cNvPr>
          <p:cNvGraphicFramePr>
            <a:graphicFrameLocks/>
          </p:cNvGraphicFramePr>
          <p:nvPr/>
        </p:nvGraphicFramePr>
        <p:xfrm>
          <a:off x="1295400" y="5410200"/>
          <a:ext cx="67818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399951" imgH="409207" progId="ChemDraw.Document.6.0">
                  <p:embed/>
                </p:oleObj>
              </mc:Choice>
              <mc:Fallback>
                <p:oleObj r:id="rId2" imgW="3399951" imgH="409207" progId="ChemDraw.Document.6.0">
                  <p:embed/>
                  <p:pic>
                    <p:nvPicPr>
                      <p:cNvPr id="253964" name="对象 253963">
                        <a:extLst>
                          <a:ext uri="{FF2B5EF4-FFF2-40B4-BE49-F238E27FC236}">
                            <a16:creationId xmlns:a16="http://schemas.microsoft.com/office/drawing/2014/main" id="{587E5DA5-EE16-4BE7-BB4A-D3C2F259E00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410200"/>
                        <a:ext cx="67818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4" name="灯片编号占位符 1">
            <a:extLst>
              <a:ext uri="{FF2B5EF4-FFF2-40B4-BE49-F238E27FC236}">
                <a16:creationId xmlns:a16="http://schemas.microsoft.com/office/drawing/2014/main" id="{06527996-BFCB-480F-8C3C-0D300A7257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6D1770D2-37D8-44A7-95CA-4BA2EDFA53F7}" type="slidenum">
              <a:rPr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61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5395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5395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5396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5396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3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5396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4" grpId="0"/>
      <p:bldP spid="253961" grpId="0"/>
      <p:bldP spid="253962" grpId="0"/>
      <p:bldP spid="25396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文本框 254977">
            <a:extLst>
              <a:ext uri="{FF2B5EF4-FFF2-40B4-BE49-F238E27FC236}">
                <a16:creationId xmlns:a16="http://schemas.microsoft.com/office/drawing/2014/main" id="{83DF8FAF-3878-4511-9B5C-574A66CBE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04800"/>
            <a:ext cx="3962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zh-CN" b="1"/>
              <a:t>③</a:t>
            </a:r>
            <a:r>
              <a:rPr lang="zh-CN" altLang="en-US" b="1">
                <a:ea typeface="黑体" panose="02010609060101010101" pitchFamily="49" charset="-122"/>
              </a:rPr>
              <a:t>脱羧反应</a:t>
            </a:r>
          </a:p>
        </p:txBody>
      </p:sp>
      <p:grpSp>
        <p:nvGrpSpPr>
          <p:cNvPr id="254979" name="组合 254978">
            <a:extLst>
              <a:ext uri="{FF2B5EF4-FFF2-40B4-BE49-F238E27FC236}">
                <a16:creationId xmlns:a16="http://schemas.microsoft.com/office/drawing/2014/main" id="{5F002DEA-449B-4E2D-A6D5-4507DF54C3E7}"/>
              </a:ext>
            </a:extLst>
          </p:cNvPr>
          <p:cNvGrpSpPr>
            <a:grpSpLocks/>
          </p:cNvGrpSpPr>
          <p:nvPr/>
        </p:nvGrpSpPr>
        <p:grpSpPr bwMode="auto">
          <a:xfrm>
            <a:off x="1628775" y="1219200"/>
            <a:ext cx="6083300" cy="628650"/>
            <a:chOff x="1026" y="768"/>
            <a:chExt cx="3832" cy="396"/>
          </a:xfrm>
        </p:grpSpPr>
        <p:sp>
          <p:nvSpPr>
            <p:cNvPr id="41000" name="文本框 254979">
              <a:extLst>
                <a:ext uri="{FF2B5EF4-FFF2-40B4-BE49-F238E27FC236}">
                  <a16:creationId xmlns:a16="http://schemas.microsoft.com/office/drawing/2014/main" id="{78689E7B-8A0C-4DEB-9BAF-F717F12C6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0" y="972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△</a:t>
              </a:r>
            </a:p>
          </p:txBody>
        </p:sp>
        <p:sp>
          <p:nvSpPr>
            <p:cNvPr id="41001" name="文本框 254980">
              <a:extLst>
                <a:ext uri="{FF2B5EF4-FFF2-40B4-BE49-F238E27FC236}">
                  <a16:creationId xmlns:a16="http://schemas.microsoft.com/office/drawing/2014/main" id="{02710143-F6AC-4081-8CAF-3F0013F52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8" y="884"/>
              <a:ext cx="144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R— H +  Na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</a:rPr>
                <a:t>CO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3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1002" name="文本框 254981">
              <a:extLst>
                <a:ext uri="{FF2B5EF4-FFF2-40B4-BE49-F238E27FC236}">
                  <a16:creationId xmlns:a16="http://schemas.microsoft.com/office/drawing/2014/main" id="{64926409-BE49-4E9A-BD31-20EE309838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6" y="856"/>
              <a:ext cx="112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R— COONa</a:t>
              </a:r>
            </a:p>
          </p:txBody>
        </p:sp>
        <p:sp>
          <p:nvSpPr>
            <p:cNvPr id="41003" name="文本框 254982">
              <a:extLst>
                <a:ext uri="{FF2B5EF4-FFF2-40B4-BE49-F238E27FC236}">
                  <a16:creationId xmlns:a16="http://schemas.microsoft.com/office/drawing/2014/main" id="{373CF833-355C-43D0-9522-1EEB22EE1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768"/>
              <a:ext cx="142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CaO + NaOH</a:t>
              </a:r>
            </a:p>
          </p:txBody>
        </p:sp>
        <p:sp>
          <p:nvSpPr>
            <p:cNvPr id="41004" name="直接连接符 254983">
              <a:extLst>
                <a:ext uri="{FF2B5EF4-FFF2-40B4-BE49-F238E27FC236}">
                  <a16:creationId xmlns:a16="http://schemas.microsoft.com/office/drawing/2014/main" id="{2CCFD388-8B49-4293-8E79-4E643A93ED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0" y="968"/>
              <a:ext cx="10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4985" name="组合 254984">
            <a:extLst>
              <a:ext uri="{FF2B5EF4-FFF2-40B4-BE49-F238E27FC236}">
                <a16:creationId xmlns:a16="http://schemas.microsoft.com/office/drawing/2014/main" id="{E22F4FC5-17E1-494C-B783-A1D35654BF0F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2362200"/>
            <a:ext cx="7239000" cy="990600"/>
            <a:chOff x="576" y="1584"/>
            <a:chExt cx="4560" cy="624"/>
          </a:xfrm>
        </p:grpSpPr>
        <p:sp>
          <p:nvSpPr>
            <p:cNvPr id="40989" name="文本框 254985">
              <a:extLst>
                <a:ext uri="{FF2B5EF4-FFF2-40B4-BE49-F238E27FC236}">
                  <a16:creationId xmlns:a16="http://schemas.microsoft.com/office/drawing/2014/main" id="{D027B94B-57FD-49E1-80D0-819EECADE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584"/>
              <a:ext cx="18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R CH— COOH</a:t>
              </a:r>
            </a:p>
          </p:txBody>
        </p:sp>
        <p:sp>
          <p:nvSpPr>
            <p:cNvPr id="40990" name="直接连接符 254986">
              <a:extLst>
                <a:ext uri="{FF2B5EF4-FFF2-40B4-BE49-F238E27FC236}">
                  <a16:creationId xmlns:a16="http://schemas.microsoft.com/office/drawing/2014/main" id="{6625E4E0-DA82-4571-8568-529DF7037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0" y="1888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1" name="文本框 254987">
              <a:extLst>
                <a:ext uri="{FF2B5EF4-FFF2-40B4-BE49-F238E27FC236}">
                  <a16:creationId xmlns:a16="http://schemas.microsoft.com/office/drawing/2014/main" id="{167A0DC2-A593-4AFF-89C9-C7F25F9D2A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584"/>
              <a:ext cx="18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R CH  </a:t>
              </a:r>
              <a:r>
                <a:rPr lang="zh-CN" altLang="en-US" sz="2400" b="1">
                  <a:latin typeface="Times New Roman" panose="02020603050405020304" pitchFamily="18" charset="0"/>
                </a:rPr>
                <a:t>＋ </a:t>
              </a:r>
              <a:r>
                <a:rPr lang="en-US" altLang="zh-CN" sz="2400" b="1">
                  <a:latin typeface="Times New Roman" panose="02020603050405020304" pitchFamily="18" charset="0"/>
                </a:rPr>
                <a:t>HCOOH</a:t>
              </a:r>
            </a:p>
          </p:txBody>
        </p:sp>
        <p:sp>
          <p:nvSpPr>
            <p:cNvPr id="40992" name="直接连接符 254988">
              <a:extLst>
                <a:ext uri="{FF2B5EF4-FFF2-40B4-BE49-F238E27FC236}">
                  <a16:creationId xmlns:a16="http://schemas.microsoft.com/office/drawing/2014/main" id="{65FD99BC-D388-456B-9B00-E521CE6214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1840"/>
              <a:ext cx="0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3" name="文本框 254989">
              <a:extLst>
                <a:ext uri="{FF2B5EF4-FFF2-40B4-BE49-F238E27FC236}">
                  <a16:creationId xmlns:a16="http://schemas.microsoft.com/office/drawing/2014/main" id="{506A527E-6A4C-4843-88DC-658935BF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92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OH</a:t>
              </a:r>
            </a:p>
          </p:txBody>
        </p:sp>
        <p:sp>
          <p:nvSpPr>
            <p:cNvPr id="40994" name="文本框 254990">
              <a:extLst>
                <a:ext uri="{FF2B5EF4-FFF2-40B4-BE49-F238E27FC236}">
                  <a16:creationId xmlns:a16="http://schemas.microsoft.com/office/drawing/2014/main" id="{1E5D9DC5-BB16-4F5B-9680-2D92A0BDFE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190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O</a:t>
              </a:r>
            </a:p>
          </p:txBody>
        </p:sp>
        <p:grpSp>
          <p:nvGrpSpPr>
            <p:cNvPr id="40995" name="组合 254991">
              <a:extLst>
                <a:ext uri="{FF2B5EF4-FFF2-40B4-BE49-F238E27FC236}">
                  <a16:creationId xmlns:a16="http://schemas.microsoft.com/office/drawing/2014/main" id="{7EACEC51-4799-4973-B72B-8241CD87A8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4" y="1840"/>
              <a:ext cx="32" cy="141"/>
              <a:chOff x="2400" y="2400"/>
              <a:chExt cx="32" cy="141"/>
            </a:xfrm>
          </p:grpSpPr>
          <p:sp>
            <p:nvSpPr>
              <p:cNvPr id="40998" name="直接连接符 254992">
                <a:extLst>
                  <a:ext uri="{FF2B5EF4-FFF2-40B4-BE49-F238E27FC236}">
                    <a16:creationId xmlns:a16="http://schemas.microsoft.com/office/drawing/2014/main" id="{3CDB6828-77D4-41A1-8A86-DBFF9ADA82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400"/>
                <a:ext cx="0" cy="1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9" name="直接连接符 254993">
                <a:extLst>
                  <a:ext uri="{FF2B5EF4-FFF2-40B4-BE49-F238E27FC236}">
                    <a16:creationId xmlns:a16="http://schemas.microsoft.com/office/drawing/2014/main" id="{A6DB9A0A-65F9-4989-8A9F-3CED1B4E35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2" y="2400"/>
                <a:ext cx="0" cy="1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0996" name="文本框 254994">
              <a:extLst>
                <a:ext uri="{FF2B5EF4-FFF2-40B4-BE49-F238E27FC236}">
                  <a16:creationId xmlns:a16="http://schemas.microsoft.com/office/drawing/2014/main" id="{202A26FF-24E1-4E82-9DD2-33479B999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584"/>
              <a:ext cx="10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稀</a:t>
              </a:r>
              <a:r>
                <a:rPr lang="en-US" altLang="zh-CN" sz="2400" b="1">
                  <a:latin typeface="Times New Roman" panose="02020603050405020304" pitchFamily="18" charset="0"/>
                </a:rPr>
                <a:t>H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</a:rPr>
                <a:t>SO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0997" name="等腰三角形 254995">
              <a:extLst>
                <a:ext uri="{FF2B5EF4-FFF2-40B4-BE49-F238E27FC236}">
                  <a16:creationId xmlns:a16="http://schemas.microsoft.com/office/drawing/2014/main" id="{735FD641-3D74-49B6-A2CD-AEFE573EF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1968"/>
              <a:ext cx="144" cy="144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4997" name="组合 254996">
            <a:extLst>
              <a:ext uri="{FF2B5EF4-FFF2-40B4-BE49-F238E27FC236}">
                <a16:creationId xmlns:a16="http://schemas.microsoft.com/office/drawing/2014/main" id="{836695ED-17CD-46F9-82D0-784193D28F56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505200"/>
            <a:ext cx="6223000" cy="1346200"/>
            <a:chOff x="960" y="2208"/>
            <a:chExt cx="3920" cy="848"/>
          </a:xfrm>
        </p:grpSpPr>
        <p:sp>
          <p:nvSpPr>
            <p:cNvPr id="40978" name="文本框 254997">
              <a:extLst>
                <a:ext uri="{FF2B5EF4-FFF2-40B4-BE49-F238E27FC236}">
                  <a16:creationId xmlns:a16="http://schemas.microsoft.com/office/drawing/2014/main" id="{FD64C5E8-40BF-4511-A132-71C066FA0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208"/>
              <a:ext cx="9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稀</a:t>
              </a:r>
              <a:r>
                <a:rPr lang="en-US" altLang="zh-CN" sz="2400" b="1">
                  <a:latin typeface="Times New Roman" panose="02020603050405020304" pitchFamily="18" charset="0"/>
                </a:rPr>
                <a:t>H</a:t>
              </a:r>
              <a:r>
                <a:rPr lang="en-US" altLang="zh-CN" sz="2400" b="1" baseline="30000">
                  <a:latin typeface="Times New Roman" panose="02020603050405020304" pitchFamily="18" charset="0"/>
                </a:rPr>
                <a:t>+</a:t>
              </a:r>
            </a:p>
          </p:txBody>
        </p:sp>
        <p:grpSp>
          <p:nvGrpSpPr>
            <p:cNvPr id="40979" name="组合 254998">
              <a:extLst>
                <a:ext uri="{FF2B5EF4-FFF2-40B4-BE49-F238E27FC236}">
                  <a16:creationId xmlns:a16="http://schemas.microsoft.com/office/drawing/2014/main" id="{5C7F2686-BCEB-4F75-8F17-CDBDCA0618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400"/>
              <a:ext cx="3920" cy="656"/>
              <a:chOff x="960" y="2240"/>
              <a:chExt cx="3920" cy="656"/>
            </a:xfrm>
          </p:grpSpPr>
          <p:sp>
            <p:nvSpPr>
              <p:cNvPr id="40980" name="文本框 254999">
                <a:extLst>
                  <a:ext uri="{FF2B5EF4-FFF2-40B4-BE49-F238E27FC236}">
                    <a16:creationId xmlns:a16="http://schemas.microsoft.com/office/drawing/2014/main" id="{2A312216-36F5-433B-BEE4-B494086853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0" y="2240"/>
                <a:ext cx="16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R— C — COOH</a:t>
                </a:r>
              </a:p>
            </p:txBody>
          </p:sp>
          <p:sp>
            <p:nvSpPr>
              <p:cNvPr id="40981" name="直接连接符 255000">
                <a:extLst>
                  <a:ext uri="{FF2B5EF4-FFF2-40B4-BE49-F238E27FC236}">
                    <a16:creationId xmlns:a16="http://schemas.microsoft.com/office/drawing/2014/main" id="{CCEA9C82-8A49-486F-B3F7-A3254A7DB8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4" y="2368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82" name="文本框 255001">
                <a:extLst>
                  <a:ext uri="{FF2B5EF4-FFF2-40B4-BE49-F238E27FC236}">
                    <a16:creationId xmlns:a16="http://schemas.microsoft.com/office/drawing/2014/main" id="{595707DD-EF1E-4C94-A268-02C992EAAB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6" y="2352"/>
                <a:ext cx="51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 b="1"/>
                  <a:t>△</a:t>
                </a:r>
              </a:p>
            </p:txBody>
          </p:sp>
          <p:sp>
            <p:nvSpPr>
              <p:cNvPr id="40983" name="文本框 255002">
                <a:extLst>
                  <a:ext uri="{FF2B5EF4-FFF2-40B4-BE49-F238E27FC236}">
                    <a16:creationId xmlns:a16="http://schemas.microsoft.com/office/drawing/2014/main" id="{C6593907-68E8-40F1-BE2B-489E7C318B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2240"/>
                <a:ext cx="17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R— C — H +  CO</a:t>
                </a:r>
                <a:r>
                  <a:rPr lang="en-US" altLang="zh-CN" sz="2400" b="1" baseline="-25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0984" name="直接连接符 255003">
                <a:extLst>
                  <a:ext uri="{FF2B5EF4-FFF2-40B4-BE49-F238E27FC236}">
                    <a16:creationId xmlns:a16="http://schemas.microsoft.com/office/drawing/2014/main" id="{43098ACB-CFAC-4E0C-AABC-D868938164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52" y="224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40985" name="图片 255004">
                <a:extLst>
                  <a:ext uri="{FF2B5EF4-FFF2-40B4-BE49-F238E27FC236}">
                    <a16:creationId xmlns:a16="http://schemas.microsoft.com/office/drawing/2014/main" id="{15FDC35E-DF4B-49F4-A00E-D2F671A102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64" y="2432"/>
                <a:ext cx="357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986" name="文本框 255005">
                <a:extLst>
                  <a:ext uri="{FF2B5EF4-FFF2-40B4-BE49-F238E27FC236}">
                    <a16:creationId xmlns:a16="http://schemas.microsoft.com/office/drawing/2014/main" id="{886693F7-EF4A-4098-9822-D0398EC7A6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8" y="260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O</a:t>
                </a:r>
              </a:p>
            </p:txBody>
          </p:sp>
          <p:pic>
            <p:nvPicPr>
              <p:cNvPr id="40987" name="图片 255006">
                <a:extLst>
                  <a:ext uri="{FF2B5EF4-FFF2-40B4-BE49-F238E27FC236}">
                    <a16:creationId xmlns:a16="http://schemas.microsoft.com/office/drawing/2014/main" id="{1F2D3FE3-4A3E-4049-83BB-12963FDE04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24" y="2416"/>
                <a:ext cx="357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988" name="文本框 255007">
                <a:extLst>
                  <a:ext uri="{FF2B5EF4-FFF2-40B4-BE49-F238E27FC236}">
                    <a16:creationId xmlns:a16="http://schemas.microsoft.com/office/drawing/2014/main" id="{8C085611-A4E0-44E0-BFDC-A4165E22FB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8" y="257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O</a:t>
                </a:r>
              </a:p>
            </p:txBody>
          </p:sp>
        </p:grpSp>
      </p:grpSp>
      <p:grpSp>
        <p:nvGrpSpPr>
          <p:cNvPr id="255009" name="组合 255008">
            <a:extLst>
              <a:ext uri="{FF2B5EF4-FFF2-40B4-BE49-F238E27FC236}">
                <a16:creationId xmlns:a16="http://schemas.microsoft.com/office/drawing/2014/main" id="{29282FCB-3C21-4854-9C8F-0EB7AB3E921B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5181600"/>
            <a:ext cx="7286625" cy="1143000"/>
            <a:chOff x="768" y="3312"/>
            <a:chExt cx="4560" cy="720"/>
          </a:xfrm>
        </p:grpSpPr>
        <p:grpSp>
          <p:nvGrpSpPr>
            <p:cNvPr id="40968" name="组合 255009">
              <a:extLst>
                <a:ext uri="{FF2B5EF4-FFF2-40B4-BE49-F238E27FC236}">
                  <a16:creationId xmlns:a16="http://schemas.microsoft.com/office/drawing/2014/main" id="{C9A0F8A2-AD9E-4CC0-9219-D54305CC0E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3408"/>
              <a:ext cx="4560" cy="624"/>
              <a:chOff x="2064" y="3312"/>
              <a:chExt cx="3920" cy="624"/>
            </a:xfrm>
          </p:grpSpPr>
          <p:sp>
            <p:nvSpPr>
              <p:cNvPr id="40970" name="文本框 255010">
                <a:extLst>
                  <a:ext uri="{FF2B5EF4-FFF2-40B4-BE49-F238E27FC236}">
                    <a16:creationId xmlns:a16="http://schemas.microsoft.com/office/drawing/2014/main" id="{013015AF-B35B-4C1D-AB75-56AA7FB790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4" y="3312"/>
                <a:ext cx="185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R— C — CH</a:t>
                </a:r>
                <a:r>
                  <a:rPr lang="en-US" altLang="zh-CN" sz="2400" b="1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400" b="1">
                    <a:latin typeface="Times New Roman" panose="02020603050405020304" pitchFamily="18" charset="0"/>
                  </a:rPr>
                  <a:t>COOH</a:t>
                </a:r>
              </a:p>
            </p:txBody>
          </p:sp>
          <p:sp>
            <p:nvSpPr>
              <p:cNvPr id="40971" name="直接连接符 255011">
                <a:extLst>
                  <a:ext uri="{FF2B5EF4-FFF2-40B4-BE49-F238E27FC236}">
                    <a16:creationId xmlns:a16="http://schemas.microsoft.com/office/drawing/2014/main" id="{890F9D2D-ED62-4B62-8034-3ADC12299F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8" y="3424"/>
                <a:ext cx="48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72" name="文本框 255012">
                <a:extLst>
                  <a:ext uri="{FF2B5EF4-FFF2-40B4-BE49-F238E27FC236}">
                    <a16:creationId xmlns:a16="http://schemas.microsoft.com/office/drawing/2014/main" id="{2670F905-E352-4AC1-95F8-B7798AA917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2" y="3312"/>
                <a:ext cx="187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R— C —CH</a:t>
                </a:r>
                <a:r>
                  <a:rPr lang="en-US" altLang="zh-CN" sz="2400" b="1" baseline="-25000"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400" b="1">
                    <a:latin typeface="Times New Roman" panose="02020603050405020304" pitchFamily="18" charset="0"/>
                  </a:rPr>
                  <a:t> +  CO</a:t>
                </a:r>
                <a:r>
                  <a:rPr lang="en-US" altLang="zh-CN" sz="2400" b="1" baseline="-25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0973" name="直接连接符 255013">
                <a:extLst>
                  <a:ext uri="{FF2B5EF4-FFF2-40B4-BE49-F238E27FC236}">
                    <a16:creationId xmlns:a16="http://schemas.microsoft.com/office/drawing/2014/main" id="{5E59E933-6C18-49E0-BCB6-387CAC0E22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16" y="332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40974" name="图片 255014">
                <a:extLst>
                  <a:ext uri="{FF2B5EF4-FFF2-40B4-BE49-F238E27FC236}">
                    <a16:creationId xmlns:a16="http://schemas.microsoft.com/office/drawing/2014/main" id="{A828C01B-BBA1-47E3-9EF8-58D17402E0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20" y="3488"/>
                <a:ext cx="357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975" name="文本框 255015">
                <a:extLst>
                  <a:ext uri="{FF2B5EF4-FFF2-40B4-BE49-F238E27FC236}">
                    <a16:creationId xmlns:a16="http://schemas.microsoft.com/office/drawing/2014/main" id="{DE791983-6118-453C-BF92-C19F2036C9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4" y="364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O</a:t>
                </a:r>
              </a:p>
            </p:txBody>
          </p:sp>
          <p:pic>
            <p:nvPicPr>
              <p:cNvPr id="40976" name="图片 255016">
                <a:extLst>
                  <a:ext uri="{FF2B5EF4-FFF2-40B4-BE49-F238E27FC236}">
                    <a16:creationId xmlns:a16="http://schemas.microsoft.com/office/drawing/2014/main" id="{904DE6A9-FF05-4A2C-BF73-1B3171762F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68" y="3488"/>
                <a:ext cx="357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977" name="文本框 255017">
                <a:extLst>
                  <a:ext uri="{FF2B5EF4-FFF2-40B4-BE49-F238E27FC236}">
                    <a16:creationId xmlns:a16="http://schemas.microsoft.com/office/drawing/2014/main" id="{749C933C-309A-4FE8-A739-79BB8158E4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48" y="364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O</a:t>
                </a:r>
              </a:p>
            </p:txBody>
          </p:sp>
        </p:grpSp>
        <p:sp>
          <p:nvSpPr>
            <p:cNvPr id="40969" name="矩形 255018">
              <a:extLst>
                <a:ext uri="{FF2B5EF4-FFF2-40B4-BE49-F238E27FC236}">
                  <a16:creationId xmlns:a16="http://schemas.microsoft.com/office/drawing/2014/main" id="{796BF749-1903-4CC1-8E8D-B3DF1AF0B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312"/>
              <a:ext cx="2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 b="1"/>
                <a:t>△</a:t>
              </a:r>
            </a:p>
          </p:txBody>
        </p:sp>
      </p:grpSp>
      <p:sp>
        <p:nvSpPr>
          <p:cNvPr id="40967" name="灯片编号占位符 1">
            <a:extLst>
              <a:ext uri="{FF2B5EF4-FFF2-40B4-BE49-F238E27FC236}">
                <a16:creationId xmlns:a16="http://schemas.microsoft.com/office/drawing/2014/main" id="{2A9D939D-D408-4781-92A0-8C0E99A7BB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83286BCF-A177-4668-8929-98007234DE8D}" type="slidenum">
              <a:rPr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62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5497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5497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54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5499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5500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文本框 256001">
            <a:extLst>
              <a:ext uri="{FF2B5EF4-FFF2-40B4-BE49-F238E27FC236}">
                <a16:creationId xmlns:a16="http://schemas.microsoft.com/office/drawing/2014/main" id="{85B3A052-CA0E-46E3-BA07-A33446E8A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990600"/>
            <a:ext cx="5486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zh-CN" b="1">
                <a:ea typeface="黑体" panose="02010609060101010101" pitchFamily="49" charset="-122"/>
              </a:rPr>
              <a:t>④</a:t>
            </a:r>
            <a:r>
              <a:rPr lang="zh-CN" altLang="en-US" b="1">
                <a:ea typeface="黑体" panose="02010609060101010101" pitchFamily="49" charset="-122"/>
              </a:rPr>
              <a:t>霍夫曼降级反应</a:t>
            </a:r>
          </a:p>
        </p:txBody>
      </p:sp>
      <p:graphicFrame>
        <p:nvGraphicFramePr>
          <p:cNvPr id="256003" name="对象 256002">
            <a:extLst>
              <a:ext uri="{FF2B5EF4-FFF2-40B4-BE49-F238E27FC236}">
                <a16:creationId xmlns:a16="http://schemas.microsoft.com/office/drawing/2014/main" id="{5A32E1ED-677C-4B92-8F44-813E54293196}"/>
              </a:ext>
            </a:extLst>
          </p:cNvPr>
          <p:cNvGraphicFramePr>
            <a:graphicFrameLocks/>
          </p:cNvGraphicFramePr>
          <p:nvPr/>
        </p:nvGraphicFramePr>
        <p:xfrm>
          <a:off x="990600" y="1828800"/>
          <a:ext cx="6192838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41880" imgH="523440" progId="ChemDraw.Document.6.0">
                  <p:embed/>
                </p:oleObj>
              </mc:Choice>
              <mc:Fallback>
                <p:oleObj r:id="rId2" imgW="2441880" imgH="523440" progId="ChemDraw.Document.6.0">
                  <p:embed/>
                  <p:pic>
                    <p:nvPicPr>
                      <p:cNvPr id="256003" name="对象 256002">
                        <a:extLst>
                          <a:ext uri="{FF2B5EF4-FFF2-40B4-BE49-F238E27FC236}">
                            <a16:creationId xmlns:a16="http://schemas.microsoft.com/office/drawing/2014/main" id="{5A32E1ED-677C-4B92-8F44-813E5429319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828800"/>
                        <a:ext cx="6192838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04" name="文本框 256003">
            <a:extLst>
              <a:ext uri="{FF2B5EF4-FFF2-40B4-BE49-F238E27FC236}">
                <a16:creationId xmlns:a16="http://schemas.microsoft.com/office/drawing/2014/main" id="{24A15A72-C413-463E-A491-79BA6CFAC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276600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ea typeface="黑体" panose="02010609060101010101" pitchFamily="49" charset="-122"/>
              </a:rPr>
              <a:t>二、引入官能团</a:t>
            </a:r>
          </a:p>
        </p:txBody>
      </p:sp>
      <p:sp>
        <p:nvSpPr>
          <p:cNvPr id="256005" name="文本框 256004">
            <a:extLst>
              <a:ext uri="{FF2B5EF4-FFF2-40B4-BE49-F238E27FC236}">
                <a16:creationId xmlns:a16="http://schemas.microsoft.com/office/drawing/2014/main" id="{BDE0EC72-311A-4036-AC0B-E008A05F7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038600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</a:rPr>
              <a:t>、引入</a:t>
            </a:r>
          </a:p>
        </p:txBody>
      </p:sp>
      <p:sp>
        <p:nvSpPr>
          <p:cNvPr id="256006" name="文本框 256005">
            <a:extLst>
              <a:ext uri="{FF2B5EF4-FFF2-40B4-BE49-F238E27FC236}">
                <a16:creationId xmlns:a16="http://schemas.microsoft.com/office/drawing/2014/main" id="{EB6668FD-615F-45A4-9AE5-D65113519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876800"/>
            <a:ext cx="77724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ea typeface="黑体" panose="02010609060101010101" pitchFamily="49" charset="-122"/>
              </a:rPr>
              <a:t>烷烃的卤代、芳环的亲电取代、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ea typeface="黑体" panose="02010609060101010101" pitchFamily="49" charset="-122"/>
              </a:rPr>
              <a:t>卤代烃的亲核取代、芳环侧链的取代等</a:t>
            </a:r>
          </a:p>
        </p:txBody>
      </p:sp>
      <p:sp>
        <p:nvSpPr>
          <p:cNvPr id="41991" name="灯片编号占位符 1">
            <a:extLst>
              <a:ext uri="{FF2B5EF4-FFF2-40B4-BE49-F238E27FC236}">
                <a16:creationId xmlns:a16="http://schemas.microsoft.com/office/drawing/2014/main" id="{8E85988F-4E9E-423C-A1CF-FBB45946BD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F2A9772F-D7B2-4CC5-BEA7-E16AC3B06DE1}" type="slidenum">
              <a:rPr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63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5600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5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5600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5600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5600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2" grpId="0"/>
      <p:bldP spid="256004" grpId="0"/>
      <p:bldP spid="256005" grpId="0"/>
      <p:bldP spid="25600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文本框 257025">
            <a:extLst>
              <a:ext uri="{FF2B5EF4-FFF2-40B4-BE49-F238E27FC236}">
                <a16:creationId xmlns:a16="http://schemas.microsoft.com/office/drawing/2014/main" id="{0E798934-2710-4A1C-91B2-37C08D58F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</a:rPr>
              <a:t>、去除</a:t>
            </a:r>
          </a:p>
        </p:txBody>
      </p:sp>
      <p:sp>
        <p:nvSpPr>
          <p:cNvPr id="257027" name="文本框 257026">
            <a:extLst>
              <a:ext uri="{FF2B5EF4-FFF2-40B4-BE49-F238E27FC236}">
                <a16:creationId xmlns:a16="http://schemas.microsoft.com/office/drawing/2014/main" id="{78751D61-1D28-4B52-82C1-0DC7C3B3E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844675"/>
            <a:ext cx="822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</a:rPr>
              <a:t>羰基：“黄鸣龙”试剂； </a:t>
            </a: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Zn-Hg/HCl</a:t>
            </a:r>
          </a:p>
        </p:txBody>
      </p:sp>
      <p:grpSp>
        <p:nvGrpSpPr>
          <p:cNvPr id="257028" name="组合 257027">
            <a:extLst>
              <a:ext uri="{FF2B5EF4-FFF2-40B4-BE49-F238E27FC236}">
                <a16:creationId xmlns:a16="http://schemas.microsoft.com/office/drawing/2014/main" id="{50EDB93B-5F28-4605-A38C-765284945BCF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565400"/>
            <a:ext cx="8229600" cy="579438"/>
            <a:chOff x="720" y="1632"/>
            <a:chExt cx="5184" cy="365"/>
          </a:xfrm>
        </p:grpSpPr>
        <p:sp>
          <p:nvSpPr>
            <p:cNvPr id="43018" name="文本框 257028">
              <a:extLst>
                <a:ext uri="{FF2B5EF4-FFF2-40B4-BE49-F238E27FC236}">
                  <a16:creationId xmlns:a16="http://schemas.microsoft.com/office/drawing/2014/main" id="{51C4BAAB-F466-46C0-AD42-DA9E7A5FC1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632"/>
              <a:ext cx="51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b="1">
                  <a:latin typeface="Times New Roman" panose="02020603050405020304" pitchFamily="18" charset="0"/>
                  <a:ea typeface="黑体" panose="02010609060101010101" pitchFamily="49" charset="-122"/>
                </a:rPr>
                <a:t>羟基：浓</a:t>
              </a:r>
              <a:r>
                <a:rPr lang="en-US" altLang="zh-CN" b="1">
                  <a:latin typeface="Times New Roman" panose="02020603050405020304" pitchFamily="18" charset="0"/>
                  <a:ea typeface="黑体" panose="02010609060101010101" pitchFamily="49" charset="-122"/>
                </a:rPr>
                <a:t>H</a:t>
              </a:r>
              <a:r>
                <a:rPr lang="en-US" altLang="zh-CN" b="1" baseline="-25000"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lang="en-US" altLang="zh-CN" b="1">
                  <a:latin typeface="Times New Roman" panose="02020603050405020304" pitchFamily="18" charset="0"/>
                  <a:ea typeface="黑体" panose="02010609060101010101" pitchFamily="49" charset="-122"/>
                </a:rPr>
                <a:t>SO</a:t>
              </a:r>
              <a:r>
                <a:rPr lang="en-US" altLang="zh-CN" b="1" baseline="-25000">
                  <a:latin typeface="Times New Roman" panose="02020603050405020304" pitchFamily="18" charset="0"/>
                  <a:ea typeface="黑体" panose="02010609060101010101" pitchFamily="49" charset="-122"/>
                </a:rPr>
                <a:t>4</a:t>
              </a:r>
              <a:r>
                <a:rPr lang="en-US" altLang="zh-CN" b="1">
                  <a:latin typeface="Times New Roman" panose="02020603050405020304" pitchFamily="18" charset="0"/>
                  <a:ea typeface="黑体" panose="02010609060101010101" pitchFamily="49" charset="-122"/>
                </a:rPr>
                <a:t>/</a:t>
              </a:r>
            </a:p>
          </p:txBody>
        </p:sp>
        <p:sp>
          <p:nvSpPr>
            <p:cNvPr id="43019" name="等腰三角形 257029">
              <a:extLst>
                <a:ext uri="{FF2B5EF4-FFF2-40B4-BE49-F238E27FC236}">
                  <a16:creationId xmlns:a16="http://schemas.microsoft.com/office/drawing/2014/main" id="{994D82B4-8555-48B6-8A53-D66568FD6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728"/>
              <a:ext cx="192" cy="144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257031" name="文本框 257030">
            <a:extLst>
              <a:ext uri="{FF2B5EF4-FFF2-40B4-BE49-F238E27FC236}">
                <a16:creationId xmlns:a16="http://schemas.microsoft.com/office/drawing/2014/main" id="{F43B34F6-EFD4-4432-A654-113B3FD04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284538"/>
            <a:ext cx="8229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ea typeface="黑体" panose="02010609060101010101" pitchFamily="49" charset="-122"/>
              </a:rPr>
              <a:t>羧基：脱羧反应</a:t>
            </a:r>
          </a:p>
        </p:txBody>
      </p:sp>
      <p:sp>
        <p:nvSpPr>
          <p:cNvPr id="257032" name="文本框 257031">
            <a:extLst>
              <a:ext uri="{FF2B5EF4-FFF2-40B4-BE49-F238E27FC236}">
                <a16:creationId xmlns:a16="http://schemas.microsoft.com/office/drawing/2014/main" id="{18AD5BB0-1084-4265-A765-0D3D6606D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149725"/>
            <a:ext cx="114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ea typeface="黑体" panose="02010609060101010101" pitchFamily="49" charset="-122"/>
              </a:rPr>
              <a:t>氨基：</a:t>
            </a:r>
          </a:p>
        </p:txBody>
      </p:sp>
      <p:graphicFrame>
        <p:nvGraphicFramePr>
          <p:cNvPr id="257033" name="对象 257032">
            <a:extLst>
              <a:ext uri="{FF2B5EF4-FFF2-40B4-BE49-F238E27FC236}">
                <a16:creationId xmlns:a16="http://schemas.microsoft.com/office/drawing/2014/main" id="{89B01ACC-7F72-4BAE-81E7-6C5AB1C37213}"/>
              </a:ext>
            </a:extLst>
          </p:cNvPr>
          <p:cNvGraphicFramePr>
            <a:graphicFrameLocks/>
          </p:cNvGraphicFramePr>
          <p:nvPr/>
        </p:nvGraphicFramePr>
        <p:xfrm>
          <a:off x="1905000" y="4157663"/>
          <a:ext cx="7064375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867480" imgH="1236960" progId="ChemDraw.Document.6.0">
                  <p:embed/>
                </p:oleObj>
              </mc:Choice>
              <mc:Fallback>
                <p:oleObj r:id="rId2" imgW="3867480" imgH="1236960" progId="ChemDraw.Document.6.0">
                  <p:embed/>
                  <p:pic>
                    <p:nvPicPr>
                      <p:cNvPr id="257033" name="对象 257032">
                        <a:extLst>
                          <a:ext uri="{FF2B5EF4-FFF2-40B4-BE49-F238E27FC236}">
                            <a16:creationId xmlns:a16="http://schemas.microsoft.com/office/drawing/2014/main" id="{89B01ACC-7F72-4BAE-81E7-6C5AB1C3721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157663"/>
                        <a:ext cx="7064375" cy="227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7034" name="椭圆 257033">
            <a:extLst>
              <a:ext uri="{FF2B5EF4-FFF2-40B4-BE49-F238E27FC236}">
                <a16:creationId xmlns:a16="http://schemas.microsoft.com/office/drawing/2014/main" id="{C548431E-6156-488B-8642-1B54D7192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2420938"/>
            <a:ext cx="2520950" cy="79216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43017" name="灯片编号占位符 1">
            <a:extLst>
              <a:ext uri="{FF2B5EF4-FFF2-40B4-BE49-F238E27FC236}">
                <a16:creationId xmlns:a16="http://schemas.microsoft.com/office/drawing/2014/main" id="{C622B336-863B-40ED-A128-3D0C5B691A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598D3A06-CAF6-487E-A72A-43A64FD03524}" type="slidenum">
              <a:rPr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64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5702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5702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5702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7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5703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5703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25703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6" grpId="0"/>
      <p:bldP spid="257027" grpId="0"/>
      <p:bldP spid="257031" grpId="0"/>
      <p:bldP spid="25703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文本框 258049">
            <a:extLst>
              <a:ext uri="{FF2B5EF4-FFF2-40B4-BE49-F238E27FC236}">
                <a16:creationId xmlns:a16="http://schemas.microsoft.com/office/drawing/2014/main" id="{B1F4FCFF-E61D-470E-BDB6-2F2339EC5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609600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</a:rPr>
              <a:t>、转化</a:t>
            </a:r>
          </a:p>
        </p:txBody>
      </p:sp>
      <p:graphicFrame>
        <p:nvGraphicFramePr>
          <p:cNvPr id="258051" name="对象 258050">
            <a:extLst>
              <a:ext uri="{FF2B5EF4-FFF2-40B4-BE49-F238E27FC236}">
                <a16:creationId xmlns:a16="http://schemas.microsoft.com/office/drawing/2014/main" id="{D7375CDA-C428-42F3-84DE-A1F733B1EB0E}"/>
              </a:ext>
            </a:extLst>
          </p:cNvPr>
          <p:cNvGraphicFramePr>
            <a:graphicFrameLocks/>
          </p:cNvGraphicFramePr>
          <p:nvPr/>
        </p:nvGraphicFramePr>
        <p:xfrm>
          <a:off x="1600200" y="1295400"/>
          <a:ext cx="48006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34920" imgH="447040" progId="ChemDraw.Document.6.0">
                  <p:embed/>
                </p:oleObj>
              </mc:Choice>
              <mc:Fallback>
                <p:oleObj r:id="rId2" imgW="2534920" imgH="447040" progId="ChemDraw.Document.6.0">
                  <p:embed/>
                  <p:pic>
                    <p:nvPicPr>
                      <p:cNvPr id="258051" name="对象 258050">
                        <a:extLst>
                          <a:ext uri="{FF2B5EF4-FFF2-40B4-BE49-F238E27FC236}">
                            <a16:creationId xmlns:a16="http://schemas.microsoft.com/office/drawing/2014/main" id="{D7375CDA-C428-42F3-84DE-A1F733B1EB0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295400"/>
                        <a:ext cx="48006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52" name="对象 258051">
            <a:extLst>
              <a:ext uri="{FF2B5EF4-FFF2-40B4-BE49-F238E27FC236}">
                <a16:creationId xmlns:a16="http://schemas.microsoft.com/office/drawing/2014/main" id="{94A0BE6C-6575-4B84-BBC7-F617EFCAC543}"/>
              </a:ext>
            </a:extLst>
          </p:cNvPr>
          <p:cNvGraphicFramePr>
            <a:graphicFrameLocks/>
          </p:cNvGraphicFramePr>
          <p:nvPr/>
        </p:nvGraphicFramePr>
        <p:xfrm>
          <a:off x="1676400" y="2362200"/>
          <a:ext cx="4648200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392680" imgH="502920" progId="ChemDraw.Document.6.0">
                  <p:embed/>
                </p:oleObj>
              </mc:Choice>
              <mc:Fallback>
                <p:oleObj r:id="rId4" imgW="2392680" imgH="502920" progId="ChemDraw.Document.6.0">
                  <p:embed/>
                  <p:pic>
                    <p:nvPicPr>
                      <p:cNvPr id="258052" name="对象 258051">
                        <a:extLst>
                          <a:ext uri="{FF2B5EF4-FFF2-40B4-BE49-F238E27FC236}">
                            <a16:creationId xmlns:a16="http://schemas.microsoft.com/office/drawing/2014/main" id="{94A0BE6C-6575-4B84-BBC7-F617EFCAC54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362200"/>
                        <a:ext cx="4648200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53" name="对象 258052">
            <a:extLst>
              <a:ext uri="{FF2B5EF4-FFF2-40B4-BE49-F238E27FC236}">
                <a16:creationId xmlns:a16="http://schemas.microsoft.com/office/drawing/2014/main" id="{50C357BE-8514-4989-80EE-0236043B6707}"/>
              </a:ext>
            </a:extLst>
          </p:cNvPr>
          <p:cNvGraphicFramePr>
            <a:graphicFrameLocks/>
          </p:cNvGraphicFramePr>
          <p:nvPr/>
        </p:nvGraphicFramePr>
        <p:xfrm>
          <a:off x="533400" y="3657600"/>
          <a:ext cx="8305800" cy="261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535485" imgH="1427133" progId="ChemDraw.Document.6.0">
                  <p:embed/>
                </p:oleObj>
              </mc:Choice>
              <mc:Fallback>
                <p:oleObj r:id="rId6" imgW="4535485" imgH="1427133" progId="ChemDraw.Document.6.0">
                  <p:embed/>
                  <p:pic>
                    <p:nvPicPr>
                      <p:cNvPr id="258053" name="对象 258052">
                        <a:extLst>
                          <a:ext uri="{FF2B5EF4-FFF2-40B4-BE49-F238E27FC236}">
                            <a16:creationId xmlns:a16="http://schemas.microsoft.com/office/drawing/2014/main" id="{50C357BE-8514-4989-80EE-0236043B670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657600"/>
                        <a:ext cx="8305800" cy="2611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4" name="椭圆 258053">
            <a:extLst>
              <a:ext uri="{FF2B5EF4-FFF2-40B4-BE49-F238E27FC236}">
                <a16:creationId xmlns:a16="http://schemas.microsoft.com/office/drawing/2014/main" id="{8D5D9351-ED54-4112-97DC-D4B8D89F1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3573463"/>
            <a:ext cx="1657350" cy="503237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44039" name="灯片编号占位符 1">
            <a:extLst>
              <a:ext uri="{FF2B5EF4-FFF2-40B4-BE49-F238E27FC236}">
                <a16:creationId xmlns:a16="http://schemas.microsoft.com/office/drawing/2014/main" id="{933977E5-D0CB-41AD-AC1E-9501338D00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131FB175-E6CA-46AF-95E2-86DDBD8F8129}" type="slidenum">
              <a:rPr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65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5805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5805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5805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5805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文本框 259073">
            <a:extLst>
              <a:ext uri="{FF2B5EF4-FFF2-40B4-BE49-F238E27FC236}">
                <a16:creationId xmlns:a16="http://schemas.microsoft.com/office/drawing/2014/main" id="{C3AA334F-3D3C-491D-81B9-0CF0C4C5C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en-US" b="1">
                <a:latin typeface="Times New Roman" panose="02020603050405020304" pitchFamily="18" charset="0"/>
                <a:ea typeface="黑体" panose="02010609060101010101" pitchFamily="49" charset="-122"/>
              </a:rPr>
              <a:t>、保护</a:t>
            </a:r>
          </a:p>
        </p:txBody>
      </p:sp>
      <p:sp>
        <p:nvSpPr>
          <p:cNvPr id="259075" name="文本框 259074">
            <a:extLst>
              <a:ext uri="{FF2B5EF4-FFF2-40B4-BE49-F238E27FC236}">
                <a16:creationId xmlns:a16="http://schemas.microsoft.com/office/drawing/2014/main" id="{B280FD02-12B0-4036-92F6-53E0A9BC9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989138"/>
            <a:ext cx="7848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ea typeface="黑体" panose="02010609060101010101" pitchFamily="49" charset="-122"/>
              </a:rPr>
              <a:t>氨基：用乙酰氯或乙酸酐进行酰基化反应</a:t>
            </a:r>
          </a:p>
        </p:txBody>
      </p:sp>
      <p:sp>
        <p:nvSpPr>
          <p:cNvPr id="259076" name="文本框 259075">
            <a:extLst>
              <a:ext uri="{FF2B5EF4-FFF2-40B4-BE49-F238E27FC236}">
                <a16:creationId xmlns:a16="http://schemas.microsoft.com/office/drawing/2014/main" id="{26D705E3-9CFC-46FE-951E-FD30D1DEC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997200"/>
            <a:ext cx="7848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ea typeface="黑体" panose="02010609060101010101" pitchFamily="49" charset="-122"/>
              </a:rPr>
              <a:t>醛：与甲醇、乙醇或乙二醇反应生成缩醛</a:t>
            </a:r>
          </a:p>
        </p:txBody>
      </p:sp>
      <p:sp>
        <p:nvSpPr>
          <p:cNvPr id="45061" name="灯片编号占位符 1">
            <a:extLst>
              <a:ext uri="{FF2B5EF4-FFF2-40B4-BE49-F238E27FC236}">
                <a16:creationId xmlns:a16="http://schemas.microsoft.com/office/drawing/2014/main" id="{EE6487A6-E643-4E88-A6AB-AE8C91B9AF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C30E9948-B986-4098-B318-15C6208A5B54}" type="slidenum">
              <a:rPr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66</a:t>
            </a:fld>
            <a:endParaRPr lang="zh-CN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9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5907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59076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4" grpId="0"/>
      <p:bldP spid="259075" grpId="0"/>
      <p:bldP spid="259076" grpId="0"/>
    </p:bldLst>
  </p:timing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163</TotalTime>
  <Words>3716</Words>
  <Application>Microsoft Office PowerPoint</Application>
  <PresentationFormat>全屏显示(4:3)</PresentationFormat>
  <Paragraphs>455</Paragraphs>
  <Slides>66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66</vt:i4>
      </vt:variant>
    </vt:vector>
  </HeadingPairs>
  <TitlesOfParts>
    <vt:vector size="82" baseType="lpstr">
      <vt:lpstr>等线</vt:lpstr>
      <vt:lpstr>黑体</vt:lpstr>
      <vt:lpstr>华文新魏</vt:lpstr>
      <vt:lpstr>楷体_GB2312</vt:lpstr>
      <vt:lpstr>宋体</vt:lpstr>
      <vt:lpstr>微软雅黑</vt:lpstr>
      <vt:lpstr>Arial</vt:lpstr>
      <vt:lpstr>Times New Roman</vt:lpstr>
      <vt:lpstr>2_Office 主题​​</vt:lpstr>
      <vt:lpstr>1_Office 主题​​</vt:lpstr>
      <vt:lpstr>Office 主题​​</vt:lpstr>
      <vt:lpstr>2_默认设计模板</vt:lpstr>
      <vt:lpstr>1_默认设计模板</vt:lpstr>
      <vt:lpstr>ChemDraw.Document.5.0</vt:lpstr>
      <vt:lpstr>ChemDraw.Document.6.0</vt:lpstr>
      <vt:lpstr>ChemWindow.Document</vt:lpstr>
      <vt:lpstr>PowerPoint 演示文稿</vt:lpstr>
      <vt:lpstr>有机化学复习专题</vt:lpstr>
      <vt:lpstr>有机化合物的命名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基本概念与理化性质比较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完成反应式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aa</dc:creator>
  <cp:lastModifiedBy>1</cp:lastModifiedBy>
  <cp:revision>286</cp:revision>
  <dcterms:created xsi:type="dcterms:W3CDTF">1999-12-15T03:46:27Z</dcterms:created>
  <dcterms:modified xsi:type="dcterms:W3CDTF">2024-04-24T11:20:38Z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2052-11.1.0.8573</vt:lpwstr>
  </property>
</Properties>
</file>