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3"/>
    <p:sldId id="342" r:id="rId4"/>
    <p:sldId id="343" r:id="rId5"/>
    <p:sldId id="344" r:id="rId6"/>
    <p:sldId id="345" r:id="rId8"/>
    <p:sldId id="378" r:id="rId9"/>
    <p:sldId id="346" r:id="rId10"/>
    <p:sldId id="383" r:id="rId11"/>
    <p:sldId id="384" r:id="rId12"/>
    <p:sldId id="381" r:id="rId13"/>
    <p:sldId id="419" r:id="rId14"/>
    <p:sldId id="356" r:id="rId15"/>
    <p:sldId id="358" r:id="rId16"/>
    <p:sldId id="359" r:id="rId17"/>
    <p:sldId id="360" r:id="rId18"/>
    <p:sldId id="348" r:id="rId19"/>
    <p:sldId id="420" r:id="rId20"/>
    <p:sldId id="362" r:id="rId21"/>
    <p:sldId id="363" r:id="rId22"/>
    <p:sldId id="364" r:id="rId23"/>
    <p:sldId id="349" r:id="rId24"/>
    <p:sldId id="382" r:id="rId25"/>
    <p:sldId id="385" r:id="rId26"/>
    <p:sldId id="365" r:id="rId27"/>
    <p:sldId id="366" r:id="rId28"/>
    <p:sldId id="367" r:id="rId29"/>
    <p:sldId id="368" r:id="rId30"/>
    <p:sldId id="369" r:id="rId31"/>
    <p:sldId id="370" r:id="rId32"/>
    <p:sldId id="350" r:id="rId33"/>
    <p:sldId id="372" r:id="rId34"/>
    <p:sldId id="373" r:id="rId35"/>
    <p:sldId id="374" r:id="rId36"/>
    <p:sldId id="375" r:id="rId37"/>
    <p:sldId id="377" r:id="rId38"/>
    <p:sldId id="386" r:id="rId39"/>
    <p:sldId id="387" r:id="rId40"/>
    <p:sldId id="388" r:id="rId41"/>
    <p:sldId id="389" r:id="rId42"/>
    <p:sldId id="354" r:id="rId43"/>
  </p:sldIdLst>
  <p:sldSz cx="12192000" cy="6858000"/>
  <p:notesSz cx="6858000" cy="9144000"/>
  <p:embeddedFontLst>
    <p:embeddedFont>
      <p:font typeface="微软雅黑" panose="020B0503020204020204" pitchFamily="34" charset="-122"/>
      <p:regular r:id="rId47"/>
    </p:embeddedFont>
    <p:embeddedFont>
      <p:font typeface="华光楷体_CNKI" panose="02000500000000000000" pitchFamily="2" charset="-122"/>
      <p:regular r:id="rId48"/>
    </p:embeddedFont>
    <p:embeddedFont>
      <p:font typeface="等线" panose="02010600030101010101" pitchFamily="2" charset="-122"/>
      <p:regular r:id="rId49"/>
    </p:embeddedFont>
    <p:embeddedFont>
      <p:font typeface="Impact" panose="020B0806030902050204" charset="0"/>
      <p:regular r:id="rId50"/>
    </p:embeddedFont>
  </p:embeddedFontLst>
  <p:custDataLst>
    <p:tags r:id="rId5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1" userDrawn="1">
          <p15:clr>
            <a:srgbClr val="A4A3A4"/>
          </p15:clr>
        </p15:guide>
        <p15:guide id="2" pos="39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1BC0"/>
    <a:srgbClr val="97E7E5"/>
    <a:srgbClr val="F5A86F"/>
    <a:srgbClr val="FFFF66"/>
    <a:srgbClr val="E0F8F7"/>
    <a:srgbClr val="C6F2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73600" autoAdjust="0"/>
  </p:normalViewPr>
  <p:slideViewPr>
    <p:cSldViewPr snapToGrid="0" showGuides="1">
      <p:cViewPr varScale="1">
        <p:scale>
          <a:sx n="50" d="100"/>
          <a:sy n="50" d="100"/>
        </p:scale>
        <p:origin x="720" y="24"/>
      </p:cViewPr>
      <p:guideLst>
        <p:guide orient="horz" pos="2111"/>
        <p:guide pos="39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1" Type="http://schemas.openxmlformats.org/officeDocument/2006/relationships/tags" Target="tags/tag6.xml"/><Relationship Id="rId50" Type="http://schemas.openxmlformats.org/officeDocument/2006/relationships/font" Target="fonts/font4.fntdata"/><Relationship Id="rId5" Type="http://schemas.openxmlformats.org/officeDocument/2006/relationships/slide" Target="slides/slide3.xml"/><Relationship Id="rId49" Type="http://schemas.openxmlformats.org/officeDocument/2006/relationships/font" Target="fonts/font3.fntdata"/><Relationship Id="rId48" Type="http://schemas.openxmlformats.org/officeDocument/2006/relationships/font" Target="fonts/font2.fntdata"/><Relationship Id="rId47" Type="http://schemas.openxmlformats.org/officeDocument/2006/relationships/font" Target="fonts/font1.fntdata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A8402D-07E5-4D87-BBA2-E5CF493B59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20DE6-D2D8-416E-A497-589D498616E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个草履虫口沟对口沟粘合在一起，粘合处细胞膜溶解，两个虫体的细胞质相通</a:t>
            </a:r>
            <a:endParaRPr lang="en-US" altLang="zh-CN" dirty="0"/>
          </a:p>
          <a:p>
            <a:r>
              <a:rPr lang="zh-CN" altLang="en-US" dirty="0"/>
              <a:t>有性生殖需要不同来源的草履虫之间发生。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20DE6-D2D8-416E-A497-589D498616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构成体壁的</a:t>
            </a:r>
            <a:r>
              <a:rPr lang="en-US" altLang="zh-CN"/>
              <a:t>2</a:t>
            </a:r>
            <a:r>
              <a:rPr lang="zh-CN" altLang="en-US"/>
              <a:t>层细胞来源于外胚层和内胚层</a:t>
            </a:r>
            <a:endParaRPr lang="zh-CN" altLang="en-US"/>
          </a:p>
          <a:p>
            <a:r>
              <a:rPr lang="zh-CN" altLang="en-US"/>
              <a:t>上皮组织和神经组织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间细胞：成堆分布在外皮肌细胞之间，细胞大小与外皮肌细胞的核相似，染色较深。是一种未分化的细胞，可以分化成刺细胞或腺细胞等其他类型的细胞。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20DE6-D2D8-416E-A497-589D498616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20DE6-D2D8-416E-A497-589D498616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20DE6-D2D8-416E-A497-589D498616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中胚层形成的实质可以储藏水分与营养；中胚层分化形成的肌肉强化了运动的机能，为内部器官的分化提供了必要的基础。</a:t>
            </a:r>
            <a:endParaRPr lang="zh-CN" altLang="en-US" dirty="0"/>
          </a:p>
          <a:p>
            <a:r>
              <a:rPr lang="zh-CN" altLang="en-US" dirty="0"/>
              <a:t>肠分为三支，向前一支，向后两支。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20DE6-D2D8-416E-A497-589D498616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内胚层形成的消化道</a:t>
            </a:r>
            <a:endParaRPr lang="zh-CN" altLang="en-US"/>
          </a:p>
          <a:p>
            <a:r>
              <a:rPr lang="zh-CN" altLang="en-US"/>
              <a:t>中胚层形成的实质及实质中的间质细胞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中胚层形成的肌肉层，与表皮共同形成皮肌囊，包裹全身。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20DE6-D2D8-416E-A497-589D498616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20DE6-D2D8-416E-A497-589D498616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20DE6-D2D8-416E-A497-589D498616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20DE6-D2D8-416E-A497-589D498616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外胚层：表皮；中胚层：肌肉层；里面为假体腔，假体腔内有消化道和生殖管。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假体腔</a:t>
            </a:r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为体内器官系统的发展提供了空间，</a:t>
            </a:r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假体腔内有液体和物质，出现了简单的循环，可以有效的运输营养代谢产物，</a:t>
            </a:r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体腔液具有一定的压力，有利于维持动物的体形，并协助运动。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只有纵肌，只能扭曲，不能伸缩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20DE6-D2D8-416E-A497-589D498616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20DE6-D2D8-416E-A497-589D498616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20DE6-D2D8-416E-A497-589D498616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20DE6-D2D8-416E-A497-589D498616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原生质部：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20DE6-D2D8-416E-A497-589D498616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子宫：一对，里面包含卵细胞，可以根据子宫与肠道的相对位置判断背腹面。肠道更靠近背面，子宫更靠近腹面。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20DE6-D2D8-416E-A497-589D498616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分节是高等无脊椎动物开始出现的现象，从外观上看，身体是由基本相同的体节构成的，一些内部器官也按体节重复排列。体节的出现使躯体的运动更加灵活。</a:t>
            </a:r>
            <a:endParaRPr lang="en-US" altLang="zh-CN" dirty="0"/>
          </a:p>
          <a:p>
            <a:r>
              <a:rPr lang="zh-CN" altLang="en-US" dirty="0"/>
              <a:t>真体腔，加上消化道上有中胚层分化成的肌肉层，肠的蠕动更加自主，提高了消化能力。</a:t>
            </a:r>
            <a:endParaRPr lang="en-US" altLang="zh-CN" dirty="0"/>
          </a:p>
          <a:p>
            <a:r>
              <a:rPr lang="zh-CN" altLang="en-US" dirty="0"/>
              <a:t>闭管式循环系统，可以更有效的完成营养物质和代谢产物的输送</a:t>
            </a:r>
            <a:endParaRPr lang="zh-CN" altLang="en-US" dirty="0"/>
          </a:p>
          <a:p>
            <a:r>
              <a:rPr lang="zh-CN" altLang="en-US" dirty="0"/>
              <a:t>神经系统演化的趋势：集中、头化。水螅网状到扁形梯形，到这里链状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20DE6-D2D8-416E-A497-589D498616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肠道上面第一次具有了肌肉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20DE6-D2D8-416E-A497-589D498616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20DE6-D2D8-416E-A497-589D498616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20DE6-D2D8-416E-A497-589D498616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所有脊索动物的胚胎期都有脊索，后有的终生保留，有的退化，有的被脊椎所替代。无脊椎动物没有脊索、没有鳃裂。</a:t>
            </a:r>
            <a:endParaRPr lang="en-US" altLang="zh-CN" dirty="0"/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脊索动物中空的神经中枢位于背部。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无脊椎动物的神经：原生与海绵动物无神经系统，腔肠动物为网状神经系统，扁虫与线虫为梯状神经系统，环节与节肢动物中枢神经呈索状位于身体腹面。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20DE6-D2D8-416E-A497-589D498616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背部皮肤下垂在腹部形成腹褶，腹褶在腹部愈合，里面是围鳃腔，与臀鳍交界的地方有一个孔，是腹孔或围鳃腔孔。</a:t>
            </a:r>
            <a:endParaRPr lang="en-US" altLang="zh-CN" dirty="0"/>
          </a:p>
          <a:p>
            <a:r>
              <a:rPr lang="zh-CN" altLang="en-US" dirty="0"/>
              <a:t>口往后为咽，咽两侧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有一系列左右成对排列，数目不等的裂孔</a:t>
            </a:r>
            <a:r>
              <a:rPr lang="zh-CN" altLang="en-US" dirty="0"/>
              <a:t>为鳃裂，两鳃裂之间咽壁为鳃隔。咽外围被一大腔环绕，为围鳃腔。</a:t>
            </a:r>
            <a:endParaRPr lang="en-US" altLang="zh-CN" dirty="0"/>
          </a:p>
          <a:p>
            <a:r>
              <a:rPr lang="zh-CN" altLang="en-US" dirty="0"/>
              <a:t>文昌鱼与无脊椎动物相似的地方：无头、无脑、无心脏、无成对附肢、肌节按体节排列</a:t>
            </a:r>
            <a:endParaRPr lang="en-US" altLang="zh-CN" dirty="0"/>
          </a:p>
          <a:p>
            <a:r>
              <a:rPr lang="zh-CN" altLang="en-US" dirty="0"/>
              <a:t>呼吸、循环、神经、胚胎发育与脊椎动物相似。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20DE6-D2D8-416E-A497-589D498616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0083-2830-4FD0-A643-BCAD150442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BA1E-64A5-4054-9929-B64A1B6060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0083-2830-4FD0-A643-BCAD150442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BA1E-64A5-4054-9929-B64A1B6060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0083-2830-4FD0-A643-BCAD150442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BA1E-64A5-4054-9929-B64A1B6060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0083-2830-4FD0-A643-BCAD150442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BA1E-64A5-4054-9929-B64A1B6060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0083-2830-4FD0-A643-BCAD150442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BA1E-64A5-4054-9929-B64A1B6060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0083-2830-4FD0-A643-BCAD150442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BA1E-64A5-4054-9929-B64A1B6060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0083-2830-4FD0-A643-BCAD150442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BA1E-64A5-4054-9929-B64A1B6060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0083-2830-4FD0-A643-BCAD150442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BA1E-64A5-4054-9929-B64A1B6060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0083-2830-4FD0-A643-BCAD150442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BA1E-64A5-4054-9929-B64A1B6060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0083-2830-4FD0-A643-BCAD150442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BA1E-64A5-4054-9929-B64A1B6060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0083-2830-4FD0-A643-BCAD150442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BA1E-64A5-4054-9929-B64A1B6060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00083-2830-4FD0-A643-BCAD150442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8BA1E-64A5-4054-9929-B64A1B6060C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3.xml"/><Relationship Id="rId4" Type="http://schemas.openxmlformats.org/officeDocument/2006/relationships/image" Target="../media/image11.jpeg"/><Relationship Id="rId3" Type="http://schemas.openxmlformats.org/officeDocument/2006/relationships/tags" Target="../tags/tag2.xml"/><Relationship Id="rId2" Type="http://schemas.openxmlformats.org/officeDocument/2006/relationships/image" Target="../media/image10.jpe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tags" Target="../tags/tag5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microsoft.com/office/2007/relationships/hdphoto" Target="../media/image39.wdp"/><Relationship Id="rId1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1" Type="http://schemas.openxmlformats.org/officeDocument/2006/relationships/image" Target="../media/image57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1" Type="http://schemas.openxmlformats.org/officeDocument/2006/relationships/image" Target="../media/image5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" y="0"/>
            <a:ext cx="4190365" cy="1143000"/>
          </a:xfrm>
          <a:prstGeom prst="rect">
            <a:avLst/>
          </a:prstGeom>
        </p:spPr>
      </p:pic>
      <p:grpSp>
        <p:nvGrpSpPr>
          <p:cNvPr id="58" name="组合 57"/>
          <p:cNvGrpSpPr/>
          <p:nvPr/>
        </p:nvGrpSpPr>
        <p:grpSpPr>
          <a:xfrm>
            <a:off x="0" y="0"/>
            <a:ext cx="4259561" cy="45719"/>
            <a:chOff x="0" y="0"/>
            <a:chExt cx="4259561" cy="45719"/>
          </a:xfrm>
        </p:grpSpPr>
        <p:sp>
          <p:nvSpPr>
            <p:cNvPr id="50" name="矩形 49"/>
            <p:cNvSpPr/>
            <p:nvPr/>
          </p:nvSpPr>
          <p:spPr>
            <a:xfrm>
              <a:off x="0" y="0"/>
              <a:ext cx="1106458" cy="4571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1051034" y="0"/>
              <a:ext cx="1106458" cy="45719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2102069" y="0"/>
              <a:ext cx="1106458" cy="45719"/>
            </a:xfrm>
            <a:prstGeom prst="rect">
              <a:avLst/>
            </a:prstGeom>
            <a:solidFill>
              <a:schemeClr val="accent3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153103" y="0"/>
              <a:ext cx="1106458" cy="45719"/>
            </a:xfrm>
            <a:prstGeom prst="rect">
              <a:avLst/>
            </a:prstGeom>
            <a:solidFill>
              <a:srgbClr val="97E7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4" name="文本框 53"/>
          <p:cNvSpPr txBox="1"/>
          <p:nvPr/>
        </p:nvSpPr>
        <p:spPr>
          <a:xfrm>
            <a:off x="691941" y="2695654"/>
            <a:ext cx="100589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 smtClean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动物</a:t>
            </a:r>
            <a:r>
              <a:rPr lang="zh-CN" altLang="en-US" sz="4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切片装</a:t>
            </a:r>
            <a:r>
              <a:rPr lang="zh-CN" altLang="en-US" sz="4800" dirty="0" smtClean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片的</a:t>
            </a:r>
            <a:r>
              <a:rPr lang="zh-CN" altLang="en-US" sz="4800" dirty="0" smtClean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显微镜观察</a:t>
            </a:r>
            <a:endParaRPr lang="zh-CN" altLang="en-US" sz="4800" b="1" dirty="0">
              <a:latin typeface="+mj-ea"/>
              <a:ea typeface="+mj-ea"/>
            </a:endParaRPr>
          </a:p>
        </p:txBody>
      </p:sp>
      <p:pic>
        <p:nvPicPr>
          <p:cNvPr id="3" name="图片 2" descr="head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2435" y="5707380"/>
            <a:ext cx="2856865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实验目的：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3506" y="2039605"/>
            <a:ext cx="10515600" cy="3121944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了解显微镜的结构和使用方法，学会显微镜的使用方法；</a:t>
            </a:r>
            <a:endParaRPr lang="en-US" altLang="zh-CN" dirty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显微镜下观察无脊椎动物各个门的代表动物的</a:t>
            </a:r>
            <a:r>
              <a:rPr lang="zh-CN" altLang="en-US" dirty="0" smtClean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切片；</a:t>
            </a:r>
            <a:endParaRPr lang="en-US" altLang="zh-CN" dirty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通过切片装片的观察，复习各</a:t>
            </a:r>
            <a:r>
              <a:rPr lang="zh-CN" altLang="en-US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门动物的结构特征和进化特征</a:t>
            </a:r>
            <a:r>
              <a:rPr lang="zh-CN" altLang="en-US" dirty="0" smtClean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显微镜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234" y="196292"/>
            <a:ext cx="7716271" cy="6296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显微镜使用方法</a:t>
            </a:r>
            <a:endParaRPr lang="zh-CN" altLang="en-US" dirty="0"/>
          </a:p>
        </p:txBody>
      </p:sp>
      <p:grpSp>
        <p:nvGrpSpPr>
          <p:cNvPr id="5" name="组合 6012"/>
          <p:cNvGrpSpPr/>
          <p:nvPr/>
        </p:nvGrpSpPr>
        <p:grpSpPr bwMode="auto">
          <a:xfrm>
            <a:off x="673100" y="1935163"/>
            <a:ext cx="10785475" cy="4262437"/>
            <a:chOff x="1346199" y="4077075"/>
            <a:chExt cx="21691601" cy="6654425"/>
          </a:xfrm>
        </p:grpSpPr>
        <p:grpSp>
          <p:nvGrpSpPr>
            <p:cNvPr id="6" name="组合 6013"/>
            <p:cNvGrpSpPr/>
            <p:nvPr/>
          </p:nvGrpSpPr>
          <p:grpSpPr bwMode="auto">
            <a:xfrm>
              <a:off x="1346199" y="4077075"/>
              <a:ext cx="5791200" cy="6629024"/>
              <a:chOff x="1346199" y="4077075"/>
              <a:chExt cx="5791200" cy="6629024"/>
            </a:xfrm>
          </p:grpSpPr>
          <p:pic>
            <p:nvPicPr>
              <p:cNvPr id="28" name="image 6014"/>
              <p:cNvPicPr>
                <a:picLocks noChangeAspect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77999" y="4864099"/>
                <a:ext cx="5359400" cy="584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" name="image 6015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46199" y="4444999"/>
                <a:ext cx="5359400" cy="584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0" name="image 6016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92300" y="4978399"/>
                <a:ext cx="4724400" cy="5207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" name="Object 6017"/>
              <p:cNvSpPr txBox="1">
                <a:spLocks noChangeArrowheads="1"/>
              </p:cNvSpPr>
              <p:nvPr/>
            </p:nvSpPr>
            <p:spPr bwMode="auto">
              <a:xfrm>
                <a:off x="2604287" y="5513438"/>
                <a:ext cx="3124198" cy="609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调光</a:t>
                </a:r>
                <a:endParaRPr lang="zh-CN" altLang="en-US" sz="2400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Object 6018"/>
              <p:cNvSpPr txBox="1">
                <a:spLocks noChangeArrowheads="1"/>
              </p:cNvSpPr>
              <p:nvPr/>
            </p:nvSpPr>
            <p:spPr bwMode="auto">
              <a:xfrm>
                <a:off x="2258051" y="6408727"/>
                <a:ext cx="3681889" cy="29829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2857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8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打开开关</a:t>
                </a:r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eaLnBrk="1" hangingPunct="1">
                  <a:lnSpc>
                    <a:spcPct val="128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调节光量，使视野明亮</a:t>
                </a:r>
                <a:endPara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l" eaLnBrk="1" hangingPunct="1">
                  <a:lnSpc>
                    <a:spcPct val="128000"/>
                  </a:lnSpc>
                  <a:buClrTx/>
                  <a:buSzTx/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调好目镜的眼距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eaLnBrk="1" hangingPunct="1">
                  <a:lnSpc>
                    <a:spcPct val="128000"/>
                  </a:lnSpc>
                  <a:buFont typeface="Wingdings" panose="05000000000000000000" pitchFamily="2" charset="2"/>
                  <a:buChar char="ü"/>
                </a:pPr>
                <a:endPara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Object 6019"/>
              <p:cNvSpPr txBox="1">
                <a:spLocks noChangeArrowheads="1"/>
              </p:cNvSpPr>
              <p:nvPr/>
            </p:nvSpPr>
            <p:spPr bwMode="auto">
              <a:xfrm>
                <a:off x="3960934" y="4077075"/>
                <a:ext cx="482600" cy="1003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300">
                    <a:solidFill>
                      <a:srgbClr val="286CD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3300">
                  <a:solidFill>
                    <a:srgbClr val="286CD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" name="组合 6020"/>
            <p:cNvGrpSpPr/>
            <p:nvPr/>
          </p:nvGrpSpPr>
          <p:grpSpPr bwMode="auto">
            <a:xfrm>
              <a:off x="6616699" y="4097872"/>
              <a:ext cx="5791200" cy="6620927"/>
              <a:chOff x="6616699" y="4097872"/>
              <a:chExt cx="5791200" cy="6620927"/>
            </a:xfrm>
          </p:grpSpPr>
          <p:pic>
            <p:nvPicPr>
              <p:cNvPr id="22" name="image 6021"/>
              <p:cNvPicPr>
                <a:picLocks noChangeAspect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48499" y="4876799"/>
                <a:ext cx="5359400" cy="584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" name="image 6022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16699" y="4457699"/>
                <a:ext cx="5359400" cy="584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" name="image 6023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62799" y="4991098"/>
                <a:ext cx="4724400" cy="52070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" name="Object 6024"/>
              <p:cNvSpPr txBox="1">
                <a:spLocks noChangeArrowheads="1"/>
              </p:cNvSpPr>
              <p:nvPr/>
            </p:nvSpPr>
            <p:spPr bwMode="auto">
              <a:xfrm>
                <a:off x="7950987" y="5525979"/>
                <a:ext cx="3124198" cy="609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安放标本</a:t>
                </a:r>
                <a:endPara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Object 6025"/>
              <p:cNvSpPr txBox="1"/>
              <p:nvPr/>
            </p:nvSpPr>
            <p:spPr>
              <a:xfrm>
                <a:off x="7428937" y="6560381"/>
                <a:ext cx="4128875" cy="3075163"/>
              </a:xfrm>
              <a:prstGeom prst="rect">
                <a:avLst/>
              </a:prstGeom>
            </p:spPr>
            <p:txBody>
              <a:bodyPr/>
              <a:lstStyle/>
              <a:p>
                <a:pPr marL="285750" indent="-285750" defTabSz="914400" eaLnBrk="1" fontAlgn="auto" hangingPunct="1">
                  <a:lnSpc>
                    <a:spcPct val="128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ü"/>
                  <a:defRPr/>
                </a:pPr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片夹</a:t>
                </a:r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defTabSz="914400" eaLnBrk="1" fontAlgn="auto" hangingPunct="1">
                  <a:lnSpc>
                    <a:spcPct val="128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ü"/>
                  <a:defRPr/>
                </a:pPr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盖玻片向上</a:t>
                </a:r>
                <a:endPara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defTabSz="914400" eaLnBrk="1" fontAlgn="auto" hangingPunct="1">
                  <a:lnSpc>
                    <a:spcPct val="128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ü"/>
                  <a:defRPr/>
                </a:pPr>
                <a:r>
                  <a:rPr lang="en-US" altLang="zh-CN" dirty="0">
                    <a:solidFill>
                      <a:srgbClr val="FF0000"/>
                    </a:solidFill>
                    <a:sym typeface="+mn-ea"/>
                  </a:rPr>
                  <a:t>4</a:t>
                </a:r>
                <a:r>
                  <a:rPr lang="zh-CN" altLang="en-US" dirty="0">
                    <a:solidFill>
                      <a:srgbClr val="FF0000"/>
                    </a:solidFill>
                    <a:sym typeface="+mn-ea"/>
                  </a:rPr>
                  <a:t>倍下</a:t>
                </a:r>
                <a:r>
                  <a:rPr lang="zh-CN" altLang="en-US" dirty="0">
                    <a:sym typeface="+mn-ea"/>
                  </a:rPr>
                  <a:t>，眼看着</a:t>
                </a:r>
                <a:r>
                  <a:rPr lang="zh-CN" altLang="en-US" dirty="0">
                    <a:solidFill>
                      <a:srgbClr val="FF0000"/>
                    </a:solidFill>
                    <a:sym typeface="+mn-ea"/>
                  </a:rPr>
                  <a:t>载物台升到最高点</a:t>
                </a:r>
                <a:endParaRPr lang="zh-CN" altLang="en-US" dirty="0">
                  <a:solidFill>
                    <a:srgbClr val="FF0000"/>
                  </a:solidFill>
                  <a:sym typeface="+mn-ea"/>
                </a:endParaRPr>
              </a:p>
              <a:p>
                <a:pPr marL="285750" indent="-285750" defTabSz="914400" eaLnBrk="1" fontAlgn="auto" hangingPunct="1">
                  <a:lnSpc>
                    <a:spcPct val="128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ü"/>
                  <a:defRPr/>
                </a:pPr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914400" eaLnBrk="1" fontAlgn="auto" hangingPunct="1">
                  <a:lnSpc>
                    <a:spcPct val="128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Object 6026"/>
              <p:cNvSpPr txBox="1">
                <a:spLocks noChangeArrowheads="1"/>
              </p:cNvSpPr>
              <p:nvPr/>
            </p:nvSpPr>
            <p:spPr bwMode="auto">
              <a:xfrm>
                <a:off x="9160353" y="4097872"/>
                <a:ext cx="482600" cy="1003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300">
                    <a:solidFill>
                      <a:srgbClr val="286CD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zh-CN" altLang="en-US" sz="3300">
                  <a:solidFill>
                    <a:srgbClr val="286CD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" name="组合 6027"/>
            <p:cNvGrpSpPr/>
            <p:nvPr/>
          </p:nvGrpSpPr>
          <p:grpSpPr bwMode="auto">
            <a:xfrm>
              <a:off x="11938000" y="4085172"/>
              <a:ext cx="5791200" cy="6633627"/>
              <a:chOff x="11938000" y="4085172"/>
              <a:chExt cx="5791200" cy="6633627"/>
            </a:xfrm>
          </p:grpSpPr>
          <p:pic>
            <p:nvPicPr>
              <p:cNvPr id="16" name="image 6028"/>
              <p:cNvPicPr>
                <a:picLocks noChangeAspect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369800" y="4876799"/>
                <a:ext cx="5359400" cy="584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" name="image 6029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938000" y="4457699"/>
                <a:ext cx="5359400" cy="584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" name="image 6030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84100" y="4991099"/>
                <a:ext cx="4711700" cy="5194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" name="Object 6031"/>
              <p:cNvSpPr txBox="1">
                <a:spLocks noChangeArrowheads="1"/>
              </p:cNvSpPr>
              <p:nvPr/>
            </p:nvSpPr>
            <p:spPr bwMode="auto">
              <a:xfrm>
                <a:off x="13272288" y="5513278"/>
                <a:ext cx="3435461" cy="609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调焦与观察</a:t>
                </a:r>
                <a:endParaRPr lang="zh-CN" altLang="en-US" sz="2400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Object 6032"/>
              <p:cNvSpPr txBox="1">
                <a:spLocks noChangeArrowheads="1"/>
              </p:cNvSpPr>
              <p:nvPr/>
            </p:nvSpPr>
            <p:spPr bwMode="auto">
              <a:xfrm>
                <a:off x="12466721" y="6168986"/>
                <a:ext cx="4720174" cy="3758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2857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8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调节粗准焦螺旋</a:t>
                </a:r>
                <a:r>
                  <a:rPr lang="zh-CN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缓慢向下移动载物台直到成像清晰</a:t>
                </a:r>
                <a:endParaRPr 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eaLnBrk="1" hangingPunct="1">
                  <a:lnSpc>
                    <a:spcPct val="128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转高倍镜下：</a:t>
                </a:r>
                <a:r>
                  <a:rPr lang="zh-CN" altLang="en-US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调整光圈、</a:t>
                </a:r>
                <a:r>
                  <a:rPr lang="zh-CN" altLang="en-US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调细准焦螺旋至物体清晰</a:t>
                </a:r>
                <a:endPara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eaLnBrk="1" hangingPunct="1">
                  <a:lnSpc>
                    <a:spcPct val="128000"/>
                  </a:lnSpc>
                  <a:buFont typeface="Wingdings" panose="05000000000000000000" pitchFamily="2" charset="2"/>
                  <a:buChar char="ü"/>
                </a:pPr>
                <a:endPara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Object 6033"/>
              <p:cNvSpPr txBox="1">
                <a:spLocks noChangeArrowheads="1"/>
              </p:cNvSpPr>
              <p:nvPr/>
            </p:nvSpPr>
            <p:spPr bwMode="auto">
              <a:xfrm>
                <a:off x="14501244" y="4085172"/>
                <a:ext cx="482600" cy="1003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300">
                    <a:solidFill>
                      <a:srgbClr val="286CD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endParaRPr lang="zh-CN" altLang="en-US" sz="3300">
                  <a:solidFill>
                    <a:srgbClr val="286CD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" name="组合 6034"/>
            <p:cNvGrpSpPr/>
            <p:nvPr/>
          </p:nvGrpSpPr>
          <p:grpSpPr bwMode="auto">
            <a:xfrm>
              <a:off x="17246600" y="4089775"/>
              <a:ext cx="5791200" cy="6641725"/>
              <a:chOff x="17246600" y="4089775"/>
              <a:chExt cx="5791200" cy="6641725"/>
            </a:xfrm>
          </p:grpSpPr>
          <p:pic>
            <p:nvPicPr>
              <p:cNvPr id="10" name="image 6035"/>
              <p:cNvPicPr>
                <a:picLocks noChangeAspect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678400" y="4889500"/>
                <a:ext cx="5359400" cy="584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" name="image 6036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246600" y="4470400"/>
                <a:ext cx="5359400" cy="584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" name="image 6037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792700" y="5003800"/>
                <a:ext cx="4711700" cy="5194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" name="Object 6038"/>
              <p:cNvSpPr txBox="1">
                <a:spLocks noChangeArrowheads="1"/>
              </p:cNvSpPr>
              <p:nvPr/>
            </p:nvSpPr>
            <p:spPr bwMode="auto">
              <a:xfrm>
                <a:off x="18580888" y="5526136"/>
                <a:ext cx="3124198" cy="609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 b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复原</a:t>
                </a:r>
                <a:endParaRPr lang="zh-CN" altLang="en-US" sz="2400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Object 6039"/>
              <p:cNvSpPr txBox="1"/>
              <p:nvPr/>
            </p:nvSpPr>
            <p:spPr>
              <a:xfrm>
                <a:off x="18321921" y="6684134"/>
                <a:ext cx="3693383" cy="2951244"/>
              </a:xfrm>
              <a:prstGeom prst="rect">
                <a:avLst/>
              </a:prstGeom>
            </p:spPr>
            <p:txBody>
              <a:bodyPr/>
              <a:lstStyle/>
              <a:p>
                <a:pPr marL="285750" indent="-285750" defTabSz="914400" eaLnBrk="1" fontAlgn="auto" hangingPunct="1">
                  <a:lnSpc>
                    <a:spcPct val="128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ü"/>
                  <a:defRPr/>
                </a:pPr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调至低倍镜</a:t>
                </a:r>
                <a:endPara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defTabSz="914400" eaLnBrk="1" fontAlgn="auto" hangingPunct="1">
                  <a:lnSpc>
                    <a:spcPct val="128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ü"/>
                  <a:defRPr/>
                </a:pPr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取下玻片</a:t>
                </a:r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defTabSz="914400" eaLnBrk="1" fontAlgn="auto" hangingPunct="1">
                  <a:lnSpc>
                    <a:spcPct val="128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ü"/>
                  <a:defRPr/>
                </a:pPr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关闭电源</a:t>
                </a:r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914400" eaLnBrk="1" fontAlgn="auto" hangingPunct="1">
                  <a:lnSpc>
                    <a:spcPct val="128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Object 6040"/>
              <p:cNvSpPr txBox="1">
                <a:spLocks noChangeArrowheads="1"/>
              </p:cNvSpPr>
              <p:nvPr/>
            </p:nvSpPr>
            <p:spPr bwMode="auto">
              <a:xfrm>
                <a:off x="19801741" y="4089775"/>
                <a:ext cx="482600" cy="1003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91313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300">
                    <a:solidFill>
                      <a:srgbClr val="286CD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endParaRPr lang="zh-CN" altLang="en-US" sz="3300">
                  <a:solidFill>
                    <a:srgbClr val="286CD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4" name="文本框 33"/>
          <p:cNvSpPr txBox="1"/>
          <p:nvPr/>
        </p:nvSpPr>
        <p:spPr>
          <a:xfrm>
            <a:off x="6173470" y="596138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高倍下不要用粗调焦旋钮。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9688" y="365126"/>
            <a:ext cx="11076820" cy="59076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19710"/>
            <a:ext cx="10515600" cy="102091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altLang="zh-CN" dirty="0">
                <a:latin typeface="+mj-ea"/>
              </a:rPr>
              <a:t>1</a:t>
            </a:r>
            <a:r>
              <a:rPr lang="zh-CN" altLang="en-US" dirty="0">
                <a:latin typeface="+mj-ea"/>
              </a:rPr>
              <a:t>、原生动物门</a:t>
            </a:r>
            <a:endParaRPr lang="zh-CN" altLang="en-US" dirty="0">
              <a:latin typeface="+mj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124867" y="1546526"/>
            <a:ext cx="7025641" cy="4351338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最原始的真核生物</a:t>
            </a:r>
            <a:endParaRPr lang="en-US" altLang="zh-CN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个体多数由单细胞构成</a:t>
            </a:r>
            <a:endParaRPr lang="en-US" altLang="zh-CN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细胞内有完成各种生理功能的细胞器</a:t>
            </a:r>
            <a:endParaRPr lang="en-US" altLang="zh-CN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具各种营养类型</a:t>
            </a:r>
            <a:endParaRPr lang="en-US" altLang="zh-CN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出现在水中运动的结构</a:t>
            </a:r>
            <a:endParaRPr lang="en-US" altLang="zh-CN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无性生殖和有性生殖两种生殖方式</a:t>
            </a:r>
            <a:endParaRPr lang="zh-CN" altLang="en-US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pic>
        <p:nvPicPr>
          <p:cNvPr id="4" name="Picture 2" descr="D:\教学\课程\动物学\动物学实验\资料\实验一 显微镜观察动物切片装片\眼虫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56" t="60651" r="22682" b="25037"/>
          <a:stretch>
            <a:fillRect/>
          </a:stretch>
        </p:blipFill>
        <p:spPr bwMode="auto">
          <a:xfrm>
            <a:off x="8695690" y="861695"/>
            <a:ext cx="2462530" cy="1748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5"/>
          <p:cNvGrpSpPr/>
          <p:nvPr/>
        </p:nvGrpSpPr>
        <p:grpSpPr bwMode="auto">
          <a:xfrm>
            <a:off x="8858250" y="3255010"/>
            <a:ext cx="2593340" cy="2317115"/>
            <a:chOff x="298786" y="3683001"/>
            <a:chExt cx="3226192" cy="3105387"/>
          </a:xfrm>
        </p:grpSpPr>
        <p:pic>
          <p:nvPicPr>
            <p:cNvPr id="7" name="Picture 3" descr="D:\教学\课程\动物学\动物学实验\资料\实验一 显微镜观察动物切片装片\草履虫接合生殖.jpg"/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649" t="54791" r="42899" b="29436"/>
            <a:stretch>
              <a:fillRect/>
            </a:stretch>
          </p:blipFill>
          <p:spPr bwMode="auto">
            <a:xfrm>
              <a:off x="298786" y="3683001"/>
              <a:ext cx="3019927" cy="3105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5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141612" y="5907505"/>
              <a:ext cx="2383366" cy="53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ea typeface="等线" panose="02010600030101010101" pitchFamily="2" charset="-122"/>
                </a:rPr>
                <a:t>接合生殖</a:t>
              </a:r>
              <a:endParaRPr lang="zh-CN" altLang="en-US" sz="2000" b="1">
                <a:ea typeface="等线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5" grpId="0" animBg="1" build="p"/>
      <p:bldP spid="5" grpId="1" animBg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50018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）鞭毛虫纲：绿眼虫</a:t>
            </a:r>
            <a:endParaRPr lang="zh-CN" altLang="en-US" dirty="0"/>
          </a:p>
        </p:txBody>
      </p:sp>
      <p:pic>
        <p:nvPicPr>
          <p:cNvPr id="4" name="Picture 2" descr="D:\教学\课程\动物学\动物学实验\资料\实验一 显微镜观察动物切片装片\眼虫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56" t="60651" r="22682" b="25037"/>
          <a:stretch>
            <a:fillRect/>
          </a:stretch>
        </p:blipFill>
        <p:spPr bwMode="auto">
          <a:xfrm>
            <a:off x="183154" y="1339006"/>
            <a:ext cx="4076560" cy="2895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665" y="1297780"/>
            <a:ext cx="3017295" cy="274483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911" y="1417128"/>
            <a:ext cx="4526656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9140" y="238924"/>
            <a:ext cx="7104529" cy="1325563"/>
          </a:xfrm>
        </p:spPr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）纤毛虫纲：草履虫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63165" y="1564487"/>
            <a:ext cx="4392466" cy="295090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4035" y="1564487"/>
            <a:ext cx="2171191" cy="333996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743669" y="73397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无性生殖</a:t>
            </a:r>
            <a:endParaRPr lang="zh-CN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838200" y="5210202"/>
            <a:ext cx="9062773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横二分裂</a:t>
            </a:r>
            <a:r>
              <a:rPr lang="en-US" altLang="zh-CN" sz="2400" b="1" dirty="0">
                <a:solidFill>
                  <a:srgbClr val="FF0000"/>
                </a:solidFill>
              </a:rPr>
              <a:t>: </a:t>
            </a:r>
            <a:r>
              <a:rPr lang="zh-CN" altLang="en-US" sz="2400" dirty="0"/>
              <a:t>小核先作有丝分裂，大核再作无丝分裂，各自延长，分成二部分。虫体从身体中部横缢，形成</a:t>
            </a:r>
            <a:r>
              <a:rPr lang="en-US" altLang="zh-CN" sz="2400" dirty="0"/>
              <a:t>2</a:t>
            </a:r>
            <a:r>
              <a:rPr lang="zh-CN" altLang="en-US" sz="2400" dirty="0"/>
              <a:t>个子体。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8860" y="210196"/>
            <a:ext cx="5939911" cy="1325563"/>
          </a:xfrm>
        </p:spPr>
        <p:txBody>
          <a:bodyPr/>
          <a:lstStyle/>
          <a:p>
            <a:r>
              <a:rPr lang="zh-CN" altLang="en-US" dirty="0"/>
              <a:t>有性生殖：接合生殖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8666" y="1027906"/>
            <a:ext cx="6841624" cy="5619898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200" dirty="0"/>
              <a:t>大核消失，</a:t>
            </a:r>
            <a:r>
              <a:rPr lang="zh-CN" altLang="en-US" sz="2200" dirty="0" smtClean="0"/>
              <a:t>小核通过</a:t>
            </a:r>
            <a:r>
              <a:rPr lang="zh-CN" altLang="en-US" sz="2200" b="1" dirty="0">
                <a:solidFill>
                  <a:srgbClr val="FF0000"/>
                </a:solidFill>
              </a:rPr>
              <a:t>减数分裂</a:t>
            </a:r>
            <a:r>
              <a:rPr lang="zh-CN" altLang="en-US" sz="2200" dirty="0"/>
              <a:t>形成</a:t>
            </a:r>
            <a:r>
              <a:rPr lang="en-US" altLang="zh-CN" sz="2200" dirty="0"/>
              <a:t>4</a:t>
            </a:r>
            <a:r>
              <a:rPr lang="zh-CN" altLang="en-US" sz="2200" dirty="0"/>
              <a:t>个</a:t>
            </a:r>
            <a:r>
              <a:rPr lang="zh-CN" altLang="en-US" sz="2200" dirty="0" smtClean="0"/>
              <a:t>核，</a:t>
            </a:r>
            <a:r>
              <a:rPr lang="zh-CN" altLang="en-US" sz="2200" dirty="0"/>
              <a:t>其中</a:t>
            </a:r>
            <a:r>
              <a:rPr lang="en-US" altLang="zh-CN" sz="2200" dirty="0"/>
              <a:t>3</a:t>
            </a:r>
            <a:r>
              <a:rPr lang="zh-CN" altLang="en-US" sz="2200" dirty="0"/>
              <a:t>个解体，剩下的</a:t>
            </a:r>
            <a:r>
              <a:rPr lang="en-US" altLang="zh-CN" sz="2200" dirty="0"/>
              <a:t>1</a:t>
            </a:r>
            <a:r>
              <a:rPr lang="zh-CN" altLang="en-US" sz="2200" dirty="0"/>
              <a:t>个</a:t>
            </a:r>
            <a:r>
              <a:rPr lang="zh-CN" altLang="en-US" sz="2200" dirty="0" smtClean="0"/>
              <a:t>小核又</a:t>
            </a:r>
            <a:r>
              <a:rPr lang="zh-CN" altLang="en-US" sz="2200" dirty="0"/>
              <a:t>分裂成</a:t>
            </a:r>
            <a:r>
              <a:rPr lang="en-US" altLang="zh-CN" sz="2200" dirty="0"/>
              <a:t>2</a:t>
            </a:r>
            <a:r>
              <a:rPr lang="zh-CN" altLang="en-US" sz="2200" dirty="0"/>
              <a:t>个</a:t>
            </a:r>
            <a:r>
              <a:rPr lang="zh-CN" altLang="en-US" sz="2200" b="1" dirty="0">
                <a:solidFill>
                  <a:srgbClr val="0070C0"/>
                </a:solidFill>
              </a:rPr>
              <a:t>大小不等</a:t>
            </a:r>
            <a:r>
              <a:rPr lang="zh-CN" altLang="en-US" sz="2200" dirty="0"/>
              <a:t>的</a:t>
            </a:r>
            <a:r>
              <a:rPr lang="zh-CN" altLang="en-US" sz="2200" dirty="0" smtClean="0"/>
              <a:t>核。</a:t>
            </a:r>
            <a:endParaRPr lang="en-US" altLang="zh-CN" sz="2200" dirty="0"/>
          </a:p>
          <a:p>
            <a:pPr>
              <a:lnSpc>
                <a:spcPct val="150000"/>
              </a:lnSpc>
            </a:pPr>
            <a:r>
              <a:rPr lang="zh-CN" altLang="en-US" sz="2200" dirty="0"/>
              <a:t>然后两虫体互换其中一个小核，并与对方大</a:t>
            </a:r>
            <a:r>
              <a:rPr lang="zh-CN" altLang="en-US" sz="2200" dirty="0" smtClean="0"/>
              <a:t>核融合，</a:t>
            </a:r>
            <a:r>
              <a:rPr lang="zh-CN" altLang="en-US" sz="2200" dirty="0"/>
              <a:t>这一过程相当于</a:t>
            </a:r>
            <a:r>
              <a:rPr lang="zh-CN" altLang="en-US" sz="2200" b="1" dirty="0">
                <a:solidFill>
                  <a:srgbClr val="FF0000"/>
                </a:solidFill>
              </a:rPr>
              <a:t>受精作用</a:t>
            </a:r>
            <a:r>
              <a:rPr lang="zh-CN" altLang="en-US" sz="2200" dirty="0"/>
              <a:t>。</a:t>
            </a:r>
            <a:endParaRPr lang="en-US" altLang="zh-CN" sz="2200" dirty="0"/>
          </a:p>
          <a:p>
            <a:pPr>
              <a:lnSpc>
                <a:spcPct val="150000"/>
              </a:lnSpc>
            </a:pPr>
            <a:r>
              <a:rPr lang="zh-CN" altLang="en-US" sz="2200" dirty="0"/>
              <a:t>新形成的核分裂</a:t>
            </a:r>
            <a:r>
              <a:rPr lang="en-US" altLang="zh-CN" sz="2200" dirty="0"/>
              <a:t>3</a:t>
            </a:r>
            <a:r>
              <a:rPr lang="zh-CN" altLang="en-US" sz="2200" dirty="0"/>
              <a:t>次，成为</a:t>
            </a:r>
            <a:r>
              <a:rPr lang="en-US" altLang="zh-CN" sz="2200" dirty="0"/>
              <a:t>8</a:t>
            </a:r>
            <a:r>
              <a:rPr lang="zh-CN" altLang="en-US" sz="2200" dirty="0"/>
              <a:t>个核，</a:t>
            </a:r>
            <a:r>
              <a:rPr lang="en-US" altLang="zh-CN" sz="2200" dirty="0"/>
              <a:t>4</a:t>
            </a:r>
            <a:r>
              <a:rPr lang="zh-CN" altLang="en-US" sz="2200" dirty="0"/>
              <a:t>个变为大核，</a:t>
            </a:r>
            <a:r>
              <a:rPr lang="en-US" altLang="zh-CN" sz="2200" dirty="0"/>
              <a:t>4</a:t>
            </a:r>
            <a:r>
              <a:rPr lang="zh-CN" altLang="en-US" sz="2200" dirty="0"/>
              <a:t>个小核。</a:t>
            </a:r>
            <a:r>
              <a:rPr lang="en-US" altLang="zh-CN" sz="2200" dirty="0"/>
              <a:t>4</a:t>
            </a:r>
            <a:r>
              <a:rPr lang="zh-CN" altLang="en-US" sz="2200" dirty="0"/>
              <a:t>个小核中</a:t>
            </a:r>
            <a:r>
              <a:rPr lang="en-US" altLang="zh-CN" sz="2200" dirty="0"/>
              <a:t>3</a:t>
            </a:r>
            <a:r>
              <a:rPr lang="zh-CN" altLang="en-US" sz="2200" dirty="0"/>
              <a:t>个分解。</a:t>
            </a:r>
            <a:endParaRPr lang="en-US" altLang="zh-CN" sz="2200" dirty="0"/>
          </a:p>
          <a:p>
            <a:pPr>
              <a:lnSpc>
                <a:spcPct val="150000"/>
              </a:lnSpc>
            </a:pPr>
            <a:r>
              <a:rPr lang="en-US" altLang="zh-CN" sz="2200" dirty="0"/>
              <a:t>1</a:t>
            </a:r>
            <a:r>
              <a:rPr lang="zh-CN" altLang="en-US" sz="2200" dirty="0"/>
              <a:t>个小核再分裂为</a:t>
            </a:r>
            <a:r>
              <a:rPr lang="en-US" altLang="zh-CN" sz="2200" dirty="0"/>
              <a:t>4</a:t>
            </a:r>
            <a:r>
              <a:rPr lang="zh-CN" altLang="en-US" sz="2200" dirty="0"/>
              <a:t>个小核</a:t>
            </a:r>
            <a:endParaRPr lang="en-US" altLang="zh-CN" sz="2200" dirty="0"/>
          </a:p>
          <a:p>
            <a:pPr>
              <a:lnSpc>
                <a:spcPct val="150000"/>
              </a:lnSpc>
            </a:pPr>
            <a:r>
              <a:rPr lang="zh-CN" altLang="en-US" sz="2200" dirty="0"/>
              <a:t>虫体也分裂</a:t>
            </a:r>
            <a:r>
              <a:rPr lang="en-US" altLang="zh-CN" sz="2200" dirty="0"/>
              <a:t>2</a:t>
            </a:r>
            <a:r>
              <a:rPr lang="zh-CN" altLang="en-US" sz="2200" dirty="0"/>
              <a:t>次，每个亲体形成</a:t>
            </a:r>
            <a:r>
              <a:rPr lang="en-US" altLang="zh-CN" sz="2200" dirty="0"/>
              <a:t>4</a:t>
            </a:r>
            <a:r>
              <a:rPr lang="zh-CN" altLang="en-US" sz="2200" dirty="0"/>
              <a:t>个新个体。</a:t>
            </a:r>
            <a:endParaRPr lang="zh-CN" altLang="en-US" sz="2200" dirty="0"/>
          </a:p>
          <a:p>
            <a:pPr>
              <a:lnSpc>
                <a:spcPct val="150000"/>
              </a:lnSpc>
            </a:pPr>
            <a:endParaRPr lang="en-US" altLang="zh-CN" sz="2200" dirty="0"/>
          </a:p>
          <a:p>
            <a:pPr>
              <a:lnSpc>
                <a:spcPct val="150000"/>
              </a:lnSpc>
            </a:pPr>
            <a:endParaRPr lang="en-US" altLang="zh-CN" sz="2200" dirty="0"/>
          </a:p>
        </p:txBody>
      </p:sp>
      <p:grpSp>
        <p:nvGrpSpPr>
          <p:cNvPr id="6" name="组合 5"/>
          <p:cNvGrpSpPr/>
          <p:nvPr/>
        </p:nvGrpSpPr>
        <p:grpSpPr bwMode="auto">
          <a:xfrm>
            <a:off x="7267074" y="296119"/>
            <a:ext cx="4786645" cy="4270128"/>
            <a:chOff x="298786" y="3683001"/>
            <a:chExt cx="3226192" cy="3105387"/>
          </a:xfrm>
        </p:grpSpPr>
        <p:pic>
          <p:nvPicPr>
            <p:cNvPr id="7" name="Picture 3" descr="D:\教学\课程\动物学\动物学实验\资料\实验一 显微镜观察动物切片装片\草履虫接合生殖.jpg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649" t="54791" r="42899" b="29436"/>
            <a:stretch>
              <a:fillRect/>
            </a:stretch>
          </p:blipFill>
          <p:spPr bwMode="auto">
            <a:xfrm>
              <a:off x="298786" y="3683001"/>
              <a:ext cx="3019927" cy="3105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5"/>
            <p:cNvSpPr txBox="1">
              <a:spLocks noChangeArrowheads="1"/>
            </p:cNvSpPr>
            <p:nvPr/>
          </p:nvSpPr>
          <p:spPr bwMode="auto">
            <a:xfrm>
              <a:off x="1141612" y="5907505"/>
              <a:ext cx="238336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ea typeface="等线" panose="02010600030101010101" pitchFamily="2" charset="-122"/>
                </a:rPr>
                <a:t>接合生殖</a:t>
              </a:r>
              <a:endParaRPr lang="zh-CN" altLang="en-US" sz="2000" b="1">
                <a:ea typeface="等线" panose="02010600030101010101" pitchFamily="2" charset="-122"/>
              </a:endParaRPr>
            </a:p>
          </p:txBody>
        </p:sp>
      </p:grpSp>
      <p:pic>
        <p:nvPicPr>
          <p:cNvPr id="9" name="内容占位符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3619" y="4566247"/>
            <a:ext cx="1727169" cy="21850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4775"/>
            <a:ext cx="10515600" cy="1227455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 dirty="0">
                <a:latin typeface="+mn-ea"/>
                <a:ea typeface="+mn-ea"/>
              </a:rPr>
              <a:t>2</a:t>
            </a:r>
            <a:r>
              <a:rPr lang="zh-CN" altLang="en-US" b="1" dirty="0">
                <a:latin typeface="+mn-ea"/>
                <a:ea typeface="+mn-ea"/>
              </a:rPr>
              <a:t>、</a:t>
            </a:r>
            <a:r>
              <a:rPr lang="zh-CN" altLang="en-US" b="1" dirty="0">
                <a:latin typeface="+mn-ea"/>
                <a:ea typeface="+mn-ea"/>
                <a:sym typeface="+mn-ea"/>
              </a:rPr>
              <a:t>腔肠动物门：</a:t>
            </a:r>
            <a:r>
              <a:rPr lang="zh-CN" altLang="en-US" sz="3200" b="1" dirty="0">
                <a:latin typeface="+mn-ea"/>
                <a:ea typeface="+mn-ea"/>
              </a:rPr>
              <a:t>两胚层、辐射对称</a:t>
            </a:r>
            <a:endParaRPr lang="zh-CN" altLang="en-US" sz="3200" b="1" dirty="0">
              <a:latin typeface="+mn-ea"/>
              <a:ea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1513205" y="1604645"/>
            <a:ext cx="3806190" cy="4351655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出现胚层分化</a:t>
            </a:r>
            <a:endParaRPr lang="en-US" altLang="zh-CN" sz="2400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出现组织分化</a:t>
            </a:r>
            <a:endParaRPr lang="en-US" altLang="zh-CN" sz="2400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消化循环腔（</a:t>
            </a:r>
            <a:r>
              <a:rPr lang="zh-CN" altLang="en-US" sz="2400" b="1" dirty="0">
                <a:solidFill>
                  <a:srgbClr val="FF000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胞外消化）</a:t>
            </a:r>
            <a:endParaRPr lang="en-US" altLang="zh-CN" sz="2400" b="1" dirty="0">
              <a:solidFill>
                <a:srgbClr val="FF000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身体辐射对称</a:t>
            </a:r>
            <a:endParaRPr lang="en-US" altLang="zh-CN" sz="2400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水螅型和水母型</a:t>
            </a:r>
            <a:endParaRPr lang="en-US" altLang="zh-CN" sz="2400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单体或群体生活</a:t>
            </a:r>
            <a:endParaRPr lang="zh-CN" altLang="en-US" sz="2400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356985" y="2056130"/>
            <a:ext cx="4204970" cy="27457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2945" y="249555"/>
            <a:ext cx="7663815" cy="1325880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+mn-ea"/>
                <a:sym typeface="+mn-ea"/>
              </a:rPr>
              <a:t>内部结构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sym typeface="+mn-ea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sym typeface="+mn-ea"/>
              </a:rPr>
              <a:t>水螅纵、横切片</a:t>
            </a:r>
            <a:r>
              <a:rPr lang="en-US" altLang="zh-CN" dirty="0">
                <a:solidFill>
                  <a:srgbClr val="FF0000"/>
                </a:solidFill>
                <a:latin typeface="+mn-ea"/>
                <a:sym typeface="+mn-ea"/>
              </a:rPr>
              <a:t>)</a:t>
            </a:r>
            <a:endParaRPr lang="en-US" altLang="zh-CN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05305" y="1760220"/>
            <a:ext cx="4023360" cy="4351655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外胚层</a:t>
            </a:r>
            <a:r>
              <a:rPr lang="en-US" altLang="zh-CN" b="1" dirty="0">
                <a:solidFill>
                  <a:srgbClr val="FF000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:</a:t>
            </a:r>
            <a:endParaRPr lang="en-US" altLang="zh-CN" b="1" dirty="0">
              <a:solidFill>
                <a:srgbClr val="FF000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外皮肌细胞、间细胞、刺细胞、</a:t>
            </a:r>
            <a:r>
              <a:rPr lang="zh-CN" altLang="en-US" b="1" dirty="0">
                <a:solidFill>
                  <a:srgbClr val="FF000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腺细胞</a:t>
            </a:r>
            <a:endParaRPr lang="en-US" altLang="zh-CN" b="1" dirty="0">
              <a:solidFill>
                <a:srgbClr val="FF000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内胚层</a:t>
            </a:r>
            <a:r>
              <a:rPr lang="en-US" altLang="zh-CN" b="1" dirty="0">
                <a:solidFill>
                  <a:srgbClr val="FF000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:</a:t>
            </a:r>
            <a:endParaRPr lang="en-US" altLang="zh-CN" b="1" dirty="0">
              <a:solidFill>
                <a:srgbClr val="FF000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内皮肌细胞、</a:t>
            </a:r>
            <a:r>
              <a:rPr lang="zh-CN" altLang="en-US" b="1" dirty="0">
                <a:solidFill>
                  <a:srgbClr val="FF000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腺细胞</a:t>
            </a:r>
            <a:endParaRPr lang="zh-CN" altLang="en-US" b="1" dirty="0">
              <a:solidFill>
                <a:srgbClr val="FF000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endParaRPr lang="zh-CN" altLang="en-US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6195" y="469900"/>
            <a:ext cx="3714750" cy="6172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450" y="830970"/>
            <a:ext cx="5629275" cy="5629275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4735005" y="305936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外皮肌细胞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4624890" y="2040447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间细胞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370079" y="178130"/>
            <a:ext cx="68884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外皮肌细胞</a:t>
            </a:r>
            <a:r>
              <a:rPr lang="zh-CN" altLang="en-US" sz="2400" dirty="0"/>
              <a:t>：短柱状，核大、清楚，位于细胞中央</a:t>
            </a:r>
            <a:endParaRPr lang="zh-CN" altLang="en-US" sz="2400" dirty="0"/>
          </a:p>
        </p:txBody>
      </p:sp>
      <p:pic>
        <p:nvPicPr>
          <p:cNvPr id="17" name="内容占位符 1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90433" y="830964"/>
            <a:ext cx="4629082" cy="435133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755" y="1177925"/>
            <a:ext cx="3587750" cy="251777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6430645" y="5182235"/>
            <a:ext cx="5126990" cy="16154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刺细胞：间细胞分化而来，</a:t>
            </a:r>
            <a:r>
              <a:rPr lang="zh-CN" altLang="en-US" sz="2000" b="1" dirty="0">
                <a:solidFill>
                  <a:srgbClr val="FF0000"/>
                </a:solidFill>
              </a:rPr>
              <a:t>触手、口</a:t>
            </a:r>
            <a:r>
              <a:rPr lang="zh-CN" altLang="en-US" sz="2000" dirty="0"/>
              <a:t>的部位特别多，</a:t>
            </a:r>
            <a:r>
              <a:rPr lang="zh-CN" altLang="en-US" sz="2000" b="1" dirty="0">
                <a:solidFill>
                  <a:srgbClr val="FF0000"/>
                </a:solidFill>
              </a:rPr>
              <a:t>染色均匀的粉红色的刺囊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功能：防御捕食，缠绕粘附等。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10921" y="56267"/>
            <a:ext cx="5133952" cy="435133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816136" y="385090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腺细胞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461" y="60373"/>
            <a:ext cx="4427751" cy="4643739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821071" y="3481576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内皮肌细胞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9836049" y="2454823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食物泡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09363" y="4704112"/>
            <a:ext cx="5737412" cy="1689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腺细胞：</a:t>
            </a:r>
            <a:r>
              <a:rPr lang="zh-CN" altLang="en-US" sz="2400" dirty="0"/>
              <a:t>分布在口的周围及基盘处。腺细胞内有</a:t>
            </a:r>
            <a:r>
              <a:rPr lang="zh-CN" altLang="en-US" sz="2400" dirty="0">
                <a:solidFill>
                  <a:srgbClr val="FF0000"/>
                </a:solidFill>
              </a:rPr>
              <a:t>许多细小的颗粒被染成</a:t>
            </a:r>
            <a:r>
              <a:rPr lang="zh-CN" altLang="en-US" sz="2400" b="1" dirty="0">
                <a:solidFill>
                  <a:srgbClr val="FF0000"/>
                </a:solidFill>
              </a:rPr>
              <a:t>亮红色。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/>
              <a:t>分泌粘液，使水螅附着在物体上。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5946775" y="4826000"/>
            <a:ext cx="6020435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内皮肌细胞</a:t>
            </a:r>
            <a:r>
              <a:rPr lang="zh-CN" altLang="en-US" sz="2400" dirty="0"/>
              <a:t>：细胞很大，圆柱状，核在基部。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细胞内有</a:t>
            </a:r>
            <a:r>
              <a:rPr lang="zh-CN" altLang="en-US" sz="2400" b="1" dirty="0">
                <a:solidFill>
                  <a:srgbClr val="FF0000"/>
                </a:solidFill>
              </a:rPr>
              <a:t>深染的圆形食物泡</a:t>
            </a:r>
            <a:r>
              <a:rPr lang="zh-CN" altLang="en-US" sz="2400" dirty="0"/>
              <a:t>，可以进行细胞内消化。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4779" y="1253331"/>
            <a:ext cx="5218526" cy="435133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186879" y="1705696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腺细胞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222626" y="1805061"/>
            <a:ext cx="5074024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内胚层的腺细胞</a:t>
            </a:r>
            <a:r>
              <a:rPr lang="zh-CN" altLang="en-US" sz="2400" dirty="0"/>
              <a:t>：</a:t>
            </a:r>
            <a:r>
              <a:rPr lang="zh-CN" altLang="en-US" sz="2400" b="1" dirty="0"/>
              <a:t>染色较深且较为均匀</a:t>
            </a:r>
            <a:r>
              <a:rPr lang="zh-CN" altLang="en-US" sz="2400" dirty="0"/>
              <a:t>，核一般位于顶部。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分泌消化酶到消化循环腔中进行细胞外消化。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199880" y="1398270"/>
            <a:ext cx="1377950" cy="5156200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257549"/>
            <a:ext cx="10515600" cy="1140946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zh-CN" sz="4000" b="1" dirty="0">
                <a:latin typeface="+mn-ea"/>
                <a:ea typeface="+mn-ea"/>
              </a:rPr>
              <a:t>3</a:t>
            </a:r>
            <a:r>
              <a:rPr lang="zh-CN" altLang="en-US" sz="4000" b="1" dirty="0">
                <a:latin typeface="+mn-ea"/>
                <a:ea typeface="+mn-ea"/>
              </a:rPr>
              <a:t>、</a:t>
            </a:r>
            <a:r>
              <a:rPr lang="zh-CN" altLang="en-US" sz="4000" b="1" dirty="0">
                <a:latin typeface="+mn-ea"/>
                <a:ea typeface="+mn-ea"/>
                <a:sym typeface="+mn-ea"/>
              </a:rPr>
              <a:t>扁形动物门：</a:t>
            </a:r>
            <a:r>
              <a:rPr lang="zh-CN" altLang="en-US" sz="2800" b="1" dirty="0">
                <a:latin typeface="+mn-ea"/>
                <a:ea typeface="+mn-ea"/>
              </a:rPr>
              <a:t>三胚层无体腔动物</a:t>
            </a:r>
            <a:endParaRPr lang="zh-CN" altLang="en-US" sz="4000" b="1" dirty="0">
              <a:latin typeface="+mn-ea"/>
              <a:ea typeface="+mn-ea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614805" y="1741805"/>
            <a:ext cx="6941185" cy="4351655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具外胚层、</a:t>
            </a:r>
            <a:r>
              <a:rPr lang="zh-CN" altLang="en-US" b="1" dirty="0">
                <a:solidFill>
                  <a:srgbClr val="FF000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中胚层</a:t>
            </a:r>
            <a:r>
              <a:rPr lang="zh-CN" altLang="en-US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和内胚层三个胚层</a:t>
            </a:r>
            <a:endParaRPr lang="en-US" altLang="zh-CN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身体</a:t>
            </a:r>
            <a:r>
              <a:rPr lang="zh-CN" altLang="en-US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出现了器官系统</a:t>
            </a:r>
            <a:endParaRPr lang="en-US" altLang="zh-CN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两侧对称</a:t>
            </a:r>
            <a:r>
              <a:rPr lang="zh-CN" altLang="en-US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的体制</a:t>
            </a:r>
            <a:endParaRPr lang="en-US" altLang="zh-CN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身体有了</a:t>
            </a:r>
            <a:r>
              <a:rPr lang="zh-CN" altLang="en-US" b="1" dirty="0">
                <a:solidFill>
                  <a:srgbClr val="FF000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前后</a:t>
            </a:r>
            <a:r>
              <a:rPr lang="zh-CN" altLang="en-US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端与</a:t>
            </a:r>
            <a:r>
              <a:rPr lang="zh-CN" altLang="en-US" b="1" dirty="0">
                <a:solidFill>
                  <a:srgbClr val="FF000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背腹</a:t>
            </a:r>
            <a:r>
              <a:rPr lang="zh-CN" altLang="en-US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面的区分</a:t>
            </a:r>
            <a:endParaRPr lang="en-US" altLang="zh-CN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运动由不定向趋于定向</a:t>
            </a:r>
            <a:endParaRPr lang="zh-CN" altLang="en-US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199880" y="4688840"/>
            <a:ext cx="389890" cy="33210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咽</a:t>
            </a:r>
            <a:endParaRPr lang="zh-CN" altLang="en-US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396730" y="2606675"/>
            <a:ext cx="39116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肠</a:t>
            </a:r>
            <a:endParaRPr lang="zh-CN" altLang="en-US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026015" y="6093460"/>
            <a:ext cx="15963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有口无肛门</a:t>
            </a:r>
            <a:endParaRPr lang="zh-CN" altLang="en-US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8" grpId="1" animBg="1"/>
      <p:bldP spid="9" grpId="1" animBg="1"/>
      <p:bldP spid="3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8114" y="308892"/>
            <a:ext cx="2595563" cy="337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7766050" y="4622165"/>
            <a:ext cx="256603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ea typeface="等线" panose="02010600030101010101" pitchFamily="2" charset="-122"/>
              </a:rPr>
              <a:t>涡虫过咽横切面，放大倍数</a:t>
            </a:r>
            <a:r>
              <a:rPr lang="en-US" altLang="zh-CN" sz="2400" b="1" dirty="0">
                <a:ea typeface="等线" panose="02010600030101010101" pitchFamily="2" charset="-122"/>
              </a:rPr>
              <a:t>10</a:t>
            </a:r>
            <a:r>
              <a:rPr lang="zh-CN" altLang="en-US" sz="2400" b="1" dirty="0">
                <a:ea typeface="等线" panose="02010600030101010101" pitchFamily="2" charset="-122"/>
              </a:rPr>
              <a:t>×</a:t>
            </a:r>
            <a:r>
              <a:rPr lang="en-US" altLang="zh-CN" sz="2400" b="1" dirty="0">
                <a:ea typeface="等线" panose="02010600030101010101" pitchFamily="2" charset="-122"/>
              </a:rPr>
              <a:t>4</a:t>
            </a:r>
            <a:endParaRPr lang="en-US" altLang="zh-CN" sz="2400" b="1" dirty="0">
              <a:ea typeface="等线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3985" y="574040"/>
            <a:ext cx="7195185" cy="30460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</a:rPr>
              <a:t>（</a:t>
            </a:r>
            <a:r>
              <a:rPr lang="en-US" altLang="zh-CN" sz="3200" b="1" dirty="0">
                <a:solidFill>
                  <a:srgbClr val="FF0000"/>
                </a:solidFill>
              </a:rPr>
              <a:t>1</a:t>
            </a:r>
            <a:r>
              <a:rPr lang="zh-CN" altLang="en-US" sz="3200" b="1" dirty="0">
                <a:solidFill>
                  <a:srgbClr val="FF0000"/>
                </a:solidFill>
              </a:rPr>
              <a:t>）涡虫纲内部结构：</a:t>
            </a:r>
            <a:r>
              <a:rPr lang="zh-CN" altLang="en-US" sz="2400" b="1" dirty="0">
                <a:solidFill>
                  <a:schemeClr val="tx1"/>
                </a:solidFill>
              </a:rPr>
              <a:t>三角真涡虫横切片</a:t>
            </a:r>
            <a:endParaRPr lang="zh-CN" altLang="en-US" sz="24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纤毛、上皮细胞、杆状体、粘液腺细胞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肌肉层</a:t>
            </a:r>
            <a:r>
              <a:rPr lang="en-US" altLang="zh-CN" sz="2400" dirty="0"/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环肌、斜肌、纵肌</a:t>
            </a:r>
            <a:r>
              <a:rPr lang="en-US" altLang="zh-CN" sz="2400" dirty="0"/>
              <a:t>)</a:t>
            </a:r>
            <a:r>
              <a:rPr lang="zh-CN" altLang="en-US" sz="2400" dirty="0"/>
              <a:t>、背腹肌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消化道、实质</a:t>
            </a:r>
            <a:endParaRPr lang="en-US" altLang="zh-CN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83635"/>
            <a:ext cx="7632065" cy="3197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04490" y="971550"/>
            <a:ext cx="6948805" cy="557403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903194" y="1149409"/>
            <a:ext cx="3154680" cy="36830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/>
            <a:r>
              <a:rPr lang="zh-CN" altLang="en-US" b="1" dirty="0">
                <a:sym typeface="+mn-ea"/>
              </a:rPr>
              <a:t>由矮柱状上皮细胞形成的表皮</a:t>
            </a:r>
            <a:endParaRPr lang="zh-CN" altLang="en-US" b="1" dirty="0">
              <a:sym typeface="+mn-ea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4057650" y="1517650"/>
            <a:ext cx="772160" cy="52006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3298190" y="191770"/>
            <a:ext cx="575119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ea typeface="等线" panose="02010600030101010101" pitchFamily="2" charset="-122"/>
              </a:rPr>
              <a:t>涡虫过咽横切面，放大倍数</a:t>
            </a:r>
            <a:r>
              <a:rPr lang="en-US" altLang="zh-CN" sz="2400" b="1" dirty="0">
                <a:solidFill>
                  <a:srgbClr val="FF0000"/>
                </a:solidFill>
                <a:ea typeface="等线" panose="02010600030101010101" pitchFamily="2" charset="-122"/>
              </a:rPr>
              <a:t>10</a:t>
            </a:r>
            <a:r>
              <a:rPr lang="zh-CN" altLang="en-US" sz="2400" b="1" dirty="0">
                <a:solidFill>
                  <a:srgbClr val="FF0000"/>
                </a:solidFill>
                <a:ea typeface="等线" panose="02010600030101010101" pitchFamily="2" charset="-122"/>
              </a:rPr>
              <a:t>×</a:t>
            </a:r>
            <a:r>
              <a:rPr lang="en-US" altLang="zh-CN" sz="2400" b="1" dirty="0">
                <a:solidFill>
                  <a:srgbClr val="FF0000"/>
                </a:solidFill>
                <a:ea typeface="等线" panose="02010600030101010101" pitchFamily="2" charset="-122"/>
              </a:rPr>
              <a:t>40</a:t>
            </a:r>
            <a:endParaRPr lang="en-US" altLang="zh-CN" sz="2400" b="1" dirty="0">
              <a:solidFill>
                <a:srgbClr val="FF0000"/>
              </a:solidFill>
              <a:ea typeface="等线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850054" y="6180783"/>
            <a:ext cx="4026898" cy="67710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杆状体</a:t>
            </a:r>
            <a:r>
              <a:rPr lang="zh-CN" altLang="en-US" dirty="0" smtClean="0"/>
              <a:t>：</a:t>
            </a:r>
            <a:r>
              <a:rPr lang="zh-CN" altLang="en-US" dirty="0"/>
              <a:t>上皮细胞</a:t>
            </a:r>
            <a:r>
              <a:rPr lang="zh-CN" altLang="en-US" dirty="0" smtClean="0"/>
              <a:t>之间，染色</a:t>
            </a:r>
            <a:r>
              <a:rPr lang="zh-CN" altLang="en-US" dirty="0"/>
              <a:t>很深的绛紫色短棒状结构</a:t>
            </a:r>
            <a:endParaRPr lang="zh-CN" altLang="en-US" dirty="0"/>
          </a:p>
        </p:txBody>
      </p:sp>
      <p:cxnSp>
        <p:nvCxnSpPr>
          <p:cNvPr id="8" name="直接箭头连接符 7"/>
          <p:cNvCxnSpPr/>
          <p:nvPr/>
        </p:nvCxnSpPr>
        <p:spPr>
          <a:xfrm flipH="1" flipV="1">
            <a:off x="7660005" y="5858510"/>
            <a:ext cx="215265" cy="38671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637565" y="6176999"/>
            <a:ext cx="17830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纤毛</a:t>
            </a:r>
            <a:r>
              <a:rPr lang="zh-CN" altLang="en-US" b="1" dirty="0"/>
              <a:t>：腹面发达</a:t>
            </a:r>
            <a:endParaRPr lang="zh-CN" altLang="en-US" b="1" dirty="0"/>
          </a:p>
        </p:txBody>
      </p:sp>
      <p:sp>
        <p:nvSpPr>
          <p:cNvPr id="12" name="矩形 11"/>
          <p:cNvSpPr/>
          <p:nvPr/>
        </p:nvSpPr>
        <p:spPr>
          <a:xfrm>
            <a:off x="1518920" y="5436870"/>
            <a:ext cx="1778635" cy="12299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粘液腺细胞</a:t>
            </a:r>
            <a:r>
              <a:rPr lang="zh-CN" altLang="en-US" b="1" dirty="0"/>
              <a:t>：分布在横切面的两端，染色较浅</a:t>
            </a:r>
            <a:endParaRPr lang="zh-CN" altLang="en-US" b="1" dirty="0"/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3166745" y="5916930"/>
            <a:ext cx="681355" cy="2768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9610" y="206375"/>
            <a:ext cx="6854190" cy="559816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306060" y="302947"/>
            <a:ext cx="70802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401BC0"/>
                </a:solidFill>
              </a:rPr>
              <a:t> </a:t>
            </a:r>
            <a:r>
              <a:rPr lang="zh-CN" altLang="en-US" b="1" dirty="0">
                <a:solidFill>
                  <a:srgbClr val="401BC0"/>
                </a:solidFill>
              </a:rPr>
              <a:t>环肌</a:t>
            </a:r>
            <a:endParaRPr lang="zh-CN" altLang="en-US" b="1" dirty="0">
              <a:solidFill>
                <a:srgbClr val="401BC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7014384" y="736096"/>
            <a:ext cx="6400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401BC0"/>
                </a:solidFill>
              </a:rPr>
              <a:t>斜肌</a:t>
            </a:r>
            <a:endParaRPr lang="zh-CN" altLang="en-US" b="1" dirty="0">
              <a:solidFill>
                <a:srgbClr val="401BC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7318525" y="1270224"/>
            <a:ext cx="6400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401BC0"/>
                </a:solidFill>
              </a:rPr>
              <a:t>纵肌</a:t>
            </a:r>
            <a:endParaRPr lang="zh-CN" altLang="en-US" b="1" dirty="0">
              <a:solidFill>
                <a:srgbClr val="401BC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9218427" y="634960"/>
            <a:ext cx="8686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401BC0"/>
                </a:solidFill>
              </a:rPr>
              <a:t>皮肌囊</a:t>
            </a:r>
            <a:endParaRPr lang="zh-CN" altLang="en-US" b="1" dirty="0">
              <a:solidFill>
                <a:srgbClr val="401BC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619369" y="4328841"/>
            <a:ext cx="339120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401BC0"/>
                </a:solidFill>
              </a:rPr>
              <a:t>背腹肌</a:t>
            </a:r>
            <a:endParaRPr lang="zh-CN" altLang="en-US" sz="2000" b="1" dirty="0">
              <a:solidFill>
                <a:srgbClr val="401BC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47725" y="1953260"/>
            <a:ext cx="3651885" cy="186309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sz="2400" dirty="0"/>
              <a:t>无体腔，体内各器官都镶在</a:t>
            </a:r>
            <a:r>
              <a:rPr lang="zh-CN" altLang="en-US" sz="2400" b="1" dirty="0">
                <a:solidFill>
                  <a:srgbClr val="FF0000"/>
                </a:solidFill>
              </a:rPr>
              <a:t>实质</a:t>
            </a:r>
            <a:r>
              <a:rPr lang="zh-CN" altLang="en-US" sz="2400" dirty="0"/>
              <a:t>中，实质是</a:t>
            </a:r>
            <a:r>
              <a:rPr lang="zh-CN" altLang="en-US" sz="2400" dirty="0">
                <a:solidFill>
                  <a:srgbClr val="FF0000"/>
                </a:solidFill>
              </a:rPr>
              <a:t>中胚层</a:t>
            </a:r>
            <a:r>
              <a:rPr lang="zh-CN" altLang="en-US" sz="2400" dirty="0"/>
              <a:t>形成的</a:t>
            </a:r>
            <a:r>
              <a:rPr lang="zh-CN" altLang="en-US" sz="2400" b="1" dirty="0">
                <a:solidFill>
                  <a:srgbClr val="FF0000"/>
                </a:solidFill>
              </a:rPr>
              <a:t>合胞体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9309100" y="2775585"/>
            <a:ext cx="894080" cy="46037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实质</a:t>
            </a:r>
            <a:endParaRPr lang="zh-CN" altLang="en-US" sz="24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67665" y="6012180"/>
            <a:ext cx="7590790" cy="46037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合胞体</a:t>
            </a:r>
            <a:r>
              <a:rPr lang="zh-CN" altLang="en-US" sz="2400" b="1">
                <a:solidFill>
                  <a:schemeClr val="tx1"/>
                </a:solidFill>
              </a:rPr>
              <a:t>：由一层细胞膜包绕的多个核的一团细胞质。</a:t>
            </a:r>
            <a:endParaRPr lang="zh-CN" altLang="en-US" sz="24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3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6195" y="24698"/>
            <a:ext cx="6351872" cy="341067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505425" y="224718"/>
            <a:ext cx="156966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消化道横切面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373" y="86626"/>
            <a:ext cx="4523594" cy="36445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276930" y="2421817"/>
            <a:ext cx="341632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消化道壁由单层长柱状细胞组成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17241"/>
            <a:ext cx="3667225" cy="2714929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773185" y="4476368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腺细胞</a:t>
            </a:r>
            <a:endParaRPr lang="zh-CN" altLang="en-US" dirty="0"/>
          </a:p>
        </p:txBody>
      </p:sp>
      <p:cxnSp>
        <p:nvCxnSpPr>
          <p:cNvPr id="11" name="直接箭头连接符 10"/>
          <p:cNvCxnSpPr/>
          <p:nvPr/>
        </p:nvCxnSpPr>
        <p:spPr>
          <a:xfrm flipH="1" flipV="1">
            <a:off x="2321859" y="4384364"/>
            <a:ext cx="349954" cy="21439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2387065" y="4845700"/>
            <a:ext cx="284747" cy="40254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/>
          <p:cNvSpPr/>
          <p:nvPr/>
        </p:nvSpPr>
        <p:spPr>
          <a:xfrm>
            <a:off x="3818965" y="788894"/>
            <a:ext cx="2859102" cy="162261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7772400" y="86626"/>
            <a:ext cx="1272988" cy="194537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/>
          <p:nvPr/>
        </p:nvCxnSpPr>
        <p:spPr>
          <a:xfrm flipH="1">
            <a:off x="2013968" y="4880653"/>
            <a:ext cx="962314" cy="99018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  <p:bldLst>
      <p:bldP spid="3" grpId="1" animBg="1"/>
      <p:bldP spid="14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36740" y="747812"/>
            <a:ext cx="6814534" cy="285584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542002" y="32443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腹神经索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552756" y="3244334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腹神经索：染色较浅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740" y="3997026"/>
            <a:ext cx="4028636" cy="255214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635116" y="6223364"/>
            <a:ext cx="110799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腹神经索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580" y="3809646"/>
            <a:ext cx="3909270" cy="2715331"/>
          </a:xfrm>
          <a:prstGeom prst="rect">
            <a:avLst/>
          </a:prstGeom>
        </p:spPr>
      </p:pic>
      <p:sp>
        <p:nvSpPr>
          <p:cNvPr id="12" name="椭圆 11"/>
          <p:cNvSpPr/>
          <p:nvPr/>
        </p:nvSpPr>
        <p:spPr>
          <a:xfrm>
            <a:off x="6826626" y="4783756"/>
            <a:ext cx="2307749" cy="143960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2339649" y="4783756"/>
            <a:ext cx="2307749" cy="143960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256558" y="6189505"/>
            <a:ext cx="110799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腹神经索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6909659" y="3174435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与横神经共同组成梯状神经系统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6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98"/>
          <a:stretch>
            <a:fillRect/>
          </a:stretch>
        </p:blipFill>
        <p:spPr bwMode="auto">
          <a:xfrm rot="16200000">
            <a:off x="4815397" y="623503"/>
            <a:ext cx="6583668" cy="524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525145" y="719455"/>
            <a:ext cx="4635500" cy="1816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3200" b="1" dirty="0">
                <a:latin typeface="+mn-ea"/>
                <a:ea typeface="+mn-ea"/>
              </a:rPr>
              <a:t>（</a:t>
            </a:r>
            <a:r>
              <a:rPr lang="en-US" altLang="zh-CN" sz="3200" b="1" dirty="0">
                <a:latin typeface="+mn-ea"/>
                <a:ea typeface="+mn-ea"/>
              </a:rPr>
              <a:t>2</a:t>
            </a:r>
            <a:r>
              <a:rPr lang="zh-CN" altLang="en-US" sz="3200" b="1" dirty="0">
                <a:latin typeface="+mn-ea"/>
                <a:ea typeface="+mn-ea"/>
              </a:rPr>
              <a:t>）吸虫纲：</a:t>
            </a:r>
            <a:endParaRPr lang="en-US" altLang="zh-CN" sz="3200" b="1" dirty="0"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3200" b="1" dirty="0">
                <a:latin typeface="+mn-ea"/>
                <a:ea typeface="+mn-ea"/>
              </a:rPr>
              <a:t>华支睾吸虫整体图</a:t>
            </a:r>
            <a:endParaRPr lang="en-US" altLang="zh-CN" sz="3200" b="1" dirty="0"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</a:pPr>
            <a:endParaRPr lang="zh-CN" altLang="en-US" sz="3200" b="1" dirty="0">
              <a:latin typeface="+mn-ea"/>
              <a:ea typeface="+mn-ea"/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850900" y="2793812"/>
            <a:ext cx="3984812" cy="280016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纤毛消失，出现角质层</a:t>
            </a:r>
            <a:endParaRPr lang="en-US" altLang="zh-CN" sz="2400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r>
              <a:rPr lang="zh-CN" altLang="en-US" sz="2400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消化系统退化</a:t>
            </a:r>
            <a:endParaRPr lang="en-US" altLang="zh-CN" sz="2400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r>
              <a:rPr lang="zh-CN" altLang="en-US" sz="2400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感觉器官消失</a:t>
            </a:r>
            <a:endParaRPr lang="en-US" altLang="zh-CN" sz="2400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r>
              <a:rPr lang="zh-CN" altLang="en-US" sz="2400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出现吸盘等附着器官</a:t>
            </a:r>
            <a:endParaRPr lang="en-US" altLang="zh-CN" sz="2400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r>
              <a:rPr lang="zh-CN" altLang="en-US" sz="2400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生殖系统发达</a:t>
            </a:r>
            <a:endParaRPr lang="zh-CN" altLang="en-US" sz="2400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42002" y="32443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雌雄同体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57375" y="76200"/>
            <a:ext cx="8035290" cy="1061085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 dirty="0">
                <a:latin typeface="+mn-ea"/>
                <a:ea typeface="+mn-ea"/>
              </a:rPr>
              <a:t>4</a:t>
            </a:r>
            <a:r>
              <a:rPr lang="zh-CN" altLang="en-US" b="1" dirty="0">
                <a:latin typeface="+mn-ea"/>
                <a:ea typeface="+mn-ea"/>
              </a:rPr>
              <a:t>、</a:t>
            </a:r>
            <a:r>
              <a:rPr lang="zh-CN" altLang="en-US" b="1" dirty="0">
                <a:latin typeface="+mn-ea"/>
                <a:ea typeface="+mn-ea"/>
                <a:sym typeface="+mn-ea"/>
              </a:rPr>
              <a:t>线虫动物门：</a:t>
            </a:r>
            <a:r>
              <a:rPr lang="zh-CN" altLang="en-US" sz="2800" b="1" dirty="0">
                <a:latin typeface="+mn-ea"/>
                <a:ea typeface="+mn-ea"/>
              </a:rPr>
              <a:t>具有假体腔</a:t>
            </a:r>
            <a:endParaRPr lang="zh-CN" altLang="en-US" sz="2800" b="1" dirty="0">
              <a:latin typeface="+mn-ea"/>
              <a:ea typeface="+mn-ea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183118" y="1485435"/>
            <a:ext cx="5853006" cy="4351338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具有三胚层和</a:t>
            </a:r>
            <a:r>
              <a:rPr lang="zh-CN" altLang="en-US" b="1" dirty="0">
                <a:solidFill>
                  <a:srgbClr val="FF000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假体腔</a:t>
            </a:r>
            <a:endParaRPr lang="en-US" altLang="zh-CN" b="1" dirty="0">
              <a:solidFill>
                <a:srgbClr val="FF000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出现</a:t>
            </a:r>
            <a:r>
              <a:rPr lang="zh-CN" altLang="en-US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了</a:t>
            </a:r>
            <a:r>
              <a:rPr lang="zh-CN" altLang="en-US" b="1" dirty="0">
                <a:solidFill>
                  <a:srgbClr val="FF000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具有口和肛门</a:t>
            </a:r>
            <a:r>
              <a:rPr lang="zh-CN" altLang="en-US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的完全消化道</a:t>
            </a:r>
            <a:endParaRPr lang="en-US" altLang="zh-CN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排泄系统属于</a:t>
            </a:r>
            <a:r>
              <a:rPr lang="zh-CN" altLang="en-US" b="1" dirty="0">
                <a:solidFill>
                  <a:srgbClr val="FF000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原肾管型</a:t>
            </a:r>
            <a:endParaRPr lang="en-US" altLang="zh-CN" b="1" dirty="0">
              <a:solidFill>
                <a:srgbClr val="FF000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一般无循环系统和呼吸器官</a:t>
            </a:r>
            <a:endParaRPr lang="en-US" altLang="zh-CN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多为</a:t>
            </a:r>
            <a:r>
              <a:rPr lang="zh-CN" altLang="en-US" b="1" dirty="0">
                <a:solidFill>
                  <a:srgbClr val="FF000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寄生</a:t>
            </a:r>
            <a:r>
              <a:rPr lang="zh-CN" altLang="en-US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种类</a:t>
            </a:r>
            <a:endParaRPr lang="zh-CN" altLang="en-US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2040" y="1231265"/>
            <a:ext cx="5726430" cy="536956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550965" y="6332311"/>
            <a:ext cx="2354580" cy="36830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</a:rPr>
              <a:t>蛔虫横切片，</a:t>
            </a:r>
            <a:r>
              <a:rPr lang="en-US" altLang="zh-CN" dirty="0">
                <a:latin typeface="+mn-ea"/>
              </a:rPr>
              <a:t>10</a:t>
            </a:r>
            <a:r>
              <a:rPr lang="zh-CN" altLang="en-US" dirty="0">
                <a:latin typeface="+mn-ea"/>
              </a:rPr>
              <a:t>×</a:t>
            </a:r>
            <a:r>
              <a:rPr lang="en-US" altLang="zh-CN" dirty="0">
                <a:latin typeface="+mn-ea"/>
              </a:rPr>
              <a:t>4</a:t>
            </a:r>
            <a:r>
              <a:rPr lang="zh-CN" altLang="en-US" dirty="0">
                <a:latin typeface="+mn-ea"/>
              </a:rPr>
              <a:t>倍</a:t>
            </a:r>
            <a:endParaRPr lang="zh-CN" altLang="en-US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3496"/>
            <a:ext cx="10515600" cy="1078193"/>
          </a:xfrm>
          <a:solidFill>
            <a:schemeClr val="accent3"/>
          </a:solidFill>
        </p:spPr>
        <p:txBody>
          <a:bodyPr>
            <a:normAutofit/>
          </a:bodyPr>
          <a:lstStyle/>
          <a:p>
            <a:pPr algn="ctr"/>
            <a:r>
              <a:rPr lang="zh-CN" altLang="en-US" sz="3600" dirty="0">
                <a:latin typeface="+mn-ea"/>
                <a:ea typeface="+mn-ea"/>
              </a:rPr>
              <a:t>内部显微结构</a:t>
            </a:r>
            <a:r>
              <a:rPr lang="en-US" altLang="zh-CN" sz="3600" dirty="0">
                <a:latin typeface="+mn-ea"/>
                <a:ea typeface="+mn-ea"/>
              </a:rPr>
              <a:t>(</a:t>
            </a:r>
            <a:r>
              <a:rPr lang="zh-CN" altLang="en-US" sz="3600" dirty="0">
                <a:latin typeface="+mn-ea"/>
                <a:ea typeface="+mn-ea"/>
              </a:rPr>
              <a:t>蛔虫横切片</a:t>
            </a:r>
            <a:r>
              <a:rPr lang="en-US" altLang="zh-CN" sz="3600" dirty="0">
                <a:latin typeface="+mn-ea"/>
                <a:ea typeface="+mn-ea"/>
              </a:rPr>
              <a:t>)</a:t>
            </a:r>
            <a:endParaRPr lang="zh-CN" altLang="en-US" sz="3600" dirty="0">
              <a:latin typeface="+mn-ea"/>
              <a:ea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520190"/>
            <a:ext cx="4360545" cy="4592955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角质膜</a:t>
            </a:r>
            <a:endParaRPr lang="en-US" altLang="zh-CN" sz="2400" b="1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上皮细胞（合胞体）、</a:t>
            </a:r>
            <a:r>
              <a:rPr lang="zh-CN" altLang="en-US" sz="2400" b="1" dirty="0">
                <a:solidFill>
                  <a:srgbClr val="FF000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背线、腹线、侧线</a:t>
            </a:r>
            <a:endParaRPr lang="en-US" altLang="zh-CN" sz="2400" b="1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神经索、排泄管</a:t>
            </a:r>
            <a:endParaRPr lang="en-US" altLang="zh-CN" sz="2400" b="1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纵肌</a:t>
            </a:r>
            <a:endParaRPr lang="en-US" altLang="zh-CN" sz="2400" b="1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假体腔</a:t>
            </a:r>
            <a:endParaRPr lang="zh-CN" altLang="en-US" sz="2400" b="1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消化道、</a:t>
            </a:r>
            <a:r>
              <a:rPr lang="zh-CN" altLang="en-US" sz="2400" b="1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卵巢、输卵管、子宫</a:t>
            </a:r>
            <a:endParaRPr lang="zh-CN" altLang="en-US" sz="2400" b="1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200" y="1448289"/>
            <a:ext cx="5548616" cy="4715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7353662" y="6350326"/>
            <a:ext cx="211769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ea typeface="等线" panose="02010600030101010101" pitchFamily="2" charset="-122"/>
              </a:rPr>
              <a:t>雌蛔虫横切面</a:t>
            </a:r>
            <a:endParaRPr lang="zh-CN" altLang="en-US" dirty="0">
              <a:ea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2415" y="365125"/>
            <a:ext cx="5429250" cy="4305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199" y="612356"/>
            <a:ext cx="5514975" cy="341947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059624" y="2333108"/>
            <a:ext cx="3102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角质层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822266" y="1551346"/>
            <a:ext cx="156966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表皮：合胞体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58913" y="482185"/>
            <a:ext cx="5058382" cy="457199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924298" y="652186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背线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604084" y="258351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侧线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924261" y="404911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腹线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5" y="1092757"/>
            <a:ext cx="5705475" cy="370522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95070" y="5385524"/>
            <a:ext cx="50583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表皮向内加厚突出，形成四条纵行的索，分别为</a:t>
            </a:r>
            <a:r>
              <a:rPr lang="zh-CN" altLang="en-US" sz="2400" b="1" dirty="0">
                <a:solidFill>
                  <a:srgbClr val="FF0000"/>
                </a:solidFill>
              </a:rPr>
              <a:t>背线、腹线、侧线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6275501" y="5284399"/>
            <a:ext cx="52878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背线和腹线</a:t>
            </a:r>
            <a:r>
              <a:rPr lang="zh-CN" altLang="en-US" sz="2400" b="1" dirty="0"/>
              <a:t>末端膨大成圆形，里面包裹着</a:t>
            </a:r>
            <a:r>
              <a:rPr lang="zh-CN" altLang="en-US" sz="2400" b="1" dirty="0">
                <a:solidFill>
                  <a:srgbClr val="FF0000"/>
                </a:solidFill>
              </a:rPr>
              <a:t>神经索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9768" y="451752"/>
            <a:ext cx="4860537" cy="435133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24788" y="1771668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腹神经索比背神经索更粗一些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567" y="789272"/>
            <a:ext cx="5055511" cy="322298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039971" y="5227237"/>
            <a:ext cx="5262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根据神经索的粗细，可以区分背腹面及背线、腹线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0165" y="365125"/>
            <a:ext cx="5574579" cy="465926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30165" y="2291433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侧线比背腹线更大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744" y="1215172"/>
            <a:ext cx="6059458" cy="3660076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321423" y="3571875"/>
            <a:ext cx="2262158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细小、中空的排泄管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10501" y="365125"/>
            <a:ext cx="6400977" cy="435133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483310" y="1194153"/>
            <a:ext cx="1338828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纵肌肌肉层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851251" y="2945951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收缩部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982346" y="1948987"/>
            <a:ext cx="110799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原生质部</a:t>
            </a:r>
            <a:endParaRPr lang="zh-CN" altLang="en-US" dirty="0"/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3158232" y="1571159"/>
            <a:ext cx="1386038" cy="4981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4483310" y="1596692"/>
            <a:ext cx="178878" cy="13000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246227" y="487310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肌原纤维</a:t>
            </a:r>
            <a:endParaRPr lang="zh-CN" altLang="en-US" dirty="0"/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1960331" y="4432644"/>
            <a:ext cx="576013" cy="4404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0342" y="271635"/>
            <a:ext cx="4324593" cy="4418979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4662170" y="4872990"/>
            <a:ext cx="4719320" cy="497840"/>
          </a:xfrm>
          <a:prstGeom prst="rect">
            <a:avLst/>
          </a:prstGeom>
          <a:solidFill>
            <a:schemeClr val="bg1"/>
          </a:solidFill>
        </p:spPr>
        <p:txBody>
          <a:bodyPr wrap="none">
            <a:noAutofit/>
          </a:bodyPr>
          <a:lstStyle/>
          <a:p>
            <a:pPr algn="l"/>
            <a:r>
              <a:rPr lang="zh-CN" altLang="en-US" dirty="0"/>
              <a:t>原生质部：</a:t>
            </a:r>
            <a:r>
              <a:rPr lang="zh-CN" altLang="en-US" dirty="0">
                <a:sym typeface="+mn-ea"/>
              </a:rPr>
              <a:t>染色较浅，球形，伸向假体腔内。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7350" y="362150"/>
            <a:ext cx="6570063" cy="5708416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838200" y="1315322"/>
            <a:ext cx="6005362" cy="373460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740541" y="405315"/>
            <a:ext cx="1107996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假体腔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011983" y="216275"/>
            <a:ext cx="3416320" cy="87440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假体腔内充满体腔液，无体腔膜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空腔来自胚胎期的囊胚腔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2760213" y="3943634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消化道</a:t>
            </a:r>
            <a:endParaRPr lang="zh-CN" altLang="en-US" dirty="0"/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3128385" y="3475998"/>
            <a:ext cx="712496" cy="4061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7641237" y="209277"/>
            <a:ext cx="3146048" cy="2572024"/>
            <a:chOff x="7641237" y="209277"/>
            <a:chExt cx="3146048" cy="2572024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41237" y="209277"/>
              <a:ext cx="2888094" cy="2572024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8525127" y="360445"/>
              <a:ext cx="226215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肠道：单层柱状上皮</a:t>
              </a:r>
              <a:endParaRPr lang="zh-CN" altLang="en-US" dirty="0"/>
            </a:p>
          </p:txBody>
        </p:sp>
      </p:grpSp>
      <p:sp>
        <p:nvSpPr>
          <p:cNvPr id="14" name="矩形 13"/>
          <p:cNvSpPr/>
          <p:nvPr/>
        </p:nvSpPr>
        <p:spPr>
          <a:xfrm>
            <a:off x="2607470" y="1439871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生殖管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3046051" y="5048601"/>
            <a:ext cx="64633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子宫</a:t>
            </a:r>
            <a:endParaRPr lang="zh-CN" altLang="en-US" dirty="0"/>
          </a:p>
        </p:txBody>
      </p:sp>
      <p:cxnSp>
        <p:nvCxnSpPr>
          <p:cNvPr id="17" name="直接箭头连接符 16"/>
          <p:cNvCxnSpPr/>
          <p:nvPr/>
        </p:nvCxnSpPr>
        <p:spPr>
          <a:xfrm flipV="1">
            <a:off x="3692382" y="4589396"/>
            <a:ext cx="860995" cy="50298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 flipV="1">
            <a:off x="2185056" y="4128300"/>
            <a:ext cx="963837" cy="9558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661057" y="6116732"/>
            <a:ext cx="3647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子宫位于腹面，可用来判断背腹。</a:t>
            </a:r>
            <a:endParaRPr lang="zh-CN" altLang="en-US" dirty="0"/>
          </a:p>
        </p:txBody>
      </p:sp>
      <p:cxnSp>
        <p:nvCxnSpPr>
          <p:cNvPr id="10" name="直接箭头连接符 9"/>
          <p:cNvCxnSpPr/>
          <p:nvPr/>
        </p:nvCxnSpPr>
        <p:spPr>
          <a:xfrm flipH="1">
            <a:off x="2970224" y="902381"/>
            <a:ext cx="178669" cy="3766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5748780" y="1315052"/>
            <a:ext cx="2262158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不同发育阶段的卵巢</a:t>
            </a:r>
            <a:endParaRPr lang="zh-CN" altLang="en-US" dirty="0"/>
          </a:p>
        </p:txBody>
      </p:sp>
      <p:cxnSp>
        <p:nvCxnSpPr>
          <p:cNvPr id="18" name="直接箭头连接符 17"/>
          <p:cNvCxnSpPr/>
          <p:nvPr/>
        </p:nvCxnSpPr>
        <p:spPr>
          <a:xfrm flipH="1">
            <a:off x="6291904" y="1684400"/>
            <a:ext cx="213360" cy="13220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H="1">
            <a:off x="5430844" y="1684400"/>
            <a:ext cx="658495" cy="9906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730" y="3804285"/>
            <a:ext cx="2425065" cy="1907540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8946152" y="3243944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输卵管</a:t>
            </a:r>
            <a:endParaRPr lang="zh-CN" altLang="en-US" dirty="0"/>
          </a:p>
        </p:txBody>
      </p:sp>
      <p:cxnSp>
        <p:nvCxnSpPr>
          <p:cNvPr id="24" name="直接箭头连接符 23"/>
          <p:cNvCxnSpPr/>
          <p:nvPr/>
        </p:nvCxnSpPr>
        <p:spPr>
          <a:xfrm flipH="1">
            <a:off x="9120194" y="3676395"/>
            <a:ext cx="213360" cy="88963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10215756" y="4128135"/>
            <a:ext cx="180049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中空的管状结构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xit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4410" y="353695"/>
            <a:ext cx="6915785" cy="5284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6218288" y="5649913"/>
            <a:ext cx="269213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ea typeface="等线" panose="02010600030101010101" pitchFamily="2" charset="-122"/>
              </a:rPr>
              <a:t>雄蛔虫横切面</a:t>
            </a:r>
            <a:endParaRPr lang="zh-CN" altLang="en-US" dirty="0">
              <a:ea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7715" y="123190"/>
            <a:ext cx="10515600" cy="87757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600" b="1" dirty="0">
                <a:latin typeface="+mn-ea"/>
                <a:ea typeface="+mn-ea"/>
              </a:rPr>
              <a:t>5</a:t>
            </a:r>
            <a:r>
              <a:rPr lang="zh-CN" altLang="en-US" sz="3600" b="1" dirty="0">
                <a:latin typeface="+mn-ea"/>
                <a:ea typeface="+mn-ea"/>
              </a:rPr>
              <a:t>、</a:t>
            </a:r>
            <a:r>
              <a:rPr lang="zh-CN" altLang="en-US" sz="3600" b="1" dirty="0">
                <a:latin typeface="+mn-ea"/>
                <a:ea typeface="+mn-ea"/>
                <a:sym typeface="+mn-ea"/>
              </a:rPr>
              <a:t>环节动物门：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分节、真体腔</a:t>
            </a:r>
            <a:endParaRPr lang="zh-CN" altLang="en-US" sz="24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67529" y="1473231"/>
            <a:ext cx="5768788" cy="4736005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身体</a:t>
            </a:r>
            <a:r>
              <a:rPr lang="zh-CN" altLang="en-US" sz="2400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出现</a:t>
            </a:r>
            <a:r>
              <a:rPr lang="zh-CN" altLang="en-US" sz="2400" b="1" dirty="0">
                <a:solidFill>
                  <a:srgbClr val="FF000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同律分节</a:t>
            </a:r>
            <a:endParaRPr lang="en-US" altLang="zh-CN" sz="2400" b="1" dirty="0">
              <a:solidFill>
                <a:srgbClr val="FF000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体壁向外延伸成扁平状的疣足</a:t>
            </a:r>
            <a:r>
              <a:rPr lang="en-US" altLang="zh-CN" sz="2400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,</a:t>
            </a:r>
            <a:r>
              <a:rPr lang="zh-CN" altLang="en-US" sz="2400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具刚毛</a:t>
            </a:r>
            <a:endParaRPr lang="en-US" altLang="zh-CN" sz="2400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普遍具有发达的</a:t>
            </a:r>
            <a:r>
              <a:rPr lang="zh-CN" altLang="en-US" sz="2400" b="1" dirty="0">
                <a:solidFill>
                  <a:srgbClr val="FF000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真体腔</a:t>
            </a:r>
            <a:endParaRPr lang="en-US" altLang="zh-CN" sz="2400" b="1" dirty="0">
              <a:solidFill>
                <a:srgbClr val="FF000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闭管式</a:t>
            </a:r>
            <a:r>
              <a:rPr lang="zh-CN" altLang="en-US" sz="2400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循环系统</a:t>
            </a:r>
            <a:endParaRPr lang="en-US" altLang="zh-CN" sz="2400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链状</a:t>
            </a:r>
            <a:r>
              <a:rPr lang="zh-CN" altLang="en-US" sz="2400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神经系统</a:t>
            </a:r>
            <a:endParaRPr lang="en-US" altLang="zh-CN" sz="2400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</a:rPr>
              <a:t>雌雄同体或异体</a:t>
            </a:r>
            <a:endParaRPr lang="en-US" altLang="zh-CN" sz="2400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2400" b="1" dirty="0">
              <a:solidFill>
                <a:srgbClr val="0070C0"/>
              </a:solidFill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9303" y="1632505"/>
            <a:ext cx="3367450" cy="40281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1680" y="259715"/>
            <a:ext cx="10515600" cy="819785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zh-CN" altLang="en-US" sz="3600" dirty="0">
                <a:latin typeface="+mn-ea"/>
                <a:ea typeface="+mn-ea"/>
              </a:rPr>
              <a:t>内部结构显微观察</a:t>
            </a:r>
            <a:r>
              <a:rPr lang="en-US" altLang="zh-CN" sz="3600" dirty="0">
                <a:latin typeface="+mn-ea"/>
                <a:ea typeface="+mn-ea"/>
              </a:rPr>
              <a:t>(</a:t>
            </a:r>
            <a:r>
              <a:rPr lang="zh-CN" altLang="en-US" sz="3600" dirty="0">
                <a:latin typeface="+mn-ea"/>
                <a:ea typeface="+mn-ea"/>
              </a:rPr>
              <a:t>环毛蚓横切片</a:t>
            </a:r>
            <a:r>
              <a:rPr lang="en-US" altLang="zh-CN" sz="3600" dirty="0">
                <a:latin typeface="+mn-ea"/>
                <a:ea typeface="+mn-ea"/>
              </a:rPr>
              <a:t>)</a:t>
            </a:r>
            <a:endParaRPr lang="en-US" altLang="zh-CN" sz="3600" dirty="0">
              <a:latin typeface="+mn-ea"/>
              <a:ea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573405" y="1433195"/>
            <a:ext cx="2802890" cy="43516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体壁：</a:t>
            </a:r>
            <a:r>
              <a:rPr lang="zh-CN" altLang="en-US" sz="2400" dirty="0"/>
              <a:t>上皮细胞、环肌、纵肌、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角质膜、刚毛、壁体腔膜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真体腔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7" name="内容占位符 5"/>
          <p:cNvSpPr txBox="1"/>
          <p:nvPr/>
        </p:nvSpPr>
        <p:spPr>
          <a:xfrm>
            <a:off x="8202295" y="1433195"/>
            <a:ext cx="364236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消化道：</a:t>
            </a:r>
            <a:r>
              <a:rPr lang="zh-CN" altLang="en-US" sz="2400" dirty="0"/>
              <a:t>脏体腔膜、肠道细胞、盲道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背腺（背血管的两侧）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背血管、腹血管、神经下血管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腹神经索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3376295" y="1135380"/>
            <a:ext cx="4601845" cy="5165725"/>
            <a:chOff x="13870" y="2505"/>
            <a:chExt cx="4416" cy="6064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870" y="2505"/>
              <a:ext cx="4416" cy="6064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>
              <a:off x="14011" y="4818"/>
              <a:ext cx="1018" cy="4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b="1" dirty="0"/>
                <a:t>体壁</a:t>
              </a:r>
              <a:endParaRPr lang="zh-CN" altLang="en-US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14895" y="5109"/>
              <a:ext cx="550" cy="8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dirty="0"/>
                <a:t>真体腔</a:t>
              </a:r>
              <a:endParaRPr lang="en-US" altLang="zh-CN" sz="1400" b="1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15509" y="5610"/>
              <a:ext cx="1139" cy="3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b="1" dirty="0"/>
                <a:t>消化道</a:t>
              </a:r>
              <a:endParaRPr lang="zh-CN" altLang="en-US" sz="1400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15645" y="3829"/>
              <a:ext cx="856" cy="3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prstClr val="black"/>
                  </a:solidFill>
                </a:rPr>
                <a:t>血管</a:t>
              </a:r>
              <a:endParaRPr lang="zh-CN" altLang="en-US" sz="1100" b="1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15629" y="7788"/>
              <a:ext cx="1260" cy="5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/>
                <a:t>神经索</a:t>
              </a:r>
              <a:endParaRPr lang="zh-CN" altLang="en-US" sz="16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325" y="1789430"/>
            <a:ext cx="5311140" cy="436753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476762" y="2136616"/>
            <a:ext cx="877163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角质膜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668948" y="3763743"/>
            <a:ext cx="2468880" cy="50673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表皮层：单层上皮组织</a:t>
            </a:r>
            <a:endParaRPr lang="zh-CN" altLang="en-US" b="1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2495" y="2073275"/>
            <a:ext cx="5408930" cy="335153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5879465" y="5116195"/>
            <a:ext cx="1466850" cy="113919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壁体腔膜：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中胚层分化而来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593233" y="2073125"/>
            <a:ext cx="646331" cy="458908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环肌</a:t>
            </a:r>
            <a:endParaRPr lang="en-US" altLang="zh-CN" dirty="0"/>
          </a:p>
        </p:txBody>
      </p:sp>
      <p:sp>
        <p:nvSpPr>
          <p:cNvPr id="12" name="矩形 11"/>
          <p:cNvSpPr/>
          <p:nvPr/>
        </p:nvSpPr>
        <p:spPr>
          <a:xfrm>
            <a:off x="8978245" y="4138365"/>
            <a:ext cx="646331" cy="458908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纵肌</a:t>
            </a:r>
            <a:endParaRPr lang="en-US" altLang="zh-CN" dirty="0"/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1668780" y="3094355"/>
            <a:ext cx="493395" cy="669290"/>
          </a:xfrm>
          <a:prstGeom prst="straightConnector1">
            <a:avLst/>
          </a:prstGeom>
          <a:ln w="12700" cmpd="sng">
            <a:solidFill>
              <a:schemeClr val="bg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11" idx="2"/>
          </p:cNvCxnSpPr>
          <p:nvPr/>
        </p:nvCxnSpPr>
        <p:spPr>
          <a:xfrm flipH="1">
            <a:off x="10501630" y="2532380"/>
            <a:ext cx="414655" cy="58293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6773545" y="4294505"/>
            <a:ext cx="334010" cy="9461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720215" y="77470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 b="1" dirty="0">
                <a:solidFill>
                  <a:srgbClr val="0070C0"/>
                </a:solidFill>
                <a:sym typeface="+mn-ea"/>
              </a:rPr>
              <a:t>（</a:t>
            </a:r>
            <a:r>
              <a:rPr lang="en-US" altLang="zh-CN" sz="3600" b="1" dirty="0">
                <a:solidFill>
                  <a:srgbClr val="0070C0"/>
                </a:solidFill>
                <a:sym typeface="+mn-ea"/>
              </a:rPr>
              <a:t>1</a:t>
            </a:r>
            <a:r>
              <a:rPr lang="zh-CN" altLang="en-US" sz="3600" b="1" dirty="0">
                <a:solidFill>
                  <a:srgbClr val="0070C0"/>
                </a:solidFill>
                <a:sym typeface="+mn-ea"/>
              </a:rPr>
              <a:t>）体壁</a:t>
            </a:r>
            <a:endParaRPr lang="zh-CN" altLang="en-US" sz="3600" b="1" dirty="0">
              <a:solidFill>
                <a:srgbClr val="0070C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8230"/>
          </a:xfrm>
        </p:spPr>
        <p:txBody>
          <a:bodyPr/>
          <a:lstStyle/>
          <a:p>
            <a:pPr algn="ctr"/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）消化道</a:t>
            </a:r>
            <a:endParaRPr lang="zh-CN" altLang="en-US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897120" y="1602740"/>
            <a:ext cx="6438265" cy="48793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80" y="1602926"/>
            <a:ext cx="3552784" cy="487837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835065" y="2734578"/>
            <a:ext cx="640080" cy="36830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盲道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6406515" y="2042691"/>
            <a:ext cx="4330084" cy="3881063"/>
            <a:chOff x="7924" y="744"/>
            <a:chExt cx="6619" cy="5359"/>
          </a:xfrm>
        </p:grpSpPr>
        <p:sp>
          <p:nvSpPr>
            <p:cNvPr id="7" name="矩形 6"/>
            <p:cNvSpPr/>
            <p:nvPr/>
          </p:nvSpPr>
          <p:spPr>
            <a:xfrm>
              <a:off x="7924" y="5594"/>
              <a:ext cx="2472" cy="5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单层柱状上皮</a:t>
              </a:r>
              <a:endParaRPr lang="zh-CN" altLang="en-US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11001" y="3327"/>
              <a:ext cx="1018" cy="5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环肌</a:t>
              </a:r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11780" y="2614"/>
              <a:ext cx="1018" cy="5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纵肌</a:t>
              </a:r>
              <a:endParaRPr lang="zh-CN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12798" y="4112"/>
              <a:ext cx="1745" cy="5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脏体腔膜</a:t>
              </a:r>
              <a:endParaRPr lang="zh-CN" altLang="en-US" dirty="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11704" y="744"/>
              <a:ext cx="1005" cy="5262"/>
              <a:chOff x="7431923" y="472349"/>
              <a:chExt cx="638175" cy="3341659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7565273" y="1078819"/>
                <a:ext cx="266700" cy="255419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7631948" y="472349"/>
                <a:ext cx="342900" cy="360194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7431923" y="1465990"/>
                <a:ext cx="266700" cy="255419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7643988" y="1985177"/>
                <a:ext cx="266700" cy="255419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7631948" y="2563614"/>
                <a:ext cx="266700" cy="255419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7565273" y="2852443"/>
                <a:ext cx="266700" cy="255419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7636978" y="3107862"/>
                <a:ext cx="266700" cy="255419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椭圆 20"/>
              <p:cNvSpPr/>
              <p:nvPr/>
            </p:nvSpPr>
            <p:spPr>
              <a:xfrm>
                <a:off x="7803398" y="3558589"/>
                <a:ext cx="266700" cy="255419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22" name="直接箭头连接符 21"/>
          <p:cNvCxnSpPr/>
          <p:nvPr/>
        </p:nvCxnSpPr>
        <p:spPr>
          <a:xfrm>
            <a:off x="2222092" y="3149918"/>
            <a:ext cx="36830" cy="3473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395605"/>
            <a:ext cx="4418330" cy="606615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218252" y="1506341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背血管</a:t>
            </a:r>
            <a:endParaRPr lang="zh-CN" altLang="en-US" dirty="0"/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3453992" y="1875473"/>
            <a:ext cx="41910" cy="3168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912691" y="2078322"/>
            <a:ext cx="64633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背腺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380168" y="206992"/>
            <a:ext cx="1960880" cy="52197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2800" b="1" dirty="0"/>
              <a:t>血管、神经</a:t>
            </a:r>
            <a:endParaRPr lang="zh-CN" altLang="en-US" sz="2800" b="1" dirty="0"/>
          </a:p>
        </p:txBody>
      </p:sp>
      <p:sp>
        <p:nvSpPr>
          <p:cNvPr id="17" name="矩形 16"/>
          <p:cNvSpPr/>
          <p:nvPr/>
        </p:nvSpPr>
        <p:spPr>
          <a:xfrm>
            <a:off x="2341135" y="4898660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腹血管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4299352" y="5395196"/>
            <a:ext cx="1097280" cy="36830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腹神经索</a:t>
            </a:r>
            <a:endParaRPr lang="zh-CN" altLang="en-US" dirty="0"/>
          </a:p>
        </p:txBody>
      </p:sp>
      <p:cxnSp>
        <p:nvCxnSpPr>
          <p:cNvPr id="3" name="直接箭头连接符 2"/>
          <p:cNvCxnSpPr/>
          <p:nvPr/>
        </p:nvCxnSpPr>
        <p:spPr>
          <a:xfrm>
            <a:off x="3218407" y="5077778"/>
            <a:ext cx="328295" cy="704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stCxn id="18" idx="1"/>
          </p:cNvCxnSpPr>
          <p:nvPr/>
        </p:nvCxnSpPr>
        <p:spPr>
          <a:xfrm flipH="1">
            <a:off x="3961992" y="5578793"/>
            <a:ext cx="337820" cy="50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240" y="1325880"/>
            <a:ext cx="6350000" cy="488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1921" y="154854"/>
            <a:ext cx="10050129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altLang="zh-CN" dirty="0">
                <a:latin typeface="+mj-ea"/>
              </a:rPr>
              <a:t>6</a:t>
            </a:r>
            <a:r>
              <a:rPr lang="zh-CN" altLang="en-US" dirty="0">
                <a:latin typeface="+mj-ea"/>
              </a:rPr>
              <a:t>、脊索动物门</a:t>
            </a:r>
            <a:endParaRPr lang="zh-CN" altLang="en-US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9476" y="1227297"/>
            <a:ext cx="11651267" cy="3686895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脊索：</a:t>
            </a:r>
            <a:r>
              <a:rPr lang="zh-CN" altLang="en-US" sz="2400" b="1" dirty="0">
                <a:solidFill>
                  <a:srgbClr val="FF0000"/>
                </a:solidFill>
              </a:rPr>
              <a:t>消化道和神经管</a:t>
            </a:r>
            <a:r>
              <a:rPr lang="zh-CN" altLang="en-US" sz="2400" dirty="0"/>
              <a:t>之间的棒状结构，具有支撑的作用。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背神经管：</a:t>
            </a:r>
            <a:r>
              <a:rPr lang="zh-CN" altLang="en-US" sz="2400" dirty="0"/>
              <a:t>在脊椎动物亚门分化出</a:t>
            </a:r>
            <a:r>
              <a:rPr lang="zh-CN" altLang="en-US" sz="2400" dirty="0">
                <a:solidFill>
                  <a:srgbClr val="FF0000"/>
                </a:solidFill>
              </a:rPr>
              <a:t>脑和脊髓</a:t>
            </a:r>
            <a:r>
              <a:rPr lang="zh-CN" altLang="en-US" sz="2400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FF0000"/>
                </a:solidFill>
              </a:rPr>
              <a:t>咽鳃裂</a:t>
            </a:r>
            <a:r>
              <a:rPr lang="zh-CN" altLang="en-US" b="1" dirty="0">
                <a:solidFill>
                  <a:srgbClr val="FF0000"/>
                </a:solidFill>
              </a:rPr>
              <a:t>：</a:t>
            </a:r>
            <a:r>
              <a:rPr lang="zh-CN" altLang="en-US" sz="2400" dirty="0"/>
              <a:t>胚胎期都具有，成体有的消失或演化为其他器官，有的保留作为呼吸器官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肛后尾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、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心脏</a:t>
            </a:r>
            <a:r>
              <a:rPr lang="zh-CN" altLang="en-US" sz="2400" b="1" dirty="0">
                <a:solidFill>
                  <a:srgbClr val="0070C0"/>
                </a:solidFill>
              </a:rPr>
              <a:t>位于身体腹面、中胚层形成的内骨骼等。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3413" y="4542317"/>
            <a:ext cx="9191625" cy="1847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4188" y="227093"/>
            <a:ext cx="10515600" cy="1044575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zh-CN" altLang="en-US" sz="4000" b="1" dirty="0"/>
              <a:t>文昌鱼：</a:t>
            </a:r>
            <a:r>
              <a:rPr lang="zh-CN" altLang="en-US" sz="2800" b="1" dirty="0">
                <a:solidFill>
                  <a:srgbClr val="0070C0"/>
                </a:solidFill>
              </a:rPr>
              <a:t>头索动物亚门；无头类；典型的脊索动物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3612" y="1512183"/>
            <a:ext cx="5222889" cy="4387873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70C0"/>
                </a:solidFill>
              </a:rPr>
              <a:t>身体呈鱼形，</a:t>
            </a:r>
            <a:r>
              <a:rPr lang="zh-CN" altLang="en-US" sz="2400" b="1" dirty="0">
                <a:solidFill>
                  <a:srgbClr val="FF0000"/>
                </a:solidFill>
              </a:rPr>
              <a:t>没有明显的头部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口笠、咽鳃裂、肠、肛门、肝盲囊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背神经管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脊索纵贯身体全长</a:t>
            </a:r>
            <a:r>
              <a:rPr lang="zh-CN" altLang="en-US" sz="2400" dirty="0">
                <a:solidFill>
                  <a:srgbClr val="0070C0"/>
                </a:solidFill>
              </a:rPr>
              <a:t>，并且延伸至最前端（背神经管前方）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70C0"/>
                </a:solidFill>
              </a:rPr>
              <a:t> 生殖腺</a:t>
            </a:r>
            <a:endParaRPr lang="en-US" altLang="zh-CN" sz="2400" dirty="0">
              <a:solidFill>
                <a:srgbClr val="0070C0"/>
              </a:solidFill>
            </a:endParaRPr>
          </a:p>
        </p:txBody>
      </p:sp>
      <p:pic>
        <p:nvPicPr>
          <p:cNvPr id="7" name="内容占位符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6501" y="1240478"/>
            <a:ext cx="6401887" cy="493128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820" y="3586533"/>
            <a:ext cx="8474221" cy="29712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059" y="307374"/>
            <a:ext cx="5937986" cy="1107540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内部显微观察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文昌鱼过咽横切片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zh-CN" altLang="en-US" sz="2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1" y="1825625"/>
            <a:ext cx="4741244" cy="4351338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皮肤；背鳍；肌肉；</a:t>
            </a:r>
            <a:endParaRPr lang="en-US" altLang="zh-CN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背神经管；脊索；</a:t>
            </a:r>
            <a:endParaRPr lang="en-US" altLang="zh-CN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围鳃腔</a:t>
            </a:r>
            <a:endParaRPr lang="en-US" altLang="zh-CN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咽；鳃隔；</a:t>
            </a:r>
            <a:endParaRPr lang="en-US" altLang="zh-CN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肝盲囊、生殖腺 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pic>
        <p:nvPicPr>
          <p:cNvPr id="4" name="Picture 1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045" y="107223"/>
            <a:ext cx="4741243" cy="6488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96910" y="365125"/>
            <a:ext cx="5856890" cy="1325563"/>
          </a:xfrm>
        </p:spPr>
        <p:txBody>
          <a:bodyPr/>
          <a:lstStyle/>
          <a:p>
            <a:r>
              <a:rPr lang="zh-CN" altLang="en-US" dirty="0"/>
              <a:t>过肠横切片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09593" y="2004301"/>
            <a:ext cx="3355428" cy="3681796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</a:rPr>
              <a:t>皮肤、背鳍、肌肉</a:t>
            </a:r>
            <a:endParaRPr lang="en-US" altLang="zh-CN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</a:rPr>
              <a:t>背神经管、脊索</a:t>
            </a:r>
            <a:endParaRPr lang="en-US" altLang="zh-CN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</a:rPr>
              <a:t>围鳃腔</a:t>
            </a:r>
            <a:endParaRPr lang="en-US" altLang="zh-CN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</a:rPr>
              <a:t>后肠</a:t>
            </a:r>
            <a:endParaRPr lang="en-US" altLang="zh-CN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</a:rPr>
              <a:t>性腺</a:t>
            </a:r>
            <a:endParaRPr lang="zh-CN" altLang="en-US" dirty="0">
              <a:solidFill>
                <a:srgbClr val="0070C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640" y="707116"/>
            <a:ext cx="4134507" cy="544376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280311" y="6058786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腹血管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zh-CN" altLang="en-US" sz="3600" b="1" dirty="0">
                <a:solidFill>
                  <a:srgbClr val="0070C0"/>
                </a:solidFill>
                <a:ea typeface="等线" panose="02010600030101010101" pitchFamily="2" charset="-122"/>
              </a:rPr>
              <a:t>绘制</a:t>
            </a:r>
            <a:r>
              <a:rPr lang="en-US" altLang="zh-CN" sz="3600" b="1" dirty="0">
                <a:solidFill>
                  <a:srgbClr val="0070C0"/>
                </a:solidFill>
                <a:ea typeface="等线" panose="02010600030101010101" pitchFamily="2" charset="-122"/>
              </a:rPr>
              <a:t>2</a:t>
            </a:r>
            <a:r>
              <a:rPr lang="zh-CN" altLang="en-US" sz="3600" b="1" dirty="0">
                <a:solidFill>
                  <a:srgbClr val="0070C0"/>
                </a:solidFill>
                <a:ea typeface="等线" panose="02010600030101010101" pitchFamily="2" charset="-122"/>
              </a:rPr>
              <a:t>幅动物结构图（标注各结构名称）</a:t>
            </a:r>
            <a:endParaRPr lang="en-US" altLang="zh-CN" sz="3600" b="1" dirty="0">
              <a:solidFill>
                <a:srgbClr val="0070C0"/>
              </a:solidFill>
              <a:ea typeface="等线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600" dirty="0">
                <a:solidFill>
                  <a:srgbClr val="0070C0"/>
                </a:solidFill>
                <a:ea typeface="等线" panose="02010600030101010101" pitchFamily="2" charset="-122"/>
              </a:rPr>
              <a:t>铅笔绘图 实验报告专用纸</a:t>
            </a:r>
            <a:endParaRPr lang="en-US" altLang="zh-CN" sz="3600" dirty="0">
              <a:solidFill>
                <a:srgbClr val="0070C0"/>
              </a:solidFill>
              <a:ea typeface="等线" panose="02010600030101010101" pitchFamily="2" charset="-122"/>
            </a:endParaRPr>
          </a:p>
          <a:p>
            <a:pPr marL="0" indent="0">
              <a:lnSpc>
                <a:spcPct val="200000"/>
              </a:lnSpc>
              <a:buNone/>
            </a:pPr>
            <a:endParaRPr lang="en-US" altLang="zh-CN" sz="3600" dirty="0">
              <a:solidFill>
                <a:srgbClr val="0070C0"/>
              </a:solidFill>
              <a:ea typeface="等线" panose="02010600030101010101" pitchFamily="2" charset="-122"/>
            </a:endParaRPr>
          </a:p>
          <a:p>
            <a:pPr>
              <a:lnSpc>
                <a:spcPct val="200000"/>
              </a:lnSpc>
            </a:pPr>
            <a:endParaRPr lang="zh-CN" altLang="en-US" sz="36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COMMONDATA" val="eyJoZGlkIjoiZjliY2UwMDMxMzY0ZTI2M2Q3MjliMDRlNTNiODAwOGQifQ=="/>
</p:tagLst>
</file>

<file path=ppt/theme/theme1.xml><?xml version="1.0" encoding="utf-8"?>
<a:theme xmlns:a="http://schemas.openxmlformats.org/drawingml/2006/main" name="Office 主题​​">
  <a:themeElements>
    <a:clrScheme name="梦幻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C93B3"/>
      </a:accent1>
      <a:accent2>
        <a:srgbClr val="FABFC1"/>
      </a:accent2>
      <a:accent3>
        <a:srgbClr val="FEDFCB"/>
      </a:accent3>
      <a:accent4>
        <a:srgbClr val="C4D99E"/>
      </a:accent4>
      <a:accent5>
        <a:srgbClr val="F0E9B3"/>
      </a:accent5>
      <a:accent6>
        <a:srgbClr val="FABFC1"/>
      </a:accent6>
      <a:hlink>
        <a:srgbClr val="0563C1"/>
      </a:hlink>
      <a:folHlink>
        <a:srgbClr val="954F72"/>
      </a:folHlink>
    </a:clrScheme>
    <a:fontScheme name="自定义 3">
      <a:majorFont>
        <a:latin typeface="Impact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2232</Words>
  <Application>WPS 演示</Application>
  <PresentationFormat>宽屏</PresentationFormat>
  <Paragraphs>381</Paragraphs>
  <Slides>40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0" baseType="lpstr">
      <vt:lpstr>Arial</vt:lpstr>
      <vt:lpstr>宋体</vt:lpstr>
      <vt:lpstr>Wingdings</vt:lpstr>
      <vt:lpstr>微软雅黑</vt:lpstr>
      <vt:lpstr>华光楷体_CNKI</vt:lpstr>
      <vt:lpstr>等线</vt:lpstr>
      <vt:lpstr>Arial Unicode MS</vt:lpstr>
      <vt:lpstr>Impact</vt:lpstr>
      <vt:lpstr>Calibri</vt:lpstr>
      <vt:lpstr>Office 主题​​</vt:lpstr>
      <vt:lpstr>PowerPoint 演示文稿</vt:lpstr>
      <vt:lpstr>实验目的：</vt:lpstr>
      <vt:lpstr>PowerPoint 演示文稿</vt:lpstr>
      <vt:lpstr>显微镜使用方法</vt:lpstr>
      <vt:lpstr>PowerPoint 演示文稿</vt:lpstr>
      <vt:lpstr>1、原生动物门</vt:lpstr>
      <vt:lpstr>（1）鞭毛虫纲：绿眼虫</vt:lpstr>
      <vt:lpstr>（2）纤毛虫纲：草履虫</vt:lpstr>
      <vt:lpstr>有性生殖：接合生殖 </vt:lpstr>
      <vt:lpstr>2、两胚层辐射对称的动物： 腔肠动物门</vt:lpstr>
      <vt:lpstr>内部结构(水螅纵、横切片)</vt:lpstr>
      <vt:lpstr>PowerPoint 演示文稿</vt:lpstr>
      <vt:lpstr>PowerPoint 演示文稿</vt:lpstr>
      <vt:lpstr>PowerPoint 演示文稿</vt:lpstr>
      <vt:lpstr>3、三胚层无体腔动物-----扁形动物门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4、具有假体腔的动物: 线虫动物门</vt:lpstr>
      <vt:lpstr>内部显微结构(蛔虫横切片)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5、分节的真体腔原口动物: 环节动物门</vt:lpstr>
      <vt:lpstr>内部结构显微观察(环毛蚓横切片)</vt:lpstr>
      <vt:lpstr>PowerPoint 演示文稿</vt:lpstr>
      <vt:lpstr>PowerPoint 演示文稿</vt:lpstr>
      <vt:lpstr>PowerPoint 演示文稿</vt:lpstr>
      <vt:lpstr>6、脊索动物门</vt:lpstr>
      <vt:lpstr>文昌鱼：头索动物亚门；无头类；典型的脊索动物</vt:lpstr>
      <vt:lpstr>内部显微观察(文昌鱼过咽横切片)</vt:lpstr>
      <vt:lpstr>过肠横切片</vt:lpstr>
      <vt:lpstr>作业：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赵燕</cp:lastModifiedBy>
  <cp:revision>180</cp:revision>
  <dcterms:created xsi:type="dcterms:W3CDTF">2017-07-06T23:52:00Z</dcterms:created>
  <dcterms:modified xsi:type="dcterms:W3CDTF">2025-12-15T08:14:31Z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0E88EF59DDAF4108A40B4BD28395023C_13</vt:lpwstr>
  </property>
</Properties>
</file>