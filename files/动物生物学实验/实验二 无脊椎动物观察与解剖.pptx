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9"/>
  </p:notesMasterIdLst>
  <p:sldIdLst>
    <p:sldId id="256" r:id="rId5"/>
    <p:sldId id="257" r:id="rId6"/>
    <p:sldId id="258" r:id="rId7"/>
    <p:sldId id="421" r:id="rId8"/>
    <p:sldId id="277" r:id="rId10"/>
    <p:sldId id="400" r:id="rId11"/>
    <p:sldId id="399" r:id="rId12"/>
    <p:sldId id="372" r:id="rId13"/>
    <p:sldId id="371" r:id="rId14"/>
    <p:sldId id="269" r:id="rId15"/>
    <p:sldId id="370" r:id="rId16"/>
    <p:sldId id="403" r:id="rId17"/>
    <p:sldId id="305" r:id="rId18"/>
    <p:sldId id="306" r:id="rId19"/>
    <p:sldId id="272" r:id="rId20"/>
    <p:sldId id="273" r:id="rId21"/>
    <p:sldId id="274" r:id="rId22"/>
    <p:sldId id="327" r:id="rId23"/>
    <p:sldId id="328" r:id="rId24"/>
    <p:sldId id="329" r:id="rId25"/>
    <p:sldId id="330" r:id="rId26"/>
    <p:sldId id="337" r:id="rId27"/>
    <p:sldId id="377" r:id="rId28"/>
    <p:sldId id="276" r:id="rId29"/>
    <p:sldId id="271" r:id="rId30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33" autoAdjust="0"/>
  </p:normalViewPr>
  <p:slideViewPr>
    <p:cSldViewPr showGuides="1">
      <p:cViewPr varScale="1">
        <p:scale>
          <a:sx n="57" d="100"/>
          <a:sy n="57" d="100"/>
        </p:scale>
        <p:origin x="1540" y="3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4" Type="http://schemas.openxmlformats.org/officeDocument/2006/relationships/tags" Target="tags/tag154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7BEF4-C28A-4210-956B-601CC84861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ED7A2-534C-461A-9214-2949995587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环节动物和软体动物共同起源于类似扁形动物的祖先。软体动物与环节动物在进化上是平行的关系，软体动物向较不活动的方向发展，为了适应这种生活方式，体腔产生了退化。</a:t>
            </a:r>
            <a:endParaRPr lang="zh-CN" altLang="en-US" dirty="0"/>
          </a:p>
          <a:p>
            <a:r>
              <a:rPr lang="zh-CN" altLang="en-US" dirty="0"/>
              <a:t>真体腔</a:t>
            </a:r>
            <a:r>
              <a:rPr lang="zh-CN" altLang="en-US" b="1" dirty="0">
                <a:solidFill>
                  <a:srgbClr val="0070C0"/>
                </a:solidFill>
                <a:latin typeface="华文楷体" panose="02010600040101010101" pitchFamily="2" charset="-122"/>
                <a:sym typeface="+mn-ea"/>
              </a:rPr>
              <a:t>仅残留</a:t>
            </a:r>
            <a:r>
              <a:rPr lang="zh-CN" altLang="en-US" b="1" dirty="0">
                <a:latin typeface="华文楷体" panose="02010600040101010101" pitchFamily="2" charset="-122"/>
                <a:sym typeface="+mn-ea"/>
              </a:rPr>
              <a:t>围心腔及生殖腺和排泄器官的内腔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二鳃亚纲：</a:t>
            </a:r>
            <a:r>
              <a:rPr lang="en-US" altLang="zh-CN"/>
              <a:t>1</a:t>
            </a:r>
            <a:r>
              <a:rPr lang="zh-CN" altLang="en-US"/>
              <a:t>对鳃、心耳、肾，八腕目。足特化成腕与漏斗</a:t>
            </a:r>
            <a:endParaRPr lang="zh-CN" altLang="en-US"/>
          </a:p>
          <a:p>
            <a:r>
              <a:rPr lang="zh-CN" altLang="en-US"/>
              <a:t>在章鱼嘴部（也就是八条腕足中间那个像鹦鹉喙一样的硬质角质颚后方）。当章鱼用坚硬的喙把食物咬碎或撕裂后，这条灵活的齿舌就会像微型挖掘机或锉刀一样伸出来，帮助它刮取和输送食物。现代章鱼每排齿舌通常只有 7颗或9颗 牙齿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外套腔</a:t>
            </a:r>
            <a:r>
              <a:rPr lang="en-US" altLang="zh-CN"/>
              <a:t> mantle cavity  </a:t>
            </a:r>
            <a:r>
              <a:rPr lang="zh-CN" altLang="en-US"/>
              <a:t>盲肠</a:t>
            </a:r>
            <a:r>
              <a:rPr lang="en-US" altLang="zh-CN"/>
              <a:t>cecum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节肢动物是由环节动物进化而来。</a:t>
            </a:r>
            <a:endParaRPr lang="zh-CN" altLang="en-US" dirty="0"/>
          </a:p>
          <a:p>
            <a:r>
              <a:rPr lang="zh-CN" altLang="en-US" dirty="0"/>
              <a:t>异律分节:是指身体各个体节的形态结构差别明显，不同部位的体节完成不同的功能，內脏器官也集中在一定体节内。身体分节又分区的现象，使身体的结构变得更加复杂，提高了对环境的适应能力。</a:t>
            </a:r>
            <a:endParaRPr lang="zh-CN" altLang="en-US" dirty="0"/>
          </a:p>
          <a:p>
            <a:r>
              <a:rPr lang="zh-CN" altLang="en-US" dirty="0"/>
              <a:t>附肢分节，大大提高了动物运动的灵敏度，使运动效率更高。</a:t>
            </a:r>
            <a:endParaRPr lang="zh-CN" altLang="en-US" dirty="0"/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开放式循环系统的意义</a:t>
            </a:r>
            <a:r>
              <a:rPr lang="zh-CN" altLang="en-US">
                <a:sym typeface="+mn-ea"/>
              </a:rPr>
              <a:t>:由于血液在血管和血腔中运行，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血压较低，</a:t>
            </a:r>
            <a:r>
              <a:rPr lang="zh-CN" altLang="en-US">
                <a:sym typeface="+mn-ea"/>
              </a:rPr>
              <a:t>可避免因断肢等的大量失血。</a:t>
            </a:r>
            <a:endParaRPr lang="zh-CN" altLang="en-US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头部：</a:t>
            </a:r>
            <a:r>
              <a:rPr lang="en-US" altLang="zh-CN" dirty="0"/>
              <a:t>2</a:t>
            </a:r>
            <a:r>
              <a:rPr lang="zh-CN" altLang="en-US" dirty="0"/>
              <a:t>对触角</a:t>
            </a:r>
            <a:r>
              <a:rPr lang="en-US" altLang="zh-CN" dirty="0"/>
              <a:t>+1</a:t>
            </a:r>
            <a:r>
              <a:rPr lang="zh-CN" altLang="en-US" dirty="0"/>
              <a:t>对大颚</a:t>
            </a:r>
            <a:r>
              <a:rPr lang="en-US" altLang="zh-CN" dirty="0"/>
              <a:t>+2</a:t>
            </a:r>
            <a:r>
              <a:rPr lang="zh-CN" altLang="en-US" dirty="0"/>
              <a:t>对小颚，第二小颚称颚舟片，可划动水流辅助呼吸。</a:t>
            </a:r>
            <a:endParaRPr lang="zh-CN" altLang="en-US" dirty="0"/>
          </a:p>
          <a:p>
            <a:r>
              <a:rPr lang="zh-CN" altLang="en-US" dirty="0"/>
              <a:t>胸部附肢</a:t>
            </a:r>
            <a:r>
              <a:rPr lang="en-US" altLang="zh-CN" dirty="0"/>
              <a:t>8</a:t>
            </a:r>
            <a:r>
              <a:rPr lang="zh-CN" altLang="en-US" dirty="0"/>
              <a:t>对，</a:t>
            </a:r>
            <a:r>
              <a:rPr lang="en-US" altLang="zh-CN" dirty="0"/>
              <a:t>3</a:t>
            </a:r>
            <a:r>
              <a:rPr lang="zh-CN" altLang="en-US" dirty="0"/>
              <a:t>对颚足</a:t>
            </a:r>
            <a:r>
              <a:rPr lang="en-US" altLang="zh-CN" dirty="0"/>
              <a:t>+5</a:t>
            </a:r>
            <a:r>
              <a:rPr lang="zh-CN" altLang="en-US" dirty="0"/>
              <a:t>对步足。</a:t>
            </a:r>
            <a:r>
              <a:rPr lang="en-US" altLang="zh-CN" dirty="0"/>
              <a:t>3</a:t>
            </a:r>
            <a:r>
              <a:rPr lang="zh-CN" altLang="en-US" dirty="0"/>
              <a:t>对颚足参与形成口器。</a:t>
            </a:r>
            <a:r>
              <a:rPr lang="en-US" altLang="zh-CN" dirty="0"/>
              <a:t>5</a:t>
            </a:r>
            <a:r>
              <a:rPr lang="zh-CN" altLang="en-US" dirty="0"/>
              <a:t>对步足：前</a:t>
            </a:r>
            <a:r>
              <a:rPr lang="en-US" altLang="zh-CN" dirty="0"/>
              <a:t>2</a:t>
            </a:r>
            <a:r>
              <a:rPr lang="zh-CN" altLang="en-US" dirty="0"/>
              <a:t>对末端呈钳状，后</a:t>
            </a:r>
            <a:r>
              <a:rPr lang="en-US" altLang="zh-CN" dirty="0"/>
              <a:t>3</a:t>
            </a:r>
            <a:r>
              <a:rPr lang="zh-CN" altLang="en-US" dirty="0"/>
              <a:t>对末端爪状。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ED7A2-534C-461A-9214-2949995587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后肾管：由肾口、排泄管、肾孔组成，一般肾口开口于体内，肾孔开口于体外，如环节动物。</a:t>
            </a:r>
            <a:endParaRPr lang="zh-CN" altLang="en-US" dirty="0"/>
          </a:p>
          <a:p>
            <a:r>
              <a:rPr lang="zh-CN" altLang="en-US" dirty="0"/>
              <a:t>小龙虾绿腺的端囊是</a:t>
            </a:r>
            <a:r>
              <a:rPr lang="zh-CN" altLang="en-US" dirty="0">
                <a:sym typeface="+mn-ea"/>
              </a:rPr>
              <a:t>残留的</a:t>
            </a:r>
            <a:r>
              <a:rPr lang="zh-CN" altLang="en-US" dirty="0"/>
              <a:t>真体腔，腺体部与之相连，可以看作开口于真体腔。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8" Type="http://schemas.openxmlformats.org/officeDocument/2006/relationships/theme" Target="../theme/theme3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2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image" Target="../media/image4.png"/><Relationship Id="rId1" Type="http://schemas.openxmlformats.org/officeDocument/2006/relationships/tags" Target="../tags/tag1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tags" Target="../tags/tag136.xml"/><Relationship Id="rId4" Type="http://schemas.openxmlformats.org/officeDocument/2006/relationships/image" Target="../media/image12.png"/><Relationship Id="rId3" Type="http://schemas.openxmlformats.org/officeDocument/2006/relationships/tags" Target="../tags/tag135.xml"/><Relationship Id="rId2" Type="http://schemas.openxmlformats.org/officeDocument/2006/relationships/image" Target="../media/image11.png"/><Relationship Id="rId1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Relationship Id="rId3" Type="http://schemas.microsoft.com/office/2007/relationships/hdphoto" Target="../media/image15.wdp"/><Relationship Id="rId2" Type="http://schemas.openxmlformats.org/officeDocument/2006/relationships/image" Target="../media/image14.png"/><Relationship Id="rId1" Type="http://schemas.openxmlformats.org/officeDocument/2006/relationships/tags" Target="../tags/tag1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microsoft.com/office/2007/relationships/hdphoto" Target="../media/image17.wdp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microsoft.com/office/2007/relationships/hdphoto" Target="../media/image19.wdp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1.wdp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tags" Target="../tags/tag140.xml"/><Relationship Id="rId2" Type="http://schemas.openxmlformats.org/officeDocument/2006/relationships/image" Target="../media/image22.png"/><Relationship Id="rId1" Type="http://schemas.openxmlformats.org/officeDocument/2006/relationships/tags" Target="../tags/tag13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14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tags" Target="../tags/tag143.xml"/><Relationship Id="rId2" Type="http://schemas.openxmlformats.org/officeDocument/2006/relationships/image" Target="../media/image25.png"/><Relationship Id="rId1" Type="http://schemas.openxmlformats.org/officeDocument/2006/relationships/tags" Target="../tags/tag14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image" Target="../media/image27.png"/><Relationship Id="rId1" Type="http://schemas.openxmlformats.org/officeDocument/2006/relationships/tags" Target="../tags/tag14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tags" Target="../tags/tag149.xml"/><Relationship Id="rId4" Type="http://schemas.openxmlformats.org/officeDocument/2006/relationships/image" Target="../media/image31.jpeg"/><Relationship Id="rId3" Type="http://schemas.openxmlformats.org/officeDocument/2006/relationships/tags" Target="../tags/tag148.xml"/><Relationship Id="rId2" Type="http://schemas.openxmlformats.org/officeDocument/2006/relationships/image" Target="../media/image30.jpeg"/><Relationship Id="rId1" Type="http://schemas.openxmlformats.org/officeDocument/2006/relationships/tags" Target="../tags/tag14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tags" Target="../tags/tag152.xml"/><Relationship Id="rId4" Type="http://schemas.openxmlformats.org/officeDocument/2006/relationships/image" Target="../media/image34.png"/><Relationship Id="rId3" Type="http://schemas.openxmlformats.org/officeDocument/2006/relationships/tags" Target="../tags/tag151.xml"/><Relationship Id="rId2" Type="http://schemas.openxmlformats.org/officeDocument/2006/relationships/image" Target="../media/image33.png"/><Relationship Id="rId1" Type="http://schemas.openxmlformats.org/officeDocument/2006/relationships/tags" Target="../tags/tag150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1.png"/><Relationship Id="rId6" Type="http://schemas.openxmlformats.org/officeDocument/2006/relationships/tags" Target="../tags/tag153.xml"/><Relationship Id="rId5" Type="http://schemas.microsoft.com/office/2007/relationships/hdphoto" Target="../media/image40.wdp"/><Relationship Id="rId4" Type="http://schemas.openxmlformats.org/officeDocument/2006/relationships/image" Target="../media/image39.png"/><Relationship Id="rId3" Type="http://schemas.microsoft.com/office/2007/relationships/hdphoto" Target="../media/image38.wdp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05" y="2277110"/>
            <a:ext cx="7772400" cy="10572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br>
              <a:rPr lang="en-US" altLang="zh-CN" b="1" dirty="0">
                <a:solidFill>
                  <a:srgbClr val="11111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br>
              <a:rPr lang="en-US" altLang="zh-CN" b="1" dirty="0">
                <a:solidFill>
                  <a:srgbClr val="11111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zh-CN" altLang="en-US" b="1" dirty="0">
                <a:solidFill>
                  <a:srgbClr val="11111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实验二：</a:t>
            </a:r>
            <a:r>
              <a:rPr lang="zh-CN" altLang="en-US" b="1" dirty="0">
                <a:solidFill>
                  <a:srgbClr val="11111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无脊椎动物观察解剖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实验目的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789" y="1988958"/>
            <a:ext cx="8229600" cy="310397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sym typeface="+mn-ea"/>
              </a:rPr>
              <a:t>通过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观察和</a:t>
            </a:r>
            <a:r>
              <a:rPr lang="zh-CN" altLang="en-US" dirty="0" smtClean="0">
                <a:latin typeface="黑体" panose="02010609060101010101" charset="-122"/>
                <a:ea typeface="黑体" panose="02010609060101010101" charset="-122"/>
              </a:rPr>
              <a:t>解剖章鱼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，掌握软体动物门的主要特征；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通过观察和解剖小龙虾，掌握节肢动物门的主要特征。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实验材料与器材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实验材料：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章鱼、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克氏原螯虾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实验器材：</a:t>
            </a:r>
            <a:endParaRPr lang="en-US" altLang="zh-CN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解剖剪、手术刀、解剖盘、镊子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50" y="116840"/>
            <a:ext cx="9043035" cy="1715770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软体动物门</a:t>
            </a:r>
            <a:b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真体腔不分节的动物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725" y="1988820"/>
            <a:ext cx="8319135" cy="4123055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具有三胚层和中胚层形成的不发达的真体腔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身体分为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头、足、内脏团和外套膜、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贝壳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出现了专门的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呼吸器官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真体腔极度退化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仅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围心腔及生殖腺和排泄器官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的内腔。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开管式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后肾管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型排泄系统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脑</a:t>
            </a: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足</a:t>
            </a: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侧</a:t>
            </a: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神经节；头足类：软骨包围的脑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海产种类：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担轮幼虫和面盘幼虫；</a:t>
            </a: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淡水种类：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钩介幼虫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0668"/>
            <a:ext cx="8229600" cy="1143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/>
              <a:t>章鱼的解剖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930" y="1412875"/>
            <a:ext cx="5981700" cy="4286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0570" y="1946910"/>
            <a:ext cx="593090" cy="3844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>
                <a:sym typeface="+mn-ea"/>
              </a:rPr>
              <a:t>外部形态观察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内部构造观察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9795" y="1484630"/>
            <a:ext cx="6659880" cy="47669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64070" y="3573145"/>
            <a:ext cx="11899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胃盲肠</a:t>
            </a:r>
            <a:endParaRPr lang="zh-CN" altLang="en-US" sz="12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88125" y="1844675"/>
            <a:ext cx="8788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肝脏</a:t>
            </a:r>
            <a:endParaRPr lang="zh-CN" altLang="en-US" sz="12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20180" y="4509135"/>
            <a:ext cx="6438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肾脏</a:t>
            </a:r>
            <a:endParaRPr lang="zh-CN" altLang="en-US" sz="12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2270" y="4846320"/>
            <a:ext cx="7848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鳃心</a:t>
            </a:r>
            <a:endParaRPr lang="zh-CN" altLang="en-US" sz="1200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7236460" y="3284855"/>
            <a:ext cx="3784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胃</a:t>
            </a:r>
            <a:endParaRPr lang="zh-CN" altLang="en-US" sz="1200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948170" y="3896995"/>
            <a:ext cx="7848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性腺</a:t>
            </a:r>
            <a:endParaRPr lang="zh-CN" altLang="en-US" sz="12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8170" y="2132965"/>
            <a:ext cx="10077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sym typeface="+mn-ea"/>
              </a:rPr>
              <a:t>外套腔</a:t>
            </a:r>
            <a:r>
              <a:rPr lang="en-US" altLang="zh-CN" sz="1400">
                <a:sym typeface="+mn-ea"/>
              </a:rPr>
              <a:t> </a:t>
            </a:r>
            <a:endParaRPr lang="en-US" altLang="zh-CN" sz="140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71775" y="5877560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>
                <a:sym typeface="+mn-ea"/>
              </a:rPr>
              <a:t>肌肉质的隔膜</a:t>
            </a:r>
            <a:endParaRPr lang="zh-CN" altLang="en-US" sz="10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60065" y="4940935"/>
            <a:ext cx="6438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>
                <a:sym typeface="+mn-ea"/>
              </a:rPr>
              <a:t>肛门</a:t>
            </a:r>
            <a:endParaRPr lang="zh-CN" altLang="en-US" sz="12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67585" y="2708910"/>
            <a:ext cx="5518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sym typeface="+mn-ea"/>
              </a:rPr>
              <a:t>漏斗</a:t>
            </a:r>
            <a:endParaRPr lang="zh-CN" altLang="en-US" sz="14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92315" y="4172585"/>
            <a:ext cx="6426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sym typeface="+mn-ea"/>
              </a:rPr>
              <a:t>心脏</a:t>
            </a:r>
            <a:endParaRPr lang="zh-CN" altLang="en-US" sz="1400"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7379970" y="2509520"/>
            <a:ext cx="1007745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400">
                <a:sym typeface="+mn-ea"/>
              </a:rPr>
              <a:t>外套</a:t>
            </a:r>
            <a:r>
              <a:rPr lang="zh-CN" sz="1400">
                <a:sym typeface="+mn-ea"/>
              </a:rPr>
              <a:t>膜肌</a:t>
            </a:r>
            <a:endParaRPr lang="zh-CN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1" y="274638"/>
            <a:ext cx="5967479" cy="601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6863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    </a:t>
            </a:r>
            <a:endParaRPr lang="zh-CN" altLang="en-US" sz="2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683895" y="1700530"/>
            <a:ext cx="5600700" cy="3562350"/>
            <a:chOff x="5159" y="4493"/>
            <a:chExt cx="8820" cy="561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7" y="4493"/>
              <a:ext cx="6213" cy="5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" name="直接连接符 5"/>
            <p:cNvCxnSpPr/>
            <p:nvPr/>
          </p:nvCxnSpPr>
          <p:spPr>
            <a:xfrm>
              <a:off x="6220" y="5854"/>
              <a:ext cx="317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324" y="5563"/>
              <a:ext cx="947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肝</a:t>
              </a:r>
              <a:endParaRPr lang="zh-CN" altLang="en-US" dirty="0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6220" y="6761"/>
              <a:ext cx="4427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159" y="6430"/>
              <a:ext cx="1134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直肠</a:t>
              </a:r>
              <a:endParaRPr lang="zh-CN" altLang="en-US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220" y="7895"/>
              <a:ext cx="415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197" y="7604"/>
              <a:ext cx="1134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墨囊</a:t>
              </a:r>
              <a:endParaRPr lang="zh-CN" altLang="en-US" dirty="0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消化系统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 descr="D:\教学\课程\动物学\动物学实验\资料\实验二 无脊椎动物观察解剖\微信图片_202105170813487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4430268" cy="590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3526"/>
            <a:ext cx="441007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2771800" y="3429000"/>
            <a:ext cx="115212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95936" y="324433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口球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843808" y="3933056"/>
            <a:ext cx="1008112" cy="3193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95936" y="411772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唾液腺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876256" y="4046173"/>
            <a:ext cx="115212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28384" y="386150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肠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7236296" y="3614139"/>
            <a:ext cx="79208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5971" y="342947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肝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6876256" y="4797152"/>
            <a:ext cx="115212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6437" y="461248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胃</a:t>
            </a:r>
            <a:endParaRPr lang="zh-CN" altLang="en-US" dirty="0"/>
          </a:p>
        </p:txBody>
      </p:sp>
      <p:cxnSp>
        <p:nvCxnSpPr>
          <p:cNvPr id="19" name="直接连接符 18"/>
          <p:cNvCxnSpPr/>
          <p:nvPr/>
        </p:nvCxnSpPr>
        <p:spPr>
          <a:xfrm>
            <a:off x="7069698" y="4921616"/>
            <a:ext cx="958686" cy="1846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4916" y="498181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胃盲囊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2699792" y="3748390"/>
            <a:ext cx="122413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88634" y="361366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食管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68632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开管式循环系统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呼吸、循环</a:t>
            </a:r>
            <a:r>
              <a:rPr lang="zh-CN" dirty="0">
                <a:solidFill>
                  <a:srgbClr val="FF0000"/>
                </a:solidFill>
              </a:rPr>
              <a:t>、</a:t>
            </a:r>
            <a:r>
              <a:rPr lang="zh-CN" altLang="en-US" dirty="0">
                <a:solidFill>
                  <a:srgbClr val="FF0000"/>
                </a:solidFill>
              </a:rPr>
              <a:t>排泄系统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2" descr="D:\教学\课程\动物学\动物学实验\资料\实验二 无脊椎动物观察解剖\微信图片_202105170813481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2" t="44540" r="16526"/>
          <a:stretch>
            <a:fillRect/>
          </a:stretch>
        </p:blipFill>
        <p:spPr bwMode="auto">
          <a:xfrm>
            <a:off x="3635895" y="1484903"/>
            <a:ext cx="4325789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3131840" y="4797524"/>
            <a:ext cx="1944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83264" y="4509353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dirty="0"/>
              <a:t>鳃心</a:t>
            </a:r>
            <a:endParaRPr lang="zh-CN" altLang="en-US" dirty="0"/>
          </a:p>
        </p:txBody>
      </p:sp>
      <p:sp>
        <p:nvSpPr>
          <p:cNvPr id="4" name="TextBox 6"/>
          <p:cNvSpPr txBox="1"/>
          <p:nvPr>
            <p:custDataLst>
              <p:tags r:id="rId2"/>
            </p:custDataLst>
          </p:nvPr>
        </p:nvSpPr>
        <p:spPr>
          <a:xfrm>
            <a:off x="2700020" y="4074160"/>
            <a:ext cx="864235" cy="372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/>
            <a:r>
              <a:rPr lang="zh-CN" altLang="en-US" dirty="0"/>
              <a:t>鳃</a:t>
            </a:r>
            <a:endParaRPr lang="zh-CN" altLang="en-US" dirty="0"/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3131840" y="4293334"/>
            <a:ext cx="1656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483485" y="4797425"/>
            <a:ext cx="744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肾脏</a:t>
            </a: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3131840" y="4932779"/>
            <a:ext cx="201612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2760" y="1124585"/>
            <a:ext cx="8229600" cy="96329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 2" panose="05020102010507070707" pitchFamily="18" charset="2"/>
              <a:buChar char=""/>
            </a:pPr>
            <a:r>
              <a:rPr lang="zh-CN" altLang="en-US" sz="2800" dirty="0">
                <a:solidFill>
                  <a:srgbClr val="FF0000"/>
                </a:solidFill>
              </a:rPr>
              <a:t>生殖系统：</a:t>
            </a:r>
            <a:r>
              <a:rPr lang="zh-CN" altLang="en-US" sz="2800" dirty="0"/>
              <a:t>卵巢（半透明，微黄的卵粒）、输卵管；精巢（丝状，不透明）、输精管、贮精囊</a:t>
            </a:r>
            <a:endParaRPr lang="en-US" altLang="zh-CN" sz="2800" dirty="0"/>
          </a:p>
          <a:p>
            <a:pPr>
              <a:buFont typeface="Wingdings 2" panose="05020102010507070707" pitchFamily="18" charset="2"/>
              <a:buChar char=""/>
            </a:pP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00898" y="522949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卵巢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171990" y="439134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输卵管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71550" y="2493010"/>
            <a:ext cx="7129145" cy="3449320"/>
            <a:chOff x="1757" y="5173"/>
            <a:chExt cx="11227" cy="5432"/>
          </a:xfrm>
        </p:grpSpPr>
        <p:pic>
          <p:nvPicPr>
            <p:cNvPr id="2050" name="Picture 2" descr="D:\教学\课程\动物学\动物学实验\资料\实验二 无脊椎动物观察解剖\微信图片_202105170813481.jp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62" t="44540" r="16526"/>
            <a:stretch>
              <a:fillRect/>
            </a:stretch>
          </p:blipFill>
          <p:spPr bwMode="auto">
            <a:xfrm>
              <a:off x="1757" y="5173"/>
              <a:ext cx="5083" cy="5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直接连接符 4"/>
            <p:cNvCxnSpPr/>
            <p:nvPr/>
          </p:nvCxnSpPr>
          <p:spPr>
            <a:xfrm>
              <a:off x="5045" y="8462"/>
              <a:ext cx="238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7427" y="8110"/>
              <a:ext cx="1701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鳃</a:t>
              </a:r>
              <a:endParaRPr lang="zh-CN" altLang="en-US" dirty="0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4458" y="9709"/>
              <a:ext cx="296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051" name="Picture 3" descr="D:\教学\课程\动物学\动物学实验\资料\实验二 无脊椎动物观察解剖\微信图片_202105170813484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13" t="51933" r="22427"/>
            <a:stretch>
              <a:fillRect/>
            </a:stretch>
          </p:blipFill>
          <p:spPr bwMode="auto">
            <a:xfrm>
              <a:off x="8561" y="5615"/>
              <a:ext cx="4239" cy="4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0680" y="9745"/>
              <a:ext cx="230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422" y="9418"/>
              <a:ext cx="1701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精巢</a:t>
              </a:r>
              <a:endParaRPr lang="zh-CN" altLang="en-US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10794" y="8435"/>
              <a:ext cx="219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4298" y="8915"/>
              <a:ext cx="31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427" y="8625"/>
              <a:ext cx="1701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贮精囊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神经系统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315" y="1557020"/>
            <a:ext cx="3352800" cy="2044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1460" y="3933190"/>
            <a:ext cx="3282950" cy="2057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79520" y="836930"/>
            <a:ext cx="4709160" cy="4921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" y="1917065"/>
            <a:ext cx="5954395" cy="3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18835" y="1772920"/>
            <a:ext cx="2783205" cy="414210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身体异律分节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发达的外骨骼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具关节的附肢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混合体腔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开管式循环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鳃、肺、气管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触角腺、马氏管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链状（索式）神经系统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95605" y="371475"/>
            <a:ext cx="8229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rtlCol="0" anchor="ctr">
            <a:normAutofit fontScale="8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二、节肢动物的外形观察与内部解剖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形态观察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7942580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先观察外部形态，各附肢形态及着生位置。</a:t>
            </a:r>
            <a:endParaRPr lang="zh-CN" altLang="en-US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然后左手持虾，右手用镊子由身体后部向前，依次将虾的</a:t>
            </a:r>
            <a:r>
              <a:rPr lang="zh-CN" altLang="en-US" sz="2800" b="1" dirty="0">
                <a:solidFill>
                  <a:srgbClr val="FF0000"/>
                </a:solidFill>
              </a:rPr>
              <a:t>左侧</a:t>
            </a:r>
            <a:r>
              <a:rPr lang="zh-CN" altLang="en-US" sz="2800" b="1" dirty="0">
                <a:solidFill>
                  <a:schemeClr val="tx1"/>
                </a:solidFill>
              </a:rPr>
              <a:t>附肢</a:t>
            </a:r>
            <a:r>
              <a:rPr lang="zh-CN" altLang="en-US" sz="2800" b="1" dirty="0">
                <a:solidFill>
                  <a:srgbClr val="FF0000"/>
                </a:solidFill>
              </a:rPr>
              <a:t>拔下</a:t>
            </a:r>
            <a:r>
              <a:rPr lang="zh-CN" altLang="en-US" sz="2800" b="1" dirty="0"/>
              <a:t>，并按原来的顺序排列在解剖盘上。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864096"/>
          </a:xfrm>
        </p:spPr>
        <p:txBody>
          <a:bodyPr/>
          <a:lstStyle/>
          <a:p>
            <a:r>
              <a:rPr lang="zh-CN" altLang="en-US" dirty="0"/>
              <a:t>如何辨别雌雄？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856"/>
          <a:stretch>
            <a:fillRect/>
          </a:stretch>
        </p:blipFill>
        <p:spPr bwMode="auto">
          <a:xfrm>
            <a:off x="478682" y="1412776"/>
            <a:ext cx="7815819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04353"/>
            <a:ext cx="7056784" cy="1128510"/>
          </a:xfrm>
        </p:spPr>
        <p:txBody>
          <a:bodyPr/>
          <a:lstStyle/>
          <a:p>
            <a:r>
              <a:rPr lang="zh-CN" altLang="en-US" dirty="0"/>
              <a:t>附肢</a:t>
            </a:r>
            <a:r>
              <a:rPr lang="zh-CN" dirty="0"/>
              <a:t>解剖：双枝型</a:t>
            </a:r>
            <a:endParaRPr lang="zh-CN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头：</a:t>
            </a:r>
            <a:r>
              <a:rPr lang="en-US" altLang="zh-CN" sz="2800" dirty="0">
                <a:solidFill>
                  <a:srgbClr val="FF0000"/>
                </a:solidFill>
              </a:rPr>
              <a:t>2+1+2</a:t>
            </a:r>
            <a:r>
              <a:rPr lang="zh-CN" altLang="en-US" sz="2800" dirty="0">
                <a:solidFill>
                  <a:srgbClr val="FF0000"/>
                </a:solidFill>
              </a:rPr>
              <a:t>；胸：</a:t>
            </a:r>
            <a:r>
              <a:rPr lang="en-US" altLang="zh-CN" sz="2800" dirty="0">
                <a:solidFill>
                  <a:srgbClr val="FF0000"/>
                </a:solidFill>
              </a:rPr>
              <a:t>3+5</a:t>
            </a:r>
            <a:r>
              <a:rPr lang="zh-CN" altLang="en-US" sz="2800" dirty="0">
                <a:solidFill>
                  <a:srgbClr val="FF0000"/>
                </a:solidFill>
              </a:rPr>
              <a:t>；腹：</a:t>
            </a:r>
            <a:r>
              <a:rPr lang="en-US" altLang="zh-CN" sz="2800" dirty="0">
                <a:solidFill>
                  <a:srgbClr val="FF0000"/>
                </a:solidFill>
              </a:rPr>
              <a:t>5+1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65" r="10433"/>
          <a:stretch>
            <a:fillRect/>
          </a:stretch>
        </p:blipFill>
        <p:spPr bwMode="auto">
          <a:xfrm rot="16200000">
            <a:off x="2548680" y="80405"/>
            <a:ext cx="4622708" cy="742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395605" y="2348865"/>
            <a:ext cx="3618230" cy="3794760"/>
            <a:chOff x="623" y="3699"/>
            <a:chExt cx="5698" cy="5976"/>
          </a:xfrm>
        </p:grpSpPr>
        <p:sp>
          <p:nvSpPr>
            <p:cNvPr id="4" name="圆角矩形 3"/>
            <p:cNvSpPr/>
            <p:nvPr/>
          </p:nvSpPr>
          <p:spPr>
            <a:xfrm>
              <a:off x="2891" y="3699"/>
              <a:ext cx="3430" cy="597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形标注 4"/>
            <p:cNvSpPr/>
            <p:nvPr/>
          </p:nvSpPr>
          <p:spPr>
            <a:xfrm>
              <a:off x="623" y="4946"/>
              <a:ext cx="1872" cy="1609"/>
            </a:xfrm>
            <a:prstGeom prst="wedgeEllipseCallout">
              <a:avLst>
                <a:gd name="adj1" fmla="val 73344"/>
                <a:gd name="adj2" fmla="val -6668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6" y="5282"/>
              <a:ext cx="1701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口器</a:t>
              </a:r>
              <a:endParaRPr lang="zh-CN" altLang="en-US" sz="2800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131840" y="6143845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原肢为棕色；内肢为蓝色；外肢为黄色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236460" y="3716655"/>
            <a:ext cx="10591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ym typeface="+mn-ea"/>
              </a:rPr>
              <a:t>交接器</a:t>
            </a:r>
            <a:endParaRPr lang="zh-CN" altLang="en-US" sz="1200" dirty="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96055" y="3509010"/>
            <a:ext cx="10820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sym typeface="+mn-ea"/>
              </a:rPr>
              <a:t>颚舟片</a:t>
            </a:r>
            <a:endParaRPr lang="zh-CN" altLang="en-US" sz="14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49808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内部结构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05" y="2244090"/>
            <a:ext cx="8174990" cy="317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79912" y="5085561"/>
            <a:ext cx="72008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肝胰腺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2</a:t>
            </a:r>
            <a:r>
              <a:rPr lang="zh-CN" altLang="en-US"/>
              <a:t>、内部结构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965575" cy="4686300"/>
          </a:xfrm>
        </p:spPr>
        <p:txBody>
          <a:bodyPr/>
          <a:lstStyle/>
          <a:p>
            <a:r>
              <a:rPr lang="zh-CN" altLang="en-US" sz="2400" dirty="0"/>
              <a:t>剪去头胸甲的右侧鳃盖，可见鳃腔中羽状鳃。</a:t>
            </a:r>
            <a:endParaRPr lang="zh-CN" altLang="en-US" sz="2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sz="3600" dirty="0"/>
          </a:p>
          <a:p>
            <a:r>
              <a:rPr lang="zh-CN" altLang="en-US" sz="2400" dirty="0"/>
              <a:t>用镊子自头胸甲后缘至额剑处，小心将头胸甲与其下面器官分离，再</a:t>
            </a:r>
            <a:r>
              <a:rPr lang="zh-CN" altLang="en-US" sz="2400" dirty="0">
                <a:solidFill>
                  <a:srgbClr val="FF0000"/>
                </a:solidFill>
              </a:rPr>
              <a:t>用剪刀剪去背部头胸甲。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4"/>
          <a:stretch>
            <a:fillRect/>
          </a:stretch>
        </p:blipFill>
        <p:spPr bwMode="auto">
          <a:xfrm>
            <a:off x="4715510" y="3573145"/>
            <a:ext cx="2834640" cy="2907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59655" y="476885"/>
            <a:ext cx="2578100" cy="2578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68260" y="2060575"/>
            <a:ext cx="1245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羽状鳃</a:t>
            </a:r>
            <a:endParaRPr lang="zh-CN" altLang="en-US" sz="2400"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6732270" y="1988820"/>
            <a:ext cx="946150" cy="4222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30870" cy="1155700"/>
          </a:xfrm>
        </p:spPr>
        <p:txBody>
          <a:bodyPr/>
          <a:lstStyle/>
          <a:p>
            <a:pPr algn="l"/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）循环系统：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开管式循环系统。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43095" y="1557020"/>
            <a:ext cx="4700905" cy="1299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/>
              <a:t>心脏位于</a:t>
            </a:r>
            <a:r>
              <a:rPr lang="zh-CN" altLang="en-US" sz="2400" b="1">
                <a:solidFill>
                  <a:srgbClr val="FF0000"/>
                </a:solidFill>
              </a:rPr>
              <a:t>头胸部后端背侧</a:t>
            </a:r>
            <a:r>
              <a:rPr lang="zh-CN" altLang="en-US" sz="2400" b="1"/>
              <a:t>的围心窦内，为半透明多角形肌肉囊。</a:t>
            </a:r>
            <a:endParaRPr lang="zh-CN" altLang="en-US" sz="2400" b="1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484630"/>
            <a:ext cx="3525520" cy="42983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915920" y="3068955"/>
            <a:ext cx="93345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心脏</a:t>
            </a:r>
            <a:endParaRPr lang="zh-CN" altLang="en-US" sz="2400"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2627630" y="3623310"/>
            <a:ext cx="638175" cy="4533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499610" y="2997200"/>
            <a:ext cx="4398645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70C0"/>
                </a:solidFill>
              </a:rPr>
              <a:t>血液由</a:t>
            </a:r>
            <a:r>
              <a:rPr lang="zh-CN" altLang="en-US" sz="2400" b="1">
                <a:solidFill>
                  <a:srgbClr val="FF0000"/>
                </a:solidFill>
              </a:rPr>
              <a:t>心脏</a:t>
            </a:r>
            <a:r>
              <a:rPr lang="zh-CN" altLang="en-US" sz="2400" b="1">
                <a:solidFill>
                  <a:srgbClr val="0070C0"/>
                </a:solidFill>
              </a:rPr>
              <a:t>经</a:t>
            </a:r>
            <a:r>
              <a:rPr lang="zh-CN" altLang="en-US" sz="2400" b="1">
                <a:solidFill>
                  <a:srgbClr val="FF0000"/>
                </a:solidFill>
              </a:rPr>
              <a:t>动脉</a:t>
            </a:r>
            <a:r>
              <a:rPr lang="zh-CN" altLang="en-US" sz="2400" b="1">
                <a:solidFill>
                  <a:srgbClr val="0070C0"/>
                </a:solidFill>
              </a:rPr>
              <a:t>进入</a:t>
            </a:r>
            <a:r>
              <a:rPr lang="zh-CN" altLang="en-US" sz="2400" b="1">
                <a:solidFill>
                  <a:srgbClr val="FF0000"/>
                </a:solidFill>
              </a:rPr>
              <a:t>血腔</a:t>
            </a:r>
            <a:r>
              <a:rPr lang="zh-CN" altLang="en-US" sz="2400" b="1">
                <a:solidFill>
                  <a:srgbClr val="0070C0"/>
                </a:solidFill>
              </a:rPr>
              <a:t>，在组织间隙进行物质和气体交换，由</a:t>
            </a:r>
            <a:r>
              <a:rPr lang="zh-CN" altLang="en-US" sz="2400" b="1">
                <a:solidFill>
                  <a:srgbClr val="FF0000"/>
                </a:solidFill>
              </a:rPr>
              <a:t>入鳃静脉</a:t>
            </a:r>
            <a:r>
              <a:rPr lang="zh-CN" altLang="en-US" sz="2400" b="1">
                <a:solidFill>
                  <a:srgbClr val="0070C0"/>
                </a:solidFill>
              </a:rPr>
              <a:t>入鳃进行气体交换，多氧血由</a:t>
            </a:r>
            <a:r>
              <a:rPr lang="zh-CN" altLang="en-US" sz="2400" b="1">
                <a:solidFill>
                  <a:srgbClr val="FF0000"/>
                </a:solidFill>
              </a:rPr>
              <a:t>心孔</a:t>
            </a:r>
            <a:r>
              <a:rPr lang="zh-CN" altLang="en-US" sz="2400" b="1">
                <a:solidFill>
                  <a:srgbClr val="0070C0"/>
                </a:solidFill>
              </a:rPr>
              <a:t>流回</a:t>
            </a:r>
            <a:r>
              <a:rPr lang="zh-CN" altLang="en-US" sz="2400" b="1">
                <a:solidFill>
                  <a:srgbClr val="FF0000"/>
                </a:solidFill>
              </a:rPr>
              <a:t>心脏</a:t>
            </a:r>
            <a:r>
              <a:rPr lang="zh-CN" altLang="en-US" sz="2400"/>
              <a:t>。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）生殖系统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1412875"/>
            <a:ext cx="7122160" cy="2287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3850" y="5445125"/>
            <a:ext cx="60566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输精管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对，细长迂回，开口于第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五步足基部</a:t>
            </a:r>
            <a:r>
              <a:rPr lang="zh-CN" altLang="en-US">
                <a:sym typeface="+mn-ea"/>
              </a:rPr>
              <a:t>的生殖孔。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输卵管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对，短小，开口于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第三步足基部</a:t>
            </a:r>
            <a:r>
              <a:rPr lang="zh-CN" altLang="en-US">
                <a:sym typeface="+mn-ea"/>
              </a:rPr>
              <a:t>的生殖孔。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雌性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第四第五对步足之间具有纳精囊孔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60515" y="3700145"/>
            <a:ext cx="2266950" cy="2705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5605" y="3789045"/>
            <a:ext cx="59855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雌雄异体。</a:t>
            </a:r>
            <a:endParaRPr lang="zh-CN" altLang="en-US" sz="2000"/>
          </a:p>
          <a:p>
            <a:r>
              <a:rPr lang="zh-CN" altLang="en-US" sz="2000"/>
              <a:t>雄性精巢1对，半透明乳白色</a:t>
            </a:r>
            <a:endParaRPr lang="zh-CN" altLang="en-US" sz="2000"/>
          </a:p>
          <a:p>
            <a:r>
              <a:rPr lang="zh-CN" altLang="en-US" sz="2000"/>
              <a:t>雌性卵巢1对 ，性成熟时为黄色到褐色，细</a:t>
            </a:r>
            <a:r>
              <a:rPr lang="zh-CN" altLang="en-US" sz="2000">
                <a:solidFill>
                  <a:srgbClr val="FF0000"/>
                </a:solidFill>
              </a:rPr>
              <a:t>颗粒状</a:t>
            </a:r>
            <a:r>
              <a:rPr lang="zh-CN" altLang="en-US" sz="2000"/>
              <a:t>。</a:t>
            </a:r>
            <a:endParaRPr lang="zh-CN" altLang="en-US" sz="2000"/>
          </a:p>
          <a:p>
            <a:r>
              <a:rPr lang="zh-CN" altLang="en-US" sz="2000"/>
              <a:t>生殖腺位于</a:t>
            </a:r>
            <a:r>
              <a:rPr lang="zh-CN" altLang="en-US" sz="2000" b="1">
                <a:solidFill>
                  <a:srgbClr val="FF0000"/>
                </a:solidFill>
              </a:rPr>
              <a:t>心脏下方</a:t>
            </a:r>
            <a:r>
              <a:rPr lang="zh-CN" altLang="en-US" sz="2000"/>
              <a:t>、中肠上方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）消化系统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417955"/>
            <a:ext cx="4069080" cy="16891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/>
              <a:t>轻轻移去生殖腺，可见其下方左右两侧各一团黄褐色腺体，即为肝。</a:t>
            </a:r>
            <a:endParaRPr lang="zh-CN" altLang="en-US" sz="2000" b="1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16145" y="1196975"/>
            <a:ext cx="2608580" cy="19685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7200" y="3308985"/>
            <a:ext cx="3162300" cy="214757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/>
              <a:t>剪去一侧肝，可见肠管前接一囊状的胃，胃往前为一短管，即食道，连于由口器包围的口腔。</a:t>
            </a:r>
            <a:endParaRPr lang="zh-CN" altLang="en-US" sz="2000" b="1"/>
          </a:p>
        </p:txBody>
      </p:sp>
      <p:pic>
        <p:nvPicPr>
          <p:cNvPr id="7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88535" y="3716655"/>
            <a:ext cx="3944620" cy="2496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110" y="5373370"/>
            <a:ext cx="1383665" cy="1122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83485" y="5859145"/>
            <a:ext cx="81661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ym typeface="+mn-ea"/>
              </a:rPr>
              <a:t>胃磨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548640"/>
            <a:ext cx="3804920" cy="839470"/>
          </a:xfrm>
        </p:spPr>
        <p:txBody>
          <a:bodyPr/>
          <a:lstStyle/>
          <a:p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）排泄系统</a:t>
            </a:r>
            <a:endParaRPr lang="zh-CN" altLang="en-US" sz="2800"/>
          </a:p>
        </p:txBody>
      </p:sp>
      <p:grpSp>
        <p:nvGrpSpPr>
          <p:cNvPr id="15" name="组合 14"/>
          <p:cNvGrpSpPr/>
          <p:nvPr/>
        </p:nvGrpSpPr>
        <p:grpSpPr>
          <a:xfrm>
            <a:off x="4437638" y="265083"/>
            <a:ext cx="4572000" cy="5774769"/>
            <a:chOff x="3559425" y="985575"/>
            <a:chExt cx="4572000" cy="5774769"/>
          </a:xfrm>
        </p:grpSpPr>
        <p:pic>
          <p:nvPicPr>
            <p:cNvPr id="21" name="Picture 3" descr="螯虾的触角腺"/>
            <p:cNvPicPr preferRelativeResize="0">
              <a:picLocks noChangeArrowheads="1"/>
            </p:cNvPicPr>
            <p:nvPr>
              <p:custDataLst>
                <p:tags r:id="rId1"/>
              </p:custDataLst>
            </p:nvPr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75" t="-2902" b="2902"/>
            <a:stretch>
              <a:fillRect/>
            </a:stretch>
          </p:blipFill>
          <p:spPr bwMode="auto">
            <a:xfrm>
              <a:off x="4126403" y="2924944"/>
              <a:ext cx="4005022" cy="3835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5" descr="螯虾的触角腺1"/>
            <p:cNvPicPr preferRelativeResize="0">
              <a:picLocks noChangeArrowheads="1"/>
            </p:cNvPicPr>
            <p:nvPr>
              <p:custDataLst>
                <p:tags r:id="rId3"/>
              </p:custData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1652" t="18943" r="11652" b="18943"/>
            <a:stretch>
              <a:fillRect/>
            </a:stretch>
          </p:blipFill>
          <p:spPr bwMode="auto">
            <a:xfrm>
              <a:off x="3559425" y="985575"/>
              <a:ext cx="4572000" cy="2130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文本框 2"/>
          <p:cNvSpPr txBox="1"/>
          <p:nvPr/>
        </p:nvSpPr>
        <p:spPr>
          <a:xfrm>
            <a:off x="4499610" y="616521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由后肾管演变成腺状体结构：绿腺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9795" y="1412875"/>
            <a:ext cx="3496945" cy="4485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）神经系统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" y="1417955"/>
            <a:ext cx="3606800" cy="4552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91865" y="170053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链状神经系统：位于腹部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99835" y="2351405"/>
            <a:ext cx="2258060" cy="264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11955" y="2351405"/>
            <a:ext cx="2080260" cy="2231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40464" y="2297250"/>
            <a:ext cx="4748161" cy="2571498"/>
            <a:chOff x="539552" y="317442"/>
            <a:chExt cx="4748161" cy="2571498"/>
          </a:xfrm>
        </p:grpSpPr>
        <p:pic>
          <p:nvPicPr>
            <p:cNvPr id="1026" name="图片 56" descr="2297ca3daa4fa866848d46bf24bd404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41"/>
            <a:stretch>
              <a:fillRect/>
            </a:stretch>
          </p:blipFill>
          <p:spPr bwMode="auto">
            <a:xfrm>
              <a:off x="539552" y="800708"/>
              <a:ext cx="4748161" cy="2088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825400" y="317442"/>
              <a:ext cx="417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卵巢与精巢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79100" y="205672"/>
            <a:ext cx="4768648" cy="2737312"/>
            <a:chOff x="519066" y="3212976"/>
            <a:chExt cx="4768648" cy="2737312"/>
          </a:xfrm>
        </p:grpSpPr>
        <p:grpSp>
          <p:nvGrpSpPr>
            <p:cNvPr id="5" name="组合 4"/>
            <p:cNvGrpSpPr/>
            <p:nvPr/>
          </p:nvGrpSpPr>
          <p:grpSpPr>
            <a:xfrm>
              <a:off x="519066" y="3628593"/>
              <a:ext cx="4768648" cy="2321695"/>
              <a:chOff x="519065" y="3628593"/>
              <a:chExt cx="4915067" cy="2321695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30" r="54549"/>
              <a:stretch>
                <a:fillRect/>
              </a:stretch>
            </p:blipFill>
            <p:spPr bwMode="auto">
              <a:xfrm>
                <a:off x="519065" y="3636707"/>
                <a:ext cx="2717978" cy="23135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846" t="764" r="5319" b="-764"/>
              <a:stretch>
                <a:fillRect/>
              </a:stretch>
            </p:blipFill>
            <p:spPr bwMode="auto">
              <a:xfrm>
                <a:off x="3237043" y="3628593"/>
                <a:ext cx="2197089" cy="23216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Box 8"/>
            <p:cNvSpPr txBox="1"/>
            <p:nvPr/>
          </p:nvSpPr>
          <p:spPr>
            <a:xfrm>
              <a:off x="1547664" y="3212976"/>
              <a:ext cx="223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心脏</a:t>
              </a:r>
              <a:endParaRPr lang="zh-CN" altLang="en-US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8905" y="3497575"/>
            <a:ext cx="4558611" cy="2160240"/>
            <a:chOff x="0" y="3789040"/>
            <a:chExt cx="4558611" cy="2160240"/>
          </a:xfrm>
        </p:grpSpPr>
        <p:grpSp>
          <p:nvGrpSpPr>
            <p:cNvPr id="11" name="组合 10"/>
            <p:cNvGrpSpPr/>
            <p:nvPr/>
          </p:nvGrpSpPr>
          <p:grpSpPr>
            <a:xfrm>
              <a:off x="0" y="4293096"/>
              <a:ext cx="4558611" cy="1656184"/>
              <a:chOff x="999088" y="3789040"/>
              <a:chExt cx="5799276" cy="2176416"/>
            </a:xfrm>
          </p:grpSpPr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2953"/>
              <a:stretch>
                <a:fillRect/>
              </a:stretch>
            </p:blipFill>
            <p:spPr bwMode="auto">
              <a:xfrm>
                <a:off x="999088" y="3789040"/>
                <a:ext cx="2996442" cy="2171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4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967" r="1026"/>
              <a:stretch>
                <a:fillRect/>
              </a:stretch>
            </p:blipFill>
            <p:spPr bwMode="auto">
              <a:xfrm>
                <a:off x="3995530" y="3793756"/>
                <a:ext cx="2802834" cy="2171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" name="TextBox 15"/>
            <p:cNvSpPr txBox="1"/>
            <p:nvPr/>
          </p:nvSpPr>
          <p:spPr>
            <a:xfrm>
              <a:off x="999088" y="3789040"/>
              <a:ext cx="223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肝胰腺</a:t>
              </a:r>
              <a:endParaRPr lang="zh-CN" altLang="en-US" dirty="0"/>
            </a:p>
          </p:txBody>
        </p:sp>
      </p:grpSp>
      <p:pic>
        <p:nvPicPr>
          <p:cNvPr id="2" name="内容占位符 1"/>
          <p:cNvPicPr>
            <a:picLocks noGrp="1" noChangeAspect="1"/>
          </p:cNvPicPr>
          <p:nvPr>
            <p:ph idx="1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047615" y="4940935"/>
            <a:ext cx="2203450" cy="16840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51065" y="5300980"/>
            <a:ext cx="1094740" cy="462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ym typeface="+mn-ea"/>
              </a:rPr>
              <a:t>神经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332423"/>
            <a:ext cx="8229600" cy="1143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2493010"/>
            <a:ext cx="8229600" cy="1385570"/>
          </a:xfrm>
        </p:spPr>
        <p:txBody>
          <a:bodyPr/>
          <a:lstStyle/>
          <a:p>
            <a:r>
              <a:rPr lang="zh-CN" altLang="en-US" dirty="0"/>
              <a:t>绘制头足类或甲壳类的解剖结构图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COMMONDATA" val="eyJoZGlkIjoiZjliY2UwMDMxMzY0ZTI2M2Q3MjliMDRlNTNiODAwOGQ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1065</Words>
  <Application>WPS 演示</Application>
  <PresentationFormat>全屏显示(4:3)</PresentationFormat>
  <Paragraphs>197</Paragraphs>
  <Slides>25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Wingdings 2</vt:lpstr>
      <vt:lpstr>Arial</vt:lpstr>
      <vt:lpstr>Wingdings</vt:lpstr>
      <vt:lpstr>黑体</vt:lpstr>
      <vt:lpstr>华文楷体</vt:lpstr>
      <vt:lpstr>Franklin Gothic Book</vt:lpstr>
      <vt:lpstr>微软雅黑</vt:lpstr>
      <vt:lpstr>Arial Unicode MS</vt:lpstr>
      <vt:lpstr>Franklin Gothic Medium</vt:lpstr>
      <vt:lpstr>Calibri</vt:lpstr>
      <vt:lpstr>Wingdings 2</vt:lpstr>
      <vt:lpstr>Wingdings 2</vt:lpstr>
      <vt:lpstr>暗香扑面</vt:lpstr>
      <vt:lpstr>1_自定义设计方案</vt:lpstr>
      <vt:lpstr>自定义设计方案</vt:lpstr>
      <vt:lpstr>  实验二：无脊椎动物观察解剖</vt:lpstr>
      <vt:lpstr>实验目的</vt:lpstr>
      <vt:lpstr>实验材料与器材</vt:lpstr>
      <vt:lpstr>真体腔不分节的动物---软体动物门</vt:lpstr>
      <vt:lpstr>章鱼的解剖</vt:lpstr>
      <vt:lpstr>内部构造观察</vt:lpstr>
      <vt:lpstr>PowerPoint 演示文稿</vt:lpstr>
      <vt:lpstr>消化系统</vt:lpstr>
      <vt:lpstr>PowerPoint 演示文稿</vt:lpstr>
      <vt:lpstr>呼吸、循环、排泄系统</vt:lpstr>
      <vt:lpstr>PowerPoint 演示文稿</vt:lpstr>
      <vt:lpstr>神经系统</vt:lpstr>
      <vt:lpstr>PowerPoint 演示文稿</vt:lpstr>
      <vt:lpstr>1. 形态观察</vt:lpstr>
      <vt:lpstr>PowerPoint 演示文稿</vt:lpstr>
      <vt:lpstr>PowerPoint 演示文稿</vt:lpstr>
      <vt:lpstr>PowerPoint 演示文稿</vt:lpstr>
      <vt:lpstr>2、内部结构</vt:lpstr>
      <vt:lpstr>（1）循环系统：开管式循环系统。</vt:lpstr>
      <vt:lpstr>（2）生殖系统</vt:lpstr>
      <vt:lpstr>（3）消化系统</vt:lpstr>
      <vt:lpstr>（4）排泄系统</vt:lpstr>
      <vt:lpstr>（5）神经系统</vt:lpstr>
      <vt:lpstr>PowerPoint 演示文稿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无脊椎动物观察解剖（实验二）</dc:title>
  <dc:creator>lenovo</dc:creator>
  <cp:lastModifiedBy>赵燕</cp:lastModifiedBy>
  <cp:revision>76</cp:revision>
  <dcterms:created xsi:type="dcterms:W3CDTF">2021-04-28T00:30:00Z</dcterms:created>
  <dcterms:modified xsi:type="dcterms:W3CDTF">2026-05-14T09:13:01Z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EFE02932363E41F7AA529301D466E34E_13</vt:lpwstr>
  </property>
  <property fmtid="{D5CDD505-2E9C-101B-9397-08002B2CF9AE}" pid="3" name="KSOProductBuildVer">
    <vt:lpwstr>2052-12.1.0.25865</vt:lpwstr>
  </property>
</Properties>
</file>