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3"/>
    <p:sldId id="342" r:id="rId4"/>
    <p:sldId id="378" r:id="rId5"/>
    <p:sldId id="346" r:id="rId7"/>
    <p:sldId id="485" r:id="rId8"/>
    <p:sldId id="487" r:id="rId9"/>
    <p:sldId id="478" r:id="rId10"/>
    <p:sldId id="479" r:id="rId11"/>
    <p:sldId id="480" r:id="rId12"/>
    <p:sldId id="481" r:id="rId13"/>
    <p:sldId id="482" r:id="rId14"/>
    <p:sldId id="483" r:id="rId15"/>
    <p:sldId id="486" r:id="rId16"/>
    <p:sldId id="496" r:id="rId17"/>
    <p:sldId id="497" r:id="rId18"/>
    <p:sldId id="502" r:id="rId19"/>
    <p:sldId id="539" r:id="rId20"/>
    <p:sldId id="540" r:id="rId21"/>
    <p:sldId id="541" r:id="rId22"/>
    <p:sldId id="505" r:id="rId23"/>
    <p:sldId id="542" r:id="rId24"/>
    <p:sldId id="504" r:id="rId25"/>
    <p:sldId id="506" r:id="rId26"/>
    <p:sldId id="500" r:id="rId27"/>
    <p:sldId id="507" r:id="rId28"/>
    <p:sldId id="509" r:id="rId29"/>
  </p:sldIdLst>
  <p:sldSz cx="12192000" cy="6858000"/>
  <p:notesSz cx="6858000" cy="9144000"/>
  <p:embeddedFontLst>
    <p:embeddedFont>
      <p:font typeface="微软雅黑" panose="020B0503020204020204" pitchFamily="34" charset="-122"/>
      <p:regular r:id="rId33"/>
    </p:embeddedFont>
    <p:embeddedFont>
      <p:font typeface="汉仪中黑简" panose="02010600000101010101" charset="-122"/>
      <p:regular r:id="rId34"/>
    </p:embeddedFont>
    <p:embeddedFont>
      <p:font typeface="Impact" panose="020B0806030902050204" charset="0"/>
      <p:regular r:id="rId35"/>
    </p:embeddedFont>
    <p:embeddedFont>
      <p:font typeface="等线" panose="02010600030101010101" charset="-122"/>
      <p:regular r:id="rId36"/>
    </p:embeddedFont>
    <p:embeddedFont>
      <p:font typeface="黑体" panose="02010609060101010101" charset="-122"/>
      <p:regular r:id="rId37"/>
    </p:embeddedFont>
  </p:embeddedFontLst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8" userDrawn="1">
          <p15:clr>
            <a:srgbClr val="A4A3A4"/>
          </p15:clr>
        </p15:guide>
        <p15:guide id="2" pos="3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E7E5"/>
    <a:srgbClr val="F5A86F"/>
    <a:srgbClr val="FFFF66"/>
    <a:srgbClr val="E0F8F7"/>
    <a:srgbClr val="C6F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78351" autoAdjust="0"/>
  </p:normalViewPr>
  <p:slideViewPr>
    <p:cSldViewPr snapToGrid="0" showGuides="1">
      <p:cViewPr varScale="1">
        <p:scale>
          <a:sx n="61" d="100"/>
          <a:sy n="61" d="100"/>
        </p:scale>
        <p:origin x="344" y="64"/>
      </p:cViewPr>
      <p:guideLst>
        <p:guide orient="horz" pos="2068"/>
        <p:guide pos="39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71.xml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8402D-07E5-4D87-BBA2-E5CF493B59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20DE6-D2D8-416E-A497-589D498616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鳞片：真皮层分泌，外面有表皮层。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00083-2830-4FD0-A643-BCAD150442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8BA1E-64A5-4054-9929-B64A1B6060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tags" Target="../tags/tag3.xml"/><Relationship Id="rId4" Type="http://schemas.openxmlformats.org/officeDocument/2006/relationships/image" Target="../media/image4.png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6.xml"/><Relationship Id="rId2" Type="http://schemas.openxmlformats.org/officeDocument/2006/relationships/image" Target="../media/image6.png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.xml"/><Relationship Id="rId2" Type="http://schemas.openxmlformats.org/officeDocument/2006/relationships/image" Target="../media/image8.png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tags" Target="../tags/tag12.xml"/><Relationship Id="rId4" Type="http://schemas.openxmlformats.org/officeDocument/2006/relationships/image" Target="../media/image11.png"/><Relationship Id="rId3" Type="http://schemas.openxmlformats.org/officeDocument/2006/relationships/tags" Target="../tags/tag11.xml"/><Relationship Id="rId2" Type="http://schemas.openxmlformats.org/officeDocument/2006/relationships/image" Target="../media/image10.png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tags" Target="../tags/tag14.xml"/><Relationship Id="rId2" Type="http://schemas.openxmlformats.org/officeDocument/2006/relationships/image" Target="../media/image13.png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tags" Target="../tags/tag17.xml"/><Relationship Id="rId2" Type="http://schemas.openxmlformats.org/officeDocument/2006/relationships/image" Target="../media/image16.png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tags" Target="../tags/tag19.xml"/><Relationship Id="rId2" Type="http://schemas.openxmlformats.org/officeDocument/2006/relationships/image" Target="../media/image18.png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tags" Target="../tags/tag21.xml"/><Relationship Id="rId2" Type="http://schemas.openxmlformats.org/officeDocument/2006/relationships/image" Target="../media/image20.png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tags" Target="../tags/tag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tags" Target="../tags/tag24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tags" Target="../tags/tag27.xml"/><Relationship Id="rId4" Type="http://schemas.openxmlformats.org/officeDocument/2006/relationships/image" Target="../media/image26.png"/><Relationship Id="rId3" Type="http://schemas.openxmlformats.org/officeDocument/2006/relationships/tags" Target="../tags/tag26.xml"/><Relationship Id="rId2" Type="http://schemas.openxmlformats.org/officeDocument/2006/relationships/image" Target="../media/image25.png"/><Relationship Id="rId1" Type="http://schemas.openxmlformats.org/officeDocument/2006/relationships/tags" Target="../tags/tag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tags" Target="../tags/tag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tags" Target="../tags/tag2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image" Target="../media/image31.png"/><Relationship Id="rId3" Type="http://schemas.openxmlformats.org/officeDocument/2006/relationships/tags" Target="../tags/tag31.xml"/><Relationship Id="rId2" Type="http://schemas.openxmlformats.org/officeDocument/2006/relationships/image" Target="../media/image30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2.png"/><Relationship Id="rId1" Type="http://schemas.openxmlformats.org/officeDocument/2006/relationships/tags" Target="../tags/tag3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41.xml"/><Relationship Id="rId7" Type="http://schemas.openxmlformats.org/officeDocument/2006/relationships/image" Target="../media/image35.png"/><Relationship Id="rId6" Type="http://schemas.openxmlformats.org/officeDocument/2006/relationships/tags" Target="../tags/tag40.xml"/><Relationship Id="rId5" Type="http://schemas.openxmlformats.org/officeDocument/2006/relationships/image" Target="../media/image34.png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image" Target="../media/image33.png"/><Relationship Id="rId10" Type="http://schemas.openxmlformats.org/officeDocument/2006/relationships/notesSlide" Target="../notesSlides/notesSlide5.xml"/><Relationship Id="rId1" Type="http://schemas.openxmlformats.org/officeDocument/2006/relationships/tags" Target="../tags/tag3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image" Target="../media/image37.png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image" Target="../media/image36.pn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tags" Target="../tags/tag5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image" Target="../media/image43.png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image" Target="../media/image42.png"/><Relationship Id="rId3" Type="http://schemas.openxmlformats.org/officeDocument/2006/relationships/tags" Target="../tags/tag55.xml"/><Relationship Id="rId2" Type="http://schemas.openxmlformats.org/officeDocument/2006/relationships/image" Target="../media/image41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5.png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image" Target="../media/image44.png"/><Relationship Id="rId1" Type="http://schemas.openxmlformats.org/officeDocument/2006/relationships/tags" Target="../tags/tag60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0.xml"/><Relationship Id="rId7" Type="http://schemas.openxmlformats.org/officeDocument/2006/relationships/image" Target="../media/image47.png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46.png"/><Relationship Id="rId10" Type="http://schemas.openxmlformats.org/officeDocument/2006/relationships/notesSlide" Target="../notesSlides/notesSlide8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" y="0"/>
            <a:ext cx="4190365" cy="1143000"/>
          </a:xfrm>
          <a:prstGeom prst="rect">
            <a:avLst/>
          </a:prstGeom>
        </p:spPr>
      </p:pic>
      <p:grpSp>
        <p:nvGrpSpPr>
          <p:cNvPr id="58" name="组合 57"/>
          <p:cNvGrpSpPr/>
          <p:nvPr/>
        </p:nvGrpSpPr>
        <p:grpSpPr>
          <a:xfrm>
            <a:off x="0" y="0"/>
            <a:ext cx="4259561" cy="45719"/>
            <a:chOff x="0" y="0"/>
            <a:chExt cx="4259561" cy="45719"/>
          </a:xfrm>
        </p:grpSpPr>
        <p:sp>
          <p:nvSpPr>
            <p:cNvPr id="50" name="矩形 49"/>
            <p:cNvSpPr/>
            <p:nvPr/>
          </p:nvSpPr>
          <p:spPr>
            <a:xfrm>
              <a:off x="0" y="0"/>
              <a:ext cx="1106458" cy="4571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1051034" y="0"/>
              <a:ext cx="1106458" cy="45719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2102069" y="0"/>
              <a:ext cx="1106458" cy="45719"/>
            </a:xfrm>
            <a:prstGeom prst="rect">
              <a:avLst/>
            </a:prstGeom>
            <a:solidFill>
              <a:schemeClr val="accent3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153103" y="0"/>
              <a:ext cx="1106458" cy="45719"/>
            </a:xfrm>
            <a:prstGeom prst="rect">
              <a:avLst/>
            </a:prstGeom>
            <a:solidFill>
              <a:srgbClr val="97E7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1214663" y="2659559"/>
            <a:ext cx="9346078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latin typeface="+mj-ea"/>
                <a:ea typeface="+mj-ea"/>
              </a:rPr>
              <a:t>实验三</a:t>
            </a:r>
            <a:r>
              <a:rPr lang="en-US" altLang="zh-CN" sz="4400" dirty="0">
                <a:latin typeface="+mj-ea"/>
                <a:ea typeface="+mj-ea"/>
              </a:rPr>
              <a:t>  </a:t>
            </a:r>
            <a:r>
              <a:rPr lang="zh-CN" sz="4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脊椎动物的解剖</a:t>
            </a:r>
            <a:endParaRPr lang="zh-CN" sz="4400" b="1" dirty="0">
              <a:latin typeface="+mj-ea"/>
              <a:ea typeface="+mj-ea"/>
            </a:endParaRPr>
          </a:p>
        </p:txBody>
      </p:sp>
      <p:pic>
        <p:nvPicPr>
          <p:cNvPr id="3" name="图片 2" descr="head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435" y="5707380"/>
            <a:ext cx="285686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1884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通过对鲫鱼的观察与解剖，了解硬骨鱼类的主要特征；了解鱼类与水生生活相适应的结构特点。</a:t>
            </a:r>
            <a:endParaRPr lang="zh-CN" altLang="en-US" sz="2400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通过对蟾蜍的观察与解剖，了解两栖类的主要特征；了解两栖动物的基本形态结构和生理特征，重点掌握两栖动物</a:t>
            </a:r>
            <a:r>
              <a:rPr lang="zh-CN" altLang="en-US" sz="2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由水生到陆生的过渡状态的结构特点，分析其对陆地生活的适应性和不完善之处。</a:t>
            </a:r>
            <a:endParaRPr lang="zh-CN" altLang="en-US" sz="2400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19710"/>
            <a:ext cx="3800475" cy="102108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l"/>
            <a:r>
              <a:rPr lang="zh-CN" altLang="en-US" dirty="0">
                <a:latin typeface="+mj-ea"/>
              </a:rPr>
              <a:t>一、鱼类</a:t>
            </a:r>
            <a:endParaRPr lang="zh-CN" altLang="en-US" dirty="0">
              <a:latin typeface="+mj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395095"/>
            <a:ext cx="4073525" cy="4351655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被鳞</a:t>
            </a:r>
            <a:endParaRPr lang="zh-CN" altLang="en-US" sz="2400" b="1" dirty="0">
              <a:solidFill>
                <a:srgbClr val="0070C0"/>
              </a:solidFill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具上、下颌</a:t>
            </a:r>
            <a:endParaRPr lang="zh-CN" altLang="en-US" sz="2400" b="1" dirty="0">
              <a:solidFill>
                <a:srgbClr val="0070C0"/>
              </a:solidFill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具偶鳍</a:t>
            </a:r>
            <a:endParaRPr lang="zh-CN" altLang="en-US" sz="2400" b="1" dirty="0">
              <a:solidFill>
                <a:srgbClr val="0070C0"/>
              </a:solidFill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鳃呼吸</a:t>
            </a:r>
            <a:endParaRPr lang="zh-CN" altLang="en-US" sz="2400" b="1" dirty="0">
              <a:solidFill>
                <a:srgbClr val="0070C0"/>
              </a:solidFill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发达的骨骼</a:t>
            </a:r>
            <a:endParaRPr lang="zh-CN" altLang="en-US" sz="2400" b="1" dirty="0">
              <a:solidFill>
                <a:srgbClr val="0070C0"/>
              </a:solidFill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单循环</a:t>
            </a:r>
            <a:endParaRPr lang="zh-CN" altLang="en-US" sz="2400" b="1" dirty="0">
              <a:solidFill>
                <a:srgbClr val="0070C0"/>
              </a:solidFill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48655" y="0"/>
            <a:ext cx="4464050" cy="24384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77765" y="2647315"/>
            <a:ext cx="5029200" cy="18478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073005" y="2894965"/>
            <a:ext cx="1906270" cy="1068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硬骨鱼：骨鳞（圆鳞）</a:t>
            </a:r>
            <a:endParaRPr lang="zh-CN" altLang="en-US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77765" y="4593590"/>
            <a:ext cx="5494020" cy="16243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605145" y="6075680"/>
            <a:ext cx="8280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鳃弓</a:t>
            </a:r>
            <a:endParaRPr lang="zh-CN" altLang="en-US"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9178925" y="5849620"/>
            <a:ext cx="8280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舌弓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build="p"/>
      <p:bldP spid="5" grpId="1" animBg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50018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）鲫鱼的外形观察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9135" y="1248410"/>
            <a:ext cx="7816215" cy="43618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94410" y="59137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臀鳍的前方有肛门和泄殖孔。肛门是躯干和尾的分界。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172450" y="3195320"/>
            <a:ext cx="3606800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7550" y="255270"/>
            <a:ext cx="5083810" cy="1325880"/>
          </a:xfrm>
        </p:spPr>
        <p:txBody>
          <a:bodyPr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）内部结构观察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45435" y="1414145"/>
            <a:ext cx="7939405" cy="48310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2925" y="1691005"/>
            <a:ext cx="2200275" cy="133794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、肛门前横向剪一小口，沿腹中线剪开腹壁</a:t>
            </a: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922010" y="947420"/>
            <a:ext cx="54038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、分离开内脏与体壁的联系。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7040" y="3669030"/>
            <a:ext cx="2156460" cy="166243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、剪去体壁：与身体后端向背侧剪，到脊柱，转向前剪。</a:t>
            </a:r>
            <a:endParaRPr lang="zh-CN" altLang="en-US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79970" y="2941320"/>
            <a:ext cx="1806575" cy="121285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、在胸鳍的基部由腹侧向背面剪下体壁。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464820"/>
            <a:ext cx="10116185" cy="5668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/>
              <a:t>、呼吸器官、咽喉齿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26490" y="1691005"/>
            <a:ext cx="4665345" cy="33991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33160" y="1691005"/>
            <a:ext cx="2916555" cy="35845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149715" y="1844675"/>
            <a:ext cx="2686050" cy="1873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</a:t>
            </a:r>
            <a:r>
              <a:rPr lang="zh-CN" altLang="en-US"/>
              <a:t>、消化系统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85820" y="1764665"/>
            <a:ext cx="6036310" cy="40500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98965" y="2289810"/>
            <a:ext cx="1854835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去除体壁后，在腹腔内首先看到的是在盘旋的肠道间与肠紧贴着、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堆积在肠表面的不规则条状腺体，为</a:t>
            </a:r>
            <a:r>
              <a:rPr lang="zh-CN" altLang="en-US" b="1">
                <a:solidFill>
                  <a:srgbClr val="0070C0"/>
                </a:solidFill>
              </a:rPr>
              <a:t>肝胰脏。</a:t>
            </a:r>
            <a:endParaRPr lang="zh-CN" altLang="en-US" b="1">
              <a:solidFill>
                <a:srgbClr val="0070C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3685" y="1691005"/>
            <a:ext cx="2762885" cy="26549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5635" y="5000625"/>
            <a:ext cx="170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(1)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食道</a:t>
            </a:r>
            <a:r>
              <a:rPr lang="zh-CN" altLang="en-US">
                <a:sym typeface="+mn-ea"/>
              </a:rPr>
              <a:t>，很短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1795" y="817880"/>
            <a:ext cx="3689350" cy="4351655"/>
          </a:xfrm>
          <a:solidFill>
            <a:schemeClr val="bg1"/>
          </a:solidFill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sz="2000"/>
              <a:t>(2)无</a:t>
            </a:r>
            <a:r>
              <a:rPr lang="zh-CN" altLang="en-US" sz="2000" b="1">
                <a:solidFill>
                  <a:srgbClr val="FF0000"/>
                </a:solidFill>
              </a:rPr>
              <a:t>胃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(3)</a:t>
            </a:r>
            <a:r>
              <a:rPr lang="zh-CN" altLang="en-US" sz="2000" b="1">
                <a:solidFill>
                  <a:srgbClr val="FF0000"/>
                </a:solidFill>
              </a:rPr>
              <a:t>肠：</a:t>
            </a:r>
            <a:r>
              <a:rPr lang="zh-CN" altLang="en-US" sz="2000"/>
              <a:t>体长的</a:t>
            </a:r>
            <a:r>
              <a:rPr lang="en-US" altLang="zh-CN" sz="2000"/>
              <a:t>2.5-3</a:t>
            </a:r>
            <a:r>
              <a:rPr lang="zh-CN" altLang="en-US" sz="2000"/>
              <a:t>倍，大小肠的界限不清。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(4)</a:t>
            </a:r>
            <a:r>
              <a:rPr lang="zh-CN" altLang="en-US" sz="2000" b="1">
                <a:solidFill>
                  <a:srgbClr val="FF0000"/>
                </a:solidFill>
              </a:rPr>
              <a:t>肛门</a:t>
            </a:r>
            <a:r>
              <a:rPr lang="zh-CN" altLang="en-US" sz="2000"/>
              <a:t>，肛门与泄殖孔同处于臀鳍前端的体壁开口处，肛门前，泄殖孔后。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58360" y="951230"/>
            <a:ext cx="5407025" cy="38773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9265" y="5516245"/>
            <a:ext cx="30035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消化腺</a:t>
            </a:r>
            <a:r>
              <a:rPr lang="zh-CN" altLang="en-US">
                <a:sym typeface="+mn-ea"/>
              </a:rPr>
              <a:t>：肝胰脏、胆囊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、生殖、排泄系统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0705" y="1461135"/>
            <a:ext cx="5989320" cy="36925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50025" y="1445895"/>
            <a:ext cx="4076065" cy="37077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0705" y="5303520"/>
            <a:ext cx="10614660" cy="101473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精巢</a:t>
            </a:r>
            <a:r>
              <a:rPr lang="zh-CN" altLang="en-US" sz="2000"/>
              <a:t>位于鳔的腹面，长度几乎与肾相等，纯白色(性成熟时)。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精巢左右各一，呈扁长囊状，在精巢后端为</a:t>
            </a:r>
            <a:r>
              <a:rPr lang="zh-CN" altLang="en-US" sz="2000" b="1">
                <a:solidFill>
                  <a:srgbClr val="FF0000"/>
                </a:solidFill>
              </a:rPr>
              <a:t>输精管</a:t>
            </a:r>
            <a:r>
              <a:rPr lang="zh-CN" altLang="en-US" sz="2000"/>
              <a:t>，很短，左右两管合二为一，通入泄殖腔</a:t>
            </a:r>
            <a:endParaRPr lang="zh-CN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45" y="108585"/>
            <a:ext cx="10515600" cy="1325563"/>
          </a:xfrm>
        </p:spPr>
        <p:txBody>
          <a:bodyPr/>
          <a:p>
            <a:r>
              <a:rPr lang="zh-CN" altLang="en-US"/>
              <a:t>雌性泄殖系统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0545" y="1270000"/>
            <a:ext cx="4933315" cy="32296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0545" y="4787265"/>
            <a:ext cx="10201910" cy="9220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卵巢</a:t>
            </a:r>
            <a:r>
              <a:rPr lang="zh-CN" altLang="en-US">
                <a:sym typeface="+mn-ea"/>
              </a:rPr>
              <a:t>：一对，</a:t>
            </a:r>
            <a:r>
              <a:rPr lang="zh-CN" altLang="en-US"/>
              <a:t>淡橙黄色(性未成熟时呈长带状)或微黄红色(性成熟时呈长囊形)。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输卵管</a:t>
            </a:r>
            <a:r>
              <a:rPr lang="zh-CN" altLang="en-US"/>
              <a:t>很短，位于卵巢后端(仅是卵巢的延伸物)，左右两管向后汇合，开口于泄殖腔中。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59120" y="1085850"/>
            <a:ext cx="6040755" cy="33312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7685" y="1180465"/>
            <a:ext cx="5045710" cy="33102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1010" y="4616450"/>
            <a:ext cx="833437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肾脏</a:t>
            </a:r>
            <a:r>
              <a:rPr lang="en-US" altLang="zh-CN"/>
              <a:t>1</a:t>
            </a:r>
            <a:r>
              <a:rPr lang="zh-CN" altLang="en-US"/>
              <a:t>对，两个肾有部分相连，如马鞍状盖在鰾的中央收缩处。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每个肾的前端有一</a:t>
            </a:r>
            <a:r>
              <a:rPr lang="zh-CN" altLang="en-US" b="1">
                <a:solidFill>
                  <a:srgbClr val="FF0000"/>
                </a:solidFill>
              </a:rPr>
              <a:t>头肾</a:t>
            </a:r>
            <a:r>
              <a:rPr lang="zh-CN" altLang="en-US"/>
              <a:t>，向前侧面扩展；头肾是拟淋巴腺，不是肾脏本体。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肾脏本体在后面变成细长的两条，为余肾部分。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54395" y="1180465"/>
            <a:ext cx="5399405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600"/>
              <a:t>4</a:t>
            </a:r>
            <a:r>
              <a:rPr lang="zh-CN" altLang="en-US" sz="3600"/>
              <a:t>、循环系统</a:t>
            </a:r>
            <a:endParaRPr lang="zh-CN" altLang="en-US" sz="36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47165" y="1988185"/>
            <a:ext cx="6129020" cy="29991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p>
            <a:pPr algn="ctr"/>
            <a:r>
              <a:rPr lang="zh-CN" altLang="en-US"/>
              <a:t>二、两栖类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545455" cy="3638550"/>
          </a:xfrm>
          <a:solidFill>
            <a:schemeClr val="bg1"/>
          </a:solidFill>
        </p:spPr>
        <p:txBody>
          <a:bodyPr>
            <a:normAutofit lnSpcReduction="20000"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➢皮肤轻微角质化</a:t>
            </a:r>
            <a:endParaRPr lang="zh-CN" altLang="en-US" sz="2400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➢出现肺呼吸</a:t>
            </a:r>
            <a:endParaRPr lang="zh-CN" altLang="en-US" sz="2400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➢具有典型五指(趾) 型四肢</a:t>
            </a:r>
            <a:endParaRPr lang="zh-CN" altLang="en-US" sz="2400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➢脊柱出现颈椎和荐椎的分化</a:t>
            </a:r>
            <a:endParaRPr lang="zh-CN" altLang="en-US" sz="2400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➢血液循环为不完全双循环</a:t>
            </a:r>
            <a:endParaRPr lang="zh-CN" altLang="en-US" sz="2400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➢体外受精，繁殖期仍然在水中</a:t>
            </a:r>
            <a:endParaRPr lang="zh-CN" altLang="en-US" sz="2400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02755" y="2028825"/>
            <a:ext cx="3568700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831080" cy="94170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p>
            <a:r>
              <a:rPr lang="en-US" altLang="zh-CN"/>
              <a:t>1</a:t>
            </a:r>
            <a:r>
              <a:rPr lang="zh-CN" altLang="en-US"/>
              <a:t>、外部形态观察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1485900"/>
            <a:ext cx="4436110" cy="4351655"/>
          </a:xfrm>
          <a:solidFill>
            <a:schemeClr val="bg1"/>
          </a:solidFill>
        </p:spPr>
        <p:txBody>
          <a:bodyPr/>
          <a:p>
            <a:pPr>
              <a:lnSpc>
                <a:spcPct val="150000"/>
              </a:lnSpc>
            </a:pPr>
            <a:r>
              <a:rPr lang="zh-CN" altLang="en-US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➢头部：鼻、眼（眼睑、瞬膜）、鼓膜、毒腺</a:t>
            </a: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➢躯干部</a:t>
            </a: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➢四肢:五趾型附肢</a:t>
            </a: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84470" y="1485900"/>
            <a:ext cx="62674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789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p>
            <a:pPr algn="ctr"/>
            <a:r>
              <a:rPr lang="zh-CN" altLang="en-US"/>
              <a:t>处死</a:t>
            </a:r>
            <a:r>
              <a:rPr lang="en-US" altLang="zh-CN"/>
              <a:t>--</a:t>
            </a:r>
            <a:r>
              <a:rPr lang="zh-CN" altLang="en-US"/>
              <a:t>双毁髓法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7200" y="1651000"/>
            <a:ext cx="2966085" cy="29400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70935" y="1523365"/>
            <a:ext cx="3810000" cy="30676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28585" y="1263015"/>
            <a:ext cx="3581400" cy="3587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6900" y="170180"/>
            <a:ext cx="10515600" cy="97536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p>
            <a:pPr algn="ctr"/>
            <a:r>
              <a:rPr lang="zh-CN" altLang="en-US" sz="3600"/>
              <a:t>方法一</a:t>
            </a:r>
            <a:r>
              <a:rPr lang="zh-CN" sz="3600"/>
              <a:t>：</a:t>
            </a:r>
            <a:r>
              <a:rPr lang="zh-CN" altLang="en-US" sz="3600"/>
              <a:t>使用解剖针寻找枕骨大孔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065" y="1243965"/>
            <a:ext cx="10515600" cy="121285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2400">
                <a:sym typeface="+mn-ea"/>
              </a:rPr>
              <a:t>首先将解剖针尖端置于蟾蜍头顶中线上，随后解剖针轻轻下压，并沿中线向后滑动，到达枕骨大孔位置。</a:t>
            </a:r>
            <a:endParaRPr lang="zh-CN" altLang="en-US" sz="2400">
              <a:sym typeface="+mn-ea"/>
            </a:endParaRPr>
          </a:p>
          <a:p>
            <a:endParaRPr lang="zh-CN" altLang="en-US" sz="24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36190" y="2698115"/>
            <a:ext cx="5219700" cy="3535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565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p>
            <a:pPr algn="ctr"/>
            <a:r>
              <a:rPr lang="zh-CN" altLang="en-US" sz="3600"/>
              <a:t>方法二：根据位置确定枕骨大孔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1365" y="1501775"/>
            <a:ext cx="10515600" cy="1927225"/>
          </a:xfrm>
        </p:spPr>
        <p:txBody>
          <a:bodyPr/>
          <a:p>
            <a:r>
              <a:rPr lang="zh-CN" altLang="en-US"/>
              <a:t>左右毒腺中点的连线中心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96135" y="2383155"/>
            <a:ext cx="5683885" cy="37109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57290" y="4248785"/>
            <a:ext cx="13779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左毒腺中点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71065" y="4177665"/>
            <a:ext cx="143129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右毒腺中点</a:t>
            </a:r>
            <a:endParaRPr lang="zh-CN" altLang="en-US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75295" y="2876550"/>
            <a:ext cx="32016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/>
              <a:t>解剖针垂直于蟾馀头顶，从枕骨大孔用力扎入。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8187055" y="3971925"/>
            <a:ext cx="30695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/>
              <a:t>插入枕骨大孔时有轻微的“咔嚓”声</a:t>
            </a:r>
            <a:endParaRPr lang="zh-CN" altLang="en-US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19955" y="2776855"/>
            <a:ext cx="3562350" cy="3505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8200" y="3147695"/>
            <a:ext cx="3488055" cy="330644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838200" y="1691640"/>
            <a:ext cx="23653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、先左右摆动，切断脑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脊髓之间的联系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648075" y="1508760"/>
            <a:ext cx="23653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</a:t>
            </a:r>
            <a:r>
              <a:rPr lang="zh-CN">
                <a:sym typeface="+mn-ea"/>
              </a:rPr>
              <a:t>刺入颅腔，左右搅动，毁掉脑。</a:t>
            </a:r>
            <a:endParaRPr lang="zh-CN"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6370320" y="1344295"/>
            <a:ext cx="23653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</a:t>
            </a:r>
            <a:r>
              <a:rPr lang="zh-CN">
                <a:sym typeface="+mn-ea"/>
              </a:rPr>
              <a:t>退针，刺入椎管，左右搅动，毁掉脊髓。</a:t>
            </a:r>
            <a:endParaRPr lang="zh-CN"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9092565" y="1508760"/>
            <a:ext cx="236537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>
                <a:sym typeface="+mn-ea"/>
              </a:rPr>
              <a:t>四肢松弛，自然下垂。</a:t>
            </a:r>
            <a:endParaRPr lang="zh-CN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967470" y="2360930"/>
            <a:ext cx="2454275" cy="40932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04360" y="211455"/>
            <a:ext cx="3383280" cy="1051560"/>
          </a:xfrm>
        </p:spPr>
        <p:txBody>
          <a:bodyPr/>
          <a:p>
            <a:r>
              <a:rPr lang="zh-CN" altLang="en-US" sz="2800"/>
              <a:t>解剖针刺枕骨大孔</a:t>
            </a:r>
            <a:endParaRPr lang="zh-CN" altLang="en-US"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0860" y="2245360"/>
            <a:ext cx="2938780" cy="3166745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96900" y="212090"/>
            <a:ext cx="10515600" cy="10407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>
                <a:latin typeface="汉仪中黑简" panose="02010600000101010101" charset="-122"/>
                <a:ea typeface="汉仪中黑简" panose="02010600000101010101" charset="-122"/>
                <a:sym typeface="+mn-ea"/>
              </a:rPr>
              <a:t>2</a:t>
            </a:r>
            <a:r>
              <a:rPr lang="zh-CN" altLang="en-US">
                <a:latin typeface="汉仪中黑简" panose="02010600000101010101" charset="-122"/>
                <a:ea typeface="汉仪中黑简" panose="02010600000101010101" charset="-122"/>
                <a:sym typeface="+mn-ea"/>
              </a:rPr>
              <a:t>、内部结构观察</a:t>
            </a:r>
            <a:endParaRPr lang="zh-CN" altLang="en-US">
              <a:latin typeface="汉仪中黑简" panose="02010600000101010101" charset="-122"/>
              <a:ea typeface="汉仪中黑简" panose="0201060000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50925" y="14573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3200" b="1">
                <a:solidFill>
                  <a:srgbClr val="FF0000"/>
                </a:solidFill>
                <a:sym typeface="+mn-ea"/>
              </a:rPr>
              <a:t>）腹面剪开皮肤</a:t>
            </a:r>
            <a:endParaRPr lang="zh-CN" altLang="en-US" sz="3200" b="1">
              <a:solidFill>
                <a:srgbClr val="FF000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13785" y="2245360"/>
            <a:ext cx="3312795" cy="32054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146925" y="1958975"/>
            <a:ext cx="4251960" cy="46723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478395" y="1375410"/>
            <a:ext cx="32759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3200" b="1">
                <a:solidFill>
                  <a:srgbClr val="FF0000"/>
                </a:solidFill>
                <a:sym typeface="+mn-ea"/>
              </a:rPr>
              <a:t>）剪开肌肉</a:t>
            </a:r>
            <a:endParaRPr lang="zh-CN" altLang="en-US" sz="32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60145" y="2072640"/>
            <a:ext cx="2825750" cy="306705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/>
        </p:nvSpPr>
        <p:spPr>
          <a:xfrm>
            <a:off x="1419225" y="847725"/>
            <a:ext cx="2307590" cy="1048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/>
              <a:t>口咽腔</a:t>
            </a:r>
            <a:endParaRPr lang="zh-CN" altLang="en-US" sz="2800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507490" y="2306955"/>
            <a:ext cx="730885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内鼻孔</a:t>
            </a:r>
            <a:endParaRPr lang="zh-CN" altLang="en-US" sz="1400"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812165" y="3253740"/>
            <a:ext cx="1059815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口咽管孔</a:t>
            </a:r>
            <a:endParaRPr lang="zh-CN" altLang="en-US" sz="1400"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507490" y="4200525"/>
            <a:ext cx="45720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舌</a:t>
            </a:r>
            <a:endParaRPr lang="zh-CN" altLang="en-US" sz="1400"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2951480" y="4020820"/>
            <a:ext cx="65405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喉门</a:t>
            </a:r>
            <a:endParaRPr lang="zh-CN" altLang="en-US" sz="1400"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742940" y="1198245"/>
            <a:ext cx="4152900" cy="42672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6703695" y="2979420"/>
            <a:ext cx="591185" cy="3079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r>
              <a:rPr lang="zh-CN" altLang="en-US" sz="1400">
                <a:sym typeface="+mn-ea"/>
              </a:rPr>
              <a:t>胆囊</a:t>
            </a:r>
            <a:endParaRPr lang="zh-CN" altLang="en-US" sz="1400"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8954770" y="2979420"/>
            <a:ext cx="337820" cy="3079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r>
              <a:rPr lang="zh-CN" altLang="en-US" sz="1400">
                <a:sym typeface="+mn-ea"/>
              </a:rPr>
              <a:t>胃</a:t>
            </a:r>
            <a:endParaRPr lang="zh-CN" altLang="en-US" sz="1400"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8846820" y="3661410"/>
            <a:ext cx="1049020" cy="3079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r>
              <a:rPr lang="zh-CN" altLang="en-US" sz="1400">
                <a:sym typeface="+mn-ea"/>
              </a:rPr>
              <a:t>十二指肠</a:t>
            </a:r>
            <a:endParaRPr lang="zh-CN" altLang="en-US" sz="1400"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7178675" y="3885565"/>
            <a:ext cx="591185" cy="3079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r>
              <a:rPr lang="zh-CN" altLang="en-US" sz="1400">
                <a:sym typeface="+mn-ea"/>
              </a:rPr>
              <a:t>回肠</a:t>
            </a:r>
            <a:endParaRPr lang="zh-CN" altLang="en-US" sz="1400"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7916545" y="4664710"/>
            <a:ext cx="591185" cy="30797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r>
              <a:rPr lang="zh-CN" altLang="en-US" sz="1400">
                <a:sym typeface="+mn-ea"/>
              </a:rPr>
              <a:t>直肠</a:t>
            </a:r>
            <a:endParaRPr lang="zh-CN" altLang="en-US" sz="1400">
              <a:sym typeface="+mn-ea"/>
            </a:endParaRPr>
          </a:p>
        </p:txBody>
      </p:sp>
      <p:sp>
        <p:nvSpPr>
          <p:cNvPr id="25" name="标题 24"/>
          <p:cNvSpPr/>
          <p:nvPr>
            <p:ph type="title"/>
          </p:nvPr>
        </p:nvSpPr>
        <p:spPr>
          <a:xfrm>
            <a:off x="3515995" y="123825"/>
            <a:ext cx="4841875" cy="1325880"/>
          </a:xfrm>
        </p:spPr>
        <p:txBody>
          <a:bodyPr>
            <a:norm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①</a:t>
            </a:r>
            <a:r>
              <a:rPr lang="zh-CN" altLang="en-US"/>
              <a:t>消化管、消化腺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90335" y="288290"/>
            <a:ext cx="5358765" cy="1325880"/>
          </a:xfrm>
        </p:spPr>
        <p:txBody>
          <a:bodyPr/>
          <a:p>
            <a:pPr algn="ctr"/>
            <a:r>
              <a:rPr lang="zh-CN" altLang="en-US" sz="3200">
                <a:latin typeface="黑体" panose="02010609060101010101" charset="-122"/>
                <a:ea typeface="黑体" panose="02010609060101010101" charset="-122"/>
              </a:rPr>
              <a:t>②</a:t>
            </a:r>
            <a:r>
              <a:rPr lang="zh-CN" altLang="en-US" sz="3200"/>
              <a:t>呼吸系统：肺</a:t>
            </a:r>
            <a:endParaRPr lang="zh-CN" altLang="en-US" sz="32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85" y="1350645"/>
            <a:ext cx="5791200" cy="45148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980" y="1270635"/>
            <a:ext cx="4686300" cy="45275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094740" y="7670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ym typeface="+mn-ea"/>
              </a:rPr>
              <a:t>消化腺</a:t>
            </a:r>
            <a:endParaRPr lang="zh-CN" altLang="en-US" sz="3200"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2303780" y="3054985"/>
            <a:ext cx="955040" cy="1320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2512695" y="3768725"/>
            <a:ext cx="482600" cy="546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0210" y="5488940"/>
            <a:ext cx="10316845" cy="8204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雄性生殖器官</a:t>
            </a:r>
            <a:r>
              <a:rPr lang="zh-CN" altLang="en-US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</a:rPr>
              <a:t>:精巢、输精管、毕氏器、脂肪体、退化的输卵管</a:t>
            </a: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96845" y="356235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汉仪中黑简" panose="02010600000101010101" charset="-122"/>
                <a:sym typeface="+mn-ea"/>
              </a:rPr>
              <a:t>③生殖系统：</a:t>
            </a:r>
            <a:endParaRPr lang="zh-CN" altLang="en-US" sz="32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汉仪中黑简" panose="0201060000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005" y="1386840"/>
            <a:ext cx="5589270" cy="38112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250" y="4537075"/>
            <a:ext cx="10316845" cy="1148080"/>
          </a:xfrm>
          <a:solidFill>
            <a:schemeClr val="bg1"/>
          </a:solidFill>
        </p:spPr>
        <p:txBody>
          <a:bodyPr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  <a:sym typeface="+mn-ea"/>
              </a:rPr>
              <a:t>雌性生殖器官</a:t>
            </a:r>
            <a:r>
              <a:rPr lang="zh-CN" altLang="en-US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  <a:sym typeface="+mn-ea"/>
              </a:rPr>
              <a:t>:卵巢、输卵管、脂肪体</a:t>
            </a: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  <a:p>
            <a:pPr>
              <a:lnSpc>
                <a:spcPct val="150000"/>
              </a:lnSpc>
            </a:pP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54400" y="127000"/>
            <a:ext cx="2978150" cy="3619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46075" y="215265"/>
            <a:ext cx="2933065" cy="35312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75765" y="2970530"/>
            <a:ext cx="77343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  <a:sym typeface="+mn-ea"/>
              </a:rPr>
              <a:t>卵巢</a:t>
            </a: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221105" y="1627505"/>
            <a:ext cx="981710" cy="33528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r>
              <a:rPr lang="zh-CN" altLang="en-US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  <a:sym typeface="+mn-ea"/>
              </a:rPr>
              <a:t>脂肪体</a:t>
            </a: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4557395" y="2054860"/>
            <a:ext cx="113601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  <a:sym typeface="+mn-ea"/>
              </a:rPr>
              <a:t>输卵管</a:t>
            </a: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513830" y="333375"/>
            <a:ext cx="4778375" cy="29006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684135" y="3453130"/>
            <a:ext cx="35286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成熟个体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1918335" y="3957320"/>
            <a:ext cx="13608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不成熟个体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1170" y="1607185"/>
            <a:ext cx="3981450" cy="426085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560955" y="442595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汉仪中黑简" panose="02010600000101010101" charset="-122"/>
                <a:sym typeface="+mn-ea"/>
              </a:rPr>
              <a:t>④</a:t>
            </a:r>
            <a:r>
              <a:rPr lang="zh-CN" altLang="en-US" sz="2800">
                <a:solidFill>
                  <a:srgbClr val="FF0000"/>
                </a:solidFill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  <a:sym typeface="+mn-ea"/>
              </a:rPr>
              <a:t>排泄器官</a:t>
            </a:r>
            <a:r>
              <a:rPr lang="zh-CN" altLang="en-US" sz="2800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  <a:sym typeface="+mn-ea"/>
              </a:rPr>
              <a:t>:肾脏、输尿管、膀胱</a:t>
            </a:r>
            <a:endParaRPr lang="zh-CN" altLang="en-US" sz="2800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39085" y="3553460"/>
            <a:ext cx="82931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  <a:sym typeface="+mn-ea"/>
              </a:rPr>
              <a:t>肾脏</a:t>
            </a:r>
            <a:endParaRPr lang="zh-CN" altLang="en-US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318385" y="2851150"/>
            <a:ext cx="829310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600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  <a:sym typeface="+mn-ea"/>
              </a:rPr>
              <a:t>肾上腺</a:t>
            </a:r>
            <a:endParaRPr lang="zh-CN" altLang="en-US" sz="1600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297940" y="3822700"/>
            <a:ext cx="829310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600">
                <a:latin typeface="汉仪中黑简" panose="02010600000101010101" charset="-122"/>
                <a:ea typeface="汉仪中黑简" panose="02010600000101010101" charset="-122"/>
                <a:cs typeface="汉仪中黑简" panose="02010600000101010101" charset="-122"/>
                <a:sym typeface="+mn-ea"/>
              </a:rPr>
              <a:t>输尿管</a:t>
            </a:r>
            <a:endParaRPr lang="zh-CN" altLang="en-US" sz="1600">
              <a:latin typeface="汉仪中黑简" panose="02010600000101010101" charset="-122"/>
              <a:ea typeface="汉仪中黑简" panose="02010600000101010101" charset="-122"/>
              <a:cs typeface="汉仪中黑简" panose="0201060000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758690" y="1771015"/>
            <a:ext cx="6448425" cy="39331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 sz="3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⑤</a:t>
            </a:r>
            <a:r>
              <a:rPr lang="zh-CN" altLang="en-US" sz="3600">
                <a:solidFill>
                  <a:srgbClr val="FF0000"/>
                </a:solidFill>
              </a:rPr>
              <a:t>循环系统</a:t>
            </a:r>
            <a:r>
              <a:rPr lang="zh-CN" altLang="en-US"/>
              <a:t>：</a:t>
            </a:r>
            <a:r>
              <a:rPr lang="zh-CN" altLang="en-US" sz="3600">
                <a:sym typeface="+mn-ea"/>
              </a:rPr>
              <a:t>心脏</a:t>
            </a:r>
            <a:endParaRPr lang="zh-CN" altLang="en-US" sz="3600"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1860" y="1997075"/>
            <a:ext cx="3981450" cy="36131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61490" y="4254500"/>
            <a:ext cx="67500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心室</a:t>
            </a: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290955" y="3619500"/>
            <a:ext cx="1003935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动脉圆锥</a:t>
            </a:r>
            <a:endParaRPr lang="zh-CN" altLang="en-US" sz="1600"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3502025" y="3429000"/>
            <a:ext cx="675005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左心房</a:t>
            </a:r>
            <a:endParaRPr lang="zh-CN" altLang="en-US" sz="1200"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761490" y="3046095"/>
            <a:ext cx="675005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右心房</a:t>
            </a:r>
            <a:endParaRPr lang="zh-CN" altLang="en-US" sz="1200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269230" y="2157730"/>
            <a:ext cx="3909695" cy="28181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886575" y="4488815"/>
            <a:ext cx="675005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静脉窦</a:t>
            </a:r>
            <a:endParaRPr lang="zh-CN" altLang="en-US" sz="1200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commondata" val="eyJoZGlkIjoiZjliY2UwMDMxMzY0ZTI2M2Q3MjliMDRlNTNiODAwOGQifQ=="/>
</p:tagLst>
</file>

<file path=ppt/theme/theme1.xml><?xml version="1.0" encoding="utf-8"?>
<a:theme xmlns:a="http://schemas.openxmlformats.org/drawingml/2006/main" name="Office 主题​​">
  <a:themeElements>
    <a:clrScheme name="梦幻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C93B3"/>
      </a:accent1>
      <a:accent2>
        <a:srgbClr val="FABFC1"/>
      </a:accent2>
      <a:accent3>
        <a:srgbClr val="FEDFCB"/>
      </a:accent3>
      <a:accent4>
        <a:srgbClr val="C4D99E"/>
      </a:accent4>
      <a:accent5>
        <a:srgbClr val="F0E9B3"/>
      </a:accent5>
      <a:accent6>
        <a:srgbClr val="FABFC1"/>
      </a:accent6>
      <a:hlink>
        <a:srgbClr val="0563C1"/>
      </a:hlink>
      <a:folHlink>
        <a:srgbClr val="954F72"/>
      </a:folHlink>
    </a:clrScheme>
    <a:fontScheme name="自定义 3">
      <a:majorFont>
        <a:latin typeface="Impact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1208</Words>
  <Application>WPS 演示</Application>
  <PresentationFormat>宽屏</PresentationFormat>
  <Paragraphs>183</Paragraphs>
  <Slides>26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汉仪中黑简</vt:lpstr>
      <vt:lpstr>Arial Unicode MS</vt:lpstr>
      <vt:lpstr>Impact</vt:lpstr>
      <vt:lpstr>等线</vt:lpstr>
      <vt:lpstr>黑体</vt:lpstr>
      <vt:lpstr>Calibri</vt:lpstr>
      <vt:lpstr>Office 主题​​</vt:lpstr>
      <vt:lpstr>PowerPoint 演示文稿</vt:lpstr>
      <vt:lpstr>实验目的：</vt:lpstr>
      <vt:lpstr>一、鱼类</vt:lpstr>
      <vt:lpstr>（1）鲫鱼的外形观察</vt:lpstr>
      <vt:lpstr>（2）内部结构观察</vt:lpstr>
      <vt:lpstr>PowerPoint 演示文稿</vt:lpstr>
      <vt:lpstr>1、呼吸器官、咽喉齿</vt:lpstr>
      <vt:lpstr>2、消化系统</vt:lpstr>
      <vt:lpstr>PowerPoint 演示文稿</vt:lpstr>
      <vt:lpstr>3、生殖、排泄系统</vt:lpstr>
      <vt:lpstr>雌性泄殖系统</vt:lpstr>
      <vt:lpstr>PowerPoint 演示文稿</vt:lpstr>
      <vt:lpstr>4、循环系统</vt:lpstr>
      <vt:lpstr>二、两栖类</vt:lpstr>
      <vt:lpstr>1、外部形态观察</vt:lpstr>
      <vt:lpstr>处死--双毁髓法</vt:lpstr>
      <vt:lpstr>方法一：使用解剖针寻找枕骨大孔</vt:lpstr>
      <vt:lpstr>方法二：根据位置确定枕骨大孔</vt:lpstr>
      <vt:lpstr>解剖针刺枕骨大孔</vt:lpstr>
      <vt:lpstr>PowerPoint 演示文稿</vt:lpstr>
      <vt:lpstr>①消化管、消化腺</vt:lpstr>
      <vt:lpstr>②呼吸系统：肺</vt:lpstr>
      <vt:lpstr>PowerPoint 演示文稿</vt:lpstr>
      <vt:lpstr>PowerPoint 演示文稿</vt:lpstr>
      <vt:lpstr>PowerPoint 演示文稿</vt:lpstr>
      <vt:lpstr>⑤循环系统：心脏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季相山</cp:lastModifiedBy>
  <cp:revision>178</cp:revision>
  <dcterms:created xsi:type="dcterms:W3CDTF">2017-07-06T23:52:00Z</dcterms:created>
  <dcterms:modified xsi:type="dcterms:W3CDTF">2026-05-21T12:34:34Z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D02F771F141F4014ABBC04246ED2D128_13</vt:lpwstr>
  </property>
</Properties>
</file>